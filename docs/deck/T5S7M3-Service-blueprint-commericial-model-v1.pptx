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2C_0.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89" r:id="rId2"/>
    <p:sldId id="288" r:id="rId3"/>
    <p:sldId id="300" r:id="rId4"/>
    <p:sldId id="301" r:id="rId5"/>
    <p:sldId id="304" r:id="rId6"/>
    <p:sldId id="302" r:id="rId7"/>
    <p:sldId id="306" r:id="rId8"/>
    <p:sldId id="314" r:id="rId9"/>
    <p:sldId id="315" r:id="rId10"/>
    <p:sldId id="293" r:id="rId11"/>
    <p:sldId id="295" r:id="rId12"/>
    <p:sldId id="292" r:id="rId13"/>
    <p:sldId id="313" r:id="rId14"/>
    <p:sldId id="310" r:id="rId15"/>
    <p:sldId id="311" r:id="rId16"/>
    <p:sldId id="312" r:id="rId17"/>
    <p:sldId id="298" r:id="rId18"/>
    <p:sldId id="290" r:id="rId19"/>
    <p:sldId id="282"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CB4337B-7782-54E7-71C9-82A1C205D023}" name="Guneet Bhatia" initials="GB" userId="S::Guneet.Bhatia@ibm.com::a984b57d-dbfc-42a6-9c2a-8b6fa1e9333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5F5E59"/>
    <a:srgbClr val="E24B4A"/>
    <a:srgbClr val="2F7D52"/>
    <a:srgbClr val="F5F5F5"/>
    <a:srgbClr val="FFFFFF"/>
    <a:srgbClr val="333333"/>
    <a:srgbClr val="E31836"/>
    <a:srgbClr val="FCE4E4"/>
    <a:srgbClr val="F8F5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05"/>
    <p:restoredTop sz="96047"/>
  </p:normalViewPr>
  <p:slideViewPr>
    <p:cSldViewPr snapToGrid="0" snapToObjects="1">
      <p:cViewPr>
        <p:scale>
          <a:sx n="120" d="100"/>
          <a:sy n="120" d="100"/>
        </p:scale>
        <p:origin x="144" y="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omments/modernComment_12C_0.xml><?xml version="1.0" encoding="utf-8"?>
<p188:cmLst xmlns:a="http://schemas.openxmlformats.org/drawingml/2006/main" xmlns:r="http://schemas.openxmlformats.org/officeDocument/2006/relationships" xmlns:p188="http://schemas.microsoft.com/office/powerpoint/2018/8/main">
  <p188:cm id="{714E75D2-BE5B-B947-8E90-DCBD56BA44BD}" authorId="{3CB4337B-7782-54E7-71C9-82A1C205D023}" created="2026-08-22T17:41:04.807">
    <ac:deMkLst xmlns:ac="http://schemas.microsoft.com/office/drawing/2013/main/command">
      <pc:docMk xmlns:pc="http://schemas.microsoft.com/office/powerpoint/2013/main/command"/>
      <pc:sldMk xmlns:pc="http://schemas.microsoft.com/office/powerpoint/2013/main/command" cId="0" sldId="300"/>
      <ac:graphicFrameMk id="16" creationId="{00000000-0000-0000-0000-000000000000}"/>
    </ac:deMkLst>
    <p188:txBody>
      <a:bodyPr/>
      <a:lstStyle/>
      <a:p>
        <a:r>
          <a:rPr lang="en-US"/>
          <a:t>These four agents in red are separated for specific responsibility  like PERSONA is dedicated for segmentation, Tailor is dedicated to  size and fit analysis plus preference. CONCIERGE  dedicately works on to compose value added services and subscriptions. TALLY  dedicately conncets to Loyalty Management system  to  manage points,engagements and redemptions.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7737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a:extLst>
            <a:ext uri="{FF2B5EF4-FFF2-40B4-BE49-F238E27FC236}">
              <a16:creationId xmlns:a16="http://schemas.microsoft.com/office/drawing/2014/main" id="{ABE6C070-25F4-AF89-D907-13D423555428}"/>
            </a:ext>
          </a:extLst>
        </p:cNvPr>
        <p:cNvGrpSpPr/>
        <p:nvPr/>
      </p:nvGrpSpPr>
      <p:grpSpPr>
        <a:xfrm>
          <a:off x="0" y="0"/>
          <a:ext cx="0" cy="0"/>
          <a:chOff x="0" y="0"/>
          <a:chExt cx="0" cy="0"/>
        </a:xfrm>
      </p:grpSpPr>
      <p:sp>
        <p:nvSpPr>
          <p:cNvPr id="8" name="Google Shape;8;p1:notes">
            <a:extLst>
              <a:ext uri="{FF2B5EF4-FFF2-40B4-BE49-F238E27FC236}">
                <a16:creationId xmlns:a16="http://schemas.microsoft.com/office/drawing/2014/main" id="{9AE878D2-7F8C-001B-40B7-038AF756FCDE}"/>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9" name="Google Shape;9;p1:notes">
            <a:extLst>
              <a:ext uri="{FF2B5EF4-FFF2-40B4-BE49-F238E27FC236}">
                <a16:creationId xmlns:a16="http://schemas.microsoft.com/office/drawing/2014/main" id="{E0DC632E-D5C6-1F10-F510-987863D51A23}"/>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lang="en-US" dirty="0"/>
              <a:t>Mission 2 — the core business process journeys of </a:t>
            </a:r>
            <a:r>
              <a:rPr lang="en-US" dirty="0" err="1"/>
              <a:t>Neu.Tail</a:t>
            </a:r>
            <a:r>
              <a:rPr lang="en-US" dirty="0"/>
              <a:t>. Where Mission 1 set the strategy, this mission goes operational: we take the two journeys that matter most, map them as they run today, reimagine them AI-first, quantify the outcomes, and lift the whole thing into a single architecture. Two journeys, thirteen agents, one platform. That's the story.</a:t>
            </a:r>
          </a:p>
        </p:txBody>
      </p:sp>
      <p:sp>
        <p:nvSpPr>
          <p:cNvPr id="10" name="Google Shape;10;p1:notes">
            <a:extLst>
              <a:ext uri="{FF2B5EF4-FFF2-40B4-BE49-F238E27FC236}">
                <a16:creationId xmlns:a16="http://schemas.microsoft.com/office/drawing/2014/main" id="{C82B4B53-CE68-0C73-7A36-C66A1C711625}"/>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3804164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3 agenda, corrected to list deliverables rather than functionalities. Four deliverables under two objectives. Objective 1 produces three: the agentic solution (specialised agents and responsibilities), the full solution blueprint (EA layers, triggers, orchestration, intent, routing, context, data universe, LLM platform and security), and sequence diagrams for three of the five functionalities. Objective 2 produces the fourth: a commercial-model point of view for the Digital Personalisation Assistant, spanning customer-facing tiers and platform monetisation through open API, white-label and usage-based pricing. The five functionalities are not agenda items — they are the scope the deliverables operate on, shown as a foundation strip: all five appear in the blueprint, three are chosen for sequence diagrams. The through-line to Mission 2 is Size and Fit, which carries the returns target of 34 percent down to 10 to 15.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17 agents classified two ways. Type is the architectural behaviour — analytical agents sense, classify and predict (PERSONA, TAILOR, ONEBASKET, GRADE, SCOUT); orchestration agents compose and arbitrate (MUSE, CONCIERGE); transactional agents commit money or contract (SENTRY, OTB, CLEAR, PACE on price commit, CONCIERGE at subscription); execution agents act in the world (ROUTE, HANDOFF, SPREAD, RECLAIM); interaction agents converse and engage (CARE, TALLY). Some span two — CONCIERGE both orchestrates an offer and commits the subscription; PACE prices analytically but each change is a transactional commit. Origin is provenance: the four new sub-agents are highlighted in red, the reused Mission 2 agents are neutral, the Mission 2-only agents are faded. The two classifications answer different questions — Type tells an architect what to worry about (transactional agents need approval rails, execution agents need rollback, analytical agents need model governance), while Origin tells the reuse story.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7D95A-44E8-5490-BEFC-61792C2A5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C20D4-25F8-7E4D-D302-A830657EB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754388-88D7-BB65-ADBB-36AFEFFF726D}"/>
              </a:ext>
            </a:extLst>
          </p:cNvPr>
          <p:cNvSpPr>
            <a:spLocks noGrp="1"/>
          </p:cNvSpPr>
          <p:nvPr>
            <p:ph type="body" idx="1"/>
          </p:nvPr>
        </p:nvSpPr>
        <p:spPr/>
        <p:txBody>
          <a:bodyPr/>
          <a:lstStyle/>
          <a:p>
            <a:r>
              <a:rPr lang="en-US" dirty="0"/>
              <a:t>The 17 agents classified two ways. Type is the architectural behaviour — analytical agents sense, classify and predict (PERSONA, TAILOR, ONEBASKET, GRADE, SCOUT); orchestration agents compose and arbitrate (MUSE, CONCIERGE); transactional agents commit money or contract (SENTRY, OTB, CLEAR, PACE on price commit, CONCIERGE at subscription); execution agents act in the world (ROUTE, HANDOFF, SPREAD, RECLAIM); interaction agents converse and engage (CARE, TALLY). Some span two — CONCIERGE both orchestrates an offer and commits the subscription; PACE prices analytically but each change is a transactional commit. Origin is provenance: the four new sub-agents are highlighted in red, the reused Mission 2 agents are neutral, the Mission 2-only agents are faded. The two classifications answer different questions — Type tells an architect what to worry about (transactional agents need approval rails, execution agents need rollback, analytical agents need model governance), while Origin tells the reuse story.</a:t>
            </a:r>
          </a:p>
        </p:txBody>
      </p:sp>
      <p:sp>
        <p:nvSpPr>
          <p:cNvPr id="4" name="Slide Number Placeholder 3">
            <a:extLst>
              <a:ext uri="{FF2B5EF4-FFF2-40B4-BE49-F238E27FC236}">
                <a16:creationId xmlns:a16="http://schemas.microsoft.com/office/drawing/2014/main" id="{CC64D6B3-1F96-8E7B-F5CA-CEE8B2080BED}"/>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92568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enterprise on one page, derived from both journeys. Seven layers, top to bottom: channels, experience APIs, then agentic orchestration where thirteen agents live — coordinated by the Lead Orchestrator, which decomposes multi-agent requests and arbitrates conflicts; when SPREAD, PACE and CLEAR disagree on one product, it decides for EBITDA. Two cross-cutting control rails bracket the stack: Security and Compliance on the left — IAM, encryption, audit, data protection, threat monitoring — and Human-in-the-Loop on the right, the escalation path that makes autonomy approvable. Below sit the shared AI platform, integration, data, business domains, and the full 36-system estate with ERP as system of record. Two points to hold: unification is logical, not physical — we abstract above four ERPs, not consolidate them. And the status dots are inferred, not audited — the reds (no CDP, no MDM, no live pricing) are the investment case; the greys need CIO validation.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2a — the agentic solution blueprint, read top to bottom as a request lifecycle. A request enters from any channel. The intent-sensing and trigger layer classifies the ask (browse, fit, service, loyalty), fires on events (cart, return, tier change), and assembles context — identity, segment, session. The Lead Orchestrator routes to the right agent or agents, decomposes multi-agent requests, arbitrates conflicting goals and holds journey context. The agent mesh is the Personalisation Assistant: the four new sub-agents in red (PERSONA, TAILOR, CONCIERGE, TALLY) plus MUSE, with the reused enablers beneath (ONEBASKET, GRADE, CARE, SENTRY, and the SCOUT/PACE signals). Each agent processes by reasoning over its prompt plus retrieved context, calling tools, and returning to the orchestrator. Beneath sits the enterprise LLM and agent platform — the model gateway for interoperability and fallback, prompt management, memory and context management, and the agent runtime with MCP, A2A and evals. At the base is the data universe — CRM, loyalty, catalogue, inventory, returns, behavioural, transactional — accessed through feature serving, RAG and vector retrieval, events and APIs, served from the real-time CDP, vector DB, lakehouse and feature store, so data lives once and agents retrieve rather than copy. And spanning every layer on the left is the security and policy-as-code rail: guardrails, PII and consent, segment-access policy, rate limits and audit. The one-line story: sense, orchestrate, process, retrieve — all inside the security rail.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universe access matrix, upgraded so every cell shows access plus method. Access: read, write, read-write. Method: API for exact lookups, RAG for vector/semantic retrieval, FS for feature serving, EVT for event streams. The key point this version makes: the same domain is reached differently by different agents. MUSE reads the catalogue by RAG because discovery is semantic find-similar; CARE reads the same catalogue by API for exact SKU lookup — method follows the job, not the domain. Reads are dominated by the feature store (CRM, loyalty, behavioural) keeping personalisation real-time. Writes are API or event and all sit behind the approval and policy rail. Reasoned design, not an audited access list — validate with the data team before build.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enterprise LLM and agent platform, explained as four shared capabilities rather than a single band. One, model interoperability: a gateway routes each agent's call to the right model — a big reasoning model for MUSE's composition, a fast cheap classifier for PERSONA's segmentation, a vision model for GRADE's returns grading — vendor-neutral, so no agent is hard-wired to one provider and we can swap models without reworking agents, with fallback and cost control. Two, prompt management: every agent's prompt is a versioned template in one registry, not hard-coded in the app; guard prompts inject policy and safety at run time; and prompt changes are evaluated and roll-back-able before they ship — this is where policy-as-code meets the prompt layer. Three, memory and context: two tiers — short-term working memory for the current session or journey, held by the orchestrator, and long-term durable memory for customer preferences and history that persists across visits — threaded between agents as one context object, so the Assistant remembers you both within a session and across visits. Four, the agent runtime: MCP for standard tool and data access, A2A for agent-to-agent calls like SCOUT to MUSE and GRADE to TAILOR, and an evals and observability harness that monitors quality, drift and safety continuously — the assurance that makes autonomous agents safe to run. All four are shared services touched by the security and policy-as-code rail, and all four are what the whole 17-agent mesh depends 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and agent platform as a technical reference architecture. A call resolves down the centre: an agent issues a call to the agent runtime (MCP client, A2A, retries), which calls the model gateway, which does policy-based routing and fallback across an interoperable model pool — frontier reasoning model for MUSE and CONCIERGE, fast small model for PERSONA and SENTRY, vision for GRADE, embeddings for RAG. The model return path is shown separately. From the side, the prompt service (versioned templates, guard-prompt injection, rollback) and the two-tier memory store (short-term Redis session state, long-term vector-plus-KV customer memory, threaded as a context object) serve the call. Beneath sits the retrieval plane — feature store, vector DB, lakehouse, event bus. The important correction on this version: policy and evals are drawn as cross-cutting planes that span the whole architecture, with tap connections up into every core component, not as orphan boxes. The policy and guardrail plane enforces policy-as-code, PII and consent, model-access rules, prompt-injection and output filters, and audit on every call. The evals and observability plane monitors quality, drift, safety, latency and cost continuously across the runtime, gateway, models, prompts and memory. This mirrors how the security rail works across the wider enterprise architecture: cross-cutting concerns span everything rather than sitting in the flow. All component names and tiers are illustrative reference choices for detailed design.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4CBA1-5489-E27B-7319-8AB61F174A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F3F7C4-ECD9-C313-06D4-8AE809728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6FDD5-6685-C4ED-D25E-C5132C410A45}"/>
              </a:ext>
            </a:extLst>
          </p:cNvPr>
          <p:cNvSpPr>
            <a:spLocks noGrp="1"/>
          </p:cNvSpPr>
          <p:nvPr>
            <p:ph type="body" idx="1"/>
          </p:nvPr>
        </p:nvSpPr>
        <p:spPr/>
        <p:txBody>
          <a:bodyPr/>
          <a:lstStyle/>
          <a:p>
            <a:r>
              <a:rPr lang="en-US" dirty="0"/>
              <a:t>Mission 3 agenda, corrected to list deliverables rather than functionalities. Four deliverables under two objectives. Objective 1 produces three: the agentic solution (specialised agents and responsibilities), the full solution blueprint (EA layers, triggers, orchestration, intent, routing, context, data universe, LLM platform and security), and sequence diagrams for three of the five functionalities. Objective 2 produces the fourth: a commercial-model point of view for the Digital Personalisation Assistant, spanning customer-facing tiers and platform monetisation through open API, white-label and usage-based pricing. The five functionalities are not agenda items — they are the scope the deliverables operate on, shown as a foundation strip: all five appear in the blueprint, three are chosen for sequence diagrams. The through-line to Mission 2 is Size and Fit, which carries the returns target of 34 percent down to 10 to 15.</a:t>
            </a:r>
          </a:p>
        </p:txBody>
      </p:sp>
      <p:sp>
        <p:nvSpPr>
          <p:cNvPr id="4" name="Slide Number Placeholder 3">
            <a:extLst>
              <a:ext uri="{FF2B5EF4-FFF2-40B4-BE49-F238E27FC236}">
                <a16:creationId xmlns:a16="http://schemas.microsoft.com/office/drawing/2014/main" id="{3978D8B5-AB3F-FCBE-E1E4-CD829C0515F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3651254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12E7E-38B1-C8F3-8175-7A9B08E253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7769A-8E61-B5DC-943A-B6CAAC433D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B514DD-6321-7F47-F701-85254EA98A72}"/>
              </a:ext>
            </a:extLst>
          </p:cNvPr>
          <p:cNvSpPr>
            <a:spLocks noGrp="1"/>
          </p:cNvSpPr>
          <p:nvPr>
            <p:ph type="body" idx="1"/>
          </p:nvPr>
        </p:nvSpPr>
        <p:spPr/>
        <p:txBody>
          <a:bodyPr/>
          <a:lstStyle/>
          <a:p>
            <a:r>
              <a:rPr lang="en-US" dirty="0"/>
              <a:t>Mission 3 agenda, corrected to list deliverables rather than functionalities. Four deliverables under two objectives. Objective 1 produces three: the agentic solution (specialised agents and responsibilities), the full solution blueprint (EA layers, triggers, orchestration, intent, routing, context, data universe, LLM platform and security), and sequence diagrams for three of the five functionalities. Objective 2 produces the fourth: a commercial-model point of view for the Digital Personalisation Assistant, spanning customer-facing tiers and platform monetisation through open API, white-label and usage-based pricing. The five functionalities are not agenda items — they are the scope the deliverables operate on, shown as a foundation strip: all five appear in the blueprint, three are chosen for sequence diagrams. The through-line to Mission 2 is Size and Fit, which carries the returns target of 34 percent down to 10 to 15.</a:t>
            </a:r>
          </a:p>
        </p:txBody>
      </p:sp>
      <p:sp>
        <p:nvSpPr>
          <p:cNvPr id="4" name="Slide Number Placeholder 3">
            <a:extLst>
              <a:ext uri="{FF2B5EF4-FFF2-40B4-BE49-F238E27FC236}">
                <a16:creationId xmlns:a16="http://schemas.microsoft.com/office/drawing/2014/main" id="{524C24E2-02E5-3698-88E2-559D8B911CD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12613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DB39D-F9E6-F1D9-5FC6-E7DD8B9D2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416A5-94A6-8371-288B-0FBF75DC04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A5009-94E9-9353-4F9A-483B83291570}"/>
              </a:ext>
            </a:extLst>
          </p:cNvPr>
          <p:cNvSpPr>
            <a:spLocks noGrp="1"/>
          </p:cNvSpPr>
          <p:nvPr>
            <p:ph type="body" idx="1"/>
          </p:nvPr>
        </p:nvSpPr>
        <p:spPr/>
        <p:txBody>
          <a:bodyPr/>
          <a:lstStyle/>
          <a:p>
            <a:r>
              <a:rPr lang="en-US" dirty="0"/>
              <a:t>Mission 3 agenda, corrected to list deliverables rather than functionalities. Four deliverables under two objectives. Objective 1 produces three: the agentic solution (specialised agents and responsibilities), the full solution blueprint (EA layers, triggers, orchestration, intent, routing, context, data universe, LLM platform and security), and sequence diagrams for three of the five functionalities. Objective 2 produces the fourth: a commercial-model point of view for the Digital Personalisation Assistant, spanning customer-facing tiers and platform monetisation through open API, white-label and usage-based pricing. The five functionalities are not agenda items — they are the scope the deliverables operate on, shown as a foundation strip: all five appear in the blueprint, three are chosen for sequence diagrams. The through-line to Mission 2 is Size and Fit, which carries the returns target of 34 percent down to 10 to 15.</a:t>
            </a:r>
          </a:p>
        </p:txBody>
      </p:sp>
      <p:sp>
        <p:nvSpPr>
          <p:cNvPr id="4" name="Slide Number Placeholder 3">
            <a:extLst>
              <a:ext uri="{FF2B5EF4-FFF2-40B4-BE49-F238E27FC236}">
                <a16:creationId xmlns:a16="http://schemas.microsoft.com/office/drawing/2014/main" id="{140F4A70-C49B-BF4A-DCB8-A62C41F6B63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537817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A49B6-7D53-D555-835B-BB60367C5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774690-9694-A4CF-2965-EEF5E7A89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2136FC-61A3-080E-26EF-1803827ED113}"/>
              </a:ext>
            </a:extLst>
          </p:cNvPr>
          <p:cNvSpPr>
            <a:spLocks noGrp="1"/>
          </p:cNvSpPr>
          <p:nvPr>
            <p:ph type="body" idx="1"/>
          </p:nvPr>
        </p:nvSpPr>
        <p:spPr/>
        <p:txBody>
          <a:bodyPr/>
          <a:lstStyle/>
          <a:p>
            <a:r>
              <a:rPr lang="en-US" dirty="0"/>
              <a:t>Mission 3 agenda, corrected to list deliverables rather than functionalities. Four deliverables under two objectives. Objective 1 produces three: the agentic solution (specialised agents and responsibilities), the full solution blueprint (EA layers, triggers, orchestration, intent, routing, context, data universe, LLM platform and security), and sequence diagrams for three of the five functionalities. Objective 2 produces the fourth: a commercial-model point of view for the Digital Personalisation Assistant, spanning customer-facing tiers and platform monetisation through open API, white-label and usage-based pricing. The five functionalities are not agenda items — they are the scope the deliverables operate on, shown as a foundation strip: all five appear in the blueprint, three are chosen for sequence diagrams. The through-line to Mission 2 is Size and Fit, which carries the returns target of 34 percent down to 10 to 15.</a:t>
            </a:r>
          </a:p>
        </p:txBody>
      </p:sp>
      <p:sp>
        <p:nvSpPr>
          <p:cNvPr id="4" name="Slide Number Placeholder 3">
            <a:extLst>
              <a:ext uri="{FF2B5EF4-FFF2-40B4-BE49-F238E27FC236}">
                <a16:creationId xmlns:a16="http://schemas.microsoft.com/office/drawing/2014/main" id="{C37C8A0C-9E0D-6188-E62C-8051A1B73A4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260121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 the commercial model, opening slide. The strategic anchor is the Mission 1 choice: a digital platform with stores. That word platform is what makes Objective 2 possible — it means the Personalisation Assistant is not merely a feature for our own shoppers, it is a capability we can sell. So the same single build is monetised at three widening rings. Ring 1 is customer-facing, B2C: our own 820,000 loyalty members, on a freemium-plus-premium-subscription model. The core personalisation is free — it has to be, because it is what lifts conversion and cuts returns, which is the core retail business case, so it is funded by the margin it creates. The premium paid tier adds the high-value services: styling advisory, fit guarantee, early access, concierge. Ring 1 is powered by CONCIERGE and TALLY. Ring 2 is the platform play, B2B: other retailers call our agents through an open API, priced on usage or on outcome. Size and Fit as a Service is TAILOR; Segmentation as a Service is PERSONA. Ring 3 is white-label, B2B2C: the whole Assistant rebranded and run on another retailer's estate — our platform, their brand — licence plus revenue share, the highest-value and highest-touch option, powered by the whole 17-agent estate. The rings widen deliberately: Ring 1 proves it works and pays for the build, Ring 2 sells the proven agents, Ring 3 licences the platform. And the moat: only Neu.Tail can offer outcome-based pricing on returns, because only we have the GRADE-to-TAILOR loop that turns a return into prevention. We get paid when we save you returns is a pitch no pure-software vendor can make. Everything here is directional — pricing models, not committed figures, to be validated with commercial and finance.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 1 in detail — the customer-facing model. The core principle: personalisation itself is free, because it funds itself through conversion and returns; we charge for services on top, not for being understood. Three tiers. Tier 0, Free, for every loyalty member: 1:1 personalised discovery from MUSE, basic right-size fit guidance from TAILOR, loyalty points and rewards from TALLY, autonomous service from CARE. It is free because it lifts conversion and cuts returns — the retail margin pays for it. Tier 1, premium, call it Neu.Tail+, illustratively around 4.99 a month: personal styling advisory from CONCIERGE (the free-tier entry that converts to paid depth), a TAILOR-backed fit guarantee with free returns on any miss, early and exclusive access, and priority service and fulfilment. The key point: the paid layer sits on the very same agents — we are selling services, not access. Tier 2, Concierge, value-priced for the high-value segment PERSONA identifies: human-plus-agent styling, wardrobe management, white-glove logistics, VIP tiers — the highest ARPU. The freemium logic in one line: we never charge for the personalisation that makes us money anyway; the free tier drives the gains that fund the platform, and the paid tiers monetise services the same agents already deliver. Upgrade is one tap, surfaced by CONCIERGE at the right moment inside the experience. The 4.99 figure is illustrative and to be validated.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Rings 2 and 3 — the platform and ecosystem model, three ways to buy the capability beyond our own estate. First, the open API on usage-based or tiered pricing: pay-as-you-go per thousand calls so a buyer can try before they scale, tiered Starter/Growth/Enterprise bands, exposing agent endpoints — TAILOR for fit, PERSONA for segmentation, MUSE for recommendation. This is the lowest-friction, land-and-expand entry. Second, and the differentiator: outcome-based value-share. We take a percentage of the returns value TAILOR removes, so we only win when the client wins — a perfectly aligned incentive, and one only we can offer because only we have the GRADE-to-TAILOR loop that turns returns into prevention. It is the pitch no pure-software vendor can match. Third, white-label: a full platform licence plus revenue-share, the whole Assistant run for another retailer under their brand, on their catalogue, stores and data — all 17 agents, our runtime and guardrails. Highest value, highest touch. The land-and-expand ladder ties it together: a retailer tries one API, scales on usage, moves to value-share as returns fall, and ultimately goes white-label. Each rung deepens the relationship and the revenue. Everything is directional — pricing structures, not committed rates, to be modelled with commercial and finance.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7">
          <a:extLst>
            <a:ext uri="{FF2B5EF4-FFF2-40B4-BE49-F238E27FC236}">
              <a16:creationId xmlns:a16="http://schemas.microsoft.com/office/drawing/2014/main" id="{63233906-328C-5FF2-2347-7A2790C66E77}"/>
            </a:ext>
          </a:extLst>
        </p:cNvPr>
        <p:cNvGrpSpPr/>
        <p:nvPr/>
      </p:nvGrpSpPr>
      <p:grpSpPr>
        <a:xfrm>
          <a:off x="0" y="0"/>
          <a:ext cx="0" cy="0"/>
          <a:chOff x="0" y="0"/>
          <a:chExt cx="0" cy="0"/>
        </a:xfrm>
      </p:grpSpPr>
      <p:sp>
        <p:nvSpPr>
          <p:cNvPr id="1198" name="Google Shape;1198;p21:notes">
            <a:extLst>
              <a:ext uri="{FF2B5EF4-FFF2-40B4-BE49-F238E27FC236}">
                <a16:creationId xmlns:a16="http://schemas.microsoft.com/office/drawing/2014/main" id="{CB406252-52CD-543F-9D31-56E964B6BAAF}"/>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1199" name="Google Shape;1199;p21:notes">
            <a:extLst>
              <a:ext uri="{FF2B5EF4-FFF2-40B4-BE49-F238E27FC236}">
                <a16:creationId xmlns:a16="http://schemas.microsoft.com/office/drawing/2014/main" id="{E7B854D8-483E-7A17-6DE8-C7F39F27571F}"/>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lang="en-US" sz="1200" kern="1200" dirty="0">
                <a:solidFill>
                  <a:schemeClr val="tx1"/>
                </a:solidFill>
                <a:effectLst/>
                <a:latin typeface="+mn-lt"/>
                <a:ea typeface="+mn-ea"/>
                <a:cs typeface="+mn-cs"/>
              </a:rPr>
              <a:t>"To close: two journeys, thirteen agents, one platform — mapped, reimagined, and ready to build. Everything today rests on one idea: </a:t>
            </a:r>
            <a:r>
              <a:rPr lang="en-US" sz="1200" kern="1200" dirty="0" err="1">
                <a:solidFill>
                  <a:schemeClr val="tx1"/>
                </a:solidFill>
                <a:effectLst/>
                <a:latin typeface="+mn-lt"/>
                <a:ea typeface="+mn-ea"/>
                <a:cs typeface="+mn-cs"/>
              </a:rPr>
              <a:t>Neu.Tail</a:t>
            </a:r>
            <a:r>
              <a:rPr lang="en-US" sz="1200" kern="1200" dirty="0">
                <a:solidFill>
                  <a:schemeClr val="tx1"/>
                </a:solidFill>
                <a:effectLst/>
                <a:latin typeface="+mn-lt"/>
                <a:ea typeface="+mn-ea"/>
                <a:cs typeface="+mn-cs"/>
              </a:rPr>
              <a:t> becomes an AI-native platform that happens to own stores, running both the customer journey and the merchandise lifecycle on a single intelligent spine. Thank you."</a:t>
            </a:r>
          </a:p>
        </p:txBody>
      </p:sp>
      <p:sp>
        <p:nvSpPr>
          <p:cNvPr id="1200" name="Google Shape;1200;p21:notes">
            <a:extLst>
              <a:ext uri="{FF2B5EF4-FFF2-40B4-BE49-F238E27FC236}">
                <a16:creationId xmlns:a16="http://schemas.microsoft.com/office/drawing/2014/main" id="{A225A5FC-7771-3FEC-8DA0-6774BA2B66E7}"/>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17</a:t>
            </a:fld>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3679165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agent ecosystem on one slide — all 17 agents, colour-coded by their relationship to Mission 3. Four new sub-agents in red: PERSONA for profiling, TAILOR for fit, CONCIERGE for upsell, TALLY for loyalty. Five reused agents in blue carried straight from Mission 2 — MUSE, ONEBASKET, GRADE, CARE and SENTRY. Two cross-domain signal agents in amber — SCOUT feeding trend to MUSE, PACE giving price context. And six Mission 2-only agents in grey that remain in the estate but sit outside the Personalisation Assistant use cases. Each card carries its UC tag showing which of the five use cases it serves, plus its dependency line. The message: eleven of seventeen agents participate, but only four are new — the Assistant is overwhelmingly built from the existing estate, governed by the same orchestrator, human-in-the-loop and guardrails from Mission 2.</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8E4BE-59E3-6DCF-D7A8-5F6AA6392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82F33-6BC0-76F3-EEC5-9EB07D9BA4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42FAE-DD2D-8290-4569-69BFDCC6F9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This slide closes the gap between the agents and the money. Three things sit beneath both journeys and belong to neither alone: the AI and agent platform — build once, not thirteen times, which is what makes nineteen initiatives affordable in 36 months; agent evaluation and assurance — how we prove decision quality before release, which is what lets a CTO sign off autonomous pricing; and the governance embedded in both. The headline: the two journeys share one spine, so returns grading simultaneously cuts customer friction and corrects buying. That's why the EBITDA path is credible on the clock.</a:t>
            </a:r>
          </a:p>
          <a:p>
            <a:endParaRPr lang="en-US" dirty="0"/>
          </a:p>
        </p:txBody>
      </p:sp>
      <p:sp>
        <p:nvSpPr>
          <p:cNvPr id="4" name="Slide Number Placeholder 3">
            <a:extLst>
              <a:ext uri="{FF2B5EF4-FFF2-40B4-BE49-F238E27FC236}">
                <a16:creationId xmlns:a16="http://schemas.microsoft.com/office/drawing/2014/main" id="{3A80CEC1-40EA-FA61-3452-E5FDA5677DBD}"/>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987312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2C_0.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
          <a:extLst>
            <a:ext uri="{FF2B5EF4-FFF2-40B4-BE49-F238E27FC236}">
              <a16:creationId xmlns:a16="http://schemas.microsoft.com/office/drawing/2014/main" id="{B72DA97F-C259-88AF-4023-04CA75B02EA1}"/>
            </a:ext>
          </a:extLst>
        </p:cNvPr>
        <p:cNvGrpSpPr/>
        <p:nvPr/>
      </p:nvGrpSpPr>
      <p:grpSpPr>
        <a:xfrm>
          <a:off x="0" y="0"/>
          <a:ext cx="0" cy="0"/>
          <a:chOff x="0" y="0"/>
          <a:chExt cx="0" cy="0"/>
        </a:xfrm>
      </p:grpSpPr>
      <p:pic>
        <p:nvPicPr>
          <p:cNvPr id="12" name="Google Shape;12;p1" descr="Robot In Red Background Images, HD Pictures and Wallpaper ...">
            <a:extLst>
              <a:ext uri="{FF2B5EF4-FFF2-40B4-BE49-F238E27FC236}">
                <a16:creationId xmlns:a16="http://schemas.microsoft.com/office/drawing/2014/main" id="{631B26EF-0C79-B618-6F10-ACE66DE9B7CA}"/>
              </a:ext>
            </a:extLst>
          </p:cNvPr>
          <p:cNvPicPr preferRelativeResize="0"/>
          <p:nvPr/>
        </p:nvPicPr>
        <p:blipFill rotWithShape="1">
          <a:blip r:embed="rId3">
            <a:alphaModFix amt="52000"/>
          </a:blip>
          <a:srcRect/>
          <a:stretch/>
        </p:blipFill>
        <p:spPr>
          <a:xfrm>
            <a:off x="7432625" y="0"/>
            <a:ext cx="4759375" cy="6858000"/>
          </a:xfrm>
          <a:prstGeom prst="rect">
            <a:avLst/>
          </a:prstGeom>
          <a:noFill/>
          <a:ln>
            <a:noFill/>
          </a:ln>
        </p:spPr>
      </p:pic>
      <p:sp>
        <p:nvSpPr>
          <p:cNvPr id="13" name="Google Shape;13;p1">
            <a:extLst>
              <a:ext uri="{FF2B5EF4-FFF2-40B4-BE49-F238E27FC236}">
                <a16:creationId xmlns:a16="http://schemas.microsoft.com/office/drawing/2014/main" id="{A340C423-90B1-4749-13E6-600DDA0D7D1C}"/>
              </a:ext>
            </a:extLst>
          </p:cNvPr>
          <p:cNvSpPr/>
          <p:nvPr/>
        </p:nvSpPr>
        <p:spPr>
          <a:xfrm>
            <a:off x="609600" y="1768625"/>
            <a:ext cx="254000" cy="31751"/>
          </a:xfrm>
          <a:prstGeom prst="rect">
            <a:avLst/>
          </a:prstGeom>
          <a:solidFill>
            <a:srgbClr val="E31837"/>
          </a:solidFill>
          <a:ln>
            <a:noFill/>
          </a:ln>
        </p:spPr>
        <p:txBody>
          <a:bodyPr spcFirstLastPara="1" wrap="square" lIns="121900" tIns="60933" rIns="121900" bIns="60933" anchor="t" anchorCtr="0">
            <a:noAutofit/>
          </a:bodyPr>
          <a:lstStyle/>
          <a:p>
            <a:endParaRPr sz="1200">
              <a:solidFill>
                <a:schemeClr val="dk1"/>
              </a:solidFill>
              <a:latin typeface="Calibri"/>
              <a:ea typeface="Calibri"/>
              <a:cs typeface="Calibri"/>
              <a:sym typeface="Calibri"/>
            </a:endParaRPr>
          </a:p>
        </p:txBody>
      </p:sp>
      <p:sp>
        <p:nvSpPr>
          <p:cNvPr id="14" name="Google Shape;14;p1">
            <a:extLst>
              <a:ext uri="{FF2B5EF4-FFF2-40B4-BE49-F238E27FC236}">
                <a16:creationId xmlns:a16="http://schemas.microsoft.com/office/drawing/2014/main" id="{947A6A2E-26B2-79D6-AAAB-EF96D7A6ECEE}"/>
              </a:ext>
            </a:extLst>
          </p:cNvPr>
          <p:cNvSpPr/>
          <p:nvPr/>
        </p:nvSpPr>
        <p:spPr>
          <a:xfrm>
            <a:off x="952501" y="1692425"/>
            <a:ext cx="6332940" cy="209551"/>
          </a:xfrm>
          <a:prstGeom prst="rect">
            <a:avLst/>
          </a:prstGeom>
          <a:noFill/>
          <a:ln>
            <a:noFill/>
          </a:ln>
        </p:spPr>
        <p:txBody>
          <a:bodyPr spcFirstLastPara="1" wrap="square" lIns="16933" tIns="16933" rIns="16933" bIns="16933" anchor="t" anchorCtr="0">
            <a:normAutofit/>
          </a:bodyPr>
          <a:lstStyle/>
          <a:p>
            <a:pPr>
              <a:lnSpc>
                <a:spcPct val="90000"/>
              </a:lnSpc>
            </a:pPr>
            <a:r>
              <a:rPr lang="en-US" sz="1200" b="1" dirty="0">
                <a:solidFill>
                  <a:srgbClr val="E31837"/>
                </a:solidFill>
                <a:latin typeface="Montserrat"/>
                <a:ea typeface="Montserrat"/>
                <a:cs typeface="Montserrat"/>
                <a:sym typeface="Montserrat"/>
              </a:rPr>
              <a:t>DIGITAL ARCHITECT HACKATHON · SEASON 7 · MISSION 3</a:t>
            </a:r>
            <a:endParaRPr sz="1200" dirty="0">
              <a:solidFill>
                <a:schemeClr val="dk1"/>
              </a:solidFill>
              <a:latin typeface="Calibri"/>
              <a:ea typeface="Calibri"/>
              <a:cs typeface="Calibri"/>
              <a:sym typeface="Calibri"/>
            </a:endParaRPr>
          </a:p>
        </p:txBody>
      </p:sp>
      <p:sp>
        <p:nvSpPr>
          <p:cNvPr id="15" name="Google Shape;15;p1">
            <a:extLst>
              <a:ext uri="{FF2B5EF4-FFF2-40B4-BE49-F238E27FC236}">
                <a16:creationId xmlns:a16="http://schemas.microsoft.com/office/drawing/2014/main" id="{A12D4B95-8DE5-BE74-0249-BEF1DE6E7C46}"/>
              </a:ext>
            </a:extLst>
          </p:cNvPr>
          <p:cNvSpPr/>
          <p:nvPr/>
        </p:nvSpPr>
        <p:spPr>
          <a:xfrm>
            <a:off x="609601" y="2067075"/>
            <a:ext cx="6609124" cy="1113532"/>
          </a:xfrm>
          <a:prstGeom prst="rect">
            <a:avLst/>
          </a:prstGeom>
          <a:noFill/>
          <a:ln>
            <a:noFill/>
          </a:ln>
        </p:spPr>
        <p:txBody>
          <a:bodyPr spcFirstLastPara="1" wrap="square" lIns="16933" tIns="16933" rIns="16933" bIns="16933" anchor="t" anchorCtr="0">
            <a:normAutofit/>
          </a:bodyPr>
          <a:lstStyle/>
          <a:p>
            <a:pPr>
              <a:lnSpc>
                <a:spcPct val="82000"/>
              </a:lnSpc>
            </a:pPr>
            <a:r>
              <a:rPr lang="en-US" sz="3885" b="1" dirty="0">
                <a:solidFill>
                  <a:srgbClr val="333333"/>
                </a:solidFill>
                <a:latin typeface="Montserrat"/>
                <a:ea typeface="Montserrat"/>
                <a:cs typeface="Montserrat"/>
                <a:sym typeface="Montserrat"/>
              </a:rPr>
              <a:t>Service Blueprint &amp; Agentic Ecosystem</a:t>
            </a:r>
            <a:endParaRPr sz="3885" dirty="0">
              <a:solidFill>
                <a:schemeClr val="dk1"/>
              </a:solidFill>
              <a:latin typeface="Calibri"/>
              <a:ea typeface="Calibri"/>
              <a:cs typeface="Calibri"/>
              <a:sym typeface="Calibri"/>
            </a:endParaRPr>
          </a:p>
        </p:txBody>
      </p:sp>
      <p:sp>
        <p:nvSpPr>
          <p:cNvPr id="16" name="Google Shape;16;p1">
            <a:extLst>
              <a:ext uri="{FF2B5EF4-FFF2-40B4-BE49-F238E27FC236}">
                <a16:creationId xmlns:a16="http://schemas.microsoft.com/office/drawing/2014/main" id="{C0CD4AD7-3FE6-FC51-CD64-BCBD440D1215}"/>
              </a:ext>
            </a:extLst>
          </p:cNvPr>
          <p:cNvSpPr/>
          <p:nvPr/>
        </p:nvSpPr>
        <p:spPr>
          <a:xfrm>
            <a:off x="609599" y="3333007"/>
            <a:ext cx="6315307" cy="676871"/>
          </a:xfrm>
          <a:prstGeom prst="rect">
            <a:avLst/>
          </a:prstGeom>
          <a:noFill/>
          <a:ln>
            <a:noFill/>
          </a:ln>
        </p:spPr>
        <p:txBody>
          <a:bodyPr spcFirstLastPara="1" wrap="square" lIns="16933" tIns="16933" rIns="16933" bIns="16933" anchor="t" anchorCtr="0">
            <a:noAutofit/>
          </a:bodyPr>
          <a:lstStyle/>
          <a:p>
            <a:pPr>
              <a:lnSpc>
                <a:spcPct val="125000"/>
              </a:lnSpc>
            </a:pPr>
            <a:r>
              <a:rPr lang="en-US" sz="1400" dirty="0">
                <a:latin typeface="Lora" pitchFamily="2" charset="77"/>
              </a:rPr>
              <a:t>One integrated agentic ecosystem — blueprinted end-to-end, sequenced across the customer journey, and given a commercial model.</a:t>
            </a:r>
            <a:endParaRPr lang="en-US" sz="1400" dirty="0">
              <a:solidFill>
                <a:srgbClr val="333333"/>
              </a:solidFill>
              <a:latin typeface="Lora" pitchFamily="2" charset="77"/>
            </a:endParaRPr>
          </a:p>
        </p:txBody>
      </p:sp>
      <p:sp>
        <p:nvSpPr>
          <p:cNvPr id="17" name="Google Shape;17;p1">
            <a:extLst>
              <a:ext uri="{FF2B5EF4-FFF2-40B4-BE49-F238E27FC236}">
                <a16:creationId xmlns:a16="http://schemas.microsoft.com/office/drawing/2014/main" id="{571031FA-5C77-BA1D-A590-6194C76CD176}"/>
              </a:ext>
            </a:extLst>
          </p:cNvPr>
          <p:cNvSpPr/>
          <p:nvPr/>
        </p:nvSpPr>
        <p:spPr>
          <a:xfrm>
            <a:off x="609600" y="4327377"/>
            <a:ext cx="5588000" cy="6351"/>
          </a:xfrm>
          <a:prstGeom prst="rect">
            <a:avLst/>
          </a:prstGeom>
          <a:solidFill>
            <a:srgbClr val="E9E5E1"/>
          </a:solidFill>
          <a:ln>
            <a:noFill/>
          </a:ln>
        </p:spPr>
        <p:txBody>
          <a:bodyPr spcFirstLastPara="1" wrap="square" lIns="121900" tIns="60933" rIns="121900" bIns="60933" anchor="t" anchorCtr="0">
            <a:noAutofit/>
          </a:bodyPr>
          <a:lstStyle/>
          <a:p>
            <a:endParaRPr sz="1200">
              <a:solidFill>
                <a:schemeClr val="dk1"/>
              </a:solidFill>
              <a:latin typeface="Calibri"/>
              <a:ea typeface="Calibri"/>
              <a:cs typeface="Calibri"/>
              <a:sym typeface="Calibri"/>
            </a:endParaRPr>
          </a:p>
        </p:txBody>
      </p:sp>
      <p:sp>
        <p:nvSpPr>
          <p:cNvPr id="18" name="Google Shape;18;p1">
            <a:extLst>
              <a:ext uri="{FF2B5EF4-FFF2-40B4-BE49-F238E27FC236}">
                <a16:creationId xmlns:a16="http://schemas.microsoft.com/office/drawing/2014/main" id="{2B0616C7-CD8E-AEB6-58F5-28D2F527FD69}"/>
              </a:ext>
            </a:extLst>
          </p:cNvPr>
          <p:cNvSpPr/>
          <p:nvPr/>
        </p:nvSpPr>
        <p:spPr>
          <a:xfrm>
            <a:off x="609600" y="4524227"/>
            <a:ext cx="4749800" cy="209551"/>
          </a:xfrm>
          <a:prstGeom prst="rect">
            <a:avLst/>
          </a:prstGeom>
          <a:noFill/>
          <a:ln>
            <a:noFill/>
          </a:ln>
        </p:spPr>
        <p:txBody>
          <a:bodyPr spcFirstLastPara="1" wrap="square" lIns="16933" tIns="16933" rIns="16933" bIns="16933" anchor="t" anchorCtr="0">
            <a:normAutofit/>
          </a:bodyPr>
          <a:lstStyle/>
          <a:p>
            <a:pPr>
              <a:lnSpc>
                <a:spcPct val="90000"/>
              </a:lnSpc>
            </a:pPr>
            <a:r>
              <a:rPr lang="en-US" sz="1200" b="1">
                <a:solidFill>
                  <a:srgbClr val="333333"/>
                </a:solidFill>
                <a:latin typeface="Montserrat"/>
                <a:ea typeface="Montserrat"/>
                <a:cs typeface="Montserrat"/>
                <a:sym typeface="Montserrat"/>
              </a:rPr>
              <a:t>Team 5 — Condor Galaxy</a:t>
            </a:r>
            <a:endParaRPr sz="1200">
              <a:solidFill>
                <a:schemeClr val="dk1"/>
              </a:solidFill>
              <a:latin typeface="Calibri"/>
              <a:ea typeface="Calibri"/>
              <a:cs typeface="Calibri"/>
              <a:sym typeface="Calibri"/>
            </a:endParaRPr>
          </a:p>
        </p:txBody>
      </p:sp>
      <p:sp>
        <p:nvSpPr>
          <p:cNvPr id="19" name="Google Shape;19;p1">
            <a:extLst>
              <a:ext uri="{FF2B5EF4-FFF2-40B4-BE49-F238E27FC236}">
                <a16:creationId xmlns:a16="http://schemas.microsoft.com/office/drawing/2014/main" id="{59E777A9-49DF-A407-642A-7A3862DA6B43}"/>
              </a:ext>
            </a:extLst>
          </p:cNvPr>
          <p:cNvSpPr/>
          <p:nvPr/>
        </p:nvSpPr>
        <p:spPr>
          <a:xfrm>
            <a:off x="609602" y="4759176"/>
            <a:ext cx="2158901" cy="1819424"/>
          </a:xfrm>
          <a:prstGeom prst="rect">
            <a:avLst/>
          </a:prstGeom>
          <a:noFill/>
          <a:ln>
            <a:noFill/>
          </a:ln>
        </p:spPr>
        <p:txBody>
          <a:bodyPr spcFirstLastPara="1" wrap="square" lIns="16933" tIns="16933" rIns="16933" bIns="16933" anchor="t" anchorCtr="0">
            <a:normAutofit/>
          </a:bodyPr>
          <a:lstStyle/>
          <a:p>
            <a:pPr>
              <a:lnSpc>
                <a:spcPct val="140000"/>
              </a:lnSpc>
            </a:pPr>
            <a:r>
              <a:rPr lang="en-US" sz="987" dirty="0">
                <a:solidFill>
                  <a:srgbClr val="666666"/>
                </a:solidFill>
                <a:latin typeface="Montserrat"/>
                <a:ea typeface="Montserrat"/>
                <a:cs typeface="Montserrat"/>
                <a:sym typeface="Montserrat"/>
              </a:rPr>
              <a:t>Guneet Bhatia </a:t>
            </a:r>
            <a:endParaRPr sz="2400" dirty="0"/>
          </a:p>
          <a:p>
            <a:pPr>
              <a:lnSpc>
                <a:spcPct val="140000"/>
              </a:lnSpc>
            </a:pPr>
            <a:r>
              <a:rPr lang="en-US" sz="987" dirty="0">
                <a:solidFill>
                  <a:srgbClr val="666666"/>
                </a:solidFill>
                <a:latin typeface="Montserrat"/>
                <a:ea typeface="Montserrat"/>
                <a:cs typeface="Montserrat"/>
                <a:sym typeface="Montserrat"/>
              </a:rPr>
              <a:t>Ritu Verma </a:t>
            </a:r>
          </a:p>
          <a:p>
            <a:pPr>
              <a:lnSpc>
                <a:spcPct val="140000"/>
              </a:lnSpc>
            </a:pPr>
            <a:r>
              <a:rPr lang="en-US" sz="987" dirty="0">
                <a:solidFill>
                  <a:srgbClr val="666666"/>
                </a:solidFill>
                <a:latin typeface="Montserrat"/>
                <a:ea typeface="Montserrat"/>
                <a:cs typeface="Montserrat"/>
                <a:sym typeface="Montserrat"/>
              </a:rPr>
              <a:t>Mukesh Gupta </a:t>
            </a:r>
          </a:p>
        </p:txBody>
      </p:sp>
      <p:sp>
        <p:nvSpPr>
          <p:cNvPr id="20" name="Google Shape;20;p1">
            <a:extLst>
              <a:ext uri="{FF2B5EF4-FFF2-40B4-BE49-F238E27FC236}">
                <a16:creationId xmlns:a16="http://schemas.microsoft.com/office/drawing/2014/main" id="{21E643D0-15F9-866C-2229-66B952FFE5F2}"/>
              </a:ext>
            </a:extLst>
          </p:cNvPr>
          <p:cNvSpPr/>
          <p:nvPr/>
        </p:nvSpPr>
        <p:spPr>
          <a:xfrm>
            <a:off x="5166519" y="5032227"/>
            <a:ext cx="1219404" cy="209551"/>
          </a:xfrm>
          <a:prstGeom prst="rect">
            <a:avLst/>
          </a:prstGeom>
          <a:noFill/>
          <a:ln>
            <a:noFill/>
          </a:ln>
        </p:spPr>
        <p:txBody>
          <a:bodyPr spcFirstLastPara="1" wrap="square" lIns="16933" tIns="16933" rIns="16933" bIns="16933" anchor="t" anchorCtr="0">
            <a:normAutofit fontScale="92500"/>
          </a:bodyPr>
          <a:lstStyle/>
          <a:p>
            <a:pPr>
              <a:lnSpc>
                <a:spcPct val="90000"/>
              </a:lnSpc>
            </a:pPr>
            <a:r>
              <a:rPr lang="en-US" sz="1200" b="1" dirty="0">
                <a:solidFill>
                  <a:srgbClr val="A0A5AB"/>
                </a:solidFill>
                <a:latin typeface="Montserrat"/>
                <a:ea typeface="Montserrat"/>
                <a:cs typeface="Montserrat"/>
                <a:sym typeface="Montserrat"/>
              </a:rPr>
              <a:t>23 August 2026</a:t>
            </a:r>
            <a:endParaRPr sz="1200" dirty="0">
              <a:solidFill>
                <a:schemeClr val="dk1"/>
              </a:solidFill>
              <a:latin typeface="Calibri"/>
              <a:ea typeface="Calibri"/>
              <a:cs typeface="Calibri"/>
              <a:sym typeface="Calibri"/>
            </a:endParaRPr>
          </a:p>
        </p:txBody>
      </p:sp>
      <p:sp>
        <p:nvSpPr>
          <p:cNvPr id="21" name="Google Shape;21;p1">
            <a:extLst>
              <a:ext uri="{FF2B5EF4-FFF2-40B4-BE49-F238E27FC236}">
                <a16:creationId xmlns:a16="http://schemas.microsoft.com/office/drawing/2014/main" id="{6ED7A449-1A58-5FC1-20EA-91B229ED5A52}"/>
              </a:ext>
            </a:extLst>
          </p:cNvPr>
          <p:cNvSpPr/>
          <p:nvPr/>
        </p:nvSpPr>
        <p:spPr>
          <a:xfrm>
            <a:off x="7432626" y="0"/>
            <a:ext cx="6351" cy="6858000"/>
          </a:xfrm>
          <a:prstGeom prst="rect">
            <a:avLst/>
          </a:prstGeom>
          <a:solidFill>
            <a:srgbClr val="E9E5E1"/>
          </a:solidFill>
          <a:ln>
            <a:noFill/>
          </a:ln>
        </p:spPr>
        <p:txBody>
          <a:bodyPr spcFirstLastPara="1" wrap="square" lIns="121900" tIns="60933" rIns="121900" bIns="60933" anchor="t" anchorCtr="0">
            <a:noAutofit/>
          </a:bodyPr>
          <a:lstStyle/>
          <a:p>
            <a:endParaRPr sz="1200">
              <a:solidFill>
                <a:schemeClr val="dk1"/>
              </a:solidFill>
              <a:latin typeface="Calibri"/>
              <a:ea typeface="Calibri"/>
              <a:cs typeface="Calibri"/>
              <a:sym typeface="Calibri"/>
            </a:endParaRPr>
          </a:p>
        </p:txBody>
      </p:sp>
      <p:pic>
        <p:nvPicPr>
          <p:cNvPr id="22" name="Google Shape;22;p1" descr="preencoded.png">
            <a:extLst>
              <a:ext uri="{FF2B5EF4-FFF2-40B4-BE49-F238E27FC236}">
                <a16:creationId xmlns:a16="http://schemas.microsoft.com/office/drawing/2014/main" id="{AE8674FC-B2C1-09A3-C344-FFC9F0C9A75A}"/>
              </a:ext>
            </a:extLst>
          </p:cNvPr>
          <p:cNvPicPr preferRelativeResize="0"/>
          <p:nvPr/>
        </p:nvPicPr>
        <p:blipFill rotWithShape="1">
          <a:blip r:embed="rId4">
            <a:alphaModFix/>
          </a:blip>
          <a:srcRect/>
          <a:stretch/>
        </p:blipFill>
        <p:spPr>
          <a:xfrm>
            <a:off x="8485679" y="2878398"/>
            <a:ext cx="2730500" cy="2739033"/>
          </a:xfrm>
          <a:prstGeom prst="rect">
            <a:avLst/>
          </a:prstGeom>
          <a:noFill/>
          <a:ln>
            <a:noFill/>
          </a:ln>
        </p:spPr>
      </p:pic>
      <p:sp>
        <p:nvSpPr>
          <p:cNvPr id="23" name="Google Shape;23;p1">
            <a:extLst>
              <a:ext uri="{FF2B5EF4-FFF2-40B4-BE49-F238E27FC236}">
                <a16:creationId xmlns:a16="http://schemas.microsoft.com/office/drawing/2014/main" id="{9BEC2F01-7089-6F76-0BDC-5416D164D2CE}"/>
              </a:ext>
            </a:extLst>
          </p:cNvPr>
          <p:cNvSpPr/>
          <p:nvPr/>
        </p:nvSpPr>
        <p:spPr>
          <a:xfrm>
            <a:off x="8781307" y="6311901"/>
            <a:ext cx="2275091" cy="266700"/>
          </a:xfrm>
          <a:prstGeom prst="rect">
            <a:avLst/>
          </a:prstGeom>
          <a:noFill/>
          <a:ln>
            <a:noFill/>
          </a:ln>
        </p:spPr>
        <p:txBody>
          <a:bodyPr spcFirstLastPara="1" wrap="square" lIns="16933" tIns="16933" rIns="16933" bIns="16933" anchor="t" anchorCtr="0">
            <a:normAutofit/>
          </a:bodyPr>
          <a:lstStyle/>
          <a:p>
            <a:r>
              <a:rPr lang="en-US" sz="1500" i="1">
                <a:solidFill>
                  <a:srgbClr val="333333"/>
                </a:solidFill>
                <a:latin typeface="Lora"/>
                <a:ea typeface="Lora"/>
                <a:cs typeface="Lora"/>
                <a:sym typeface="Lora"/>
              </a:rPr>
              <a:t>Smart retail. Real value.</a:t>
            </a:r>
            <a:endParaRPr sz="1500">
              <a:solidFill>
                <a:schemeClr val="dk1"/>
              </a:solidFill>
              <a:latin typeface="Calibri"/>
              <a:ea typeface="Calibri"/>
              <a:cs typeface="Calibri"/>
              <a:sym typeface="Calibri"/>
            </a:endParaRPr>
          </a:p>
        </p:txBody>
      </p:sp>
      <p:sp>
        <p:nvSpPr>
          <p:cNvPr id="24" name="Google Shape;24;p1">
            <a:extLst>
              <a:ext uri="{FF2B5EF4-FFF2-40B4-BE49-F238E27FC236}">
                <a16:creationId xmlns:a16="http://schemas.microsoft.com/office/drawing/2014/main" id="{8A0AB368-758E-1664-2CBB-F419BEEDF238}"/>
              </a:ext>
            </a:extLst>
          </p:cNvPr>
          <p:cNvSpPr/>
          <p:nvPr/>
        </p:nvSpPr>
        <p:spPr>
          <a:xfrm>
            <a:off x="12103101" y="0"/>
            <a:ext cx="88900" cy="6858000"/>
          </a:xfrm>
          <a:prstGeom prst="rect">
            <a:avLst/>
          </a:prstGeom>
          <a:solidFill>
            <a:srgbClr val="E31837"/>
          </a:solidFill>
          <a:ln>
            <a:noFill/>
          </a:ln>
        </p:spPr>
        <p:txBody>
          <a:bodyPr spcFirstLastPara="1" wrap="square" lIns="121900" tIns="60933" rIns="121900" bIns="60933" anchor="t" anchorCtr="0">
            <a:noAutofit/>
          </a:bodyPr>
          <a:lstStyle/>
          <a:p>
            <a:endParaRPr sz="1200">
              <a:solidFill>
                <a:schemeClr val="dk1"/>
              </a:solidFill>
              <a:latin typeface="Calibri"/>
              <a:ea typeface="Calibri"/>
              <a:cs typeface="Calibri"/>
              <a:sym typeface="Calibri"/>
            </a:endParaRPr>
          </a:p>
        </p:txBody>
      </p:sp>
      <p:pic>
        <p:nvPicPr>
          <p:cNvPr id="25" name="Google Shape;25;p1">
            <a:extLst>
              <a:ext uri="{FF2B5EF4-FFF2-40B4-BE49-F238E27FC236}">
                <a16:creationId xmlns:a16="http://schemas.microsoft.com/office/drawing/2014/main" id="{6EDBF301-4A48-E81A-6498-73FABE1C8EA8}"/>
              </a:ext>
            </a:extLst>
          </p:cNvPr>
          <p:cNvPicPr preferRelativeResize="0"/>
          <p:nvPr/>
        </p:nvPicPr>
        <p:blipFill rotWithShape="1">
          <a:blip r:embed="rId5">
            <a:alphaModFix/>
          </a:blip>
          <a:srcRect/>
          <a:stretch/>
        </p:blipFill>
        <p:spPr>
          <a:xfrm>
            <a:off x="8972257" y="476993"/>
            <a:ext cx="1295400" cy="1105500"/>
          </a:xfrm>
          <a:prstGeom prst="rect">
            <a:avLst/>
          </a:prstGeom>
          <a:noFill/>
          <a:ln w="9525" cap="flat" cmpd="sng">
            <a:solidFill>
              <a:schemeClr val="lt1"/>
            </a:solidFill>
            <a:prstDash val="solid"/>
            <a:round/>
            <a:headEnd type="none" w="sm" len="sm"/>
            <a:tailEnd type="none" w="sm" len="sm"/>
          </a:ln>
        </p:spPr>
      </p:pic>
      <p:pic>
        <p:nvPicPr>
          <p:cNvPr id="26" name="Google Shape;26;p1" descr="Robot In Red Background Images, HD Pictures and Wallpaper ...">
            <a:extLst>
              <a:ext uri="{FF2B5EF4-FFF2-40B4-BE49-F238E27FC236}">
                <a16:creationId xmlns:a16="http://schemas.microsoft.com/office/drawing/2014/main" id="{322B6C21-A762-CAE6-5035-2A1889B1478B}"/>
              </a:ext>
            </a:extLst>
          </p:cNvPr>
          <p:cNvPicPr preferRelativeResize="0"/>
          <p:nvPr/>
        </p:nvPicPr>
        <p:blipFill rotWithShape="1">
          <a:blip r:embed="rId3">
            <a:alphaModFix amt="52000"/>
          </a:blip>
          <a:srcRect/>
          <a:stretch/>
        </p:blipFill>
        <p:spPr>
          <a:xfrm>
            <a:off x="7432626" y="0"/>
            <a:ext cx="4759375" cy="6858000"/>
          </a:xfrm>
          <a:prstGeom prst="rect">
            <a:avLst/>
          </a:prstGeom>
          <a:noFill/>
          <a:ln>
            <a:noFill/>
          </a:ln>
        </p:spPr>
      </p:pic>
      <p:sp>
        <p:nvSpPr>
          <p:cNvPr id="2" name="Google Shape;836;p15">
            <a:extLst>
              <a:ext uri="{FF2B5EF4-FFF2-40B4-BE49-F238E27FC236}">
                <a16:creationId xmlns:a16="http://schemas.microsoft.com/office/drawing/2014/main" id="{87C53146-4A36-D383-421E-816F976E9592}"/>
              </a:ext>
            </a:extLst>
          </p:cNvPr>
          <p:cNvSpPr/>
          <p:nvPr/>
        </p:nvSpPr>
        <p:spPr>
          <a:xfrm>
            <a:off x="2" y="0"/>
            <a:ext cx="12191695" cy="82296"/>
          </a:xfrm>
          <a:prstGeom prst="rect">
            <a:avLst/>
          </a:prstGeom>
          <a:solidFill>
            <a:srgbClr val="CC0000"/>
          </a:solidFill>
          <a:ln>
            <a:noFill/>
          </a:ln>
        </p:spPr>
        <p:txBody>
          <a:bodyPr spcFirstLastPara="1" wrap="square" lIns="121900" tIns="60933" rIns="121900" bIns="60933" anchor="t" anchorCtr="0">
            <a:noAutofit/>
          </a:bodyPr>
          <a:lstStyle/>
          <a:p>
            <a:endParaRPr>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47915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0584"/>
          </a:xfrm>
          <a:prstGeom prst="rect">
            <a:avLst/>
          </a:prstGeom>
          <a:solidFill>
            <a:srgbClr val="E31837"/>
          </a:solidFill>
          <a:ln/>
        </p:spPr>
        <p:txBody>
          <a:bodyPr/>
          <a:lstStyle/>
          <a:p>
            <a:endParaRPr lang="en-US"/>
          </a:p>
        </p:txBody>
      </p:sp>
      <p:sp>
        <p:nvSpPr>
          <p:cNvPr id="4" name="Text 2"/>
          <p:cNvSpPr/>
          <p:nvPr/>
        </p:nvSpPr>
        <p:spPr>
          <a:xfrm>
            <a:off x="548640" y="365760"/>
            <a:ext cx="7315200" cy="237744"/>
          </a:xfrm>
          <a:prstGeom prst="rect">
            <a:avLst/>
          </a:prstGeom>
          <a:noFill/>
          <a:ln/>
        </p:spPr>
        <p:txBody>
          <a:bodyPr wrap="square" lIns="0" tIns="0" rIns="0" bIns="0" rtlCol="0" anchor="ctr"/>
          <a:lstStyle/>
          <a:p>
            <a:pPr marL="0" indent="0">
              <a:buNone/>
            </a:pPr>
            <a:r>
              <a:rPr lang="en-US" sz="1100" b="1" kern="0" spc="250" dirty="0">
                <a:solidFill>
                  <a:srgbClr val="E31837"/>
                </a:solidFill>
                <a:latin typeface="Montserrat" pitchFamily="34" charset="0"/>
                <a:ea typeface="Montserrat" pitchFamily="34" charset="-122"/>
                <a:cs typeface="Montserrat" pitchFamily="34" charset="-120"/>
              </a:rPr>
              <a:t>MISSION #3 · AGENDA</a:t>
            </a:r>
            <a:endParaRPr lang="en-US" sz="1100" dirty="0"/>
          </a:p>
        </p:txBody>
      </p:sp>
      <p:sp>
        <p:nvSpPr>
          <p:cNvPr id="5" name="Text 3"/>
          <p:cNvSpPr/>
          <p:nvPr/>
        </p:nvSpPr>
        <p:spPr>
          <a:xfrm>
            <a:off x="548640" y="640080"/>
            <a:ext cx="10972800" cy="502920"/>
          </a:xfrm>
          <a:prstGeom prst="rect">
            <a:avLst/>
          </a:prstGeom>
          <a:noFill/>
          <a:ln/>
        </p:spPr>
        <p:txBody>
          <a:bodyPr wrap="square" lIns="0" tIns="0" rIns="0" bIns="0" rtlCol="0" anchor="ctr"/>
          <a:lstStyle/>
          <a:p>
            <a:pPr marL="0" indent="0">
              <a:buNone/>
            </a:pPr>
            <a:r>
              <a:rPr lang="en-US" sz="2700" b="1" dirty="0">
                <a:solidFill>
                  <a:srgbClr val="333333"/>
                </a:solidFill>
                <a:latin typeface="Montserrat" pitchFamily="34" charset="0"/>
                <a:ea typeface="Montserrat" pitchFamily="34" charset="-122"/>
                <a:cs typeface="Montserrat" pitchFamily="34" charset="-120"/>
              </a:rPr>
              <a:t>Service blueprint &amp; agentic ecosystem design</a:t>
            </a:r>
            <a:endParaRPr lang="en-US" sz="2700" dirty="0"/>
          </a:p>
        </p:txBody>
      </p:sp>
      <p:sp>
        <p:nvSpPr>
          <p:cNvPr id="6" name="Shape 4"/>
          <p:cNvSpPr/>
          <p:nvPr/>
        </p:nvSpPr>
        <p:spPr>
          <a:xfrm>
            <a:off x="548640" y="1627632"/>
            <a:ext cx="64008" cy="457200"/>
          </a:xfrm>
          <a:prstGeom prst="rect">
            <a:avLst/>
          </a:prstGeom>
          <a:solidFill>
            <a:srgbClr val="E31837"/>
          </a:solidFill>
          <a:ln/>
        </p:spPr>
        <p:txBody>
          <a:bodyPr/>
          <a:lstStyle/>
          <a:p>
            <a:endParaRPr lang="en-US"/>
          </a:p>
        </p:txBody>
      </p:sp>
      <p:sp>
        <p:nvSpPr>
          <p:cNvPr id="7" name="Text 5"/>
          <p:cNvSpPr/>
          <p:nvPr/>
        </p:nvSpPr>
        <p:spPr>
          <a:xfrm>
            <a:off x="731520" y="1609344"/>
            <a:ext cx="7680960" cy="219456"/>
          </a:xfrm>
          <a:prstGeom prst="rect">
            <a:avLst/>
          </a:prstGeom>
          <a:noFill/>
          <a:ln/>
        </p:spPr>
        <p:txBody>
          <a:bodyPr wrap="square" lIns="0" tIns="0" rIns="0" bIns="0" rtlCol="0" anchor="ctr"/>
          <a:lstStyle/>
          <a:p>
            <a:pPr marL="0" indent="0">
              <a:buNone/>
            </a:pPr>
            <a:r>
              <a:rPr lang="en-US" sz="1000" b="1" kern="0" spc="150" dirty="0">
                <a:solidFill>
                  <a:srgbClr val="E31837"/>
                </a:solidFill>
                <a:latin typeface="Montserrat" pitchFamily="34" charset="0"/>
                <a:ea typeface="Montserrat" pitchFamily="34" charset="-122"/>
                <a:cs typeface="Montserrat" pitchFamily="34" charset="-120"/>
              </a:rPr>
              <a:t>OBJECTIVE 1</a:t>
            </a:r>
            <a:endParaRPr lang="en-US" sz="1000" dirty="0"/>
          </a:p>
        </p:txBody>
      </p:sp>
      <p:sp>
        <p:nvSpPr>
          <p:cNvPr id="8" name="Text 6"/>
          <p:cNvSpPr/>
          <p:nvPr/>
        </p:nvSpPr>
        <p:spPr>
          <a:xfrm>
            <a:off x="731520" y="1810512"/>
            <a:ext cx="7680960" cy="274320"/>
          </a:xfrm>
          <a:prstGeom prst="rect">
            <a:avLst/>
          </a:prstGeom>
          <a:noFill/>
          <a:ln/>
        </p:spPr>
        <p:txBody>
          <a:bodyPr wrap="square" lIns="0" tIns="0" rIns="0" bIns="0" rtlCol="0" anchor="ctr"/>
          <a:lstStyle/>
          <a:p>
            <a:pPr marL="0" indent="0">
              <a:buNone/>
            </a:pPr>
            <a:r>
              <a:rPr lang="en-US" sz="1400" b="1" dirty="0">
                <a:solidFill>
                  <a:srgbClr val="333333"/>
                </a:solidFill>
                <a:latin typeface="Montserrat" pitchFamily="34" charset="0"/>
                <a:ea typeface="Montserrat" pitchFamily="34" charset="-122"/>
                <a:cs typeface="Montserrat" pitchFamily="34" charset="-120"/>
              </a:rPr>
              <a:t>Agentic ecosystem architecture &amp; service blueprint</a:t>
            </a:r>
            <a:endParaRPr lang="en-US" sz="1400" dirty="0"/>
          </a:p>
        </p:txBody>
      </p:sp>
      <p:sp>
        <p:nvSpPr>
          <p:cNvPr id="9" name="Shape 7"/>
          <p:cNvSpPr/>
          <p:nvPr/>
        </p:nvSpPr>
        <p:spPr>
          <a:xfrm>
            <a:off x="8686800" y="1627632"/>
            <a:ext cx="64008" cy="457200"/>
          </a:xfrm>
          <a:prstGeom prst="rect">
            <a:avLst/>
          </a:prstGeom>
          <a:solidFill>
            <a:srgbClr val="E31837"/>
          </a:solidFill>
          <a:ln/>
        </p:spPr>
        <p:txBody>
          <a:bodyPr/>
          <a:lstStyle/>
          <a:p>
            <a:endParaRPr lang="en-US"/>
          </a:p>
        </p:txBody>
      </p:sp>
      <p:sp>
        <p:nvSpPr>
          <p:cNvPr id="10" name="Text 8"/>
          <p:cNvSpPr/>
          <p:nvPr/>
        </p:nvSpPr>
        <p:spPr>
          <a:xfrm>
            <a:off x="8869680" y="1609344"/>
            <a:ext cx="2834640" cy="219456"/>
          </a:xfrm>
          <a:prstGeom prst="rect">
            <a:avLst/>
          </a:prstGeom>
          <a:noFill/>
          <a:ln/>
        </p:spPr>
        <p:txBody>
          <a:bodyPr wrap="square" lIns="0" tIns="0" rIns="0" bIns="0" rtlCol="0" anchor="ctr"/>
          <a:lstStyle/>
          <a:p>
            <a:pPr marL="0" indent="0">
              <a:buNone/>
            </a:pPr>
            <a:r>
              <a:rPr lang="en-US" sz="1000" b="1" kern="0" spc="150" dirty="0">
                <a:solidFill>
                  <a:srgbClr val="E31837"/>
                </a:solidFill>
                <a:latin typeface="Montserrat" pitchFamily="34" charset="0"/>
                <a:ea typeface="Montserrat" pitchFamily="34" charset="-122"/>
                <a:cs typeface="Montserrat" pitchFamily="34" charset="-120"/>
              </a:rPr>
              <a:t>OBJECTIVE 2</a:t>
            </a:r>
            <a:endParaRPr lang="en-US" sz="1000" dirty="0"/>
          </a:p>
        </p:txBody>
      </p:sp>
      <p:sp>
        <p:nvSpPr>
          <p:cNvPr id="11" name="Text 9"/>
          <p:cNvSpPr/>
          <p:nvPr/>
        </p:nvSpPr>
        <p:spPr>
          <a:xfrm>
            <a:off x="8869680" y="1810512"/>
            <a:ext cx="2834640" cy="274320"/>
          </a:xfrm>
          <a:prstGeom prst="rect">
            <a:avLst/>
          </a:prstGeom>
          <a:noFill/>
          <a:ln/>
        </p:spPr>
        <p:txBody>
          <a:bodyPr wrap="square" lIns="0" tIns="0" rIns="0" bIns="0" rtlCol="0" anchor="ctr"/>
          <a:lstStyle/>
          <a:p>
            <a:pPr marL="0" indent="0">
              <a:buNone/>
            </a:pPr>
            <a:r>
              <a:rPr lang="en-US" sz="1400" b="1" dirty="0">
                <a:solidFill>
                  <a:srgbClr val="333333"/>
                </a:solidFill>
                <a:latin typeface="Montserrat" pitchFamily="34" charset="0"/>
                <a:ea typeface="Montserrat" pitchFamily="34" charset="-122"/>
                <a:cs typeface="Montserrat" pitchFamily="34" charset="-120"/>
              </a:rPr>
              <a:t>Business model</a:t>
            </a:r>
            <a:endParaRPr lang="en-US" sz="1400" dirty="0"/>
          </a:p>
        </p:txBody>
      </p:sp>
      <p:sp>
        <p:nvSpPr>
          <p:cNvPr id="12" name="Shape 10"/>
          <p:cNvSpPr/>
          <p:nvPr/>
        </p:nvSpPr>
        <p:spPr>
          <a:xfrm>
            <a:off x="548640" y="2395728"/>
            <a:ext cx="2487168" cy="2286000"/>
          </a:xfrm>
          <a:prstGeom prst="roundRect">
            <a:avLst>
              <a:gd name="adj" fmla="val 3600"/>
            </a:avLst>
          </a:prstGeom>
          <a:solidFill>
            <a:srgbClr val="FDFDFD"/>
          </a:solidFill>
          <a:ln w="9525">
            <a:solidFill>
              <a:srgbClr val="E2E0D9"/>
            </a:solidFill>
            <a:prstDash val="solid"/>
          </a:ln>
          <a:effectLst>
            <a:outerShdw blurRad="63500" dist="17780" dir="5400000" algn="bl" rotWithShape="0">
              <a:srgbClr val="000000">
                <a:alpha val="10000"/>
              </a:srgbClr>
            </a:outerShdw>
          </a:effectLst>
        </p:spPr>
        <p:txBody>
          <a:bodyPr/>
          <a:lstStyle/>
          <a:p>
            <a:endParaRPr lang="en-US"/>
          </a:p>
        </p:txBody>
      </p:sp>
      <p:sp>
        <p:nvSpPr>
          <p:cNvPr id="13" name="Shape 11"/>
          <p:cNvSpPr/>
          <p:nvPr/>
        </p:nvSpPr>
        <p:spPr>
          <a:xfrm>
            <a:off x="713232" y="2596896"/>
            <a:ext cx="2157984" cy="41148"/>
          </a:xfrm>
          <a:prstGeom prst="rect">
            <a:avLst/>
          </a:prstGeom>
          <a:solidFill>
            <a:srgbClr val="E31837"/>
          </a:solidFill>
          <a:ln/>
        </p:spPr>
        <p:txBody>
          <a:bodyPr/>
          <a:lstStyle/>
          <a:p>
            <a:endParaRPr lang="en-US"/>
          </a:p>
        </p:txBody>
      </p:sp>
      <p:sp>
        <p:nvSpPr>
          <p:cNvPr id="14" name="Text 12"/>
          <p:cNvSpPr/>
          <p:nvPr/>
        </p:nvSpPr>
        <p:spPr>
          <a:xfrm>
            <a:off x="713232" y="2706624"/>
            <a:ext cx="2157984" cy="548640"/>
          </a:xfrm>
          <a:prstGeom prst="rect">
            <a:avLst/>
          </a:prstGeom>
          <a:noFill/>
          <a:ln/>
        </p:spPr>
        <p:txBody>
          <a:bodyPr wrap="square" lIns="0" tIns="0" rIns="0" bIns="0" rtlCol="0" anchor="ctr"/>
          <a:lstStyle/>
          <a:p>
            <a:pPr marL="0" indent="0">
              <a:buNone/>
            </a:pPr>
            <a:r>
              <a:rPr lang="en-US" sz="3000" b="1" dirty="0">
                <a:solidFill>
                  <a:srgbClr val="E31837"/>
                </a:solidFill>
                <a:latin typeface="Montserrat" pitchFamily="34" charset="0"/>
                <a:ea typeface="Montserrat" pitchFamily="34" charset="-122"/>
                <a:cs typeface="Montserrat" pitchFamily="34" charset="-120"/>
              </a:rPr>
              <a:t>1</a:t>
            </a:r>
            <a:endParaRPr lang="en-US" sz="3000" dirty="0"/>
          </a:p>
        </p:txBody>
      </p:sp>
      <p:sp>
        <p:nvSpPr>
          <p:cNvPr id="15" name="Text 13"/>
          <p:cNvSpPr/>
          <p:nvPr/>
        </p:nvSpPr>
        <p:spPr>
          <a:xfrm>
            <a:off x="713232" y="3310128"/>
            <a:ext cx="2157984" cy="365760"/>
          </a:xfrm>
          <a:prstGeom prst="rect">
            <a:avLst/>
          </a:prstGeom>
          <a:noFill/>
          <a:ln/>
        </p:spPr>
        <p:txBody>
          <a:bodyPr wrap="square" lIns="0" tIns="0" rIns="0" bIns="0" rtlCol="0" anchor="t"/>
          <a:lstStyle/>
          <a:p>
            <a:pPr marL="0" indent="0">
              <a:buNone/>
            </a:pPr>
            <a:r>
              <a:rPr lang="en-US" sz="1300" b="1" dirty="0">
                <a:solidFill>
                  <a:srgbClr val="333333"/>
                </a:solidFill>
                <a:latin typeface="Montserrat" pitchFamily="34" charset="0"/>
                <a:ea typeface="Montserrat" pitchFamily="34" charset="-122"/>
                <a:cs typeface="Montserrat" pitchFamily="34" charset="-120"/>
              </a:rPr>
              <a:t>Agentic solution</a:t>
            </a:r>
            <a:endParaRPr lang="en-US" sz="1300" dirty="0"/>
          </a:p>
        </p:txBody>
      </p:sp>
      <p:sp>
        <p:nvSpPr>
          <p:cNvPr id="16" name="Text 14"/>
          <p:cNvSpPr/>
          <p:nvPr/>
        </p:nvSpPr>
        <p:spPr>
          <a:xfrm>
            <a:off x="713232" y="3694176"/>
            <a:ext cx="2157984" cy="914400"/>
          </a:xfrm>
          <a:prstGeom prst="rect">
            <a:avLst/>
          </a:prstGeom>
          <a:noFill/>
          <a:ln/>
        </p:spPr>
        <p:txBody>
          <a:bodyPr wrap="square" lIns="0" tIns="0" rIns="0" bIns="0" rtlCol="0" anchor="t"/>
          <a:lstStyle/>
          <a:p>
            <a:pPr marL="0" indent="0">
              <a:buNone/>
            </a:pPr>
            <a:r>
              <a:rPr lang="en-US" sz="900" dirty="0">
                <a:solidFill>
                  <a:srgbClr val="5F5E5A"/>
                </a:solidFill>
                <a:latin typeface="Lora" pitchFamily="34" charset="0"/>
                <a:ea typeface="Lora" pitchFamily="34" charset="-122"/>
                <a:cs typeface="Lora" pitchFamily="34" charset="-120"/>
              </a:rPr>
              <a:t>Specialised agents &amp; their responsibilities — built on the Mission 2 estate, with new sub-agents where needed.</a:t>
            </a:r>
            <a:endParaRPr lang="en-US" sz="900" dirty="0"/>
          </a:p>
        </p:txBody>
      </p:sp>
      <p:sp>
        <p:nvSpPr>
          <p:cNvPr id="17" name="Shape 15"/>
          <p:cNvSpPr/>
          <p:nvPr/>
        </p:nvSpPr>
        <p:spPr>
          <a:xfrm>
            <a:off x="3236976" y="2395728"/>
            <a:ext cx="2487168" cy="2286000"/>
          </a:xfrm>
          <a:prstGeom prst="roundRect">
            <a:avLst>
              <a:gd name="adj" fmla="val 3600"/>
            </a:avLst>
          </a:prstGeom>
          <a:solidFill>
            <a:srgbClr val="FDFDFD"/>
          </a:solidFill>
          <a:ln w="9525">
            <a:solidFill>
              <a:srgbClr val="E2E0D9"/>
            </a:solidFill>
            <a:prstDash val="solid"/>
          </a:ln>
          <a:effectLst>
            <a:outerShdw blurRad="63500" dist="17780" dir="5400000" algn="bl" rotWithShape="0">
              <a:srgbClr val="000000">
                <a:alpha val="10000"/>
              </a:srgbClr>
            </a:outerShdw>
          </a:effectLst>
        </p:spPr>
        <p:txBody>
          <a:bodyPr/>
          <a:lstStyle/>
          <a:p>
            <a:endParaRPr lang="en-US"/>
          </a:p>
        </p:txBody>
      </p:sp>
      <p:sp>
        <p:nvSpPr>
          <p:cNvPr id="18" name="Shape 16"/>
          <p:cNvSpPr/>
          <p:nvPr/>
        </p:nvSpPr>
        <p:spPr>
          <a:xfrm>
            <a:off x="3401568" y="2596896"/>
            <a:ext cx="2157984" cy="41148"/>
          </a:xfrm>
          <a:prstGeom prst="rect">
            <a:avLst/>
          </a:prstGeom>
          <a:solidFill>
            <a:srgbClr val="E31837"/>
          </a:solidFill>
          <a:ln/>
        </p:spPr>
        <p:txBody>
          <a:bodyPr/>
          <a:lstStyle/>
          <a:p>
            <a:endParaRPr lang="en-US"/>
          </a:p>
        </p:txBody>
      </p:sp>
      <p:sp>
        <p:nvSpPr>
          <p:cNvPr id="19" name="Text 17"/>
          <p:cNvSpPr/>
          <p:nvPr/>
        </p:nvSpPr>
        <p:spPr>
          <a:xfrm>
            <a:off x="3401568" y="2706624"/>
            <a:ext cx="2157984" cy="548640"/>
          </a:xfrm>
          <a:prstGeom prst="rect">
            <a:avLst/>
          </a:prstGeom>
          <a:noFill/>
          <a:ln/>
        </p:spPr>
        <p:txBody>
          <a:bodyPr wrap="square" lIns="0" tIns="0" rIns="0" bIns="0" rtlCol="0" anchor="ctr"/>
          <a:lstStyle/>
          <a:p>
            <a:pPr marL="0" indent="0">
              <a:buNone/>
            </a:pPr>
            <a:r>
              <a:rPr lang="en-US" sz="3000" b="1" dirty="0">
                <a:solidFill>
                  <a:srgbClr val="E31837"/>
                </a:solidFill>
                <a:latin typeface="Montserrat" pitchFamily="34" charset="0"/>
                <a:ea typeface="Montserrat" pitchFamily="34" charset="-122"/>
                <a:cs typeface="Montserrat" pitchFamily="34" charset="-120"/>
              </a:rPr>
              <a:t>2</a:t>
            </a:r>
            <a:endParaRPr lang="en-US" sz="3000" dirty="0"/>
          </a:p>
        </p:txBody>
      </p:sp>
      <p:sp>
        <p:nvSpPr>
          <p:cNvPr id="20" name="Text 18"/>
          <p:cNvSpPr/>
          <p:nvPr/>
        </p:nvSpPr>
        <p:spPr>
          <a:xfrm>
            <a:off x="3401568" y="3310128"/>
            <a:ext cx="2157984" cy="365760"/>
          </a:xfrm>
          <a:prstGeom prst="rect">
            <a:avLst/>
          </a:prstGeom>
          <a:noFill/>
          <a:ln/>
        </p:spPr>
        <p:txBody>
          <a:bodyPr wrap="square" lIns="0" tIns="0" rIns="0" bIns="0" rtlCol="0" anchor="t"/>
          <a:lstStyle/>
          <a:p>
            <a:pPr marL="0" indent="0">
              <a:buNone/>
            </a:pPr>
            <a:r>
              <a:rPr lang="en-US" sz="1300" b="1" dirty="0">
                <a:solidFill>
                  <a:srgbClr val="333333"/>
                </a:solidFill>
                <a:latin typeface="Montserrat" pitchFamily="34" charset="0"/>
                <a:ea typeface="Montserrat" pitchFamily="34" charset="-122"/>
                <a:cs typeface="Montserrat" pitchFamily="34" charset="-120"/>
              </a:rPr>
              <a:t>Solution blueprint</a:t>
            </a:r>
            <a:endParaRPr lang="en-US" sz="1300" dirty="0"/>
          </a:p>
        </p:txBody>
      </p:sp>
      <p:sp>
        <p:nvSpPr>
          <p:cNvPr id="21" name="Text 19"/>
          <p:cNvSpPr/>
          <p:nvPr/>
        </p:nvSpPr>
        <p:spPr>
          <a:xfrm>
            <a:off x="3401568" y="3694176"/>
            <a:ext cx="2157984" cy="914400"/>
          </a:xfrm>
          <a:prstGeom prst="rect">
            <a:avLst/>
          </a:prstGeom>
          <a:noFill/>
          <a:ln/>
        </p:spPr>
        <p:txBody>
          <a:bodyPr wrap="square" lIns="0" tIns="0" rIns="0" bIns="0" rtlCol="0" anchor="t"/>
          <a:lstStyle/>
          <a:p>
            <a:pPr marL="0" indent="0">
              <a:buNone/>
            </a:pPr>
            <a:r>
              <a:rPr lang="en-US" sz="900" dirty="0">
                <a:solidFill>
                  <a:srgbClr val="5F5E5A"/>
                </a:solidFill>
                <a:latin typeface="Lora" pitchFamily="34" charset="0"/>
                <a:ea typeface="Lora" pitchFamily="34" charset="-122"/>
                <a:cs typeface="Lora" pitchFamily="34" charset="-120"/>
              </a:rPr>
              <a:t>Full service blueprint — EA layers, triggers, orchestration, intent, routing, context, data universe, LLM platform &amp; security.</a:t>
            </a:r>
            <a:endParaRPr lang="en-US" sz="900" dirty="0"/>
          </a:p>
        </p:txBody>
      </p:sp>
      <p:sp>
        <p:nvSpPr>
          <p:cNvPr id="22" name="Shape 20"/>
          <p:cNvSpPr/>
          <p:nvPr/>
        </p:nvSpPr>
        <p:spPr>
          <a:xfrm>
            <a:off x="5925312" y="2395728"/>
            <a:ext cx="2487168" cy="2286000"/>
          </a:xfrm>
          <a:prstGeom prst="roundRect">
            <a:avLst>
              <a:gd name="adj" fmla="val 3600"/>
            </a:avLst>
          </a:prstGeom>
          <a:solidFill>
            <a:srgbClr val="FDFDFD"/>
          </a:solidFill>
          <a:ln w="9525">
            <a:solidFill>
              <a:srgbClr val="E2E0D9"/>
            </a:solidFill>
            <a:prstDash val="solid"/>
          </a:ln>
          <a:effectLst>
            <a:outerShdw blurRad="63500" dist="17780" dir="5400000" algn="bl" rotWithShape="0">
              <a:srgbClr val="000000">
                <a:alpha val="10000"/>
              </a:srgbClr>
            </a:outerShdw>
          </a:effectLst>
        </p:spPr>
        <p:txBody>
          <a:bodyPr/>
          <a:lstStyle/>
          <a:p>
            <a:endParaRPr lang="en-US"/>
          </a:p>
        </p:txBody>
      </p:sp>
      <p:sp>
        <p:nvSpPr>
          <p:cNvPr id="23" name="Shape 21"/>
          <p:cNvSpPr/>
          <p:nvPr/>
        </p:nvSpPr>
        <p:spPr>
          <a:xfrm>
            <a:off x="6089904" y="2596896"/>
            <a:ext cx="2157984" cy="41148"/>
          </a:xfrm>
          <a:prstGeom prst="rect">
            <a:avLst/>
          </a:prstGeom>
          <a:solidFill>
            <a:srgbClr val="E31837"/>
          </a:solidFill>
          <a:ln/>
        </p:spPr>
        <p:txBody>
          <a:bodyPr/>
          <a:lstStyle/>
          <a:p>
            <a:endParaRPr lang="en-US"/>
          </a:p>
        </p:txBody>
      </p:sp>
      <p:sp>
        <p:nvSpPr>
          <p:cNvPr id="24" name="Text 22"/>
          <p:cNvSpPr/>
          <p:nvPr/>
        </p:nvSpPr>
        <p:spPr>
          <a:xfrm>
            <a:off x="6089904" y="2706624"/>
            <a:ext cx="2157984" cy="548640"/>
          </a:xfrm>
          <a:prstGeom prst="rect">
            <a:avLst/>
          </a:prstGeom>
          <a:noFill/>
          <a:ln/>
        </p:spPr>
        <p:txBody>
          <a:bodyPr wrap="square" lIns="0" tIns="0" rIns="0" bIns="0" rtlCol="0" anchor="ctr"/>
          <a:lstStyle/>
          <a:p>
            <a:pPr marL="0" indent="0">
              <a:buNone/>
            </a:pPr>
            <a:r>
              <a:rPr lang="en-US" sz="3000" b="1" dirty="0">
                <a:solidFill>
                  <a:srgbClr val="E31837"/>
                </a:solidFill>
                <a:latin typeface="Montserrat" pitchFamily="34" charset="0"/>
                <a:ea typeface="Montserrat" pitchFamily="34" charset="-122"/>
                <a:cs typeface="Montserrat" pitchFamily="34" charset="-120"/>
              </a:rPr>
              <a:t>3</a:t>
            </a:r>
            <a:endParaRPr lang="en-US" sz="3000" dirty="0"/>
          </a:p>
        </p:txBody>
      </p:sp>
      <p:sp>
        <p:nvSpPr>
          <p:cNvPr id="25" name="Text 23"/>
          <p:cNvSpPr/>
          <p:nvPr/>
        </p:nvSpPr>
        <p:spPr>
          <a:xfrm>
            <a:off x="6089904" y="3310128"/>
            <a:ext cx="2157984" cy="365760"/>
          </a:xfrm>
          <a:prstGeom prst="rect">
            <a:avLst/>
          </a:prstGeom>
          <a:noFill/>
          <a:ln/>
        </p:spPr>
        <p:txBody>
          <a:bodyPr wrap="square" lIns="0" tIns="0" rIns="0" bIns="0" rtlCol="0" anchor="t"/>
          <a:lstStyle/>
          <a:p>
            <a:pPr marL="0" indent="0">
              <a:buNone/>
            </a:pPr>
            <a:r>
              <a:rPr lang="en-US" sz="1300" b="1" dirty="0">
                <a:solidFill>
                  <a:srgbClr val="333333"/>
                </a:solidFill>
                <a:latin typeface="Montserrat" pitchFamily="34" charset="0"/>
                <a:ea typeface="Montserrat" pitchFamily="34" charset="-122"/>
                <a:cs typeface="Montserrat" pitchFamily="34" charset="-120"/>
              </a:rPr>
              <a:t>Sequence diagrams</a:t>
            </a:r>
            <a:endParaRPr lang="en-US" sz="1300" dirty="0"/>
          </a:p>
        </p:txBody>
      </p:sp>
      <p:sp>
        <p:nvSpPr>
          <p:cNvPr id="26" name="Text 24"/>
          <p:cNvSpPr/>
          <p:nvPr/>
        </p:nvSpPr>
        <p:spPr>
          <a:xfrm>
            <a:off x="6089904" y="3694176"/>
            <a:ext cx="2157984" cy="914400"/>
          </a:xfrm>
          <a:prstGeom prst="rect">
            <a:avLst/>
          </a:prstGeom>
          <a:noFill/>
          <a:ln/>
        </p:spPr>
        <p:txBody>
          <a:bodyPr wrap="square" lIns="0" tIns="0" rIns="0" bIns="0" rtlCol="0" anchor="t"/>
          <a:lstStyle/>
          <a:p>
            <a:pPr marL="0" indent="0">
              <a:buNone/>
            </a:pPr>
            <a:r>
              <a:rPr lang="en-US" sz="900" dirty="0">
                <a:solidFill>
                  <a:srgbClr val="5F5E5A"/>
                </a:solidFill>
                <a:latin typeface="Lora" pitchFamily="34" charset="0"/>
                <a:ea typeface="Lora" pitchFamily="34" charset="-122"/>
                <a:cs typeface="Lora" pitchFamily="34" charset="-120"/>
              </a:rPr>
              <a:t>Component &amp; layer interaction for 3 of the 5 functionalities, end to end.</a:t>
            </a:r>
            <a:endParaRPr lang="en-US" sz="900" dirty="0"/>
          </a:p>
        </p:txBody>
      </p:sp>
      <p:sp>
        <p:nvSpPr>
          <p:cNvPr id="27" name="Shape 25"/>
          <p:cNvSpPr/>
          <p:nvPr/>
        </p:nvSpPr>
        <p:spPr>
          <a:xfrm>
            <a:off x="8686800" y="2395728"/>
            <a:ext cx="2953512" cy="2286000"/>
          </a:xfrm>
          <a:prstGeom prst="roundRect">
            <a:avLst>
              <a:gd name="adj" fmla="val 3600"/>
            </a:avLst>
          </a:prstGeom>
          <a:solidFill>
            <a:srgbClr val="22262A"/>
          </a:solidFill>
          <a:ln/>
          <a:effectLst>
            <a:outerShdw blurRad="63500" dist="17780" dir="5400000" algn="bl" rotWithShape="0">
              <a:srgbClr val="000000">
                <a:alpha val="10000"/>
              </a:srgbClr>
            </a:outerShdw>
          </a:effectLst>
        </p:spPr>
        <p:txBody>
          <a:bodyPr/>
          <a:lstStyle/>
          <a:p>
            <a:endParaRPr lang="en-US"/>
          </a:p>
        </p:txBody>
      </p:sp>
      <p:sp>
        <p:nvSpPr>
          <p:cNvPr id="28" name="Shape 26"/>
          <p:cNvSpPr/>
          <p:nvPr/>
        </p:nvSpPr>
        <p:spPr>
          <a:xfrm>
            <a:off x="8851392" y="2596896"/>
            <a:ext cx="2624328" cy="41148"/>
          </a:xfrm>
          <a:prstGeom prst="rect">
            <a:avLst/>
          </a:prstGeom>
          <a:solidFill>
            <a:srgbClr val="E31837"/>
          </a:solidFill>
          <a:ln/>
        </p:spPr>
        <p:txBody>
          <a:bodyPr/>
          <a:lstStyle/>
          <a:p>
            <a:endParaRPr lang="en-US"/>
          </a:p>
        </p:txBody>
      </p:sp>
      <p:sp>
        <p:nvSpPr>
          <p:cNvPr id="29" name="Text 27"/>
          <p:cNvSpPr/>
          <p:nvPr/>
        </p:nvSpPr>
        <p:spPr>
          <a:xfrm>
            <a:off x="8851392" y="2706624"/>
            <a:ext cx="2624328" cy="548640"/>
          </a:xfrm>
          <a:prstGeom prst="rect">
            <a:avLst/>
          </a:prstGeom>
          <a:noFill/>
          <a:ln/>
        </p:spPr>
        <p:txBody>
          <a:bodyPr wrap="square" lIns="0" tIns="0" rIns="0" bIns="0" rtlCol="0" anchor="ctr"/>
          <a:lstStyle/>
          <a:p>
            <a:pPr marL="0" indent="0">
              <a:buNone/>
            </a:pPr>
            <a:r>
              <a:rPr lang="en-US" sz="3000" b="1" dirty="0">
                <a:solidFill>
                  <a:srgbClr val="E31837"/>
                </a:solidFill>
                <a:latin typeface="Montserrat" pitchFamily="34" charset="0"/>
                <a:ea typeface="Montserrat" pitchFamily="34" charset="-122"/>
                <a:cs typeface="Montserrat" pitchFamily="34" charset="-120"/>
              </a:rPr>
              <a:t>4</a:t>
            </a:r>
            <a:endParaRPr lang="en-US" sz="3000" dirty="0"/>
          </a:p>
        </p:txBody>
      </p:sp>
      <p:sp>
        <p:nvSpPr>
          <p:cNvPr id="30" name="Text 28"/>
          <p:cNvSpPr/>
          <p:nvPr/>
        </p:nvSpPr>
        <p:spPr>
          <a:xfrm>
            <a:off x="8851392" y="3310128"/>
            <a:ext cx="2624328" cy="365760"/>
          </a:xfrm>
          <a:prstGeom prst="rect">
            <a:avLst/>
          </a:prstGeom>
          <a:noFill/>
          <a:ln/>
        </p:spPr>
        <p:txBody>
          <a:bodyPr wrap="square" lIns="0" tIns="0" rIns="0" bIns="0" rtlCol="0" anchor="t"/>
          <a:lstStyle/>
          <a:p>
            <a:pPr marL="0" indent="0">
              <a:buNone/>
            </a:pPr>
            <a:r>
              <a:rPr lang="en-US" sz="1300" b="1" dirty="0">
                <a:solidFill>
                  <a:srgbClr val="FDFDFD"/>
                </a:solidFill>
                <a:latin typeface="Montserrat" pitchFamily="34" charset="0"/>
                <a:ea typeface="Montserrat" pitchFamily="34" charset="-122"/>
                <a:cs typeface="Montserrat" pitchFamily="34" charset="-120"/>
              </a:rPr>
              <a:t>Commercial model</a:t>
            </a:r>
            <a:endParaRPr lang="en-US" sz="1300" dirty="0"/>
          </a:p>
        </p:txBody>
      </p:sp>
      <p:sp>
        <p:nvSpPr>
          <p:cNvPr id="31" name="Text 29"/>
          <p:cNvSpPr/>
          <p:nvPr/>
        </p:nvSpPr>
        <p:spPr>
          <a:xfrm>
            <a:off x="8851392" y="3694176"/>
            <a:ext cx="2624328" cy="914400"/>
          </a:xfrm>
          <a:prstGeom prst="rect">
            <a:avLst/>
          </a:prstGeom>
          <a:noFill/>
          <a:ln/>
        </p:spPr>
        <p:txBody>
          <a:bodyPr wrap="square" lIns="0" tIns="0" rIns="0" bIns="0" rtlCol="0" anchor="t"/>
          <a:lstStyle/>
          <a:p>
            <a:pPr marL="0" indent="0">
              <a:buNone/>
            </a:pPr>
            <a:r>
              <a:rPr lang="en-US" sz="900" dirty="0">
                <a:solidFill>
                  <a:srgbClr val="D8D8D8"/>
                </a:solidFill>
                <a:latin typeface="Lora" pitchFamily="34" charset="0"/>
                <a:ea typeface="Lora" pitchFamily="34" charset="-122"/>
                <a:cs typeface="Lora" pitchFamily="34" charset="-120"/>
              </a:rPr>
              <a:t>A PoV for a viable commercial model for the Digital Personalisation Assistant — customer-facing tiers plus platform monetisation (open API, white-label, usage-based pricing).</a:t>
            </a:r>
            <a:endParaRPr lang="en-US" sz="900" dirty="0"/>
          </a:p>
        </p:txBody>
      </p:sp>
      <p:sp>
        <p:nvSpPr>
          <p:cNvPr id="32" name="Text 30"/>
          <p:cNvSpPr/>
          <p:nvPr/>
        </p:nvSpPr>
        <p:spPr>
          <a:xfrm>
            <a:off x="548640" y="4956048"/>
            <a:ext cx="8229600" cy="201168"/>
          </a:xfrm>
          <a:prstGeom prst="rect">
            <a:avLst/>
          </a:prstGeom>
          <a:noFill/>
          <a:ln/>
        </p:spPr>
        <p:txBody>
          <a:bodyPr wrap="square" lIns="0" tIns="0" rIns="0" bIns="0" rtlCol="0" anchor="ctr"/>
          <a:lstStyle/>
          <a:p>
            <a:pPr marL="0" indent="0">
              <a:buNone/>
            </a:pPr>
            <a:r>
              <a:rPr lang="en-US" sz="950" b="1" kern="0" spc="120" dirty="0">
                <a:solidFill>
                  <a:srgbClr val="A0A5AB"/>
                </a:solidFill>
                <a:latin typeface="Montserrat" pitchFamily="34" charset="0"/>
                <a:ea typeface="Montserrat" pitchFamily="34" charset="-122"/>
                <a:cs typeface="Montserrat" pitchFamily="34" charset="-120"/>
              </a:rPr>
              <a:t>SCOPE · THE FIVE FUNCTIONALITIES THE SOLUTION DELIVERS</a:t>
            </a:r>
            <a:endParaRPr lang="en-US" sz="950" dirty="0"/>
          </a:p>
        </p:txBody>
      </p:sp>
      <p:sp>
        <p:nvSpPr>
          <p:cNvPr id="33" name="Text 31"/>
          <p:cNvSpPr/>
          <p:nvPr/>
        </p:nvSpPr>
        <p:spPr>
          <a:xfrm>
            <a:off x="7772400" y="4956048"/>
            <a:ext cx="3867912" cy="201168"/>
          </a:xfrm>
          <a:prstGeom prst="rect">
            <a:avLst/>
          </a:prstGeom>
          <a:noFill/>
          <a:ln/>
        </p:spPr>
        <p:txBody>
          <a:bodyPr wrap="square" lIns="0" tIns="0" rIns="0" bIns="0" rtlCol="0" anchor="ctr"/>
          <a:lstStyle/>
          <a:p>
            <a:pPr marL="0" indent="0" algn="r">
              <a:buNone/>
            </a:pPr>
            <a:r>
              <a:rPr lang="en-US" sz="850" i="1" dirty="0">
                <a:solidFill>
                  <a:srgbClr val="A0A5AB"/>
                </a:solidFill>
                <a:latin typeface="Lora" pitchFamily="34" charset="0"/>
                <a:ea typeface="Lora" pitchFamily="34" charset="-122"/>
                <a:cs typeface="Lora" pitchFamily="34" charset="-120"/>
              </a:rPr>
              <a:t>all five blueprinted · three sequenced</a:t>
            </a:r>
            <a:endParaRPr lang="en-US" sz="850" dirty="0"/>
          </a:p>
        </p:txBody>
      </p:sp>
      <p:sp>
        <p:nvSpPr>
          <p:cNvPr id="34" name="Shape 32"/>
          <p:cNvSpPr/>
          <p:nvPr/>
        </p:nvSpPr>
        <p:spPr>
          <a:xfrm>
            <a:off x="548640" y="5230368"/>
            <a:ext cx="2086661" cy="566928"/>
          </a:xfrm>
          <a:prstGeom prst="roundRect">
            <a:avLst>
              <a:gd name="adj" fmla="val 8065"/>
            </a:avLst>
          </a:prstGeom>
          <a:solidFill>
            <a:srgbClr val="333333"/>
          </a:solidFill>
          <a:ln/>
        </p:spPr>
        <p:txBody>
          <a:bodyPr/>
          <a:lstStyle/>
          <a:p>
            <a:endParaRPr lang="en-US"/>
          </a:p>
        </p:txBody>
      </p:sp>
      <p:sp>
        <p:nvSpPr>
          <p:cNvPr id="35" name="Text 33"/>
          <p:cNvSpPr/>
          <p:nvPr/>
        </p:nvSpPr>
        <p:spPr>
          <a:xfrm>
            <a:off x="658368" y="5230368"/>
            <a:ext cx="1867205" cy="566928"/>
          </a:xfrm>
          <a:prstGeom prst="rect">
            <a:avLst/>
          </a:prstGeom>
          <a:noFill/>
          <a:ln/>
        </p:spPr>
        <p:txBody>
          <a:bodyPr wrap="square" lIns="0" tIns="0" rIns="0" bIns="0" rtlCol="0" anchor="ctr"/>
          <a:lstStyle/>
          <a:p>
            <a:pPr marL="0" indent="0">
              <a:lnSpc>
                <a:spcPct val="90000"/>
              </a:lnSpc>
              <a:buNone/>
            </a:pPr>
            <a:r>
              <a:rPr lang="en-US" sz="1050" b="1" dirty="0">
                <a:solidFill>
                  <a:srgbClr val="C00000"/>
                </a:solidFill>
                <a:latin typeface="Montserrat" pitchFamily="2" charset="77"/>
                <a:ea typeface="Montserrat" pitchFamily="34" charset="-122"/>
                <a:cs typeface="Montserrat" pitchFamily="34" charset="-120"/>
              </a:rPr>
              <a:t>01 </a:t>
            </a:r>
            <a:r>
              <a:rPr lang="en-US" sz="1050" b="1" dirty="0">
                <a:solidFill>
                  <a:schemeClr val="bg1"/>
                </a:solidFill>
                <a:latin typeface="Montserrat" pitchFamily="2" charset="77"/>
                <a:ea typeface="Montserrat" pitchFamily="34" charset="-122"/>
                <a:cs typeface="Montserrat" pitchFamily="34" charset="-120"/>
              </a:rPr>
              <a:t> </a:t>
            </a:r>
            <a:r>
              <a:rPr lang="en-US" sz="1000" b="1" dirty="0">
                <a:solidFill>
                  <a:schemeClr val="bg1"/>
                </a:solidFill>
                <a:latin typeface="Montserrat" pitchFamily="2" charset="77"/>
                <a:ea typeface="Montserrat" pitchFamily="34" charset="-122"/>
                <a:cs typeface="Montserrat" pitchFamily="34" charset="-120"/>
              </a:rPr>
              <a:t>Customer Profiling &amp; Segmentation</a:t>
            </a:r>
            <a:endParaRPr lang="en-US" sz="1050" dirty="0">
              <a:solidFill>
                <a:schemeClr val="bg1"/>
              </a:solidFill>
              <a:latin typeface="Montserrat" pitchFamily="2" charset="77"/>
            </a:endParaRPr>
          </a:p>
        </p:txBody>
      </p:sp>
      <p:sp>
        <p:nvSpPr>
          <p:cNvPr id="36" name="Shape 34"/>
          <p:cNvSpPr/>
          <p:nvPr/>
        </p:nvSpPr>
        <p:spPr>
          <a:xfrm>
            <a:off x="2799893" y="5230368"/>
            <a:ext cx="2086661" cy="566928"/>
          </a:xfrm>
          <a:prstGeom prst="roundRect">
            <a:avLst>
              <a:gd name="adj" fmla="val 8065"/>
            </a:avLst>
          </a:prstGeom>
          <a:solidFill>
            <a:srgbClr val="333333"/>
          </a:solidFill>
          <a:ln/>
        </p:spPr>
        <p:txBody>
          <a:bodyPr/>
          <a:lstStyle/>
          <a:p>
            <a:endParaRPr lang="en-US" sz="2000">
              <a:latin typeface="Montserrat" pitchFamily="2" charset="77"/>
            </a:endParaRPr>
          </a:p>
        </p:txBody>
      </p:sp>
      <p:sp>
        <p:nvSpPr>
          <p:cNvPr id="37" name="Text 35"/>
          <p:cNvSpPr/>
          <p:nvPr/>
        </p:nvSpPr>
        <p:spPr>
          <a:xfrm>
            <a:off x="2909621" y="5230368"/>
            <a:ext cx="1867205" cy="566928"/>
          </a:xfrm>
          <a:prstGeom prst="rect">
            <a:avLst/>
          </a:prstGeom>
          <a:noFill/>
          <a:ln/>
        </p:spPr>
        <p:txBody>
          <a:bodyPr wrap="square" lIns="0" tIns="0" rIns="0" bIns="0" rtlCol="0" anchor="ctr"/>
          <a:lstStyle/>
          <a:p>
            <a:pPr marL="0" indent="0">
              <a:lnSpc>
                <a:spcPct val="90000"/>
              </a:lnSpc>
              <a:buNone/>
            </a:pPr>
            <a:r>
              <a:rPr lang="en-US" sz="1050" b="1" dirty="0">
                <a:solidFill>
                  <a:srgbClr val="C00000"/>
                </a:solidFill>
                <a:latin typeface="Montserrat" pitchFamily="34" charset="0"/>
                <a:ea typeface="Montserrat" pitchFamily="34" charset="-122"/>
                <a:cs typeface="Montserrat" pitchFamily="34" charset="-120"/>
              </a:rPr>
              <a:t>02 </a:t>
            </a:r>
            <a:r>
              <a:rPr lang="en-US" sz="1050" b="1" dirty="0">
                <a:solidFill>
                  <a:schemeClr val="bg1"/>
                </a:solidFill>
                <a:latin typeface="Montserrat" pitchFamily="34" charset="0"/>
                <a:ea typeface="Montserrat" pitchFamily="34" charset="-122"/>
                <a:cs typeface="Montserrat" pitchFamily="34" charset="-120"/>
              </a:rPr>
              <a:t> Personalised</a:t>
            </a:r>
            <a:r>
              <a:rPr lang="en-US" sz="1000" b="1" dirty="0">
                <a:solidFill>
                  <a:schemeClr val="bg1"/>
                </a:solidFill>
                <a:latin typeface="Montserrat" pitchFamily="34" charset="0"/>
                <a:ea typeface="Montserrat" pitchFamily="34" charset="-122"/>
                <a:cs typeface="Montserrat" pitchFamily="34" charset="-120"/>
              </a:rPr>
              <a:t> Discovery</a:t>
            </a:r>
            <a:endParaRPr lang="en-US" sz="1050" dirty="0">
              <a:solidFill>
                <a:schemeClr val="bg1"/>
              </a:solidFill>
            </a:endParaRPr>
          </a:p>
        </p:txBody>
      </p:sp>
      <p:sp>
        <p:nvSpPr>
          <p:cNvPr id="38" name="Shape 36"/>
          <p:cNvSpPr/>
          <p:nvPr/>
        </p:nvSpPr>
        <p:spPr>
          <a:xfrm>
            <a:off x="5051146" y="5230368"/>
            <a:ext cx="2086661" cy="566928"/>
          </a:xfrm>
          <a:prstGeom prst="roundRect">
            <a:avLst>
              <a:gd name="adj" fmla="val 8065"/>
            </a:avLst>
          </a:prstGeom>
          <a:solidFill>
            <a:srgbClr val="333333"/>
          </a:solidFill>
          <a:ln/>
        </p:spPr>
        <p:txBody>
          <a:bodyPr/>
          <a:lstStyle/>
          <a:p>
            <a:endParaRPr lang="en-US" sz="2000">
              <a:latin typeface="Montserrat" pitchFamily="2" charset="77"/>
            </a:endParaRPr>
          </a:p>
        </p:txBody>
      </p:sp>
      <p:sp>
        <p:nvSpPr>
          <p:cNvPr id="39" name="Text 37"/>
          <p:cNvSpPr/>
          <p:nvPr/>
        </p:nvSpPr>
        <p:spPr>
          <a:xfrm>
            <a:off x="5160874" y="5230368"/>
            <a:ext cx="1867205" cy="566928"/>
          </a:xfrm>
          <a:prstGeom prst="rect">
            <a:avLst/>
          </a:prstGeom>
          <a:noFill/>
          <a:ln/>
        </p:spPr>
        <p:txBody>
          <a:bodyPr wrap="square" lIns="0" tIns="0" rIns="0" bIns="0" rtlCol="0" anchor="ctr"/>
          <a:lstStyle/>
          <a:p>
            <a:pPr marL="0" indent="0">
              <a:lnSpc>
                <a:spcPct val="90000"/>
              </a:lnSpc>
              <a:buNone/>
            </a:pPr>
            <a:r>
              <a:rPr lang="en-US" sz="1050" b="1" dirty="0">
                <a:solidFill>
                  <a:srgbClr val="C00000"/>
                </a:solidFill>
                <a:latin typeface="Montserrat" pitchFamily="34" charset="0"/>
                <a:ea typeface="Montserrat" pitchFamily="34" charset="-122"/>
                <a:cs typeface="Montserrat" pitchFamily="34" charset="-120"/>
              </a:rPr>
              <a:t>03 </a:t>
            </a:r>
            <a:r>
              <a:rPr lang="en-US" sz="1050" b="1" dirty="0">
                <a:solidFill>
                  <a:schemeClr val="bg1"/>
                </a:solidFill>
                <a:latin typeface="Montserrat" pitchFamily="34" charset="0"/>
                <a:ea typeface="Montserrat" pitchFamily="34" charset="-122"/>
                <a:cs typeface="Montserrat" pitchFamily="34" charset="-120"/>
              </a:rPr>
              <a:t> </a:t>
            </a:r>
            <a:r>
              <a:rPr lang="en-US" sz="1000" b="1" dirty="0">
                <a:solidFill>
                  <a:schemeClr val="bg1"/>
                </a:solidFill>
                <a:latin typeface="Montserrat" pitchFamily="34" charset="0"/>
                <a:ea typeface="Montserrat" pitchFamily="34" charset="-122"/>
                <a:cs typeface="Montserrat" pitchFamily="34" charset="-120"/>
              </a:rPr>
              <a:t>Size &amp; Fit</a:t>
            </a:r>
            <a:endParaRPr lang="en-US" sz="1050" dirty="0">
              <a:solidFill>
                <a:schemeClr val="bg1"/>
              </a:solidFill>
            </a:endParaRPr>
          </a:p>
        </p:txBody>
      </p:sp>
      <p:sp>
        <p:nvSpPr>
          <p:cNvPr id="40" name="Shape 38"/>
          <p:cNvSpPr/>
          <p:nvPr/>
        </p:nvSpPr>
        <p:spPr>
          <a:xfrm>
            <a:off x="7302398" y="5230368"/>
            <a:ext cx="2086661" cy="566928"/>
          </a:xfrm>
          <a:prstGeom prst="roundRect">
            <a:avLst>
              <a:gd name="adj" fmla="val 8065"/>
            </a:avLst>
          </a:prstGeom>
          <a:solidFill>
            <a:srgbClr val="333333"/>
          </a:solidFill>
          <a:ln/>
        </p:spPr>
        <p:txBody>
          <a:bodyPr/>
          <a:lstStyle/>
          <a:p>
            <a:endParaRPr lang="en-US"/>
          </a:p>
        </p:txBody>
      </p:sp>
      <p:sp>
        <p:nvSpPr>
          <p:cNvPr id="41" name="Text 39"/>
          <p:cNvSpPr/>
          <p:nvPr/>
        </p:nvSpPr>
        <p:spPr>
          <a:xfrm>
            <a:off x="7412126" y="5230368"/>
            <a:ext cx="1867205" cy="566928"/>
          </a:xfrm>
          <a:prstGeom prst="rect">
            <a:avLst/>
          </a:prstGeom>
          <a:noFill/>
          <a:ln/>
        </p:spPr>
        <p:txBody>
          <a:bodyPr wrap="square" lIns="0" tIns="0" rIns="0" bIns="0" rtlCol="0" anchor="ctr"/>
          <a:lstStyle/>
          <a:p>
            <a:pPr marL="0" indent="0">
              <a:lnSpc>
                <a:spcPct val="90000"/>
              </a:lnSpc>
              <a:buNone/>
            </a:pPr>
            <a:r>
              <a:rPr lang="en-US" sz="1100" b="1" dirty="0">
                <a:solidFill>
                  <a:srgbClr val="C00000"/>
                </a:solidFill>
                <a:latin typeface="Montserrat" pitchFamily="2" charset="77"/>
                <a:ea typeface="Montserrat" pitchFamily="34" charset="-122"/>
                <a:cs typeface="Montserrat" pitchFamily="34" charset="-120"/>
              </a:rPr>
              <a:t>04 </a:t>
            </a:r>
            <a:r>
              <a:rPr lang="en-US" sz="1100" b="1" dirty="0">
                <a:solidFill>
                  <a:schemeClr val="bg1"/>
                </a:solidFill>
                <a:latin typeface="Montserrat" pitchFamily="2" charset="77"/>
                <a:ea typeface="Montserrat" pitchFamily="34" charset="-122"/>
                <a:cs typeface="Montserrat" pitchFamily="34" charset="-120"/>
              </a:rPr>
              <a:t> </a:t>
            </a:r>
            <a:r>
              <a:rPr lang="en-US" sz="1050" b="1" dirty="0">
                <a:solidFill>
                  <a:schemeClr val="bg1"/>
                </a:solidFill>
                <a:latin typeface="Montserrat" pitchFamily="2" charset="77"/>
                <a:ea typeface="Montserrat" pitchFamily="34" charset="-122"/>
                <a:cs typeface="Montserrat" pitchFamily="34" charset="-120"/>
              </a:rPr>
              <a:t>Service Upsell &amp; Monetisation</a:t>
            </a:r>
            <a:endParaRPr lang="en-US" sz="1100" dirty="0">
              <a:solidFill>
                <a:schemeClr val="bg1"/>
              </a:solidFill>
              <a:latin typeface="Montserrat" pitchFamily="2" charset="77"/>
            </a:endParaRPr>
          </a:p>
        </p:txBody>
      </p:sp>
      <p:sp>
        <p:nvSpPr>
          <p:cNvPr id="42" name="Shape 40"/>
          <p:cNvSpPr/>
          <p:nvPr/>
        </p:nvSpPr>
        <p:spPr>
          <a:xfrm>
            <a:off x="9553651" y="5230368"/>
            <a:ext cx="2086661" cy="566928"/>
          </a:xfrm>
          <a:prstGeom prst="roundRect">
            <a:avLst>
              <a:gd name="adj" fmla="val 8065"/>
            </a:avLst>
          </a:prstGeom>
          <a:solidFill>
            <a:srgbClr val="333333"/>
          </a:solidFill>
          <a:ln/>
        </p:spPr>
        <p:txBody>
          <a:bodyPr/>
          <a:lstStyle/>
          <a:p>
            <a:endParaRPr lang="en-US" sz="2000">
              <a:latin typeface="Montserrat" pitchFamily="2" charset="77"/>
            </a:endParaRPr>
          </a:p>
        </p:txBody>
      </p:sp>
      <p:sp>
        <p:nvSpPr>
          <p:cNvPr id="43" name="Text 41"/>
          <p:cNvSpPr/>
          <p:nvPr/>
        </p:nvSpPr>
        <p:spPr>
          <a:xfrm>
            <a:off x="9663379" y="5230368"/>
            <a:ext cx="1867205" cy="566928"/>
          </a:xfrm>
          <a:prstGeom prst="rect">
            <a:avLst/>
          </a:prstGeom>
          <a:noFill/>
          <a:ln/>
        </p:spPr>
        <p:txBody>
          <a:bodyPr wrap="square" lIns="0" tIns="0" rIns="0" bIns="0" rtlCol="0" anchor="ctr"/>
          <a:lstStyle/>
          <a:p>
            <a:pPr marL="0" indent="0">
              <a:lnSpc>
                <a:spcPct val="90000"/>
              </a:lnSpc>
              <a:buNone/>
            </a:pPr>
            <a:r>
              <a:rPr lang="en-US" sz="1050" b="1" dirty="0">
                <a:solidFill>
                  <a:srgbClr val="C00000"/>
                </a:solidFill>
                <a:latin typeface="Montserrat" pitchFamily="34" charset="0"/>
                <a:ea typeface="Montserrat" pitchFamily="34" charset="-122"/>
                <a:cs typeface="Montserrat" pitchFamily="34" charset="-120"/>
              </a:rPr>
              <a:t>05 </a:t>
            </a:r>
            <a:r>
              <a:rPr lang="en-US" sz="1050" b="1" dirty="0">
                <a:solidFill>
                  <a:schemeClr val="bg1"/>
                </a:solidFill>
                <a:latin typeface="Montserrat" pitchFamily="34" charset="0"/>
                <a:ea typeface="Montserrat" pitchFamily="34" charset="-122"/>
                <a:cs typeface="Montserrat" pitchFamily="34" charset="-120"/>
              </a:rPr>
              <a:t> </a:t>
            </a:r>
            <a:r>
              <a:rPr lang="en-US" sz="1000" b="1" dirty="0">
                <a:solidFill>
                  <a:schemeClr val="bg1"/>
                </a:solidFill>
                <a:latin typeface="Montserrat" pitchFamily="34" charset="0"/>
                <a:ea typeface="Montserrat" pitchFamily="34" charset="-122"/>
                <a:cs typeface="Montserrat" pitchFamily="34" charset="-120"/>
              </a:rPr>
              <a:t>Loyalty &amp; Gamification</a:t>
            </a:r>
            <a:endParaRPr lang="en-US" sz="1050" dirty="0">
              <a:solidFill>
                <a:schemeClr val="bg1"/>
              </a:solidFill>
            </a:endParaRPr>
          </a:p>
        </p:txBody>
      </p:sp>
      <p:sp>
        <p:nvSpPr>
          <p:cNvPr id="44" name="Shape 42"/>
          <p:cNvSpPr/>
          <p:nvPr/>
        </p:nvSpPr>
        <p:spPr>
          <a:xfrm>
            <a:off x="548640" y="6053328"/>
            <a:ext cx="11091672" cy="10973"/>
          </a:xfrm>
          <a:prstGeom prst="rect">
            <a:avLst/>
          </a:prstGeom>
          <a:solidFill>
            <a:srgbClr val="E2E0D9"/>
          </a:solidFill>
          <a:ln/>
        </p:spPr>
        <p:txBody>
          <a:bodyPr/>
          <a:lstStyle/>
          <a:p>
            <a:endParaRPr lang="en-US"/>
          </a:p>
        </p:txBody>
      </p:sp>
      <p:sp>
        <p:nvSpPr>
          <p:cNvPr id="45" name="Text 43"/>
          <p:cNvSpPr/>
          <p:nvPr/>
        </p:nvSpPr>
        <p:spPr>
          <a:xfrm>
            <a:off x="548640" y="6144768"/>
            <a:ext cx="5486400" cy="237744"/>
          </a:xfrm>
          <a:prstGeom prst="rect">
            <a:avLst/>
          </a:prstGeom>
          <a:noFill/>
          <a:ln/>
        </p:spPr>
        <p:txBody>
          <a:bodyPr wrap="square" lIns="0" tIns="0" rIns="0" bIns="0" rtlCol="0" anchor="ctr"/>
          <a:lstStyle/>
          <a:p>
            <a:pPr marL="0" indent="0">
              <a:buNone/>
            </a:pPr>
            <a:r>
              <a:rPr lang="en-US" sz="900" dirty="0">
                <a:solidFill>
                  <a:srgbClr val="A0A5AB"/>
                </a:solidFill>
                <a:latin typeface="Montserrat" pitchFamily="34" charset="0"/>
                <a:ea typeface="Montserrat" pitchFamily="34" charset="-122"/>
                <a:cs typeface="Montserrat" pitchFamily="34" charset="-120"/>
              </a:rPr>
              <a:t>Mission #3 · Team 5 — Condor Galaxy</a:t>
            </a:r>
            <a:endParaRPr lang="en-US" sz="900" dirty="0"/>
          </a:p>
        </p:txBody>
      </p:sp>
      <p:sp>
        <p:nvSpPr>
          <p:cNvPr id="46" name="Text 44"/>
          <p:cNvSpPr/>
          <p:nvPr/>
        </p:nvSpPr>
        <p:spPr>
          <a:xfrm>
            <a:off x="6126480" y="6144768"/>
            <a:ext cx="5513832" cy="237744"/>
          </a:xfrm>
          <a:prstGeom prst="rect">
            <a:avLst/>
          </a:prstGeom>
          <a:noFill/>
          <a:ln/>
        </p:spPr>
        <p:txBody>
          <a:bodyPr wrap="square" lIns="0" tIns="0" rIns="0" bIns="0" rtlCol="0" anchor="ctr"/>
          <a:lstStyle/>
          <a:p>
            <a:pPr marL="0" indent="0" algn="r">
              <a:buNone/>
            </a:pPr>
            <a:r>
              <a:rPr lang="en-US" sz="900" i="1" dirty="0">
                <a:solidFill>
                  <a:srgbClr val="A0A5AB"/>
                </a:solidFill>
                <a:latin typeface="Lora" pitchFamily="34" charset="0"/>
                <a:ea typeface="Lora" pitchFamily="34" charset="-122"/>
                <a:cs typeface="Lora" pitchFamily="34" charset="-120"/>
              </a:rPr>
              <a:t>Smart retail. Real value.</a:t>
            </a:r>
            <a:endParaRPr lang="en-US" sz="900" dirty="0"/>
          </a:p>
        </p:txBody>
      </p:sp>
      <p:cxnSp>
        <p:nvCxnSpPr>
          <p:cNvPr id="47" name="Straight Connector 46">
            <a:extLst>
              <a:ext uri="{FF2B5EF4-FFF2-40B4-BE49-F238E27FC236}">
                <a16:creationId xmlns:a16="http://schemas.microsoft.com/office/drawing/2014/main" id="{E0C0F9FA-DD08-66D8-7D09-6E62AE2FD568}"/>
              </a:ext>
            </a:extLst>
          </p:cNvPr>
          <p:cNvCxnSpPr>
            <a:cxnSpLocks/>
          </p:cNvCxnSpPr>
          <p:nvPr/>
        </p:nvCxnSpPr>
        <p:spPr>
          <a:xfrm>
            <a:off x="548640" y="5230368"/>
            <a:ext cx="0" cy="723865"/>
          </a:xfrm>
          <a:prstGeom prst="line">
            <a:avLst/>
          </a:prstGeom>
          <a:ln>
            <a:solidFill>
              <a:srgbClr val="C00000"/>
            </a:solidFill>
          </a:ln>
        </p:spPr>
        <p:style>
          <a:lnRef idx="3">
            <a:schemeClr val="accent4"/>
          </a:lnRef>
          <a:fillRef idx="0">
            <a:schemeClr val="accent4"/>
          </a:fillRef>
          <a:effectRef idx="2">
            <a:schemeClr val="accent4"/>
          </a:effectRef>
          <a:fontRef idx="minor">
            <a:schemeClr val="tx1"/>
          </a:fontRef>
        </p:style>
      </p:cxnSp>
      <p:cxnSp>
        <p:nvCxnSpPr>
          <p:cNvPr id="49" name="Straight Connector 48">
            <a:extLst>
              <a:ext uri="{FF2B5EF4-FFF2-40B4-BE49-F238E27FC236}">
                <a16:creationId xmlns:a16="http://schemas.microsoft.com/office/drawing/2014/main" id="{E716604F-3FE8-18B3-80B7-782F62DE6BA9}"/>
              </a:ext>
            </a:extLst>
          </p:cNvPr>
          <p:cNvCxnSpPr>
            <a:cxnSpLocks/>
          </p:cNvCxnSpPr>
          <p:nvPr/>
        </p:nvCxnSpPr>
        <p:spPr>
          <a:xfrm>
            <a:off x="2799893" y="5230368"/>
            <a:ext cx="0" cy="723865"/>
          </a:xfrm>
          <a:prstGeom prst="line">
            <a:avLst/>
          </a:prstGeom>
          <a:ln>
            <a:solidFill>
              <a:srgbClr val="C00000"/>
            </a:solidFill>
          </a:ln>
        </p:spPr>
        <p:style>
          <a:lnRef idx="3">
            <a:schemeClr val="accent4"/>
          </a:lnRef>
          <a:fillRef idx="0">
            <a:schemeClr val="accent4"/>
          </a:fillRef>
          <a:effectRef idx="2">
            <a:schemeClr val="accent4"/>
          </a:effectRef>
          <a:fontRef idx="minor">
            <a:schemeClr val="tx1"/>
          </a:fontRef>
        </p:style>
      </p:cxnSp>
      <p:cxnSp>
        <p:nvCxnSpPr>
          <p:cNvPr id="50" name="Straight Connector 49">
            <a:extLst>
              <a:ext uri="{FF2B5EF4-FFF2-40B4-BE49-F238E27FC236}">
                <a16:creationId xmlns:a16="http://schemas.microsoft.com/office/drawing/2014/main" id="{8B3ECE55-F42A-70DC-C995-0D6C32C56C0C}"/>
              </a:ext>
            </a:extLst>
          </p:cNvPr>
          <p:cNvCxnSpPr>
            <a:cxnSpLocks/>
          </p:cNvCxnSpPr>
          <p:nvPr/>
        </p:nvCxnSpPr>
        <p:spPr>
          <a:xfrm>
            <a:off x="5051146" y="5230368"/>
            <a:ext cx="0" cy="723865"/>
          </a:xfrm>
          <a:prstGeom prst="line">
            <a:avLst/>
          </a:prstGeom>
          <a:ln>
            <a:solidFill>
              <a:srgbClr val="C00000"/>
            </a:solidFill>
          </a:ln>
        </p:spPr>
        <p:style>
          <a:lnRef idx="3">
            <a:schemeClr val="accent4"/>
          </a:lnRef>
          <a:fillRef idx="0">
            <a:schemeClr val="accent4"/>
          </a:fillRef>
          <a:effectRef idx="2">
            <a:schemeClr val="accent4"/>
          </a:effectRef>
          <a:fontRef idx="minor">
            <a:schemeClr val="tx1"/>
          </a:fontRef>
        </p:style>
      </p:cxnSp>
      <p:cxnSp>
        <p:nvCxnSpPr>
          <p:cNvPr id="51" name="Straight Connector 50">
            <a:extLst>
              <a:ext uri="{FF2B5EF4-FFF2-40B4-BE49-F238E27FC236}">
                <a16:creationId xmlns:a16="http://schemas.microsoft.com/office/drawing/2014/main" id="{35EA51D5-AD02-DD91-ADFF-736D13F767CF}"/>
              </a:ext>
            </a:extLst>
          </p:cNvPr>
          <p:cNvCxnSpPr>
            <a:cxnSpLocks/>
          </p:cNvCxnSpPr>
          <p:nvPr/>
        </p:nvCxnSpPr>
        <p:spPr>
          <a:xfrm>
            <a:off x="7322245" y="5230368"/>
            <a:ext cx="0" cy="723865"/>
          </a:xfrm>
          <a:prstGeom prst="line">
            <a:avLst/>
          </a:prstGeom>
          <a:ln>
            <a:solidFill>
              <a:srgbClr val="C00000"/>
            </a:solidFill>
          </a:ln>
        </p:spPr>
        <p:style>
          <a:lnRef idx="3">
            <a:schemeClr val="accent4"/>
          </a:lnRef>
          <a:fillRef idx="0">
            <a:schemeClr val="accent4"/>
          </a:fillRef>
          <a:effectRef idx="2">
            <a:schemeClr val="accent4"/>
          </a:effectRef>
          <a:fontRef idx="minor">
            <a:schemeClr val="tx1"/>
          </a:fontRef>
        </p:style>
      </p:cxnSp>
      <p:cxnSp>
        <p:nvCxnSpPr>
          <p:cNvPr id="52" name="Straight Connector 51">
            <a:extLst>
              <a:ext uri="{FF2B5EF4-FFF2-40B4-BE49-F238E27FC236}">
                <a16:creationId xmlns:a16="http://schemas.microsoft.com/office/drawing/2014/main" id="{A87137A5-2B45-53C9-3BE0-2A43EB7FC1D8}"/>
              </a:ext>
            </a:extLst>
          </p:cNvPr>
          <p:cNvCxnSpPr>
            <a:cxnSpLocks/>
          </p:cNvCxnSpPr>
          <p:nvPr/>
        </p:nvCxnSpPr>
        <p:spPr>
          <a:xfrm>
            <a:off x="9553651" y="5230368"/>
            <a:ext cx="0" cy="723865"/>
          </a:xfrm>
          <a:prstGeom prst="line">
            <a:avLst/>
          </a:prstGeom>
          <a:ln>
            <a:solidFill>
              <a:srgbClr val="C00000"/>
            </a:solidFill>
          </a:ln>
        </p:spPr>
        <p:style>
          <a:lnRef idx="3">
            <a:schemeClr val="accent4"/>
          </a:lnRef>
          <a:fillRef idx="0">
            <a:schemeClr val="accent4"/>
          </a:fillRef>
          <a:effectRef idx="2">
            <a:schemeClr val="accent4"/>
          </a:effectRef>
          <a:fontRef idx="minor">
            <a:schemeClr val="tx1"/>
          </a:fontRef>
        </p:style>
      </p:cxnSp>
      <p:pic>
        <p:nvPicPr>
          <p:cNvPr id="53" name="Google Shape;126;p2" descr="preencoded.png">
            <a:extLst>
              <a:ext uri="{FF2B5EF4-FFF2-40B4-BE49-F238E27FC236}">
                <a16:creationId xmlns:a16="http://schemas.microsoft.com/office/drawing/2014/main" id="{2CADA3B2-D560-CCB8-0C59-018ABF19632A}"/>
              </a:ext>
            </a:extLst>
          </p:cNvPr>
          <p:cNvPicPr preferRelativeResize="0"/>
          <p:nvPr/>
        </p:nvPicPr>
        <p:blipFill rotWithShape="1">
          <a:blip r:embed="rId3">
            <a:alphaModFix/>
          </a:blip>
          <a:srcRect/>
          <a:stretch/>
        </p:blipFill>
        <p:spPr>
          <a:xfrm>
            <a:off x="11177532" y="284003"/>
            <a:ext cx="669527" cy="6716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E31837"/>
          </a:solidFill>
          <a:ln/>
        </p:spPr>
        <p:txBody>
          <a:bodyPr/>
          <a:lstStyle/>
          <a:p>
            <a:endParaRPr lang="en-US"/>
          </a:p>
        </p:txBody>
      </p:sp>
      <p:sp>
        <p:nvSpPr>
          <p:cNvPr id="3" name="Text 1"/>
          <p:cNvSpPr/>
          <p:nvPr/>
        </p:nvSpPr>
        <p:spPr>
          <a:xfrm>
            <a:off x="10424160" y="137160"/>
            <a:ext cx="1417320" cy="274320"/>
          </a:xfrm>
          <a:prstGeom prst="rect">
            <a:avLst/>
          </a:prstGeom>
          <a:noFill/>
          <a:ln/>
        </p:spPr>
        <p:txBody>
          <a:bodyPr wrap="square" lIns="0" tIns="0" rIns="0" bIns="0" rtlCol="0" anchor="ctr"/>
          <a:lstStyle/>
          <a:p>
            <a:pPr marL="0" indent="0" algn="r">
              <a:buNone/>
            </a:pPr>
            <a:r>
              <a:rPr lang="en-US" sz="1300" b="1" dirty="0">
                <a:solidFill>
                  <a:srgbClr val="E31837"/>
                </a:solidFill>
                <a:latin typeface="Montserrat" pitchFamily="34" charset="0"/>
                <a:ea typeface="Montserrat" pitchFamily="34" charset="-122"/>
                <a:cs typeface="Montserrat" pitchFamily="34" charset="-120"/>
              </a:rPr>
              <a:t>Neu</a:t>
            </a:r>
            <a:r>
              <a:rPr lang="en-US" sz="1300" b="1" dirty="0">
                <a:solidFill>
                  <a:srgbClr val="333333"/>
                </a:solidFill>
                <a:latin typeface="Montserrat" pitchFamily="34" charset="0"/>
                <a:ea typeface="Montserrat" pitchFamily="34" charset="-122"/>
                <a:cs typeface="Montserrat" pitchFamily="34" charset="-120"/>
              </a:rPr>
              <a:t>.Tail</a:t>
            </a:r>
            <a:endParaRPr lang="en-US" sz="1300" dirty="0"/>
          </a:p>
        </p:txBody>
      </p:sp>
      <p:sp>
        <p:nvSpPr>
          <p:cNvPr id="4" name="Text 2"/>
          <p:cNvSpPr/>
          <p:nvPr/>
        </p:nvSpPr>
        <p:spPr>
          <a:xfrm>
            <a:off x="365760" y="146304"/>
            <a:ext cx="8229600" cy="201168"/>
          </a:xfrm>
          <a:prstGeom prst="rect">
            <a:avLst/>
          </a:prstGeom>
          <a:noFill/>
          <a:ln/>
        </p:spPr>
        <p:txBody>
          <a:bodyPr wrap="square" lIns="0" tIns="0" rIns="0" bIns="0" rtlCol="0" anchor="ctr"/>
          <a:lstStyle/>
          <a:p>
            <a:pPr marL="0" indent="0">
              <a:buNone/>
            </a:pPr>
            <a:r>
              <a:rPr lang="en-US" sz="1000" b="1" kern="0" spc="200" dirty="0">
                <a:solidFill>
                  <a:srgbClr val="E31837"/>
                </a:solidFill>
                <a:latin typeface="Montserrat" pitchFamily="34" charset="0"/>
                <a:ea typeface="Montserrat" pitchFamily="34" charset="-122"/>
                <a:cs typeface="Montserrat" pitchFamily="34" charset="-120"/>
              </a:rPr>
              <a:t>OBJECTIVE 1 · THE AGENTIC SOLUTION</a:t>
            </a:r>
            <a:endParaRPr lang="en-US" sz="1000" dirty="0"/>
          </a:p>
        </p:txBody>
      </p:sp>
      <p:sp>
        <p:nvSpPr>
          <p:cNvPr id="5" name="Text 3"/>
          <p:cNvSpPr/>
          <p:nvPr/>
        </p:nvSpPr>
        <p:spPr>
          <a:xfrm>
            <a:off x="365760" y="365760"/>
            <a:ext cx="11430000" cy="310896"/>
          </a:xfrm>
          <a:prstGeom prst="rect">
            <a:avLst/>
          </a:prstGeom>
          <a:noFill/>
          <a:ln/>
        </p:spPr>
        <p:txBody>
          <a:bodyPr wrap="square" lIns="0" tIns="0" rIns="0" bIns="0" rtlCol="0" anchor="ctr"/>
          <a:lstStyle/>
          <a:p>
            <a:pPr marL="0" indent="0">
              <a:buNone/>
            </a:pPr>
            <a:r>
              <a:rPr lang="en-US" sz="1800" b="1" dirty="0">
                <a:solidFill>
                  <a:srgbClr val="333333"/>
                </a:solidFill>
                <a:latin typeface="Montserrat" pitchFamily="34" charset="0"/>
                <a:ea typeface="Montserrat" pitchFamily="34" charset="-122"/>
                <a:cs typeface="Montserrat" pitchFamily="34" charset="-120"/>
              </a:rPr>
              <a:t>All 17 agents — type, responsibility &amp; how they relate</a:t>
            </a:r>
            <a:endParaRPr lang="en-US" sz="1800" dirty="0"/>
          </a:p>
        </p:txBody>
      </p:sp>
      <p:sp>
        <p:nvSpPr>
          <p:cNvPr id="6" name="Shape 4"/>
          <p:cNvSpPr/>
          <p:nvPr/>
        </p:nvSpPr>
        <p:spPr>
          <a:xfrm>
            <a:off x="365760" y="731520"/>
            <a:ext cx="128016" cy="128016"/>
          </a:xfrm>
          <a:prstGeom prst="rect">
            <a:avLst/>
          </a:prstGeom>
          <a:solidFill>
            <a:srgbClr val="4A6FA5"/>
          </a:solidFill>
          <a:ln/>
        </p:spPr>
        <p:txBody>
          <a:bodyPr/>
          <a:lstStyle/>
          <a:p>
            <a:endParaRPr lang="en-US"/>
          </a:p>
        </p:txBody>
      </p:sp>
      <p:sp>
        <p:nvSpPr>
          <p:cNvPr id="7" name="Text 5"/>
          <p:cNvSpPr/>
          <p:nvPr/>
        </p:nvSpPr>
        <p:spPr>
          <a:xfrm>
            <a:off x="539496" y="704088"/>
            <a:ext cx="2194560" cy="182880"/>
          </a:xfrm>
          <a:prstGeom prst="rect">
            <a:avLst/>
          </a:prstGeom>
          <a:noFill/>
          <a:ln/>
        </p:spPr>
        <p:txBody>
          <a:bodyPr wrap="square" lIns="0" tIns="0" rIns="0" bIns="0" rtlCol="0" anchor="ctr"/>
          <a:lstStyle/>
          <a:p>
            <a:pPr marL="0" indent="0">
              <a:buNone/>
            </a:pPr>
            <a:r>
              <a:rPr lang="en-US" sz="800" b="1" dirty="0">
                <a:solidFill>
                  <a:srgbClr val="333333"/>
                </a:solidFill>
                <a:latin typeface="Montserrat" pitchFamily="34" charset="0"/>
                <a:ea typeface="Montserrat" pitchFamily="34" charset="-122"/>
                <a:cs typeface="Montserrat" pitchFamily="34" charset="-120"/>
              </a:rPr>
              <a:t>Analytical  </a:t>
            </a:r>
            <a:r>
              <a:rPr lang="en-US" sz="700" i="1" dirty="0">
                <a:solidFill>
                  <a:srgbClr val="A0A5AB"/>
                </a:solidFill>
                <a:latin typeface="Montserrat" pitchFamily="34" charset="0"/>
                <a:ea typeface="Montserrat" pitchFamily="34" charset="-122"/>
                <a:cs typeface="Montserrat" pitchFamily="34" charset="-120"/>
              </a:rPr>
              <a:t>senses · classifies · predicts</a:t>
            </a:r>
            <a:endParaRPr lang="en-US" sz="800" dirty="0"/>
          </a:p>
        </p:txBody>
      </p:sp>
      <p:sp>
        <p:nvSpPr>
          <p:cNvPr id="8" name="Shape 6"/>
          <p:cNvSpPr/>
          <p:nvPr/>
        </p:nvSpPr>
        <p:spPr>
          <a:xfrm>
            <a:off x="2651760" y="731520"/>
            <a:ext cx="128016" cy="128016"/>
          </a:xfrm>
          <a:prstGeom prst="rect">
            <a:avLst/>
          </a:prstGeom>
          <a:solidFill>
            <a:srgbClr val="E31837"/>
          </a:solidFill>
          <a:ln/>
        </p:spPr>
        <p:txBody>
          <a:bodyPr/>
          <a:lstStyle/>
          <a:p>
            <a:endParaRPr lang="en-US"/>
          </a:p>
        </p:txBody>
      </p:sp>
      <p:sp>
        <p:nvSpPr>
          <p:cNvPr id="9" name="Text 7"/>
          <p:cNvSpPr/>
          <p:nvPr/>
        </p:nvSpPr>
        <p:spPr>
          <a:xfrm>
            <a:off x="2825496" y="704088"/>
            <a:ext cx="2194560" cy="182880"/>
          </a:xfrm>
          <a:prstGeom prst="rect">
            <a:avLst/>
          </a:prstGeom>
          <a:noFill/>
          <a:ln/>
        </p:spPr>
        <p:txBody>
          <a:bodyPr wrap="square" lIns="0" tIns="0" rIns="0" bIns="0" rtlCol="0" anchor="ctr"/>
          <a:lstStyle/>
          <a:p>
            <a:pPr marL="0" indent="0">
              <a:buNone/>
            </a:pPr>
            <a:r>
              <a:rPr lang="en-US" sz="800" b="1" dirty="0">
                <a:solidFill>
                  <a:srgbClr val="333333"/>
                </a:solidFill>
                <a:latin typeface="Montserrat" pitchFamily="34" charset="0"/>
                <a:ea typeface="Montserrat" pitchFamily="34" charset="-122"/>
                <a:cs typeface="Montserrat" pitchFamily="34" charset="-120"/>
              </a:rPr>
              <a:t>Orchestration  </a:t>
            </a:r>
            <a:r>
              <a:rPr lang="en-US" sz="700" i="1" dirty="0">
                <a:solidFill>
                  <a:srgbClr val="A0A5AB"/>
                </a:solidFill>
                <a:latin typeface="Montserrat" pitchFamily="34" charset="0"/>
                <a:ea typeface="Montserrat" pitchFamily="34" charset="-122"/>
                <a:cs typeface="Montserrat" pitchFamily="34" charset="-120"/>
              </a:rPr>
              <a:t>composes · arbitrates</a:t>
            </a:r>
            <a:endParaRPr lang="en-US" sz="800" dirty="0"/>
          </a:p>
        </p:txBody>
      </p:sp>
      <p:sp>
        <p:nvSpPr>
          <p:cNvPr id="10" name="Shape 8"/>
          <p:cNvSpPr/>
          <p:nvPr/>
        </p:nvSpPr>
        <p:spPr>
          <a:xfrm>
            <a:off x="4937760" y="731520"/>
            <a:ext cx="128016" cy="128016"/>
          </a:xfrm>
          <a:prstGeom prst="rect">
            <a:avLst/>
          </a:prstGeom>
          <a:solidFill>
            <a:srgbClr val="B8860B"/>
          </a:solidFill>
          <a:ln/>
        </p:spPr>
        <p:txBody>
          <a:bodyPr/>
          <a:lstStyle/>
          <a:p>
            <a:endParaRPr lang="en-US"/>
          </a:p>
        </p:txBody>
      </p:sp>
      <p:sp>
        <p:nvSpPr>
          <p:cNvPr id="11" name="Text 9"/>
          <p:cNvSpPr/>
          <p:nvPr/>
        </p:nvSpPr>
        <p:spPr>
          <a:xfrm>
            <a:off x="5111496" y="704088"/>
            <a:ext cx="2194560" cy="182880"/>
          </a:xfrm>
          <a:prstGeom prst="rect">
            <a:avLst/>
          </a:prstGeom>
          <a:noFill/>
          <a:ln/>
        </p:spPr>
        <p:txBody>
          <a:bodyPr wrap="square" lIns="0" tIns="0" rIns="0" bIns="0" rtlCol="0" anchor="ctr"/>
          <a:lstStyle/>
          <a:p>
            <a:pPr marL="0" indent="0">
              <a:buNone/>
            </a:pPr>
            <a:r>
              <a:rPr lang="en-US" sz="800" b="1" dirty="0">
                <a:solidFill>
                  <a:srgbClr val="333333"/>
                </a:solidFill>
                <a:latin typeface="Montserrat" pitchFamily="34" charset="0"/>
                <a:ea typeface="Montserrat" pitchFamily="34" charset="-122"/>
                <a:cs typeface="Montserrat" pitchFamily="34" charset="-120"/>
              </a:rPr>
              <a:t>Transactional  </a:t>
            </a:r>
            <a:r>
              <a:rPr lang="en-US" sz="700" i="1" dirty="0">
                <a:solidFill>
                  <a:srgbClr val="A0A5AB"/>
                </a:solidFill>
                <a:latin typeface="Montserrat" pitchFamily="34" charset="0"/>
                <a:ea typeface="Montserrat" pitchFamily="34" charset="-122"/>
                <a:cs typeface="Montserrat" pitchFamily="34" charset="-120"/>
              </a:rPr>
              <a:t>commits money / contract</a:t>
            </a:r>
            <a:endParaRPr lang="en-US" sz="800" dirty="0"/>
          </a:p>
        </p:txBody>
      </p:sp>
      <p:sp>
        <p:nvSpPr>
          <p:cNvPr id="12" name="Shape 10"/>
          <p:cNvSpPr/>
          <p:nvPr/>
        </p:nvSpPr>
        <p:spPr>
          <a:xfrm>
            <a:off x="7223760" y="731520"/>
            <a:ext cx="128016" cy="128016"/>
          </a:xfrm>
          <a:prstGeom prst="rect">
            <a:avLst/>
          </a:prstGeom>
          <a:solidFill>
            <a:srgbClr val="5F5E5A"/>
          </a:solidFill>
          <a:ln/>
        </p:spPr>
        <p:txBody>
          <a:bodyPr/>
          <a:lstStyle/>
          <a:p>
            <a:endParaRPr lang="en-US"/>
          </a:p>
        </p:txBody>
      </p:sp>
      <p:sp>
        <p:nvSpPr>
          <p:cNvPr id="13" name="Text 11"/>
          <p:cNvSpPr/>
          <p:nvPr/>
        </p:nvSpPr>
        <p:spPr>
          <a:xfrm>
            <a:off x="7397496" y="704088"/>
            <a:ext cx="2194560" cy="182880"/>
          </a:xfrm>
          <a:prstGeom prst="rect">
            <a:avLst/>
          </a:prstGeom>
          <a:noFill/>
          <a:ln/>
        </p:spPr>
        <p:txBody>
          <a:bodyPr wrap="square" lIns="0" tIns="0" rIns="0" bIns="0" rtlCol="0" anchor="ctr"/>
          <a:lstStyle/>
          <a:p>
            <a:pPr marL="0" indent="0">
              <a:buNone/>
            </a:pPr>
            <a:r>
              <a:rPr lang="en-US" sz="800" b="1" dirty="0">
                <a:solidFill>
                  <a:srgbClr val="333333"/>
                </a:solidFill>
                <a:latin typeface="Montserrat" pitchFamily="34" charset="0"/>
                <a:ea typeface="Montserrat" pitchFamily="34" charset="-122"/>
                <a:cs typeface="Montserrat" pitchFamily="34" charset="-120"/>
              </a:rPr>
              <a:t>Execution  </a:t>
            </a:r>
            <a:r>
              <a:rPr lang="en-US" sz="700" i="1" dirty="0">
                <a:solidFill>
                  <a:srgbClr val="A0A5AB"/>
                </a:solidFill>
                <a:latin typeface="Montserrat" pitchFamily="34" charset="0"/>
                <a:ea typeface="Montserrat" pitchFamily="34" charset="-122"/>
                <a:cs typeface="Montserrat" pitchFamily="34" charset="-120"/>
              </a:rPr>
              <a:t>acts in the world</a:t>
            </a:r>
            <a:endParaRPr lang="en-US" sz="800" dirty="0"/>
          </a:p>
        </p:txBody>
      </p:sp>
      <p:sp>
        <p:nvSpPr>
          <p:cNvPr id="14" name="Shape 12"/>
          <p:cNvSpPr/>
          <p:nvPr/>
        </p:nvSpPr>
        <p:spPr>
          <a:xfrm>
            <a:off x="9509760" y="731520"/>
            <a:ext cx="128016" cy="128016"/>
          </a:xfrm>
          <a:prstGeom prst="rect">
            <a:avLst/>
          </a:prstGeom>
          <a:solidFill>
            <a:srgbClr val="7A9A7E"/>
          </a:solidFill>
          <a:ln/>
        </p:spPr>
        <p:txBody>
          <a:bodyPr/>
          <a:lstStyle/>
          <a:p>
            <a:endParaRPr lang="en-US"/>
          </a:p>
        </p:txBody>
      </p:sp>
      <p:sp>
        <p:nvSpPr>
          <p:cNvPr id="15" name="Text 13"/>
          <p:cNvSpPr/>
          <p:nvPr/>
        </p:nvSpPr>
        <p:spPr>
          <a:xfrm>
            <a:off x="9683496" y="704088"/>
            <a:ext cx="2194560" cy="182880"/>
          </a:xfrm>
          <a:prstGeom prst="rect">
            <a:avLst/>
          </a:prstGeom>
          <a:noFill/>
          <a:ln/>
        </p:spPr>
        <p:txBody>
          <a:bodyPr wrap="square" lIns="0" tIns="0" rIns="0" bIns="0" rtlCol="0" anchor="ctr"/>
          <a:lstStyle/>
          <a:p>
            <a:pPr marL="0" indent="0">
              <a:buNone/>
            </a:pPr>
            <a:r>
              <a:rPr lang="en-US" sz="800" b="1" dirty="0">
                <a:solidFill>
                  <a:srgbClr val="333333"/>
                </a:solidFill>
                <a:latin typeface="Montserrat" pitchFamily="34" charset="0"/>
                <a:ea typeface="Montserrat" pitchFamily="34" charset="-122"/>
                <a:cs typeface="Montserrat" pitchFamily="34" charset="-120"/>
              </a:rPr>
              <a:t>Interaction  </a:t>
            </a:r>
            <a:r>
              <a:rPr lang="en-US" sz="700" i="1" dirty="0">
                <a:solidFill>
                  <a:srgbClr val="A0A5AB"/>
                </a:solidFill>
                <a:latin typeface="Montserrat" pitchFamily="34" charset="0"/>
                <a:ea typeface="Montserrat" pitchFamily="34" charset="-122"/>
                <a:cs typeface="Montserrat" pitchFamily="34" charset="-120"/>
              </a:rPr>
              <a:t>converses · engages</a:t>
            </a:r>
            <a:endParaRPr lang="en-US" sz="800" dirty="0"/>
          </a:p>
        </p:txBody>
      </p:sp>
      <p:graphicFrame>
        <p:nvGraphicFramePr>
          <p:cNvPr id="16" name="Table 0"/>
          <p:cNvGraphicFramePr>
            <a:graphicFrameLocks noGrp="1"/>
          </p:cNvGraphicFramePr>
          <p:nvPr>
            <p:extLst>
              <p:ext uri="{D42A27DB-BD31-4B8C-83A1-F6EECF244321}">
                <p14:modId xmlns:p14="http://schemas.microsoft.com/office/powerpoint/2010/main" val="2556898726"/>
              </p:ext>
            </p:extLst>
          </p:nvPr>
        </p:nvGraphicFramePr>
        <p:xfrm>
          <a:off x="365760" y="1024128"/>
          <a:ext cx="11457432" cy="5130800"/>
        </p:xfrm>
        <a:graphic>
          <a:graphicData uri="http://schemas.openxmlformats.org/drawingml/2006/table">
            <a:tbl>
              <a:tblPr/>
              <a:tblGrid>
                <a:gridCol w="1048370">
                  <a:extLst>
                    <a:ext uri="{9D8B030D-6E8A-4147-A177-3AD203B41FA5}">
                      <a16:colId xmlns:a16="http://schemas.microsoft.com/office/drawing/2014/main" val="20000"/>
                    </a:ext>
                  </a:extLst>
                </a:gridCol>
                <a:gridCol w="105475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434340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274320">
                <a:tc>
                  <a:txBody>
                    <a:bodyPr/>
                    <a:lstStyle/>
                    <a:p>
                      <a:pPr marL="0" indent="0" algn="l">
                        <a:buNone/>
                      </a:pPr>
                      <a:r>
                        <a:rPr lang="en-US" sz="900" b="1" dirty="0">
                          <a:solidFill>
                            <a:srgbClr val="FDFDFD"/>
                          </a:solidFill>
                          <a:latin typeface="Montserrat" pitchFamily="34" charset="0"/>
                          <a:ea typeface="Montserrat" pitchFamily="34" charset="-122"/>
                          <a:cs typeface="Montserrat" pitchFamily="34" charset="-120"/>
                        </a:rPr>
                        <a:t>Agent</a:t>
                      </a:r>
                      <a:endParaRPr lang="en-US" sz="9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333333"/>
                    </a:solidFill>
                  </a:tcPr>
                </a:tc>
                <a:tc>
                  <a:txBody>
                    <a:bodyPr/>
                    <a:lstStyle/>
                    <a:p>
                      <a:pPr marL="0" indent="0" algn="l">
                        <a:buNone/>
                      </a:pPr>
                      <a:r>
                        <a:rPr lang="en-US" sz="900" b="1" dirty="0">
                          <a:solidFill>
                            <a:srgbClr val="FDFDFD"/>
                          </a:solidFill>
                          <a:latin typeface="Montserrat" pitchFamily="34" charset="0"/>
                          <a:ea typeface="Montserrat" pitchFamily="34" charset="-122"/>
                          <a:cs typeface="Montserrat" pitchFamily="34" charset="-120"/>
                        </a:rPr>
                        <a:t>Origin</a:t>
                      </a:r>
                      <a:endParaRPr lang="en-US" sz="9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333333"/>
                    </a:solidFill>
                  </a:tcPr>
                </a:tc>
                <a:tc>
                  <a:txBody>
                    <a:bodyPr/>
                    <a:lstStyle/>
                    <a:p>
                      <a:pPr marL="0" indent="0" algn="l">
                        <a:buNone/>
                      </a:pPr>
                      <a:r>
                        <a:rPr lang="en-US" sz="900" b="1" dirty="0">
                          <a:solidFill>
                            <a:srgbClr val="FDFDFD"/>
                          </a:solidFill>
                          <a:latin typeface="Montserrat" pitchFamily="34" charset="0"/>
                          <a:ea typeface="Montserrat" pitchFamily="34" charset="-122"/>
                          <a:cs typeface="Montserrat" pitchFamily="34" charset="-120"/>
                        </a:rPr>
                        <a:t>Type</a:t>
                      </a:r>
                      <a:endParaRPr lang="en-US" sz="9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333333"/>
                    </a:solidFill>
                  </a:tcPr>
                </a:tc>
                <a:tc>
                  <a:txBody>
                    <a:bodyPr/>
                    <a:lstStyle/>
                    <a:p>
                      <a:pPr marL="0" indent="0" algn="l">
                        <a:buNone/>
                      </a:pPr>
                      <a:r>
                        <a:rPr lang="en-US" sz="900" b="1" dirty="0">
                          <a:solidFill>
                            <a:srgbClr val="FDFDFD"/>
                          </a:solidFill>
                          <a:latin typeface="Montserrat" pitchFamily="34" charset="0"/>
                          <a:ea typeface="Montserrat" pitchFamily="34" charset="-122"/>
                          <a:cs typeface="Montserrat" pitchFamily="34" charset="-120"/>
                        </a:rPr>
                        <a:t>Responsibility</a:t>
                      </a:r>
                      <a:endParaRPr lang="en-US" sz="9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333333"/>
                    </a:solidFill>
                  </a:tcPr>
                </a:tc>
                <a:tc>
                  <a:txBody>
                    <a:bodyPr/>
                    <a:lstStyle/>
                    <a:p>
                      <a:pPr marL="0" indent="0" algn="l">
                        <a:buNone/>
                      </a:pPr>
                      <a:r>
                        <a:rPr lang="en-US" sz="900" b="1" dirty="0">
                          <a:solidFill>
                            <a:srgbClr val="FDFDFD"/>
                          </a:solidFill>
                          <a:latin typeface="Montserrat" pitchFamily="34" charset="0"/>
                          <a:ea typeface="Montserrat" pitchFamily="34" charset="-122"/>
                          <a:cs typeface="Montserrat" pitchFamily="34" charset="-120"/>
                        </a:rPr>
                        <a:t>How it relates</a:t>
                      </a:r>
                      <a:endParaRPr lang="en-US" sz="9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333333"/>
                    </a:solidFill>
                  </a:tcPr>
                </a:tc>
                <a:extLst>
                  <a:ext uri="{0D108BD9-81ED-4DB2-BD59-A6C34878D82A}">
                    <a16:rowId xmlns:a16="http://schemas.microsoft.com/office/drawing/2014/main" val="10000"/>
                  </a:ext>
                </a:extLst>
              </a:tr>
              <a:tr h="274320">
                <a:tc>
                  <a:txBody>
                    <a:bodyPr/>
                    <a:lstStyle/>
                    <a:p>
                      <a:pPr marL="0" indent="0">
                        <a:buNone/>
                      </a:pPr>
                      <a:r>
                        <a:rPr lang="en-US" sz="950" b="1" dirty="0">
                          <a:solidFill>
                            <a:srgbClr val="E31837"/>
                          </a:solidFill>
                          <a:latin typeface="Montserrat" pitchFamily="34" charset="0"/>
                          <a:ea typeface="Montserrat" pitchFamily="34" charset="-122"/>
                          <a:cs typeface="Montserrat" pitchFamily="34" charset="-120"/>
                        </a:rPr>
                        <a:t>PERSONA</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FBE3E4"/>
                    </a:solidFill>
                  </a:tcPr>
                </a:tc>
                <a:tc>
                  <a:txBody>
                    <a:bodyP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NEW</a:t>
                      </a:r>
                      <a:endParaRPr lang="en-US" sz="7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E31837"/>
                    </a:solidFill>
                  </a:tcPr>
                </a:tc>
                <a:tc>
                  <a:txBody>
                    <a:bodyPr/>
                    <a:lstStyle/>
                    <a:p>
                      <a:pPr marL="0" indent="0">
                        <a:buNone/>
                      </a:pPr>
                      <a:r>
                        <a:rPr lang="en-US" sz="800" b="1" dirty="0">
                          <a:solidFill>
                            <a:srgbClr val="4A6FA5"/>
                          </a:solidFill>
                          <a:latin typeface="Montserrat" pitchFamily="34" charset="0"/>
                          <a:ea typeface="Montserrat" pitchFamily="34" charset="-122"/>
                          <a:cs typeface="Montserrat" pitchFamily="34" charset="-120"/>
                        </a:rPr>
                        <a:t>Analytical</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333333"/>
                          </a:solidFill>
                          <a:latin typeface="Lora" pitchFamily="34" charset="0"/>
                          <a:ea typeface="Lora" pitchFamily="34" charset="-122"/>
                          <a:cs typeface="Lora" pitchFamily="34" charset="-120"/>
                        </a:rPr>
                        <a:t>Builds the real-time profile; classifies segment; publishes it downstream</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5F5E5A"/>
                          </a:solidFill>
                          <a:latin typeface="Lora" pitchFamily="34" charset="0"/>
                          <a:ea typeface="Lora" pitchFamily="34" charset="-122"/>
                          <a:cs typeface="Lora" pitchFamily="34" charset="-120"/>
                        </a:rPr>
                        <a:t>Sub-agent of ONEBASKET · feeds all four specialists</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950" b="1" dirty="0">
                          <a:solidFill>
                            <a:srgbClr val="E31837"/>
                          </a:solidFill>
                          <a:latin typeface="Montserrat" pitchFamily="34" charset="0"/>
                          <a:ea typeface="Montserrat" pitchFamily="34" charset="-122"/>
                          <a:cs typeface="Montserrat" pitchFamily="34" charset="-120"/>
                        </a:rPr>
                        <a:t>TAILOR</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FBE3E4"/>
                    </a:solidFill>
                  </a:tcPr>
                </a:tc>
                <a:tc>
                  <a:txBody>
                    <a:bodyP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NEW</a:t>
                      </a:r>
                      <a:endParaRPr lang="en-US" sz="7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E31837"/>
                    </a:solidFill>
                  </a:tcPr>
                </a:tc>
                <a:tc>
                  <a:txBody>
                    <a:bodyPr/>
                    <a:lstStyle/>
                    <a:p>
                      <a:pPr marL="0" indent="0">
                        <a:buNone/>
                      </a:pPr>
                      <a:r>
                        <a:rPr lang="en-US" sz="800" b="1" dirty="0">
                          <a:solidFill>
                            <a:srgbClr val="4A6FA5"/>
                          </a:solidFill>
                          <a:latin typeface="Montserrat" pitchFamily="34" charset="0"/>
                          <a:ea typeface="Montserrat" pitchFamily="34" charset="-122"/>
                          <a:cs typeface="Montserrat" pitchFamily="34" charset="-120"/>
                        </a:rPr>
                        <a:t>Analytical</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333333"/>
                          </a:solidFill>
                          <a:latin typeface="Lora" pitchFamily="34" charset="0"/>
                          <a:ea typeface="Lora" pitchFamily="34" charset="-122"/>
                          <a:cs typeface="Lora" pitchFamily="34" charset="-120"/>
                        </a:rPr>
                        <a:t>Infers size, fit &amp; preference; owns returns 34% → 10–15%</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5F5E5A"/>
                          </a:solidFill>
                          <a:latin typeface="Lora" pitchFamily="34" charset="0"/>
                          <a:ea typeface="Lora" pitchFamily="34" charset="-122"/>
                          <a:cs typeface="Lora" pitchFamily="34" charset="-120"/>
                        </a:rPr>
                        <a:t>Sub-agent of MUSE · consumes GRADE + PERSONA</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950" b="1" dirty="0">
                          <a:solidFill>
                            <a:srgbClr val="E31837"/>
                          </a:solidFill>
                          <a:latin typeface="Montserrat" pitchFamily="34" charset="0"/>
                          <a:ea typeface="Montserrat" pitchFamily="34" charset="-122"/>
                          <a:cs typeface="Montserrat" pitchFamily="34" charset="-120"/>
                        </a:rPr>
                        <a:t>CONCIERGE</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FBE3E4"/>
                    </a:solidFill>
                  </a:tcPr>
                </a:tc>
                <a:tc>
                  <a:txBody>
                    <a:bodyP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NEW</a:t>
                      </a:r>
                      <a:endParaRPr lang="en-US" sz="7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E31837"/>
                    </a:solidFill>
                  </a:tcPr>
                </a:tc>
                <a:tc>
                  <a:txBody>
                    <a:bodyPr/>
                    <a:lstStyle/>
                    <a:p>
                      <a:pPr marL="0" indent="0">
                        <a:buNone/>
                      </a:pPr>
                      <a:r>
                        <a:rPr lang="en-US" sz="800" b="1" dirty="0">
                          <a:solidFill>
                            <a:srgbClr val="E31837"/>
                          </a:solidFill>
                          <a:latin typeface="Montserrat" pitchFamily="34" charset="0"/>
                          <a:ea typeface="Montserrat" pitchFamily="34" charset="-122"/>
                          <a:cs typeface="Montserrat" pitchFamily="34" charset="-120"/>
                        </a:rPr>
                        <a:t>Orchestration + Transactional</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333333"/>
                          </a:solidFill>
                          <a:latin typeface="Lora" pitchFamily="34" charset="0"/>
                          <a:ea typeface="Lora" pitchFamily="34" charset="-122"/>
                          <a:cs typeface="Lora" pitchFamily="34" charset="-120"/>
                        </a:rPr>
                        <a:t>Composes value-added offers; commits free → paid subscription</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5F5E5A"/>
                          </a:solidFill>
                          <a:latin typeface="Lora" pitchFamily="34" charset="0"/>
                          <a:ea typeface="Lora" pitchFamily="34" charset="-122"/>
                          <a:cs typeface="Lora" pitchFamily="34" charset="-120"/>
                        </a:rPr>
                        <a:t>Hosted by CARE · SENTRY approves pay · → Obj 2</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950" b="1" dirty="0">
                          <a:solidFill>
                            <a:srgbClr val="E31837"/>
                          </a:solidFill>
                          <a:latin typeface="Montserrat" pitchFamily="34" charset="0"/>
                          <a:ea typeface="Montserrat" pitchFamily="34" charset="-122"/>
                          <a:cs typeface="Montserrat" pitchFamily="34" charset="-120"/>
                        </a:rPr>
                        <a:t>TALLY</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FBE3E4"/>
                    </a:solidFill>
                  </a:tcPr>
                </a:tc>
                <a:tc>
                  <a:txBody>
                    <a:bodyP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NEW</a:t>
                      </a:r>
                      <a:endParaRPr lang="en-US" sz="7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E31837"/>
                    </a:solidFill>
                  </a:tcPr>
                </a:tc>
                <a:tc>
                  <a:txBody>
                    <a:bodyPr/>
                    <a:lstStyle/>
                    <a:p>
                      <a:pPr marL="0" indent="0">
                        <a:buNone/>
                      </a:pPr>
                      <a:r>
                        <a:rPr lang="en-US" sz="800" b="1" dirty="0">
                          <a:solidFill>
                            <a:srgbClr val="7A9A7E"/>
                          </a:solidFill>
                          <a:latin typeface="Montserrat" pitchFamily="34" charset="0"/>
                          <a:ea typeface="Montserrat" pitchFamily="34" charset="-122"/>
                          <a:cs typeface="Montserrat" pitchFamily="34" charset="-120"/>
                        </a:rPr>
                        <a:t>Interaction</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333333"/>
                          </a:solidFill>
                          <a:latin typeface="Lora" pitchFamily="34" charset="0"/>
                          <a:ea typeface="Lora" pitchFamily="34" charset="-122"/>
                          <a:cs typeface="Lora" pitchFamily="34" charset="-120"/>
                        </a:rPr>
                        <a:t>Accrues points; gamifies engagement; manages redemption &amp; tiers</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5F5E5A"/>
                          </a:solidFill>
                          <a:latin typeface="Lora" pitchFamily="34" charset="0"/>
                          <a:ea typeface="Lora" pitchFamily="34" charset="-122"/>
                          <a:cs typeface="Lora" pitchFamily="34" charset="-120"/>
                        </a:rPr>
                        <a:t>New lineage · consumes PERSONA</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950" b="1" dirty="0">
                          <a:solidFill>
                            <a:srgbClr val="333333"/>
                          </a:solidFill>
                          <a:latin typeface="Montserrat" pitchFamily="34" charset="0"/>
                          <a:ea typeface="Montserrat" pitchFamily="34" charset="-122"/>
                          <a:cs typeface="Montserrat" pitchFamily="34" charset="-120"/>
                        </a:rPr>
                        <a:t>MUSE</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0" spc="50" dirty="0">
                          <a:solidFill>
                            <a:srgbClr val="E31837"/>
                          </a:solidFill>
                          <a:latin typeface="Montserrat" pitchFamily="34" charset="0"/>
                          <a:ea typeface="Montserrat" pitchFamily="34" charset="-122"/>
                          <a:cs typeface="Montserrat" pitchFamily="34" charset="-120"/>
                        </a:rPr>
                        <a:t>DISCOVERY &amp; PERSONALISATION</a:t>
                      </a:r>
                      <a:endParaRPr lang="en-US" sz="700" dirty="0"/>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EAEAE6"/>
                    </a:solidFill>
                  </a:tcPr>
                </a:tc>
                <a:tc>
                  <a:txBody>
                    <a:bodyPr/>
                    <a:lstStyle/>
                    <a:p>
                      <a:pPr marL="0" indent="0">
                        <a:buNone/>
                      </a:pPr>
                      <a:r>
                        <a:rPr lang="en-US" sz="800" b="1" dirty="0">
                          <a:solidFill>
                            <a:srgbClr val="E31837"/>
                          </a:solidFill>
                          <a:latin typeface="Montserrat" pitchFamily="34" charset="0"/>
                          <a:ea typeface="Montserrat" pitchFamily="34" charset="-122"/>
                          <a:cs typeface="Montserrat" pitchFamily="34" charset="-120"/>
                        </a:rPr>
                        <a:t>Orchestration</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333333"/>
                          </a:solidFill>
                          <a:latin typeface="Lora" pitchFamily="34" charset="0"/>
                          <a:ea typeface="Lora" pitchFamily="34" charset="-122"/>
                          <a:cs typeface="Lora" pitchFamily="34" charset="-120"/>
                        </a:rPr>
                        <a:t>Composes the persona-driven feed — premium vs private-label</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5F5E5A"/>
                          </a:solidFill>
                          <a:latin typeface="Lora" pitchFamily="34" charset="0"/>
                          <a:ea typeface="Lora" pitchFamily="34" charset="-122"/>
                          <a:cs typeface="Lora" pitchFamily="34" charset="-120"/>
                        </a:rPr>
                        <a:t>Consumes PERSONA + SCOUT · parent of TAILOR</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950" b="1" dirty="0">
                          <a:solidFill>
                            <a:srgbClr val="333333"/>
                          </a:solidFill>
                          <a:latin typeface="Montserrat" pitchFamily="34" charset="0"/>
                          <a:ea typeface="Montserrat" pitchFamily="34" charset="-122"/>
                          <a:cs typeface="Montserrat" pitchFamily="34" charset="-120"/>
                        </a:rPr>
                        <a:t>ONEBASKET</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0" spc="50" dirty="0">
                          <a:solidFill>
                            <a:srgbClr val="E31837"/>
                          </a:solidFill>
                          <a:latin typeface="Montserrat" pitchFamily="34" charset="0"/>
                          <a:ea typeface="Montserrat" pitchFamily="34" charset="-122"/>
                          <a:cs typeface="Montserrat" pitchFamily="34" charset="-120"/>
                        </a:rPr>
                        <a:t>SESSION &amp; IDENTITY</a:t>
                      </a:r>
                      <a:endParaRPr lang="en-US" sz="700" dirty="0"/>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EAEAE6"/>
                    </a:solidFill>
                  </a:tcPr>
                </a:tc>
                <a:tc>
                  <a:txBody>
                    <a:bodyPr/>
                    <a:lstStyle/>
                    <a:p>
                      <a:pPr marL="0" indent="0">
                        <a:buNone/>
                      </a:pPr>
                      <a:r>
                        <a:rPr lang="en-US" sz="800" b="1" dirty="0">
                          <a:solidFill>
                            <a:srgbClr val="4A6FA5"/>
                          </a:solidFill>
                          <a:latin typeface="Montserrat" pitchFamily="34" charset="0"/>
                          <a:ea typeface="Montserrat" pitchFamily="34" charset="-122"/>
                          <a:cs typeface="Montserrat" pitchFamily="34" charset="-120"/>
                        </a:rPr>
                        <a:t>Analytical</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333333"/>
                          </a:solidFill>
                          <a:latin typeface="Lora" pitchFamily="34" charset="0"/>
                          <a:ea typeface="Lora" pitchFamily="34" charset="-122"/>
                          <a:cs typeface="Lora" pitchFamily="34" charset="-120"/>
                        </a:rPr>
                        <a:t>Resolves one identity across app, web &amp; store</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5F5E5A"/>
                          </a:solidFill>
                          <a:latin typeface="Lora" pitchFamily="34" charset="0"/>
                          <a:ea typeface="Lora" pitchFamily="34" charset="-122"/>
                          <a:cs typeface="Lora" pitchFamily="34" charset="-120"/>
                        </a:rPr>
                        <a:t>Parent of PERSONA</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0" indent="0">
                        <a:buNone/>
                      </a:pPr>
                      <a:r>
                        <a:rPr lang="en-US" sz="950" b="1" dirty="0">
                          <a:solidFill>
                            <a:srgbClr val="333333"/>
                          </a:solidFill>
                          <a:latin typeface="Montserrat" pitchFamily="34" charset="0"/>
                          <a:ea typeface="Montserrat" pitchFamily="34" charset="-122"/>
                          <a:cs typeface="Montserrat" pitchFamily="34" charset="-120"/>
                        </a:rPr>
                        <a:t>GRADE</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00" b="1" kern="0" spc="50" dirty="0">
                          <a:solidFill>
                            <a:srgbClr val="E31837"/>
                          </a:solidFill>
                          <a:latin typeface="Montserrat" pitchFamily="34" charset="0"/>
                          <a:ea typeface="Montserrat" pitchFamily="34" charset="-122"/>
                          <a:cs typeface="Montserrat" pitchFamily="34" charset="-120"/>
                        </a:rPr>
                        <a:t>RETURNS VISION</a:t>
                      </a:r>
                      <a:endParaRPr lang="en-US" sz="700" dirty="0"/>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EAEAE6"/>
                    </a:solidFill>
                  </a:tcPr>
                </a:tc>
                <a:tc>
                  <a:txBody>
                    <a:bodyPr/>
                    <a:lstStyle/>
                    <a:p>
                      <a:pPr marL="0" indent="0">
                        <a:buNone/>
                      </a:pPr>
                      <a:r>
                        <a:rPr lang="en-US" sz="800" b="1" dirty="0">
                          <a:solidFill>
                            <a:srgbClr val="4A6FA5"/>
                          </a:solidFill>
                          <a:latin typeface="Montserrat" pitchFamily="34" charset="0"/>
                          <a:ea typeface="Montserrat" pitchFamily="34" charset="-122"/>
                          <a:cs typeface="Montserrat" pitchFamily="34" charset="-120"/>
                        </a:rPr>
                        <a:t>Analytical</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333333"/>
                          </a:solidFill>
                          <a:latin typeface="Lora" pitchFamily="34" charset="0"/>
                          <a:ea typeface="Lora" pitchFamily="34" charset="-122"/>
                          <a:cs typeface="Lora" pitchFamily="34" charset="-120"/>
                        </a:rPr>
                        <a:t>Grades returns by image; infers condition &amp; reason</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5F5E5A"/>
                          </a:solidFill>
                          <a:latin typeface="Lora" pitchFamily="34" charset="0"/>
                          <a:ea typeface="Lora" pitchFamily="34" charset="-122"/>
                          <a:cs typeface="Lora" pitchFamily="34" charset="-120"/>
                        </a:rPr>
                        <a:t>Feeds TAILOR (fit) &amp; RECLAIM (recovery)</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marL="0" indent="0">
                        <a:buNone/>
                      </a:pPr>
                      <a:r>
                        <a:rPr lang="en-US" sz="950" b="1" dirty="0">
                          <a:solidFill>
                            <a:srgbClr val="333333"/>
                          </a:solidFill>
                          <a:latin typeface="Montserrat" pitchFamily="34" charset="0"/>
                          <a:ea typeface="Montserrat" pitchFamily="34" charset="-122"/>
                          <a:cs typeface="Montserrat" pitchFamily="34" charset="-120"/>
                        </a:rPr>
                        <a:t>CARE</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0" spc="50" dirty="0">
                          <a:solidFill>
                            <a:srgbClr val="E31837"/>
                          </a:solidFill>
                          <a:latin typeface="Montserrat" pitchFamily="34" charset="0"/>
                          <a:ea typeface="Montserrat" pitchFamily="34" charset="-122"/>
                          <a:cs typeface="Montserrat" pitchFamily="34" charset="-120"/>
                        </a:rPr>
                        <a:t>AUTONOMOUS SERVICE</a:t>
                      </a:r>
                      <a:endParaRPr lang="en-US" sz="700" dirty="0"/>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EAEAE6"/>
                    </a:solidFill>
                  </a:tcPr>
                </a:tc>
                <a:tc>
                  <a:txBody>
                    <a:bodyPr/>
                    <a:lstStyle/>
                    <a:p>
                      <a:pPr marL="0" indent="0">
                        <a:buNone/>
                      </a:pPr>
                      <a:r>
                        <a:rPr lang="en-US" sz="800" b="1" dirty="0">
                          <a:solidFill>
                            <a:srgbClr val="7A9A7E"/>
                          </a:solidFill>
                          <a:latin typeface="Montserrat" pitchFamily="34" charset="0"/>
                          <a:ea typeface="Montserrat" pitchFamily="34" charset="-122"/>
                          <a:cs typeface="Montserrat" pitchFamily="34" charset="-120"/>
                        </a:rPr>
                        <a:t>Interaction</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333333"/>
                          </a:solidFill>
                          <a:latin typeface="Lora" pitchFamily="34" charset="0"/>
                          <a:ea typeface="Lora" pitchFamily="34" charset="-122"/>
                          <a:cs typeface="Lora" pitchFamily="34" charset="-120"/>
                        </a:rPr>
                        <a:t>Resolves routine contacts end to end conversationally</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5F5E5A"/>
                          </a:solidFill>
                          <a:latin typeface="Lora" pitchFamily="34" charset="0"/>
                          <a:ea typeface="Lora" pitchFamily="34" charset="-122"/>
                          <a:cs typeface="Lora" pitchFamily="34" charset="-120"/>
                        </a:rPr>
                        <a:t>Hosts CONCIERGE</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08"/>
                  </a:ext>
                </a:extLst>
              </a:tr>
              <a:tr h="274320">
                <a:tc>
                  <a:txBody>
                    <a:bodyPr/>
                    <a:lstStyle/>
                    <a:p>
                      <a:pPr marL="0" indent="0">
                        <a:buNone/>
                      </a:pPr>
                      <a:r>
                        <a:rPr lang="en-US" sz="950" b="1" dirty="0">
                          <a:solidFill>
                            <a:srgbClr val="333333"/>
                          </a:solidFill>
                          <a:latin typeface="Montserrat" pitchFamily="34" charset="0"/>
                          <a:ea typeface="Montserrat" pitchFamily="34" charset="-122"/>
                          <a:cs typeface="Montserrat" pitchFamily="34" charset="-120"/>
                        </a:rPr>
                        <a:t>SENTRY</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0" spc="50" dirty="0">
                          <a:solidFill>
                            <a:srgbClr val="E31837"/>
                          </a:solidFill>
                          <a:latin typeface="Montserrat" pitchFamily="34" charset="0"/>
                          <a:ea typeface="Montserrat" pitchFamily="34" charset="-122"/>
                          <a:cs typeface="Montserrat" pitchFamily="34" charset="-120"/>
                        </a:rPr>
                        <a:t>CHECKOUT RISK &amp; APPROVAL</a:t>
                      </a:r>
                      <a:endParaRPr lang="en-US" sz="700" dirty="0"/>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EAEAE6"/>
                    </a:solidFill>
                  </a:tcPr>
                </a:tc>
                <a:tc>
                  <a:txBody>
                    <a:bodyPr/>
                    <a:lstStyle/>
                    <a:p>
                      <a:pPr marL="0" indent="0">
                        <a:buNone/>
                      </a:pPr>
                      <a:r>
                        <a:rPr lang="en-US" sz="800" b="1" dirty="0">
                          <a:solidFill>
                            <a:srgbClr val="B8860B"/>
                          </a:solidFill>
                          <a:latin typeface="Montserrat" pitchFamily="34" charset="0"/>
                          <a:ea typeface="Montserrat" pitchFamily="34" charset="-122"/>
                          <a:cs typeface="Montserrat" pitchFamily="34" charset="-120"/>
                        </a:rPr>
                        <a:t>Transactional</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333333"/>
                          </a:solidFill>
                          <a:latin typeface="Lora" pitchFamily="34" charset="0"/>
                          <a:ea typeface="Lora" pitchFamily="34" charset="-122"/>
                          <a:cs typeface="Lora" pitchFamily="34" charset="-120"/>
                        </a:rPr>
                        <a:t>Scores risk &amp; approves the charge in real time</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5F5E5A"/>
                          </a:solidFill>
                          <a:latin typeface="Lora" pitchFamily="34" charset="0"/>
                          <a:ea typeface="Lora" pitchFamily="34" charset="-122"/>
                          <a:cs typeface="Lora" pitchFamily="34" charset="-120"/>
                        </a:rPr>
                        <a:t>Approves CONCIERGE subscription payments</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09"/>
                  </a:ext>
                </a:extLst>
              </a:tr>
              <a:tr h="274320">
                <a:tc>
                  <a:txBody>
                    <a:bodyPr/>
                    <a:lstStyle/>
                    <a:p>
                      <a:pPr marL="0" indent="0">
                        <a:buNone/>
                      </a:pPr>
                      <a:r>
                        <a:rPr lang="en-US" sz="950" b="1" dirty="0">
                          <a:solidFill>
                            <a:srgbClr val="333333"/>
                          </a:solidFill>
                          <a:latin typeface="Montserrat" pitchFamily="34" charset="0"/>
                          <a:ea typeface="Montserrat" pitchFamily="34" charset="-122"/>
                          <a:cs typeface="Montserrat" pitchFamily="34" charset="-120"/>
                        </a:rPr>
                        <a:t>SCOUT</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lgn="ctr">
                        <a:buNone/>
                      </a:pPr>
                      <a:r>
                        <a:rPr lang="en-US" sz="700" b="1" kern="0" spc="50" dirty="0">
                          <a:solidFill>
                            <a:srgbClr val="E31837"/>
                          </a:solidFill>
                          <a:latin typeface="Montserrat" pitchFamily="34" charset="0"/>
                          <a:ea typeface="Montserrat" pitchFamily="34" charset="-122"/>
                          <a:cs typeface="Montserrat" pitchFamily="34" charset="-120"/>
                        </a:rPr>
                        <a:t>TREND &amp; DEMAND SENSING</a:t>
                      </a:r>
                      <a:endParaRPr lang="en-US" sz="700" dirty="0"/>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EAEAE6"/>
                    </a:solidFill>
                  </a:tcPr>
                </a:tc>
                <a:tc>
                  <a:txBody>
                    <a:bodyPr/>
                    <a:lstStyle/>
                    <a:p>
                      <a:pPr marL="0" indent="0">
                        <a:buNone/>
                      </a:pPr>
                      <a:r>
                        <a:rPr lang="en-US" sz="800" b="1" dirty="0">
                          <a:solidFill>
                            <a:srgbClr val="4A6FA5"/>
                          </a:solidFill>
                          <a:latin typeface="Montserrat" pitchFamily="34" charset="0"/>
                          <a:ea typeface="Montserrat" pitchFamily="34" charset="-122"/>
                          <a:cs typeface="Montserrat" pitchFamily="34" charset="-120"/>
                        </a:rPr>
                        <a:t>Analytical</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333333"/>
                          </a:solidFill>
                          <a:latin typeface="Lora" pitchFamily="34" charset="0"/>
                          <a:ea typeface="Lora" pitchFamily="34" charset="-122"/>
                          <a:cs typeface="Lora" pitchFamily="34" charset="-120"/>
                        </a:rPr>
                        <a:t>Forecasts trend &amp; demand from social, search &amp; sell-through</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5F5E5A"/>
                          </a:solidFill>
                          <a:latin typeface="Lora" pitchFamily="34" charset="0"/>
                          <a:ea typeface="Lora" pitchFamily="34" charset="-122"/>
                          <a:cs typeface="Lora" pitchFamily="34" charset="-120"/>
                        </a:rPr>
                        <a:t>Signal → MUSE · feeds OTB</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10"/>
                  </a:ext>
                </a:extLst>
              </a:tr>
              <a:tr h="274320">
                <a:tc>
                  <a:txBody>
                    <a:bodyPr/>
                    <a:lstStyle/>
                    <a:p>
                      <a:pPr marL="0" indent="0">
                        <a:buNone/>
                      </a:pPr>
                      <a:r>
                        <a:rPr lang="en-US" sz="950" b="1" dirty="0">
                          <a:solidFill>
                            <a:srgbClr val="333333"/>
                          </a:solidFill>
                          <a:latin typeface="Montserrat" pitchFamily="34" charset="0"/>
                          <a:ea typeface="Montserrat" pitchFamily="34" charset="-122"/>
                          <a:cs typeface="Montserrat" pitchFamily="34" charset="-120"/>
                        </a:rPr>
                        <a:t>PACE</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0" spc="50" dirty="0">
                          <a:solidFill>
                            <a:srgbClr val="E31837"/>
                          </a:solidFill>
                          <a:latin typeface="Montserrat" pitchFamily="34" charset="0"/>
                          <a:ea typeface="Montserrat" pitchFamily="34" charset="-122"/>
                          <a:cs typeface="Montserrat" pitchFamily="34" charset="-120"/>
                        </a:rPr>
                        <a:t>DYNAMIC PRICE-PACING</a:t>
                      </a:r>
                      <a:endParaRPr lang="en-US" sz="7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EAEAE6"/>
                    </a:solidFill>
                  </a:tcPr>
                </a:tc>
                <a:tc>
                  <a:txBody>
                    <a:bodyPr/>
                    <a:lstStyle/>
                    <a:p>
                      <a:pPr marL="0" indent="0">
                        <a:buNone/>
                      </a:pPr>
                      <a:r>
                        <a:rPr lang="en-US" sz="800" b="1" dirty="0">
                          <a:solidFill>
                            <a:srgbClr val="B8860B"/>
                          </a:solidFill>
                          <a:latin typeface="Montserrat" pitchFamily="34" charset="0"/>
                          <a:ea typeface="Montserrat" pitchFamily="34" charset="-122"/>
                          <a:cs typeface="Montserrat" pitchFamily="34" charset="-120"/>
                        </a:rPr>
                        <a:t>Analytical + Transactional</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333333"/>
                          </a:solidFill>
                          <a:latin typeface="Lora" pitchFamily="34" charset="0"/>
                          <a:ea typeface="Lora" pitchFamily="34" charset="-122"/>
                          <a:cs typeface="Lora" pitchFamily="34" charset="-120"/>
                        </a:rPr>
                        <a:t>Prices to demand; each price change is a commit (±5%)</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5F5E5A"/>
                          </a:solidFill>
                          <a:latin typeface="Lora" pitchFamily="34" charset="0"/>
                          <a:ea typeface="Lora" pitchFamily="34" charset="-122"/>
                          <a:cs typeface="Lora" pitchFamily="34" charset="-120"/>
                        </a:rPr>
                        <a:t>Price context → CONCIERGE &amp; MUSE · pairs with CLEAR</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11"/>
                  </a:ext>
                </a:extLst>
              </a:tr>
              <a:tr h="274320">
                <a:tc>
                  <a:txBody>
                    <a:bodyPr/>
                    <a:lstStyle/>
                    <a:p>
                      <a:pPr marL="0" indent="0">
                        <a:buNone/>
                      </a:pPr>
                      <a:r>
                        <a:rPr lang="en-US" sz="950" b="1" dirty="0">
                          <a:solidFill>
                            <a:srgbClr val="AEACA4"/>
                          </a:solidFill>
                          <a:latin typeface="Montserrat" pitchFamily="34" charset="0"/>
                          <a:ea typeface="Montserrat" pitchFamily="34" charset="-122"/>
                          <a:cs typeface="Montserrat" pitchFamily="34" charset="-120"/>
                        </a:rPr>
                        <a:t>ROUTE</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lgn="ctr">
                        <a:buNone/>
                      </a:pPr>
                      <a:r>
                        <a:rPr lang="en-US" sz="700" b="1" kern="0" spc="50" dirty="0">
                          <a:solidFill>
                            <a:srgbClr val="E31837"/>
                          </a:solidFill>
                          <a:latin typeface="Montserrat" pitchFamily="34" charset="0"/>
                          <a:ea typeface="Montserrat" pitchFamily="34" charset="-122"/>
                          <a:cs typeface="Montserrat" pitchFamily="34" charset="-120"/>
                        </a:rPr>
                        <a:t>FULFILMENT ORCHESTRATION</a:t>
                      </a:r>
                      <a:endParaRPr lang="en-US" sz="700" dirty="0"/>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F1F0EB"/>
                    </a:solidFill>
                  </a:tcPr>
                </a:tc>
                <a:tc>
                  <a:txBody>
                    <a:bodyPr/>
                    <a:lstStyle/>
                    <a:p>
                      <a:pPr marL="0" indent="0">
                        <a:buNone/>
                      </a:pPr>
                      <a:r>
                        <a:rPr lang="en-US" sz="800" b="1" dirty="0">
                          <a:solidFill>
                            <a:srgbClr val="5F5E5A"/>
                          </a:solidFill>
                          <a:latin typeface="Montserrat" pitchFamily="34" charset="0"/>
                          <a:ea typeface="Montserrat" pitchFamily="34" charset="-122"/>
                          <a:cs typeface="Montserrat" pitchFamily="34" charset="-120"/>
                        </a:rPr>
                        <a:t>Execution</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AEACA4"/>
                          </a:solidFill>
                          <a:latin typeface="Lora" pitchFamily="34" charset="0"/>
                          <a:ea typeface="Lora" pitchFamily="34" charset="-122"/>
                          <a:cs typeface="Lora" pitchFamily="34" charset="-120"/>
                        </a:rPr>
                        <a:t>Routes every order to its best source across the estate</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AEACA4"/>
                          </a:solidFill>
                          <a:latin typeface="Lora" pitchFamily="34" charset="0"/>
                          <a:ea typeface="Lora" pitchFamily="34" charset="-122"/>
                          <a:cs typeface="Lora" pitchFamily="34" charset="-120"/>
                        </a:rPr>
                        <a:t>Process #1 fulfilment</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12"/>
                  </a:ext>
                </a:extLst>
              </a:tr>
              <a:tr h="274320">
                <a:tc>
                  <a:txBody>
                    <a:bodyPr/>
                    <a:lstStyle/>
                    <a:p>
                      <a:pPr marL="0" indent="0">
                        <a:buNone/>
                      </a:pPr>
                      <a:r>
                        <a:rPr lang="en-US" sz="950" b="1" dirty="0">
                          <a:solidFill>
                            <a:srgbClr val="AEACA4"/>
                          </a:solidFill>
                          <a:latin typeface="Montserrat" pitchFamily="34" charset="0"/>
                          <a:ea typeface="Montserrat" pitchFamily="34" charset="-122"/>
                          <a:cs typeface="Montserrat" pitchFamily="34" charset="-120"/>
                        </a:rPr>
                        <a:t>HANDOFF</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lgn="ctr">
                        <a:buNone/>
                      </a:pPr>
                      <a:r>
                        <a:rPr lang="en-US" sz="700" b="1" kern="0" spc="50" dirty="0">
                          <a:solidFill>
                            <a:srgbClr val="E31837"/>
                          </a:solidFill>
                          <a:latin typeface="Montserrat" pitchFamily="34" charset="0"/>
                          <a:ea typeface="Montserrat" pitchFamily="34" charset="-122"/>
                          <a:cs typeface="Montserrat" pitchFamily="34" charset="-120"/>
                        </a:rPr>
                        <a:t>CLICK &amp; COLLECT</a:t>
                      </a:r>
                      <a:endParaRPr lang="en-US" sz="7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F1F0EB"/>
                    </a:solidFill>
                  </a:tcPr>
                </a:tc>
                <a:tc>
                  <a:txBody>
                    <a:bodyPr/>
                    <a:lstStyle/>
                    <a:p>
                      <a:pPr marL="0" indent="0">
                        <a:buNone/>
                      </a:pPr>
                      <a:r>
                        <a:rPr lang="en-US" sz="800" b="1" dirty="0">
                          <a:solidFill>
                            <a:srgbClr val="5F5E5A"/>
                          </a:solidFill>
                          <a:latin typeface="Montserrat" pitchFamily="34" charset="0"/>
                          <a:ea typeface="Montserrat" pitchFamily="34" charset="-122"/>
                          <a:cs typeface="Montserrat" pitchFamily="34" charset="-120"/>
                        </a:rPr>
                        <a:t>Execution</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AEACA4"/>
                          </a:solidFill>
                          <a:latin typeface="Lora" pitchFamily="34" charset="0"/>
                          <a:ea typeface="Lora" pitchFamily="34" charset="-122"/>
                          <a:cs typeface="Lora" pitchFamily="34" charset="-120"/>
                        </a:rPr>
                        <a:t>Executes the collect journey — reserve, pick, notify, hand over</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AEACA4"/>
                          </a:solidFill>
                          <a:latin typeface="Lora" pitchFamily="34" charset="0"/>
                          <a:ea typeface="Lora" pitchFamily="34" charset="-122"/>
                          <a:cs typeface="Lora" pitchFamily="34" charset="-120"/>
                        </a:rPr>
                        <a:t>Process #1 collect</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13"/>
                  </a:ext>
                </a:extLst>
              </a:tr>
              <a:tr h="274320">
                <a:tc>
                  <a:txBody>
                    <a:bodyPr/>
                    <a:lstStyle/>
                    <a:p>
                      <a:pPr marL="0" indent="0">
                        <a:buNone/>
                      </a:pPr>
                      <a:r>
                        <a:rPr lang="en-US" sz="950" b="1" dirty="0">
                          <a:solidFill>
                            <a:srgbClr val="AEACA4"/>
                          </a:solidFill>
                          <a:latin typeface="Montserrat" pitchFamily="34" charset="0"/>
                          <a:ea typeface="Montserrat" pitchFamily="34" charset="-122"/>
                          <a:cs typeface="Montserrat" pitchFamily="34" charset="-120"/>
                        </a:rPr>
                        <a:t>OTB</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0" spc="50" dirty="0">
                          <a:solidFill>
                            <a:srgbClr val="E31837"/>
                          </a:solidFill>
                          <a:latin typeface="Montserrat" pitchFamily="34" charset="0"/>
                          <a:ea typeface="Montserrat" pitchFamily="34" charset="-122"/>
                          <a:cs typeface="Montserrat" pitchFamily="34" charset="-120"/>
                        </a:rPr>
                        <a:t>OPEN-TO-BUY</a:t>
                      </a:r>
                      <a:endParaRPr lang="en-US" sz="700" dirty="0"/>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F1F0EB"/>
                    </a:solidFill>
                  </a:tcPr>
                </a:tc>
                <a:tc>
                  <a:txBody>
                    <a:bodyPr/>
                    <a:lstStyle/>
                    <a:p>
                      <a:pPr marL="0" indent="0">
                        <a:buNone/>
                      </a:pPr>
                      <a:r>
                        <a:rPr lang="en-US" sz="800" b="1" dirty="0">
                          <a:solidFill>
                            <a:srgbClr val="B8860B"/>
                          </a:solidFill>
                          <a:latin typeface="Montserrat" pitchFamily="34" charset="0"/>
                          <a:ea typeface="Montserrat" pitchFamily="34" charset="-122"/>
                          <a:cs typeface="Montserrat" pitchFamily="34" charset="-120"/>
                        </a:rPr>
                        <a:t>Transactional</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AEACA4"/>
                          </a:solidFill>
                          <a:latin typeface="Lora" pitchFamily="34" charset="0"/>
                          <a:ea typeface="Lora" pitchFamily="34" charset="-122"/>
                          <a:cs typeface="Lora" pitchFamily="34" charset="-120"/>
                        </a:rPr>
                        <a:t>Commits buy spend inside the financial guardrail</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AEACA4"/>
                          </a:solidFill>
                          <a:latin typeface="Lora" pitchFamily="34" charset="0"/>
                          <a:ea typeface="Lora" pitchFamily="34" charset="-122"/>
                          <a:cs typeface="Lora" pitchFamily="34" charset="-120"/>
                        </a:rPr>
                        <a:t>Process #2 buy · consumes SCOUT</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14"/>
                  </a:ext>
                </a:extLst>
              </a:tr>
              <a:tr h="274320">
                <a:tc>
                  <a:txBody>
                    <a:bodyPr/>
                    <a:lstStyle/>
                    <a:p>
                      <a:pPr marL="0" indent="0">
                        <a:buNone/>
                      </a:pPr>
                      <a:r>
                        <a:rPr lang="en-US" sz="950" b="1" dirty="0">
                          <a:solidFill>
                            <a:srgbClr val="AEACA4"/>
                          </a:solidFill>
                          <a:latin typeface="Montserrat" pitchFamily="34" charset="0"/>
                          <a:ea typeface="Montserrat" pitchFamily="34" charset="-122"/>
                          <a:cs typeface="Montserrat" pitchFamily="34" charset="-120"/>
                        </a:rPr>
                        <a:t>SPREAD</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0" spc="50" dirty="0">
                          <a:solidFill>
                            <a:srgbClr val="E31837"/>
                          </a:solidFill>
                          <a:latin typeface="Montserrat" pitchFamily="34" charset="0"/>
                          <a:ea typeface="Montserrat" pitchFamily="34" charset="-122"/>
                          <a:cs typeface="Montserrat" pitchFamily="34" charset="-120"/>
                        </a:rPr>
                        <a:t>ALLOCATION &amp; REPLENISHMENT</a:t>
                      </a:r>
                      <a:endParaRPr lang="en-US" sz="700" dirty="0"/>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F1F0EB"/>
                    </a:solidFill>
                  </a:tcPr>
                </a:tc>
                <a:tc>
                  <a:txBody>
                    <a:bodyPr/>
                    <a:lstStyle/>
                    <a:p>
                      <a:pPr marL="0" indent="0">
                        <a:buNone/>
                      </a:pPr>
                      <a:r>
                        <a:rPr lang="en-US" sz="800" b="1" dirty="0">
                          <a:solidFill>
                            <a:srgbClr val="5F5E5A"/>
                          </a:solidFill>
                          <a:latin typeface="Montserrat" pitchFamily="34" charset="0"/>
                          <a:ea typeface="Montserrat" pitchFamily="34" charset="-122"/>
                          <a:cs typeface="Montserrat" pitchFamily="34" charset="-120"/>
                        </a:rPr>
                        <a:t>Execution</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AEACA4"/>
                          </a:solidFill>
                          <a:latin typeface="Lora" pitchFamily="34" charset="0"/>
                          <a:ea typeface="Lora" pitchFamily="34" charset="-122"/>
                          <a:cs typeface="Lora" pitchFamily="34" charset="-120"/>
                        </a:rPr>
                        <a:t>Allocates &amp; replenishes stock by store cluster</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AEACA4"/>
                          </a:solidFill>
                          <a:latin typeface="Lora" pitchFamily="34" charset="0"/>
                          <a:ea typeface="Lora" pitchFamily="34" charset="-122"/>
                          <a:cs typeface="Lora" pitchFamily="34" charset="-120"/>
                        </a:rPr>
                        <a:t>Process #2 allocate</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15"/>
                  </a:ext>
                </a:extLst>
              </a:tr>
              <a:tr h="274320">
                <a:tc>
                  <a:txBody>
                    <a:bodyPr/>
                    <a:lstStyle/>
                    <a:p>
                      <a:pPr marL="0" indent="0">
                        <a:buNone/>
                      </a:pPr>
                      <a:r>
                        <a:rPr lang="en-US" sz="950" b="1" dirty="0">
                          <a:solidFill>
                            <a:srgbClr val="AEACA4"/>
                          </a:solidFill>
                          <a:latin typeface="Montserrat" pitchFamily="34" charset="0"/>
                          <a:ea typeface="Montserrat" pitchFamily="34" charset="-122"/>
                          <a:cs typeface="Montserrat" pitchFamily="34" charset="-120"/>
                        </a:rPr>
                        <a:t>CLEAR</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lgn="ctr">
                        <a:buNone/>
                      </a:pPr>
                      <a:r>
                        <a:rPr lang="en-US" sz="700" b="1" kern="0" spc="50" dirty="0">
                          <a:solidFill>
                            <a:srgbClr val="E31837"/>
                          </a:solidFill>
                          <a:latin typeface="Montserrat" pitchFamily="34" charset="0"/>
                          <a:ea typeface="Montserrat" pitchFamily="34" charset="-122"/>
                          <a:cs typeface="Montserrat" pitchFamily="34" charset="-120"/>
                        </a:rPr>
                        <a:t>MARKDOWN OPTIMISATION</a:t>
                      </a:r>
                      <a:endParaRPr lang="en-US" sz="7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F1F0EB"/>
                    </a:solidFill>
                  </a:tcPr>
                </a:tc>
                <a:tc>
                  <a:txBody>
                    <a:bodyPr/>
                    <a:lstStyle/>
                    <a:p>
                      <a:pPr marL="0" indent="0">
                        <a:buNone/>
                      </a:pPr>
                      <a:r>
                        <a:rPr lang="en-US" sz="800" b="1" dirty="0">
                          <a:solidFill>
                            <a:srgbClr val="B8860B"/>
                          </a:solidFill>
                          <a:latin typeface="Montserrat" pitchFamily="34" charset="0"/>
                          <a:ea typeface="Montserrat" pitchFamily="34" charset="-122"/>
                          <a:cs typeface="Montserrat" pitchFamily="34" charset="-120"/>
                        </a:rPr>
                        <a:t>Transactional</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AEACA4"/>
                          </a:solidFill>
                          <a:latin typeface="Lora" pitchFamily="34" charset="0"/>
                          <a:ea typeface="Lora" pitchFamily="34" charset="-122"/>
                          <a:cs typeface="Lora" pitchFamily="34" charset="-120"/>
                        </a:rPr>
                        <a:t>Commits markdown timing &amp; depth</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AEACA4"/>
                          </a:solidFill>
                          <a:latin typeface="Lora" pitchFamily="34" charset="0"/>
                          <a:ea typeface="Lora" pitchFamily="34" charset="-122"/>
                          <a:cs typeface="Lora" pitchFamily="34" charset="-120"/>
                        </a:rPr>
                        <a:t>Process #2 markdown · pairs with PACE</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16"/>
                  </a:ext>
                </a:extLst>
              </a:tr>
              <a:tr h="274320">
                <a:tc>
                  <a:txBody>
                    <a:bodyPr/>
                    <a:lstStyle/>
                    <a:p>
                      <a:pPr marL="0" indent="0">
                        <a:buNone/>
                      </a:pPr>
                      <a:r>
                        <a:rPr lang="en-US" sz="950" b="1" dirty="0">
                          <a:solidFill>
                            <a:srgbClr val="AEACA4"/>
                          </a:solidFill>
                          <a:latin typeface="Montserrat" pitchFamily="34" charset="0"/>
                          <a:ea typeface="Montserrat" pitchFamily="34" charset="-122"/>
                          <a:cs typeface="Montserrat" pitchFamily="34" charset="-120"/>
                        </a:rPr>
                        <a:t>RECLAIM</a:t>
                      </a:r>
                      <a:endParaRPr lang="en-US" sz="95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0" spc="50" dirty="0">
                          <a:solidFill>
                            <a:srgbClr val="E31837"/>
                          </a:solidFill>
                          <a:latin typeface="Montserrat" pitchFamily="34" charset="0"/>
                          <a:ea typeface="Montserrat" pitchFamily="34" charset="-122"/>
                          <a:cs typeface="Montserrat" pitchFamily="34" charset="-120"/>
                        </a:rPr>
                        <a:t>VALUE RECOVERY</a:t>
                      </a:r>
                      <a:endParaRPr lang="en-US" sz="700" dirty="0"/>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solidFill>
                      <a:srgbClr val="F1F0EB"/>
                    </a:solidFill>
                  </a:tcPr>
                </a:tc>
                <a:tc>
                  <a:txBody>
                    <a:bodyPr/>
                    <a:lstStyle/>
                    <a:p>
                      <a:pPr marL="0" indent="0">
                        <a:buNone/>
                      </a:pPr>
                      <a:r>
                        <a:rPr lang="en-US" sz="800" b="1" dirty="0">
                          <a:solidFill>
                            <a:srgbClr val="5F5E5A"/>
                          </a:solidFill>
                          <a:latin typeface="Montserrat" pitchFamily="34" charset="0"/>
                          <a:ea typeface="Montserrat" pitchFamily="34" charset="-122"/>
                          <a:cs typeface="Montserrat" pitchFamily="34" charset="-120"/>
                        </a:rPr>
                        <a:t>Execution</a:t>
                      </a:r>
                      <a:endParaRPr lang="en-US" sz="800" dirty="0">
                        <a:latin typeface="Montserrat" charset="0"/>
                        <a:ea typeface="Montserrat" charset="0"/>
                        <a:cs typeface="Montserrat"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820" dirty="0">
                          <a:solidFill>
                            <a:srgbClr val="AEACA4"/>
                          </a:solidFill>
                          <a:latin typeface="Lora" pitchFamily="34" charset="0"/>
                          <a:ea typeface="Lora" pitchFamily="34" charset="-122"/>
                          <a:cs typeface="Lora" pitchFamily="34" charset="-120"/>
                        </a:rPr>
                        <a:t>Routes end-of-life &amp; returned stock to best recovery channel</a:t>
                      </a:r>
                      <a:endParaRPr lang="en-US" sz="82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tc>
                  <a:txBody>
                    <a:bodyPr/>
                    <a:lstStyle/>
                    <a:p>
                      <a:pPr marL="0" indent="0">
                        <a:buNone/>
                      </a:pPr>
                      <a:r>
                        <a:rPr lang="en-US" sz="780" i="1" dirty="0">
                          <a:solidFill>
                            <a:srgbClr val="AEACA4"/>
                          </a:solidFill>
                          <a:latin typeface="Lora" pitchFamily="34" charset="0"/>
                          <a:ea typeface="Lora" pitchFamily="34" charset="-122"/>
                          <a:cs typeface="Lora" pitchFamily="34" charset="-120"/>
                        </a:rPr>
                        <a:t>Process #2 recover · consumes GRADE</a:t>
                      </a:r>
                      <a:endParaRPr lang="en-US" sz="780" dirty="0">
                        <a:latin typeface="Lora" charset="0"/>
                        <a:ea typeface="Lora" charset="0"/>
                        <a:cs typeface="Lora" charset="0"/>
                      </a:endParaRPr>
                    </a:p>
                  </a:txBody>
                  <a:tcPr marL="50800" marR="50800" marT="25400" marB="25400" anchor="ctr">
                    <a:lnL w="6350" cap="flat" cmpd="sng" algn="ctr">
                      <a:solidFill>
                        <a:srgbClr val="E2E0D9"/>
                      </a:solidFill>
                      <a:prstDash val="solid"/>
                      <a:round/>
                      <a:headEnd type="none" w="med" len="med"/>
                      <a:tailEnd type="none" w="med" len="med"/>
                    </a:lnL>
                    <a:lnR w="6350" cap="flat" cmpd="sng" algn="ctr">
                      <a:solidFill>
                        <a:srgbClr val="E2E0D9"/>
                      </a:solidFill>
                      <a:prstDash val="solid"/>
                      <a:round/>
                      <a:headEnd type="none" w="med" len="med"/>
                      <a:tailEnd type="none" w="med" len="med"/>
                    </a:lnR>
                    <a:lnT w="6350" cap="flat" cmpd="sng" algn="ctr">
                      <a:solidFill>
                        <a:srgbClr val="E2E0D9"/>
                      </a:solidFill>
                      <a:prstDash val="solid"/>
                      <a:round/>
                      <a:headEnd type="none" w="med" len="med"/>
                      <a:tailEnd type="none" w="med" len="med"/>
                    </a:lnT>
                    <a:lnB w="6350" cap="flat" cmpd="sng" algn="ctr">
                      <a:solidFill>
                        <a:srgbClr val="E2E0D9"/>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
        <p:nvSpPr>
          <p:cNvPr id="17" name="Text 14"/>
          <p:cNvSpPr/>
          <p:nvPr/>
        </p:nvSpPr>
        <p:spPr>
          <a:xfrm>
            <a:off x="393192" y="6400800"/>
            <a:ext cx="11430000" cy="457200"/>
          </a:xfrm>
          <a:prstGeom prst="rect">
            <a:avLst/>
          </a:prstGeom>
          <a:noFill/>
          <a:ln/>
        </p:spPr>
        <p:txBody>
          <a:bodyPr wrap="square" lIns="0" tIns="0" rIns="0" bIns="0" rtlCol="0" anchor="t"/>
          <a:lstStyle/>
          <a:p>
            <a:pPr marL="0" indent="0">
              <a:buNone/>
            </a:pPr>
            <a:r>
              <a:rPr lang="en-US" sz="830" b="1" dirty="0">
                <a:solidFill>
                  <a:srgbClr val="E31837"/>
                </a:solidFill>
                <a:latin typeface="Lora" pitchFamily="34" charset="0"/>
                <a:ea typeface="Lora" pitchFamily="34" charset="-122"/>
                <a:cs typeface="Lora" pitchFamily="34" charset="-120"/>
              </a:rPr>
              <a:t>New agents highlighted in red.  </a:t>
            </a:r>
            <a:r>
              <a:rPr lang="en-US" sz="830" i="1" dirty="0">
                <a:solidFill>
                  <a:srgbClr val="5F5E5A"/>
                </a:solidFill>
                <a:latin typeface="Lora" pitchFamily="34" charset="0"/>
                <a:ea typeface="Lora" pitchFamily="34" charset="-122"/>
                <a:cs typeface="Lora" pitchFamily="34" charset="-120"/>
              </a:rPr>
              <a:t>Type = architectural behaviour (what the agent does); Origin = provenance (new sub-agent vs reused vs Mission 2-only). PERSONA &amp; TAILOR are true sub-agents; CONCIERGE &amp; TALLY are new agents with no parent. All governed by Lead Orchestrator, HITL &amp; guardrails.</a:t>
            </a:r>
            <a:endParaRPr lang="en-US" sz="830" dirty="0"/>
          </a:p>
        </p:txBody>
      </p:sp>
    </p:spTree>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6647D-AFA2-8425-64B7-83089D9E53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4BCD66A-17B7-FF40-58E4-1FA76CACD6AC}"/>
              </a:ext>
            </a:extLst>
          </p:cNvPr>
          <p:cNvSpPr/>
          <p:nvPr/>
        </p:nvSpPr>
        <p:spPr>
          <a:xfrm>
            <a:off x="0" y="0"/>
            <a:ext cx="12188952" cy="91440"/>
          </a:xfrm>
          <a:prstGeom prst="rect">
            <a:avLst/>
          </a:prstGeom>
          <a:solidFill>
            <a:srgbClr val="E31837"/>
          </a:solidFill>
          <a:ln/>
        </p:spPr>
        <p:txBody>
          <a:bodyPr/>
          <a:lstStyle/>
          <a:p>
            <a:endParaRPr lang="en-US"/>
          </a:p>
        </p:txBody>
      </p:sp>
      <p:sp>
        <p:nvSpPr>
          <p:cNvPr id="4" name="Text 2">
            <a:extLst>
              <a:ext uri="{FF2B5EF4-FFF2-40B4-BE49-F238E27FC236}">
                <a16:creationId xmlns:a16="http://schemas.microsoft.com/office/drawing/2014/main" id="{C5DC3C6F-12BD-AD5F-FE17-9CE9A7613D64}"/>
              </a:ext>
            </a:extLst>
          </p:cNvPr>
          <p:cNvSpPr/>
          <p:nvPr/>
        </p:nvSpPr>
        <p:spPr>
          <a:xfrm>
            <a:off x="365760" y="265176"/>
            <a:ext cx="8229600" cy="201168"/>
          </a:xfrm>
          <a:prstGeom prst="rect">
            <a:avLst/>
          </a:prstGeom>
          <a:noFill/>
          <a:ln/>
        </p:spPr>
        <p:txBody>
          <a:bodyPr wrap="square" lIns="0" tIns="0" rIns="0" bIns="0" rtlCol="0" anchor="ctr"/>
          <a:lstStyle/>
          <a:p>
            <a:r>
              <a:rPr lang="en-US" sz="1000" b="1" kern="0" spc="200" dirty="0">
                <a:solidFill>
                  <a:srgbClr val="E31837"/>
                </a:solidFill>
                <a:latin typeface="Montserrat" pitchFamily="34" charset="0"/>
                <a:ea typeface="Montserrat" pitchFamily="34" charset="-122"/>
                <a:cs typeface="Montserrat" pitchFamily="34" charset="-120"/>
              </a:rPr>
              <a:t>OBJECTIVE 1 · THE AGENTIC SOLUTION</a:t>
            </a:r>
            <a:endParaRPr lang="en-US" sz="1000" dirty="0"/>
          </a:p>
        </p:txBody>
      </p:sp>
      <p:sp>
        <p:nvSpPr>
          <p:cNvPr id="5" name="Text 3">
            <a:extLst>
              <a:ext uri="{FF2B5EF4-FFF2-40B4-BE49-F238E27FC236}">
                <a16:creationId xmlns:a16="http://schemas.microsoft.com/office/drawing/2014/main" id="{377AAABF-465B-ACDE-1AB4-E69517A5225C}"/>
              </a:ext>
            </a:extLst>
          </p:cNvPr>
          <p:cNvSpPr/>
          <p:nvPr/>
        </p:nvSpPr>
        <p:spPr>
          <a:xfrm>
            <a:off x="326354" y="507026"/>
            <a:ext cx="11430000" cy="310896"/>
          </a:xfrm>
          <a:prstGeom prst="rect">
            <a:avLst/>
          </a:prstGeom>
          <a:noFill/>
          <a:ln/>
        </p:spPr>
        <p:txBody>
          <a:bodyPr wrap="square" lIns="0" tIns="0" rIns="0" bIns="0" rtlCol="0" anchor="ctr"/>
          <a:lstStyle/>
          <a:p>
            <a:r>
              <a:rPr lang="en-US" b="1" dirty="0" err="1"/>
              <a:t>Neu.Tail</a:t>
            </a:r>
            <a:r>
              <a:rPr lang="en-US" b="1" dirty="0"/>
              <a:t> — how data flows between the agents</a:t>
            </a:r>
          </a:p>
        </p:txBody>
      </p:sp>
      <p:pic>
        <p:nvPicPr>
          <p:cNvPr id="20" name="Google Shape;126;p2" descr="preencoded.png">
            <a:extLst>
              <a:ext uri="{FF2B5EF4-FFF2-40B4-BE49-F238E27FC236}">
                <a16:creationId xmlns:a16="http://schemas.microsoft.com/office/drawing/2014/main" id="{19731EDF-2582-377B-D7D7-8188A0C3F467}"/>
              </a:ext>
            </a:extLst>
          </p:cNvPr>
          <p:cNvPicPr preferRelativeResize="0"/>
          <p:nvPr/>
        </p:nvPicPr>
        <p:blipFill rotWithShape="1">
          <a:blip r:embed="rId3">
            <a:alphaModFix/>
          </a:blip>
          <a:srcRect/>
          <a:stretch/>
        </p:blipFill>
        <p:spPr>
          <a:xfrm>
            <a:off x="11196119" y="118872"/>
            <a:ext cx="669527" cy="671619"/>
          </a:xfrm>
          <a:prstGeom prst="rect">
            <a:avLst/>
          </a:prstGeom>
          <a:noFill/>
          <a:ln>
            <a:noFill/>
          </a:ln>
        </p:spPr>
      </p:pic>
      <p:pic>
        <p:nvPicPr>
          <p:cNvPr id="25" name="Picture 24">
            <a:extLst>
              <a:ext uri="{FF2B5EF4-FFF2-40B4-BE49-F238E27FC236}">
                <a16:creationId xmlns:a16="http://schemas.microsoft.com/office/drawing/2014/main" id="{B7441A03-53B0-C7AA-82CA-00DB17A260E8}"/>
              </a:ext>
            </a:extLst>
          </p:cNvPr>
          <p:cNvPicPr>
            <a:picLocks noChangeAspect="1"/>
          </p:cNvPicPr>
          <p:nvPr/>
        </p:nvPicPr>
        <p:blipFill>
          <a:blip r:embed="rId4"/>
          <a:stretch>
            <a:fillRect/>
          </a:stretch>
        </p:blipFill>
        <p:spPr>
          <a:xfrm>
            <a:off x="163177" y="1096047"/>
            <a:ext cx="11862598" cy="5702992"/>
          </a:xfrm>
          <a:prstGeom prst="rect">
            <a:avLst/>
          </a:prstGeom>
        </p:spPr>
      </p:pic>
      <p:sp>
        <p:nvSpPr>
          <p:cNvPr id="26" name="TextBox 25">
            <a:extLst>
              <a:ext uri="{FF2B5EF4-FFF2-40B4-BE49-F238E27FC236}">
                <a16:creationId xmlns:a16="http://schemas.microsoft.com/office/drawing/2014/main" id="{EB44F055-87D7-9205-B95B-21F1127F7643}"/>
              </a:ext>
            </a:extLst>
          </p:cNvPr>
          <p:cNvSpPr txBox="1"/>
          <p:nvPr/>
        </p:nvSpPr>
        <p:spPr>
          <a:xfrm>
            <a:off x="217062" y="771900"/>
            <a:ext cx="7213834" cy="261610"/>
          </a:xfrm>
          <a:prstGeom prst="rect">
            <a:avLst/>
          </a:prstGeom>
          <a:noFill/>
        </p:spPr>
        <p:txBody>
          <a:bodyPr wrap="none" rtlCol="0">
            <a:spAutoFit/>
          </a:bodyPr>
          <a:lstStyle/>
          <a:p>
            <a:r>
              <a:rPr lang="en-US" sz="1100" i="1" dirty="0">
                <a:solidFill>
                  <a:srgbClr val="5F5E59"/>
                </a:solidFill>
                <a:latin typeface="Lora" pitchFamily="2" charset="77"/>
              </a:rPr>
              <a:t>The Personalization core, plus the operational backbone that supplies, prices, fulfils and recovers around it.</a:t>
            </a:r>
          </a:p>
        </p:txBody>
      </p:sp>
    </p:spTree>
    <p:extLst>
      <p:ext uri="{BB962C8B-B14F-4D97-AF65-F5344CB8AC3E}">
        <p14:creationId xmlns:p14="http://schemas.microsoft.com/office/powerpoint/2010/main" val="3173758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6656" y="91440"/>
            <a:ext cx="8229600" cy="219456"/>
          </a:xfrm>
          <a:prstGeom prst="rect">
            <a:avLst/>
          </a:prstGeom>
          <a:noFill/>
          <a:ln/>
        </p:spPr>
        <p:txBody>
          <a:bodyPr wrap="square" lIns="0" tIns="0" rIns="0" bIns="0" rtlCol="0" anchor="ctr"/>
          <a:lstStyle/>
          <a:p>
            <a:r>
              <a:rPr lang="en-US" sz="1050" b="1" kern="0" spc="200" dirty="0">
                <a:solidFill>
                  <a:srgbClr val="E31837"/>
                </a:solidFill>
                <a:latin typeface="Montserrat" pitchFamily="34" charset="0"/>
                <a:ea typeface="Montserrat" pitchFamily="34" charset="-122"/>
                <a:cs typeface="Montserrat" pitchFamily="34" charset="-120"/>
              </a:rPr>
              <a:t>HIGH-LEVEL ARCHITECTURE · ENTERPRISE LAYERS &amp; COMPONENTS</a:t>
            </a:r>
            <a:endParaRPr lang="en-US" sz="1050" dirty="0"/>
          </a:p>
        </p:txBody>
      </p:sp>
      <p:sp>
        <p:nvSpPr>
          <p:cNvPr id="4" name="Text 2"/>
          <p:cNvSpPr/>
          <p:nvPr/>
        </p:nvSpPr>
        <p:spPr>
          <a:xfrm>
            <a:off x="676656" y="310896"/>
            <a:ext cx="11338560" cy="201168"/>
          </a:xfrm>
          <a:prstGeom prst="rect">
            <a:avLst/>
          </a:prstGeom>
          <a:noFill/>
          <a:ln/>
        </p:spPr>
        <p:txBody>
          <a:bodyPr wrap="square" lIns="0" tIns="0" rIns="0" bIns="0" rtlCol="0" anchor="ctr"/>
          <a:lstStyle/>
          <a:p>
            <a:pPr marL="0" indent="0">
              <a:buNone/>
            </a:pPr>
            <a:r>
              <a:rPr lang="en-US" sz="1050" i="1" dirty="0">
                <a:solidFill>
                  <a:srgbClr val="5F5E5A"/>
                </a:solidFill>
                <a:latin typeface="Lora" pitchFamily="34" charset="0"/>
                <a:ea typeface="Lora" pitchFamily="34" charset="-122"/>
                <a:cs typeface="Lora" pitchFamily="34" charset="-120"/>
              </a:rPr>
              <a:t>Neu.Tail enterprise architecture — channels, experience services, agentic orchestration, integration, data, business domains and core systems</a:t>
            </a:r>
            <a:endParaRPr lang="en-US" sz="1050" dirty="0"/>
          </a:p>
        </p:txBody>
      </p:sp>
      <p:sp>
        <p:nvSpPr>
          <p:cNvPr id="5" name="Shape 3"/>
          <p:cNvSpPr/>
          <p:nvPr/>
        </p:nvSpPr>
        <p:spPr>
          <a:xfrm>
            <a:off x="128016" y="566928"/>
            <a:ext cx="402336" cy="6181344"/>
          </a:xfrm>
          <a:prstGeom prst="roundRect">
            <a:avLst>
              <a:gd name="adj" fmla="val 11364"/>
            </a:avLst>
          </a:prstGeom>
          <a:solidFill>
            <a:srgbClr val="333333"/>
          </a:solidFill>
          <a:ln/>
        </p:spPr>
        <p:txBody>
          <a:bodyPr/>
          <a:lstStyle/>
          <a:p>
            <a:endParaRPr/>
          </a:p>
        </p:txBody>
      </p:sp>
      <p:sp>
        <p:nvSpPr>
          <p:cNvPr id="6" name="Text 4"/>
          <p:cNvSpPr/>
          <p:nvPr/>
        </p:nvSpPr>
        <p:spPr>
          <a:xfrm rot="16200000">
            <a:off x="-768096" y="2560320"/>
            <a:ext cx="2194560" cy="2194560"/>
          </a:xfrm>
          <a:prstGeom prst="rect">
            <a:avLst/>
          </a:prstGeom>
          <a:noFill/>
          <a:ln/>
        </p:spPr>
        <p:txBody>
          <a:bodyPr wrap="square" lIns="0" tIns="0" rIns="0" bIns="0" rtlCol="0" anchor="ctr"/>
          <a:lstStyle/>
          <a:p>
            <a:pPr marL="0" indent="0" algn="ctr">
              <a:buNone/>
            </a:pPr>
            <a:r>
              <a:rPr lang="en-US" sz="850" b="1" dirty="0">
                <a:solidFill>
                  <a:srgbClr val="FDFDFD"/>
                </a:solidFill>
                <a:latin typeface="Montserrat" pitchFamily="34" charset="0"/>
                <a:ea typeface="Montserrat" pitchFamily="34" charset="-122"/>
                <a:cs typeface="Montserrat" pitchFamily="34" charset="-120"/>
              </a:rPr>
              <a:t>SECURITY &amp; COMPLIANCE</a:t>
            </a:r>
            <a:endParaRPr lang="en-US" sz="850" dirty="0"/>
          </a:p>
        </p:txBody>
      </p:sp>
      <p:sp>
        <p:nvSpPr>
          <p:cNvPr id="7" name="Text 5"/>
          <p:cNvSpPr/>
          <p:nvPr/>
        </p:nvSpPr>
        <p:spPr>
          <a:xfrm rot="16200000">
            <a:off x="-621792" y="2560320"/>
            <a:ext cx="2194560" cy="2194560"/>
          </a:xfrm>
          <a:prstGeom prst="rect">
            <a:avLst/>
          </a:prstGeom>
          <a:noFill/>
          <a:ln/>
        </p:spPr>
        <p:txBody>
          <a:bodyPr wrap="square" lIns="0" tIns="0" rIns="0" bIns="0" rtlCol="0" anchor="ctr"/>
          <a:lstStyle/>
          <a:p>
            <a:pPr marL="0" indent="0" algn="ctr">
              <a:buNone/>
            </a:pPr>
            <a:r>
              <a:rPr lang="en-US" sz="600" i="1" dirty="0">
                <a:solidFill>
                  <a:srgbClr val="C9C9C7"/>
                </a:solidFill>
                <a:latin typeface="Lora" pitchFamily="34" charset="0"/>
                <a:ea typeface="Lora" pitchFamily="34" charset="-122"/>
                <a:cs typeface="Lora" pitchFamily="34" charset="-120"/>
              </a:rPr>
              <a:t>IAM · encryption · audit · data protection · threat monitoring</a:t>
            </a:r>
            <a:endParaRPr lang="en-US" sz="600" dirty="0"/>
          </a:p>
        </p:txBody>
      </p:sp>
      <p:sp>
        <p:nvSpPr>
          <p:cNvPr id="8" name="Shape 6"/>
          <p:cNvSpPr/>
          <p:nvPr/>
        </p:nvSpPr>
        <p:spPr>
          <a:xfrm>
            <a:off x="676656" y="566928"/>
            <a:ext cx="11164824" cy="457200"/>
          </a:xfrm>
          <a:prstGeom prst="roundRect">
            <a:avLst>
              <a:gd name="adj" fmla="val 10000"/>
            </a:avLst>
          </a:prstGeom>
          <a:solidFill>
            <a:srgbClr val="F5F4F1"/>
          </a:solidFill>
          <a:ln w="6350">
            <a:solidFill>
              <a:srgbClr val="E5E3DC"/>
            </a:solidFill>
            <a:prstDash val="solid"/>
          </a:ln>
        </p:spPr>
        <p:txBody>
          <a:bodyPr/>
          <a:lstStyle/>
          <a:p>
            <a:endParaRPr/>
          </a:p>
        </p:txBody>
      </p:sp>
      <p:sp>
        <p:nvSpPr>
          <p:cNvPr id="9" name="Text 7"/>
          <p:cNvSpPr/>
          <p:nvPr/>
        </p:nvSpPr>
        <p:spPr>
          <a:xfrm>
            <a:off x="676656" y="585216"/>
            <a:ext cx="11164824" cy="182880"/>
          </a:xfrm>
          <a:prstGeom prst="rect">
            <a:avLst/>
          </a:prstGeom>
          <a:noFill/>
          <a:ln/>
        </p:spPr>
        <p:txBody>
          <a:bodyPr wrap="square" lIns="0" tIns="0" rIns="0" bIns="0" rtlCol="0" anchor="ctr"/>
          <a:lstStyle/>
          <a:p>
            <a:pPr marL="0" indent="0" algn="ctr">
              <a:buNone/>
            </a:pPr>
            <a:r>
              <a:rPr lang="en-US" sz="1050" b="1" dirty="0">
                <a:solidFill>
                  <a:srgbClr val="333333"/>
                </a:solidFill>
                <a:latin typeface="Montserrat" pitchFamily="34" charset="0"/>
                <a:ea typeface="Montserrat" pitchFamily="34" charset="-122"/>
                <a:cs typeface="Montserrat" pitchFamily="34" charset="-120"/>
              </a:rPr>
              <a:t>Channel Applications</a:t>
            </a:r>
            <a:endParaRPr lang="en-US" sz="1050" dirty="0"/>
          </a:p>
        </p:txBody>
      </p:sp>
      <p:sp>
        <p:nvSpPr>
          <p:cNvPr id="10" name="Shape 8"/>
          <p:cNvSpPr/>
          <p:nvPr/>
        </p:nvSpPr>
        <p:spPr>
          <a:xfrm>
            <a:off x="813816" y="749808"/>
            <a:ext cx="1493085" cy="237744"/>
          </a:xfrm>
          <a:prstGeom prst="roundRect">
            <a:avLst>
              <a:gd name="adj" fmla="val 15385"/>
            </a:avLst>
          </a:prstGeom>
          <a:solidFill>
            <a:srgbClr val="333333"/>
          </a:solidFill>
          <a:ln/>
        </p:spPr>
        <p:txBody>
          <a:bodyPr/>
          <a:lstStyle/>
          <a:p>
            <a:endParaRPr/>
          </a:p>
        </p:txBody>
      </p:sp>
      <p:sp>
        <p:nvSpPr>
          <p:cNvPr id="11" name="Text 9"/>
          <p:cNvSpPr/>
          <p:nvPr/>
        </p:nvSpPr>
        <p:spPr>
          <a:xfrm>
            <a:off x="850392" y="749808"/>
            <a:ext cx="1419933" cy="237744"/>
          </a:xfrm>
          <a:prstGeom prst="rect">
            <a:avLst/>
          </a:prstGeom>
          <a:noFill/>
          <a:ln/>
        </p:spPr>
        <p:txBody>
          <a:bodyPr wrap="square" lIns="0" tIns="0" rIns="0" bIns="0" rtlCol="0" anchor="ctr"/>
          <a:lstStyle/>
          <a:p>
            <a:pPr marL="0" indent="0" algn="ctr">
              <a:buNone/>
            </a:pPr>
            <a:r>
              <a:rPr lang="en-US" sz="800" b="1" dirty="0">
                <a:solidFill>
                  <a:srgbClr val="FDFDFD"/>
                </a:solidFill>
                <a:latin typeface="Montserrat" pitchFamily="34" charset="0"/>
                <a:ea typeface="Montserrat" pitchFamily="34" charset="-122"/>
                <a:cs typeface="Montserrat" pitchFamily="34" charset="-120"/>
              </a:rPr>
              <a:t>Web Store</a:t>
            </a:r>
            <a:endParaRPr lang="en-US" sz="800" dirty="0"/>
          </a:p>
        </p:txBody>
      </p:sp>
      <p:sp>
        <p:nvSpPr>
          <p:cNvPr id="12" name="Shape 10"/>
          <p:cNvSpPr/>
          <p:nvPr/>
        </p:nvSpPr>
        <p:spPr>
          <a:xfrm>
            <a:off x="2380053" y="749808"/>
            <a:ext cx="1493085" cy="237744"/>
          </a:xfrm>
          <a:prstGeom prst="roundRect">
            <a:avLst>
              <a:gd name="adj" fmla="val 15385"/>
            </a:avLst>
          </a:prstGeom>
          <a:solidFill>
            <a:srgbClr val="333333"/>
          </a:solidFill>
          <a:ln/>
        </p:spPr>
        <p:txBody>
          <a:bodyPr/>
          <a:lstStyle/>
          <a:p>
            <a:endParaRPr/>
          </a:p>
        </p:txBody>
      </p:sp>
      <p:sp>
        <p:nvSpPr>
          <p:cNvPr id="13" name="Text 11"/>
          <p:cNvSpPr/>
          <p:nvPr/>
        </p:nvSpPr>
        <p:spPr>
          <a:xfrm>
            <a:off x="2416629" y="749808"/>
            <a:ext cx="1419933" cy="237744"/>
          </a:xfrm>
          <a:prstGeom prst="rect">
            <a:avLst/>
          </a:prstGeom>
          <a:noFill/>
          <a:ln/>
        </p:spPr>
        <p:txBody>
          <a:bodyPr wrap="square" lIns="0" tIns="0" rIns="0" bIns="0" rtlCol="0" anchor="ctr"/>
          <a:lstStyle/>
          <a:p>
            <a:pPr marL="0" indent="0" algn="ctr">
              <a:buNone/>
            </a:pPr>
            <a:r>
              <a:rPr lang="en-US" sz="800" b="1" dirty="0">
                <a:solidFill>
                  <a:srgbClr val="FDFDFD"/>
                </a:solidFill>
                <a:latin typeface="Montserrat" pitchFamily="34" charset="0"/>
                <a:ea typeface="Montserrat" pitchFamily="34" charset="-122"/>
                <a:cs typeface="Montserrat" pitchFamily="34" charset="-120"/>
              </a:rPr>
              <a:t>Mobile App</a:t>
            </a:r>
            <a:endParaRPr lang="en-US" sz="800" dirty="0"/>
          </a:p>
        </p:txBody>
      </p:sp>
      <p:sp>
        <p:nvSpPr>
          <p:cNvPr id="14" name="Shape 12"/>
          <p:cNvSpPr/>
          <p:nvPr/>
        </p:nvSpPr>
        <p:spPr>
          <a:xfrm>
            <a:off x="3946289" y="749808"/>
            <a:ext cx="1493085" cy="237744"/>
          </a:xfrm>
          <a:prstGeom prst="roundRect">
            <a:avLst>
              <a:gd name="adj" fmla="val 15385"/>
            </a:avLst>
          </a:prstGeom>
          <a:solidFill>
            <a:srgbClr val="333333"/>
          </a:solidFill>
          <a:ln/>
        </p:spPr>
        <p:txBody>
          <a:bodyPr/>
          <a:lstStyle/>
          <a:p>
            <a:endParaRPr/>
          </a:p>
        </p:txBody>
      </p:sp>
      <p:sp>
        <p:nvSpPr>
          <p:cNvPr id="15" name="Text 13"/>
          <p:cNvSpPr/>
          <p:nvPr/>
        </p:nvSpPr>
        <p:spPr>
          <a:xfrm>
            <a:off x="3982865" y="749808"/>
            <a:ext cx="1419933" cy="237744"/>
          </a:xfrm>
          <a:prstGeom prst="rect">
            <a:avLst/>
          </a:prstGeom>
          <a:noFill/>
          <a:ln/>
        </p:spPr>
        <p:txBody>
          <a:bodyPr wrap="square" lIns="0" tIns="0" rIns="0" bIns="0" rtlCol="0" anchor="ctr"/>
          <a:lstStyle/>
          <a:p>
            <a:pPr marL="0" indent="0" algn="ctr">
              <a:buNone/>
            </a:pPr>
            <a:r>
              <a:rPr lang="en-US" sz="800" b="1" dirty="0">
                <a:solidFill>
                  <a:srgbClr val="FDFDFD"/>
                </a:solidFill>
                <a:latin typeface="Montserrat" pitchFamily="34" charset="0"/>
                <a:ea typeface="Montserrat" pitchFamily="34" charset="-122"/>
                <a:cs typeface="Montserrat" pitchFamily="34" charset="-120"/>
              </a:rPr>
              <a:t>Store POS</a:t>
            </a:r>
            <a:endParaRPr lang="en-US" sz="800" dirty="0"/>
          </a:p>
        </p:txBody>
      </p:sp>
      <p:sp>
        <p:nvSpPr>
          <p:cNvPr id="16" name="Shape 14"/>
          <p:cNvSpPr/>
          <p:nvPr/>
        </p:nvSpPr>
        <p:spPr>
          <a:xfrm>
            <a:off x="5512526" y="749808"/>
            <a:ext cx="1493085" cy="237744"/>
          </a:xfrm>
          <a:prstGeom prst="roundRect">
            <a:avLst>
              <a:gd name="adj" fmla="val 15385"/>
            </a:avLst>
          </a:prstGeom>
          <a:solidFill>
            <a:srgbClr val="333333"/>
          </a:solidFill>
          <a:ln/>
        </p:spPr>
        <p:txBody>
          <a:bodyPr/>
          <a:lstStyle/>
          <a:p>
            <a:endParaRPr/>
          </a:p>
        </p:txBody>
      </p:sp>
      <p:sp>
        <p:nvSpPr>
          <p:cNvPr id="17" name="Text 15"/>
          <p:cNvSpPr/>
          <p:nvPr/>
        </p:nvSpPr>
        <p:spPr>
          <a:xfrm>
            <a:off x="5549102" y="749808"/>
            <a:ext cx="1419933" cy="237744"/>
          </a:xfrm>
          <a:prstGeom prst="rect">
            <a:avLst/>
          </a:prstGeom>
          <a:noFill/>
          <a:ln/>
        </p:spPr>
        <p:txBody>
          <a:bodyPr wrap="square" lIns="0" tIns="0" rIns="0" bIns="0" rtlCol="0" anchor="ctr"/>
          <a:lstStyle/>
          <a:p>
            <a:pPr marL="0" indent="0" algn="ctr">
              <a:buNone/>
            </a:pPr>
            <a:r>
              <a:rPr lang="en-US" sz="800" b="1" dirty="0">
                <a:solidFill>
                  <a:srgbClr val="FDFDFD"/>
                </a:solidFill>
                <a:latin typeface="Montserrat" pitchFamily="34" charset="0"/>
                <a:ea typeface="Montserrat" pitchFamily="34" charset="-122"/>
                <a:cs typeface="Montserrat" pitchFamily="34" charset="-120"/>
              </a:rPr>
              <a:t>Contact Centre</a:t>
            </a:r>
            <a:endParaRPr lang="en-US" sz="800" dirty="0"/>
          </a:p>
        </p:txBody>
      </p:sp>
      <p:sp>
        <p:nvSpPr>
          <p:cNvPr id="18" name="Shape 16"/>
          <p:cNvSpPr/>
          <p:nvPr/>
        </p:nvSpPr>
        <p:spPr>
          <a:xfrm>
            <a:off x="7078762" y="749808"/>
            <a:ext cx="1493085" cy="237744"/>
          </a:xfrm>
          <a:prstGeom prst="roundRect">
            <a:avLst>
              <a:gd name="adj" fmla="val 15385"/>
            </a:avLst>
          </a:prstGeom>
          <a:solidFill>
            <a:srgbClr val="333333"/>
          </a:solidFill>
          <a:ln/>
        </p:spPr>
        <p:txBody>
          <a:bodyPr/>
          <a:lstStyle/>
          <a:p>
            <a:endParaRPr/>
          </a:p>
        </p:txBody>
      </p:sp>
      <p:sp>
        <p:nvSpPr>
          <p:cNvPr id="19" name="Text 17"/>
          <p:cNvSpPr/>
          <p:nvPr/>
        </p:nvSpPr>
        <p:spPr>
          <a:xfrm>
            <a:off x="7115338" y="749808"/>
            <a:ext cx="1419933" cy="237744"/>
          </a:xfrm>
          <a:prstGeom prst="rect">
            <a:avLst/>
          </a:prstGeom>
          <a:noFill/>
          <a:ln/>
        </p:spPr>
        <p:txBody>
          <a:bodyPr wrap="square" lIns="0" tIns="0" rIns="0" bIns="0" rtlCol="0" anchor="ctr"/>
          <a:lstStyle/>
          <a:p>
            <a:pPr marL="0" indent="0" algn="ctr">
              <a:buNone/>
            </a:pPr>
            <a:r>
              <a:rPr lang="en-US" sz="800" b="1" dirty="0">
                <a:solidFill>
                  <a:srgbClr val="FDFDFD"/>
                </a:solidFill>
                <a:latin typeface="Montserrat" pitchFamily="34" charset="0"/>
                <a:ea typeface="Montserrat" pitchFamily="34" charset="-122"/>
                <a:cs typeface="Montserrat" pitchFamily="34" charset="-120"/>
              </a:rPr>
              <a:t>Social &amp; Marketplace</a:t>
            </a:r>
            <a:endParaRPr lang="en-US" sz="800" dirty="0"/>
          </a:p>
        </p:txBody>
      </p:sp>
      <p:sp>
        <p:nvSpPr>
          <p:cNvPr id="20" name="Shape 18"/>
          <p:cNvSpPr/>
          <p:nvPr/>
        </p:nvSpPr>
        <p:spPr>
          <a:xfrm>
            <a:off x="8644999" y="749808"/>
            <a:ext cx="1493085" cy="237744"/>
          </a:xfrm>
          <a:prstGeom prst="roundRect">
            <a:avLst>
              <a:gd name="adj" fmla="val 15385"/>
            </a:avLst>
          </a:prstGeom>
          <a:solidFill>
            <a:srgbClr val="333333"/>
          </a:solidFill>
          <a:ln/>
        </p:spPr>
        <p:txBody>
          <a:bodyPr/>
          <a:lstStyle/>
          <a:p>
            <a:endParaRPr/>
          </a:p>
        </p:txBody>
      </p:sp>
      <p:sp>
        <p:nvSpPr>
          <p:cNvPr id="21" name="Text 19"/>
          <p:cNvSpPr/>
          <p:nvPr/>
        </p:nvSpPr>
        <p:spPr>
          <a:xfrm>
            <a:off x="8681575" y="749808"/>
            <a:ext cx="1419933" cy="237744"/>
          </a:xfrm>
          <a:prstGeom prst="rect">
            <a:avLst/>
          </a:prstGeom>
          <a:noFill/>
          <a:ln/>
        </p:spPr>
        <p:txBody>
          <a:bodyPr wrap="square" lIns="0" tIns="0" rIns="0" bIns="0" rtlCol="0" anchor="ctr"/>
          <a:lstStyle/>
          <a:p>
            <a:pPr marL="0" indent="0" algn="ctr">
              <a:buNone/>
            </a:pPr>
            <a:r>
              <a:rPr lang="en-US" sz="800" b="1" dirty="0">
                <a:solidFill>
                  <a:srgbClr val="FDFDFD"/>
                </a:solidFill>
                <a:latin typeface="Montserrat" pitchFamily="34" charset="0"/>
                <a:ea typeface="Montserrat" pitchFamily="34" charset="-122"/>
                <a:cs typeface="Montserrat" pitchFamily="34" charset="-120"/>
              </a:rPr>
              <a:t>Clienteling App</a:t>
            </a:r>
            <a:endParaRPr lang="en-US" sz="800" dirty="0"/>
          </a:p>
        </p:txBody>
      </p:sp>
      <p:sp>
        <p:nvSpPr>
          <p:cNvPr id="22" name="Shape 20"/>
          <p:cNvSpPr/>
          <p:nvPr/>
        </p:nvSpPr>
        <p:spPr>
          <a:xfrm>
            <a:off x="10211235" y="749808"/>
            <a:ext cx="1493085" cy="237744"/>
          </a:xfrm>
          <a:prstGeom prst="roundRect">
            <a:avLst>
              <a:gd name="adj" fmla="val 15385"/>
            </a:avLst>
          </a:prstGeom>
          <a:solidFill>
            <a:srgbClr val="333333"/>
          </a:solidFill>
          <a:ln/>
        </p:spPr>
        <p:txBody>
          <a:bodyPr/>
          <a:lstStyle/>
          <a:p>
            <a:endParaRPr/>
          </a:p>
        </p:txBody>
      </p:sp>
      <p:sp>
        <p:nvSpPr>
          <p:cNvPr id="23" name="Text 21"/>
          <p:cNvSpPr/>
          <p:nvPr/>
        </p:nvSpPr>
        <p:spPr>
          <a:xfrm>
            <a:off x="10247811" y="749808"/>
            <a:ext cx="1419933" cy="237744"/>
          </a:xfrm>
          <a:prstGeom prst="rect">
            <a:avLst/>
          </a:prstGeom>
          <a:noFill/>
          <a:ln/>
        </p:spPr>
        <p:txBody>
          <a:bodyPr wrap="square" lIns="0" tIns="0" rIns="0" bIns="0" rtlCol="0" anchor="ctr"/>
          <a:lstStyle/>
          <a:p>
            <a:pPr marL="0" indent="0" algn="ctr">
              <a:buNone/>
            </a:pPr>
            <a:r>
              <a:rPr lang="en-US" sz="800" b="1" dirty="0">
                <a:solidFill>
                  <a:srgbClr val="FDFDFD"/>
                </a:solidFill>
                <a:latin typeface="Montserrat" pitchFamily="34" charset="0"/>
                <a:ea typeface="Montserrat" pitchFamily="34" charset="-122"/>
                <a:cs typeface="Montserrat" pitchFamily="34" charset="-120"/>
              </a:rPr>
              <a:t>Email &amp; Comms</a:t>
            </a:r>
            <a:endParaRPr lang="en-US" sz="800" dirty="0"/>
          </a:p>
        </p:txBody>
      </p:sp>
      <p:sp>
        <p:nvSpPr>
          <p:cNvPr id="24" name="Shape 22"/>
          <p:cNvSpPr/>
          <p:nvPr/>
        </p:nvSpPr>
        <p:spPr>
          <a:xfrm>
            <a:off x="676656" y="1078992"/>
            <a:ext cx="11164824" cy="457200"/>
          </a:xfrm>
          <a:prstGeom prst="roundRect">
            <a:avLst>
              <a:gd name="adj" fmla="val 10000"/>
            </a:avLst>
          </a:prstGeom>
          <a:solidFill>
            <a:srgbClr val="F5F4F1"/>
          </a:solidFill>
          <a:ln w="6350">
            <a:solidFill>
              <a:srgbClr val="E5E3DC"/>
            </a:solidFill>
            <a:prstDash val="solid"/>
          </a:ln>
        </p:spPr>
        <p:txBody>
          <a:bodyPr/>
          <a:lstStyle/>
          <a:p>
            <a:endParaRPr/>
          </a:p>
        </p:txBody>
      </p:sp>
      <p:sp>
        <p:nvSpPr>
          <p:cNvPr id="25" name="Text 23"/>
          <p:cNvSpPr/>
          <p:nvPr/>
        </p:nvSpPr>
        <p:spPr>
          <a:xfrm>
            <a:off x="676656" y="1097280"/>
            <a:ext cx="11164824" cy="182880"/>
          </a:xfrm>
          <a:prstGeom prst="rect">
            <a:avLst/>
          </a:prstGeom>
          <a:noFill/>
          <a:ln/>
        </p:spPr>
        <p:txBody>
          <a:bodyPr wrap="square" lIns="0" tIns="0" rIns="0" bIns="0" rtlCol="0" anchor="ctr"/>
          <a:lstStyle/>
          <a:p>
            <a:pPr marL="0" indent="0" algn="ctr">
              <a:buNone/>
            </a:pPr>
            <a:r>
              <a:rPr lang="en-US" sz="1050" b="1" dirty="0">
                <a:solidFill>
                  <a:srgbClr val="333333"/>
                </a:solidFill>
                <a:latin typeface="Montserrat" pitchFamily="34" charset="0"/>
                <a:ea typeface="Montserrat" pitchFamily="34" charset="-122"/>
                <a:cs typeface="Montserrat" pitchFamily="34" charset="-120"/>
              </a:rPr>
              <a:t>Channel Services / Experience APIs</a:t>
            </a:r>
            <a:endParaRPr lang="en-US" sz="1050" dirty="0"/>
          </a:p>
        </p:txBody>
      </p:sp>
      <p:sp>
        <p:nvSpPr>
          <p:cNvPr id="26" name="Shape 24"/>
          <p:cNvSpPr/>
          <p:nvPr/>
        </p:nvSpPr>
        <p:spPr>
          <a:xfrm>
            <a:off x="813816" y="1261872"/>
            <a:ext cx="1493085" cy="237744"/>
          </a:xfrm>
          <a:prstGeom prst="roundRect">
            <a:avLst>
              <a:gd name="adj" fmla="val 15385"/>
            </a:avLst>
          </a:prstGeom>
          <a:solidFill>
            <a:srgbClr val="A0A5AB"/>
          </a:solidFill>
          <a:ln/>
        </p:spPr>
        <p:txBody>
          <a:bodyPr/>
          <a:lstStyle/>
          <a:p>
            <a:endParaRPr/>
          </a:p>
        </p:txBody>
      </p:sp>
      <p:sp>
        <p:nvSpPr>
          <p:cNvPr id="27" name="Text 25"/>
          <p:cNvSpPr/>
          <p:nvPr/>
        </p:nvSpPr>
        <p:spPr>
          <a:xfrm>
            <a:off x="850392" y="1261872"/>
            <a:ext cx="1419933" cy="237744"/>
          </a:xfrm>
          <a:prstGeom prst="rect">
            <a:avLst/>
          </a:prstGeom>
          <a:noFill/>
          <a:ln/>
        </p:spPr>
        <p:txBody>
          <a:bodyPr wrap="square" lIns="0" tIns="0" rIns="0" bIns="0" rtlCol="0" anchor="ctr"/>
          <a:lstStyle/>
          <a:p>
            <a:pPr marL="0" indent="0" algn="ctr">
              <a:buNone/>
            </a:pPr>
            <a:r>
              <a:rPr lang="en-US" sz="800" b="1" dirty="0">
                <a:solidFill>
                  <a:srgbClr val="333333"/>
                </a:solidFill>
                <a:latin typeface="Montserrat" pitchFamily="34" charset="0"/>
                <a:ea typeface="Montserrat" pitchFamily="34" charset="-122"/>
                <a:cs typeface="Montserrat" pitchFamily="34" charset="-120"/>
              </a:rPr>
              <a:t>Search &amp; Discovery</a:t>
            </a:r>
            <a:endParaRPr lang="en-US" sz="800" dirty="0"/>
          </a:p>
        </p:txBody>
      </p:sp>
      <p:sp>
        <p:nvSpPr>
          <p:cNvPr id="28" name="Shape 26"/>
          <p:cNvSpPr/>
          <p:nvPr/>
        </p:nvSpPr>
        <p:spPr>
          <a:xfrm>
            <a:off x="2380053" y="1261872"/>
            <a:ext cx="1493085" cy="237744"/>
          </a:xfrm>
          <a:prstGeom prst="roundRect">
            <a:avLst>
              <a:gd name="adj" fmla="val 15385"/>
            </a:avLst>
          </a:prstGeom>
          <a:solidFill>
            <a:srgbClr val="A0A5AB"/>
          </a:solidFill>
          <a:ln/>
        </p:spPr>
        <p:txBody>
          <a:bodyPr/>
          <a:lstStyle/>
          <a:p>
            <a:endParaRPr/>
          </a:p>
        </p:txBody>
      </p:sp>
      <p:sp>
        <p:nvSpPr>
          <p:cNvPr id="29" name="Text 27"/>
          <p:cNvSpPr/>
          <p:nvPr/>
        </p:nvSpPr>
        <p:spPr>
          <a:xfrm>
            <a:off x="2416629" y="1261872"/>
            <a:ext cx="1419933" cy="237744"/>
          </a:xfrm>
          <a:prstGeom prst="rect">
            <a:avLst/>
          </a:prstGeom>
          <a:noFill/>
          <a:ln/>
        </p:spPr>
        <p:txBody>
          <a:bodyPr wrap="square" lIns="0" tIns="0" rIns="0" bIns="0" rtlCol="0" anchor="ctr"/>
          <a:lstStyle/>
          <a:p>
            <a:pPr marL="0" indent="0" algn="ctr">
              <a:buNone/>
            </a:pPr>
            <a:r>
              <a:rPr lang="en-US" sz="800" b="1" dirty="0">
                <a:solidFill>
                  <a:srgbClr val="333333"/>
                </a:solidFill>
                <a:latin typeface="Montserrat" pitchFamily="34" charset="0"/>
                <a:ea typeface="Montserrat" pitchFamily="34" charset="-122"/>
                <a:cs typeface="Montserrat" pitchFamily="34" charset="-120"/>
              </a:rPr>
              <a:t>Catalogue &amp; Browse</a:t>
            </a:r>
            <a:endParaRPr lang="en-US" sz="800" dirty="0"/>
          </a:p>
        </p:txBody>
      </p:sp>
      <p:sp>
        <p:nvSpPr>
          <p:cNvPr id="30" name="Shape 28"/>
          <p:cNvSpPr/>
          <p:nvPr/>
        </p:nvSpPr>
        <p:spPr>
          <a:xfrm>
            <a:off x="3946289" y="1261872"/>
            <a:ext cx="1493085" cy="237744"/>
          </a:xfrm>
          <a:prstGeom prst="roundRect">
            <a:avLst>
              <a:gd name="adj" fmla="val 15385"/>
            </a:avLst>
          </a:prstGeom>
          <a:solidFill>
            <a:srgbClr val="A0A5AB"/>
          </a:solidFill>
          <a:ln/>
        </p:spPr>
        <p:txBody>
          <a:bodyPr/>
          <a:lstStyle/>
          <a:p>
            <a:endParaRPr/>
          </a:p>
        </p:txBody>
      </p:sp>
      <p:sp>
        <p:nvSpPr>
          <p:cNvPr id="31" name="Text 29"/>
          <p:cNvSpPr/>
          <p:nvPr/>
        </p:nvSpPr>
        <p:spPr>
          <a:xfrm>
            <a:off x="3982865" y="1261872"/>
            <a:ext cx="1419933" cy="237744"/>
          </a:xfrm>
          <a:prstGeom prst="rect">
            <a:avLst/>
          </a:prstGeom>
          <a:noFill/>
          <a:ln/>
        </p:spPr>
        <p:txBody>
          <a:bodyPr wrap="square" lIns="0" tIns="0" rIns="0" bIns="0" rtlCol="0" anchor="ctr"/>
          <a:lstStyle/>
          <a:p>
            <a:pPr marL="0" indent="0" algn="ctr">
              <a:buNone/>
            </a:pPr>
            <a:r>
              <a:rPr lang="en-US" sz="800" b="1" dirty="0">
                <a:solidFill>
                  <a:srgbClr val="333333"/>
                </a:solidFill>
                <a:latin typeface="Montserrat" pitchFamily="34" charset="0"/>
                <a:ea typeface="Montserrat" pitchFamily="34" charset="-122"/>
                <a:cs typeface="Montserrat" pitchFamily="34" charset="-120"/>
              </a:rPr>
              <a:t>Cart &amp; Checkout</a:t>
            </a:r>
            <a:endParaRPr lang="en-US" sz="800" dirty="0"/>
          </a:p>
        </p:txBody>
      </p:sp>
      <p:sp>
        <p:nvSpPr>
          <p:cNvPr id="32" name="Shape 30"/>
          <p:cNvSpPr/>
          <p:nvPr/>
        </p:nvSpPr>
        <p:spPr>
          <a:xfrm>
            <a:off x="5512526" y="1261872"/>
            <a:ext cx="1493085" cy="237744"/>
          </a:xfrm>
          <a:prstGeom prst="roundRect">
            <a:avLst>
              <a:gd name="adj" fmla="val 15385"/>
            </a:avLst>
          </a:prstGeom>
          <a:solidFill>
            <a:srgbClr val="A0A5AB"/>
          </a:solidFill>
          <a:ln/>
        </p:spPr>
        <p:txBody>
          <a:bodyPr/>
          <a:lstStyle/>
          <a:p>
            <a:endParaRPr/>
          </a:p>
        </p:txBody>
      </p:sp>
      <p:sp>
        <p:nvSpPr>
          <p:cNvPr id="33" name="Text 31"/>
          <p:cNvSpPr/>
          <p:nvPr/>
        </p:nvSpPr>
        <p:spPr>
          <a:xfrm>
            <a:off x="5549102" y="1261872"/>
            <a:ext cx="1419933" cy="237744"/>
          </a:xfrm>
          <a:prstGeom prst="rect">
            <a:avLst/>
          </a:prstGeom>
          <a:noFill/>
          <a:ln/>
        </p:spPr>
        <p:txBody>
          <a:bodyPr wrap="square" lIns="0" tIns="0" rIns="0" bIns="0" rtlCol="0" anchor="ctr"/>
          <a:lstStyle/>
          <a:p>
            <a:pPr marL="0" indent="0" algn="ctr">
              <a:buNone/>
            </a:pPr>
            <a:r>
              <a:rPr lang="en-US" sz="800" b="1" dirty="0">
                <a:solidFill>
                  <a:srgbClr val="333333"/>
                </a:solidFill>
                <a:latin typeface="Montserrat" pitchFamily="34" charset="0"/>
                <a:ea typeface="Montserrat" pitchFamily="34" charset="-122"/>
                <a:cs typeface="Montserrat" pitchFamily="34" charset="-120"/>
              </a:rPr>
              <a:t>Order &amp; Fulfilment</a:t>
            </a:r>
            <a:endParaRPr lang="en-US" sz="800" dirty="0"/>
          </a:p>
        </p:txBody>
      </p:sp>
      <p:sp>
        <p:nvSpPr>
          <p:cNvPr id="34" name="Shape 32"/>
          <p:cNvSpPr/>
          <p:nvPr/>
        </p:nvSpPr>
        <p:spPr>
          <a:xfrm>
            <a:off x="7078762" y="1261872"/>
            <a:ext cx="1493085" cy="237744"/>
          </a:xfrm>
          <a:prstGeom prst="roundRect">
            <a:avLst>
              <a:gd name="adj" fmla="val 15385"/>
            </a:avLst>
          </a:prstGeom>
          <a:solidFill>
            <a:srgbClr val="A0A5AB"/>
          </a:solidFill>
          <a:ln/>
        </p:spPr>
        <p:txBody>
          <a:bodyPr/>
          <a:lstStyle/>
          <a:p>
            <a:endParaRPr/>
          </a:p>
        </p:txBody>
      </p:sp>
      <p:sp>
        <p:nvSpPr>
          <p:cNvPr id="35" name="Text 33"/>
          <p:cNvSpPr/>
          <p:nvPr/>
        </p:nvSpPr>
        <p:spPr>
          <a:xfrm>
            <a:off x="7115338" y="1261872"/>
            <a:ext cx="1419933" cy="237744"/>
          </a:xfrm>
          <a:prstGeom prst="rect">
            <a:avLst/>
          </a:prstGeom>
          <a:noFill/>
          <a:ln/>
        </p:spPr>
        <p:txBody>
          <a:bodyPr wrap="square" lIns="0" tIns="0" rIns="0" bIns="0" rtlCol="0" anchor="ctr"/>
          <a:lstStyle/>
          <a:p>
            <a:pPr marL="0" indent="0" algn="ctr">
              <a:buNone/>
            </a:pPr>
            <a:r>
              <a:rPr lang="en-US" sz="800" b="1" dirty="0">
                <a:solidFill>
                  <a:srgbClr val="333333"/>
                </a:solidFill>
                <a:latin typeface="Montserrat" pitchFamily="34" charset="0"/>
                <a:ea typeface="Montserrat" pitchFamily="34" charset="-122"/>
                <a:cs typeface="Montserrat" pitchFamily="34" charset="-120"/>
              </a:rPr>
              <a:t>Returns</a:t>
            </a:r>
            <a:endParaRPr lang="en-US" sz="800" dirty="0"/>
          </a:p>
        </p:txBody>
      </p:sp>
      <p:sp>
        <p:nvSpPr>
          <p:cNvPr id="36" name="Shape 34"/>
          <p:cNvSpPr/>
          <p:nvPr/>
        </p:nvSpPr>
        <p:spPr>
          <a:xfrm>
            <a:off x="8644999" y="1261872"/>
            <a:ext cx="1493085" cy="237744"/>
          </a:xfrm>
          <a:prstGeom prst="roundRect">
            <a:avLst>
              <a:gd name="adj" fmla="val 15385"/>
            </a:avLst>
          </a:prstGeom>
          <a:solidFill>
            <a:srgbClr val="A0A5AB"/>
          </a:solidFill>
          <a:ln/>
        </p:spPr>
        <p:txBody>
          <a:bodyPr/>
          <a:lstStyle/>
          <a:p>
            <a:endParaRPr/>
          </a:p>
        </p:txBody>
      </p:sp>
      <p:sp>
        <p:nvSpPr>
          <p:cNvPr id="37" name="Text 35"/>
          <p:cNvSpPr/>
          <p:nvPr/>
        </p:nvSpPr>
        <p:spPr>
          <a:xfrm>
            <a:off x="8681575" y="1261872"/>
            <a:ext cx="1419933" cy="237744"/>
          </a:xfrm>
          <a:prstGeom prst="rect">
            <a:avLst/>
          </a:prstGeom>
          <a:noFill/>
          <a:ln/>
        </p:spPr>
        <p:txBody>
          <a:bodyPr wrap="square" lIns="0" tIns="0" rIns="0" bIns="0" rtlCol="0" anchor="ctr"/>
          <a:lstStyle/>
          <a:p>
            <a:pPr marL="0" indent="0" algn="ctr">
              <a:buNone/>
            </a:pPr>
            <a:r>
              <a:rPr lang="en-US" sz="800" b="1" dirty="0">
                <a:solidFill>
                  <a:srgbClr val="333333"/>
                </a:solidFill>
                <a:latin typeface="Montserrat" pitchFamily="34" charset="0"/>
                <a:ea typeface="Montserrat" pitchFamily="34" charset="-122"/>
                <a:cs typeface="Montserrat" pitchFamily="34" charset="-120"/>
              </a:rPr>
              <a:t>Payments</a:t>
            </a:r>
            <a:endParaRPr lang="en-US" sz="800" dirty="0"/>
          </a:p>
        </p:txBody>
      </p:sp>
      <p:sp>
        <p:nvSpPr>
          <p:cNvPr id="38" name="Shape 36"/>
          <p:cNvSpPr/>
          <p:nvPr/>
        </p:nvSpPr>
        <p:spPr>
          <a:xfrm>
            <a:off x="10211235" y="1261872"/>
            <a:ext cx="1493085" cy="237744"/>
          </a:xfrm>
          <a:prstGeom prst="roundRect">
            <a:avLst>
              <a:gd name="adj" fmla="val 15385"/>
            </a:avLst>
          </a:prstGeom>
          <a:solidFill>
            <a:srgbClr val="A0A5AB"/>
          </a:solidFill>
          <a:ln/>
        </p:spPr>
        <p:txBody>
          <a:bodyPr/>
          <a:lstStyle/>
          <a:p>
            <a:endParaRPr/>
          </a:p>
        </p:txBody>
      </p:sp>
      <p:sp>
        <p:nvSpPr>
          <p:cNvPr id="39" name="Text 37"/>
          <p:cNvSpPr/>
          <p:nvPr/>
        </p:nvSpPr>
        <p:spPr>
          <a:xfrm>
            <a:off x="10247811" y="1261872"/>
            <a:ext cx="1419933" cy="237744"/>
          </a:xfrm>
          <a:prstGeom prst="rect">
            <a:avLst/>
          </a:prstGeom>
          <a:noFill/>
          <a:ln/>
        </p:spPr>
        <p:txBody>
          <a:bodyPr wrap="square" lIns="0" tIns="0" rIns="0" bIns="0" rtlCol="0" anchor="ctr"/>
          <a:lstStyle/>
          <a:p>
            <a:pPr marL="0" indent="0" algn="ctr">
              <a:buNone/>
            </a:pPr>
            <a:r>
              <a:rPr lang="en-US" sz="800" b="1" dirty="0">
                <a:solidFill>
                  <a:srgbClr val="333333"/>
                </a:solidFill>
                <a:latin typeface="Montserrat" pitchFamily="34" charset="0"/>
                <a:ea typeface="Montserrat" pitchFamily="34" charset="-122"/>
                <a:cs typeface="Montserrat" pitchFamily="34" charset="-120"/>
              </a:rPr>
              <a:t>Loyalty &amp; Service</a:t>
            </a:r>
            <a:endParaRPr lang="en-US" sz="800" dirty="0"/>
          </a:p>
        </p:txBody>
      </p:sp>
      <p:sp>
        <p:nvSpPr>
          <p:cNvPr id="40" name="Shape 38"/>
          <p:cNvSpPr/>
          <p:nvPr/>
        </p:nvSpPr>
        <p:spPr>
          <a:xfrm>
            <a:off x="676656" y="1591056"/>
            <a:ext cx="11164824" cy="1481328"/>
          </a:xfrm>
          <a:prstGeom prst="roundRect">
            <a:avLst>
              <a:gd name="adj" fmla="val 3086"/>
            </a:avLst>
          </a:prstGeom>
          <a:solidFill>
            <a:srgbClr val="F5F4F1"/>
          </a:solidFill>
          <a:ln w="6350">
            <a:solidFill>
              <a:srgbClr val="E5E3DC"/>
            </a:solidFill>
            <a:prstDash val="solid"/>
          </a:ln>
        </p:spPr>
        <p:txBody>
          <a:bodyPr/>
          <a:lstStyle/>
          <a:p>
            <a:endParaRPr/>
          </a:p>
        </p:txBody>
      </p:sp>
      <p:sp>
        <p:nvSpPr>
          <p:cNvPr id="41" name="Text 39"/>
          <p:cNvSpPr/>
          <p:nvPr/>
        </p:nvSpPr>
        <p:spPr>
          <a:xfrm>
            <a:off x="676656" y="1618488"/>
            <a:ext cx="11164824" cy="182880"/>
          </a:xfrm>
          <a:prstGeom prst="rect">
            <a:avLst/>
          </a:prstGeom>
          <a:noFill/>
          <a:ln/>
        </p:spPr>
        <p:txBody>
          <a:bodyPr wrap="square" lIns="0" tIns="0" rIns="0" bIns="0" rtlCol="0" anchor="ctr"/>
          <a:lstStyle/>
          <a:p>
            <a:pPr marL="0" indent="0" algn="ctr">
              <a:buNone/>
            </a:pPr>
            <a:r>
              <a:rPr sz="1600" b="1" dirty="0">
                <a:solidFill>
                  <a:srgbClr val="333333"/>
                </a:solidFill>
                <a:latin typeface="Montserrat"/>
              </a:rPr>
              <a:t>Agentic Orchestration Services — 17 agents</a:t>
            </a:r>
            <a:r>
              <a:rPr sz="1600" b="1" dirty="0">
                <a:solidFill>
                  <a:srgbClr val="E31837"/>
                </a:solidFill>
                <a:latin typeface="Montserrat"/>
              </a:rPr>
              <a:t>   ·   4 new </a:t>
            </a:r>
            <a:r>
              <a:rPr sz="1600" b="1" dirty="0" err="1">
                <a:solidFill>
                  <a:srgbClr val="E31837"/>
                </a:solidFill>
                <a:latin typeface="Montserrat"/>
              </a:rPr>
              <a:t>Personalisation</a:t>
            </a:r>
            <a:r>
              <a:rPr sz="1600" b="1" dirty="0">
                <a:solidFill>
                  <a:srgbClr val="E31837"/>
                </a:solidFill>
                <a:latin typeface="Montserrat"/>
              </a:rPr>
              <a:t> sub-agents</a:t>
            </a:r>
            <a:endParaRPr lang="en-US" sz="1050" dirty="0"/>
          </a:p>
        </p:txBody>
      </p:sp>
      <p:sp>
        <p:nvSpPr>
          <p:cNvPr id="42" name="Shape 40"/>
          <p:cNvSpPr/>
          <p:nvPr/>
        </p:nvSpPr>
        <p:spPr>
          <a:xfrm>
            <a:off x="11320272" y="1810512"/>
            <a:ext cx="384048" cy="1097280"/>
          </a:xfrm>
          <a:prstGeom prst="roundRect">
            <a:avLst>
              <a:gd name="adj" fmla="val 11905"/>
            </a:avLst>
          </a:prstGeom>
          <a:solidFill>
            <a:srgbClr val="333333"/>
          </a:solidFill>
          <a:ln/>
        </p:spPr>
        <p:txBody>
          <a:bodyPr/>
          <a:lstStyle/>
          <a:p>
            <a:endParaRPr/>
          </a:p>
        </p:txBody>
      </p:sp>
      <p:sp>
        <p:nvSpPr>
          <p:cNvPr id="43" name="Text 41"/>
          <p:cNvSpPr/>
          <p:nvPr/>
        </p:nvSpPr>
        <p:spPr>
          <a:xfrm rot="16200000">
            <a:off x="10954512" y="1810512"/>
            <a:ext cx="1115568" cy="1097280"/>
          </a:xfrm>
          <a:prstGeom prst="rect">
            <a:avLst/>
          </a:prstGeom>
          <a:noFill/>
          <a:ln/>
        </p:spPr>
        <p:txBody>
          <a:bodyPr wrap="square" lIns="0" tIns="0" rIns="0" bIns="0" rtlCol="0" anchor="ctr"/>
          <a:lstStyle/>
          <a:p>
            <a:pPr marL="0" indent="0" algn="ctr">
              <a:buNone/>
            </a:pPr>
            <a:r>
              <a:rPr lang="en-US" sz="750" b="1" dirty="0">
                <a:solidFill>
                  <a:srgbClr val="FDFDFD"/>
                </a:solidFill>
                <a:latin typeface="Montserrat" pitchFamily="34" charset="0"/>
                <a:ea typeface="Montserrat" pitchFamily="34" charset="-122"/>
                <a:cs typeface="Montserrat" pitchFamily="34" charset="-120"/>
              </a:rPr>
              <a:t>HUMAN-IN-THE-LOOP</a:t>
            </a:r>
            <a:endParaRPr lang="en-US" sz="750" dirty="0"/>
          </a:p>
        </p:txBody>
      </p:sp>
      <p:sp>
        <p:nvSpPr>
          <p:cNvPr id="44" name="Shape 42"/>
          <p:cNvSpPr/>
          <p:nvPr/>
        </p:nvSpPr>
        <p:spPr>
          <a:xfrm>
            <a:off x="813816" y="1810512"/>
            <a:ext cx="10424160" cy="274320"/>
          </a:xfrm>
          <a:prstGeom prst="roundRect">
            <a:avLst>
              <a:gd name="adj" fmla="val 16667"/>
            </a:avLst>
          </a:prstGeom>
          <a:solidFill>
            <a:srgbClr val="333333"/>
          </a:solidFill>
          <a:ln/>
        </p:spPr>
        <p:txBody>
          <a:bodyPr/>
          <a:lstStyle/>
          <a:p>
            <a:endParaRPr/>
          </a:p>
        </p:txBody>
      </p:sp>
      <p:sp>
        <p:nvSpPr>
          <p:cNvPr id="45" name="Text 43"/>
          <p:cNvSpPr/>
          <p:nvPr/>
        </p:nvSpPr>
        <p:spPr>
          <a:xfrm>
            <a:off x="813816" y="1810512"/>
            <a:ext cx="10424160" cy="274320"/>
          </a:xfrm>
          <a:prstGeom prst="rect">
            <a:avLst/>
          </a:prstGeom>
          <a:noFill/>
          <a:ln/>
        </p:spPr>
        <p:txBody>
          <a:bodyPr wrap="square" lIns="0" tIns="0" rIns="0" bIns="0" rtlCol="0" anchor="ctr"/>
          <a:lstStyle/>
          <a:p>
            <a:pPr marL="0" indent="0" algn="ctr">
              <a:buNone/>
            </a:pPr>
            <a:r>
              <a:rPr lang="en-US" sz="850" b="1" dirty="0">
                <a:solidFill>
                  <a:srgbClr val="FDFDFD"/>
                </a:solidFill>
                <a:latin typeface="Montserrat" pitchFamily="34" charset="0"/>
                <a:ea typeface="Montserrat" pitchFamily="34" charset="-122"/>
                <a:cs typeface="Montserrat" pitchFamily="34" charset="-120"/>
              </a:rPr>
              <a:t>LEAD ORCHESTRATOR   </a:t>
            </a:r>
            <a:r>
              <a:rPr lang="en-US" sz="750" i="1" dirty="0">
                <a:solidFill>
                  <a:srgbClr val="C9C9C7"/>
                </a:solidFill>
                <a:latin typeface="Montserrat" pitchFamily="34" charset="0"/>
                <a:ea typeface="Montserrat" pitchFamily="34" charset="-122"/>
                <a:cs typeface="Montserrat" pitchFamily="34" charset="-120"/>
              </a:rPr>
              <a:t>decomposes multi-agent requests · arbitrates conflicting goals · holds journey context</a:t>
            </a:r>
            <a:endParaRPr lang="en-US" sz="850" dirty="0"/>
          </a:p>
        </p:txBody>
      </p:sp>
      <p:sp>
        <p:nvSpPr>
          <p:cNvPr id="46" name="Shape 44"/>
          <p:cNvSpPr/>
          <p:nvPr/>
        </p:nvSpPr>
        <p:spPr>
          <a:xfrm>
            <a:off x="1527048" y="2084832"/>
            <a:ext cx="0" cy="164592"/>
          </a:xfrm>
          <a:prstGeom prst="line">
            <a:avLst/>
          </a:prstGeom>
          <a:noFill/>
          <a:ln w="9525">
            <a:solidFill>
              <a:srgbClr val="E31837"/>
            </a:solidFill>
            <a:prstDash val="solid"/>
            <a:headEnd type="triangle"/>
            <a:tailEnd type="triangle"/>
          </a:ln>
        </p:spPr>
        <p:txBody>
          <a:bodyPr/>
          <a:lstStyle/>
          <a:p>
            <a:endParaRPr/>
          </a:p>
        </p:txBody>
      </p:sp>
      <p:sp>
        <p:nvSpPr>
          <p:cNvPr id="47" name="Shape 45"/>
          <p:cNvSpPr/>
          <p:nvPr/>
        </p:nvSpPr>
        <p:spPr>
          <a:xfrm>
            <a:off x="813816" y="2249424"/>
            <a:ext cx="1426464" cy="438912"/>
          </a:xfrm>
          <a:prstGeom prst="roundRect">
            <a:avLst>
              <a:gd name="adj" fmla="val 8333"/>
            </a:avLst>
          </a:prstGeom>
          <a:solidFill>
            <a:srgbClr val="FBE3E4"/>
          </a:solidFill>
          <a:ln w="9525">
            <a:solidFill>
              <a:srgbClr val="E31837"/>
            </a:solidFill>
            <a:prstDash val="solid"/>
          </a:ln>
        </p:spPr>
        <p:txBody>
          <a:bodyPr/>
          <a:lstStyle/>
          <a:p>
            <a:endParaRPr/>
          </a:p>
        </p:txBody>
      </p:sp>
      <p:sp>
        <p:nvSpPr>
          <p:cNvPr id="48" name="Text 46"/>
          <p:cNvSpPr/>
          <p:nvPr/>
        </p:nvSpPr>
        <p:spPr>
          <a:xfrm>
            <a:off x="850392" y="2286000"/>
            <a:ext cx="1353312" cy="201168"/>
          </a:xfrm>
          <a:prstGeom prst="rect">
            <a:avLst/>
          </a:prstGeom>
          <a:noFill/>
          <a:ln/>
        </p:spPr>
        <p:txBody>
          <a:bodyPr wrap="square" lIns="0" tIns="0" rIns="0" bIns="0" rtlCol="0" anchor="ctr"/>
          <a:lstStyle/>
          <a:p>
            <a:pPr marL="0" indent="0" algn="ctr">
              <a:buNone/>
            </a:pPr>
            <a:r>
              <a:rPr lang="en-US" sz="700" dirty="0">
                <a:solidFill>
                  <a:srgbClr val="333333"/>
                </a:solidFill>
                <a:latin typeface="Montserrat" pitchFamily="34" charset="0"/>
                <a:ea typeface="Montserrat" pitchFamily="34" charset="-122"/>
                <a:cs typeface="Montserrat" pitchFamily="34" charset="-120"/>
              </a:rPr>
              <a:t>Discovery &amp; Personalisation</a:t>
            </a:r>
            <a:endParaRPr lang="en-US" sz="700" dirty="0"/>
          </a:p>
        </p:txBody>
      </p:sp>
      <p:sp>
        <p:nvSpPr>
          <p:cNvPr id="49" name="Text 47"/>
          <p:cNvSpPr/>
          <p:nvPr/>
        </p:nvSpPr>
        <p:spPr>
          <a:xfrm>
            <a:off x="850392" y="2487168"/>
            <a:ext cx="1353312" cy="201168"/>
          </a:xfrm>
          <a:prstGeom prst="rect">
            <a:avLst/>
          </a:prstGeom>
          <a:noFill/>
          <a:ln/>
        </p:spPr>
        <p:txBody>
          <a:bodyPr wrap="square" lIns="0" tIns="0" rIns="0" bIns="0" rtlCol="0" anchor="ctr"/>
          <a:lstStyle/>
          <a:p>
            <a:pPr marL="0" indent="0" algn="ctr">
              <a:buNone/>
            </a:pPr>
            <a:r>
              <a:rPr sz="900" b="1" dirty="0">
                <a:solidFill>
                  <a:srgbClr val="333333"/>
                </a:solidFill>
                <a:latin typeface="Montserrat"/>
              </a:rPr>
              <a:t>MUSE</a:t>
            </a:r>
            <a:endParaRPr lang="en-US" sz="750" dirty="0"/>
          </a:p>
          <a:p>
            <a:pPr algn="ctr"/>
            <a:r>
              <a:rPr sz="900" b="1" dirty="0">
                <a:solidFill>
                  <a:srgbClr val="E31837"/>
                </a:solidFill>
                <a:latin typeface="Montserrat"/>
              </a:rPr>
              <a:t>· TAILOR</a:t>
            </a:r>
          </a:p>
        </p:txBody>
      </p:sp>
      <p:sp>
        <p:nvSpPr>
          <p:cNvPr id="50" name="Shape 48"/>
          <p:cNvSpPr/>
          <p:nvPr/>
        </p:nvSpPr>
        <p:spPr>
          <a:xfrm>
            <a:off x="3026664" y="2084832"/>
            <a:ext cx="0" cy="164592"/>
          </a:xfrm>
          <a:prstGeom prst="line">
            <a:avLst/>
          </a:prstGeom>
          <a:noFill/>
          <a:ln w="9525">
            <a:solidFill>
              <a:srgbClr val="E31837"/>
            </a:solidFill>
            <a:prstDash val="solid"/>
            <a:headEnd type="triangle"/>
            <a:tailEnd type="triangle"/>
          </a:ln>
        </p:spPr>
        <p:txBody>
          <a:bodyPr/>
          <a:lstStyle/>
          <a:p>
            <a:endParaRPr/>
          </a:p>
        </p:txBody>
      </p:sp>
      <p:sp>
        <p:nvSpPr>
          <p:cNvPr id="51" name="Shape 49"/>
          <p:cNvSpPr/>
          <p:nvPr/>
        </p:nvSpPr>
        <p:spPr>
          <a:xfrm>
            <a:off x="2313432" y="2249424"/>
            <a:ext cx="1426464" cy="438912"/>
          </a:xfrm>
          <a:prstGeom prst="roundRect">
            <a:avLst>
              <a:gd name="adj" fmla="val 8333"/>
            </a:avLst>
          </a:prstGeom>
          <a:solidFill>
            <a:srgbClr val="FBE3E4"/>
          </a:solidFill>
          <a:ln w="9525">
            <a:solidFill>
              <a:srgbClr val="E31837"/>
            </a:solidFill>
            <a:prstDash val="solid"/>
          </a:ln>
        </p:spPr>
        <p:txBody>
          <a:bodyPr/>
          <a:lstStyle/>
          <a:p>
            <a:endParaRPr dirty="0"/>
          </a:p>
        </p:txBody>
      </p:sp>
      <p:sp>
        <p:nvSpPr>
          <p:cNvPr id="52" name="Text 50"/>
          <p:cNvSpPr/>
          <p:nvPr/>
        </p:nvSpPr>
        <p:spPr>
          <a:xfrm>
            <a:off x="2350008" y="2286000"/>
            <a:ext cx="1353312" cy="201168"/>
          </a:xfrm>
          <a:prstGeom prst="rect">
            <a:avLst/>
          </a:prstGeom>
          <a:noFill/>
          <a:ln/>
        </p:spPr>
        <p:txBody>
          <a:bodyPr wrap="square" lIns="0" tIns="0" rIns="0" bIns="0" rtlCol="0" anchor="ctr"/>
          <a:lstStyle/>
          <a:p>
            <a:pPr marL="0" indent="0" algn="ctr">
              <a:buNone/>
            </a:pPr>
            <a:r>
              <a:rPr lang="en-US" sz="700" dirty="0">
                <a:solidFill>
                  <a:srgbClr val="333333"/>
                </a:solidFill>
                <a:latin typeface="Montserrat" pitchFamily="34" charset="0"/>
                <a:ea typeface="Montserrat" pitchFamily="34" charset="-122"/>
                <a:cs typeface="Montserrat" pitchFamily="34" charset="-120"/>
              </a:rPr>
              <a:t>Session &amp; Identity</a:t>
            </a:r>
            <a:endParaRPr lang="en-US" sz="700" dirty="0"/>
          </a:p>
        </p:txBody>
      </p:sp>
      <p:sp>
        <p:nvSpPr>
          <p:cNvPr id="53" name="Text 51"/>
          <p:cNvSpPr/>
          <p:nvPr/>
        </p:nvSpPr>
        <p:spPr>
          <a:xfrm>
            <a:off x="2350008" y="2487168"/>
            <a:ext cx="1353312" cy="201168"/>
          </a:xfrm>
          <a:prstGeom prst="rect">
            <a:avLst/>
          </a:prstGeom>
          <a:noFill/>
          <a:ln/>
        </p:spPr>
        <p:txBody>
          <a:bodyPr wrap="square" lIns="0" tIns="0" rIns="0" bIns="0" rtlCol="0" anchor="ctr"/>
          <a:lstStyle/>
          <a:p>
            <a:pPr marL="0" indent="0" algn="ctr">
              <a:buNone/>
            </a:pPr>
            <a:r>
              <a:rPr lang="en-US" sz="750" b="1" dirty="0">
                <a:solidFill>
                  <a:srgbClr val="333333"/>
                </a:solidFill>
                <a:latin typeface="Montserrat" pitchFamily="34" charset="0"/>
                <a:ea typeface="Montserrat" pitchFamily="34" charset="-122"/>
                <a:cs typeface="Montserrat" pitchFamily="34" charset="-120"/>
              </a:rPr>
              <a:t>ONEBASKET</a:t>
            </a:r>
          </a:p>
          <a:p>
            <a:pPr algn="ctr"/>
            <a:r>
              <a:rPr lang="en-US" sz="800" b="1" dirty="0">
                <a:solidFill>
                  <a:srgbClr val="E31837"/>
                </a:solidFill>
                <a:latin typeface="Montserrat"/>
              </a:rPr>
              <a:t>PERSONA</a:t>
            </a:r>
            <a:endParaRPr lang="en-US" sz="750" dirty="0">
              <a:solidFill>
                <a:srgbClr val="333333"/>
              </a:solidFill>
            </a:endParaRPr>
          </a:p>
        </p:txBody>
      </p:sp>
      <p:sp>
        <p:nvSpPr>
          <p:cNvPr id="54" name="Shape 52"/>
          <p:cNvSpPr/>
          <p:nvPr/>
        </p:nvSpPr>
        <p:spPr>
          <a:xfrm>
            <a:off x="4526280" y="2084832"/>
            <a:ext cx="0" cy="164592"/>
          </a:xfrm>
          <a:prstGeom prst="line">
            <a:avLst/>
          </a:prstGeom>
          <a:noFill/>
          <a:ln w="9525">
            <a:solidFill>
              <a:srgbClr val="E31837"/>
            </a:solidFill>
            <a:prstDash val="solid"/>
            <a:headEnd type="triangle"/>
            <a:tailEnd type="triangle"/>
          </a:ln>
        </p:spPr>
        <p:txBody>
          <a:bodyPr/>
          <a:lstStyle/>
          <a:p>
            <a:endParaRPr/>
          </a:p>
        </p:txBody>
      </p:sp>
      <p:sp>
        <p:nvSpPr>
          <p:cNvPr id="55" name="Shape 53"/>
          <p:cNvSpPr/>
          <p:nvPr/>
        </p:nvSpPr>
        <p:spPr>
          <a:xfrm>
            <a:off x="3813048" y="2249424"/>
            <a:ext cx="1426464" cy="438912"/>
          </a:xfrm>
          <a:prstGeom prst="roundRect">
            <a:avLst>
              <a:gd name="adj" fmla="val 8333"/>
            </a:avLst>
          </a:prstGeom>
          <a:solidFill>
            <a:srgbClr val="FBE3E4"/>
          </a:solidFill>
          <a:ln w="9525">
            <a:solidFill>
              <a:srgbClr val="E31837"/>
            </a:solidFill>
            <a:prstDash val="solid"/>
          </a:ln>
        </p:spPr>
        <p:txBody>
          <a:bodyPr/>
          <a:lstStyle/>
          <a:p>
            <a:endParaRPr/>
          </a:p>
        </p:txBody>
      </p:sp>
      <p:sp>
        <p:nvSpPr>
          <p:cNvPr id="56" name="Text 54"/>
          <p:cNvSpPr/>
          <p:nvPr/>
        </p:nvSpPr>
        <p:spPr>
          <a:xfrm>
            <a:off x="3849624" y="2286000"/>
            <a:ext cx="1353312" cy="201168"/>
          </a:xfrm>
          <a:prstGeom prst="rect">
            <a:avLst/>
          </a:prstGeom>
          <a:noFill/>
          <a:ln/>
        </p:spPr>
        <p:txBody>
          <a:bodyPr wrap="square" lIns="0" tIns="0" rIns="0" bIns="0" rtlCol="0" anchor="ctr"/>
          <a:lstStyle/>
          <a:p>
            <a:pPr marL="0" indent="0" algn="ctr">
              <a:buNone/>
            </a:pPr>
            <a:r>
              <a:rPr lang="en-US" sz="700" dirty="0">
                <a:solidFill>
                  <a:srgbClr val="333333"/>
                </a:solidFill>
                <a:latin typeface="Montserrat" pitchFamily="34" charset="0"/>
                <a:ea typeface="Montserrat" pitchFamily="34" charset="-122"/>
                <a:cs typeface="Montserrat" pitchFamily="34" charset="-120"/>
              </a:rPr>
              <a:t>Risk &amp; Approval</a:t>
            </a:r>
            <a:endParaRPr lang="en-US" sz="700" dirty="0"/>
          </a:p>
        </p:txBody>
      </p:sp>
      <p:sp>
        <p:nvSpPr>
          <p:cNvPr id="57" name="Text 55"/>
          <p:cNvSpPr/>
          <p:nvPr/>
        </p:nvSpPr>
        <p:spPr>
          <a:xfrm>
            <a:off x="3849624" y="2487168"/>
            <a:ext cx="1353312" cy="201168"/>
          </a:xfrm>
          <a:prstGeom prst="rect">
            <a:avLst/>
          </a:prstGeom>
          <a:noFill/>
          <a:ln/>
        </p:spPr>
        <p:txBody>
          <a:bodyPr wrap="square" lIns="0" tIns="0" rIns="0" bIns="0" rtlCol="0" anchor="ctr"/>
          <a:lstStyle/>
          <a:p>
            <a:pPr marL="0" indent="0" algn="ctr">
              <a:buNone/>
            </a:pPr>
            <a:r>
              <a:rPr lang="en-US" sz="750" b="1" dirty="0">
                <a:solidFill>
                  <a:srgbClr val="E31837"/>
                </a:solidFill>
                <a:latin typeface="Montserrat" pitchFamily="34" charset="0"/>
                <a:ea typeface="Montserrat" pitchFamily="34" charset="-122"/>
                <a:cs typeface="Montserrat" pitchFamily="34" charset="-120"/>
              </a:rPr>
              <a:t>SENTRY</a:t>
            </a:r>
            <a:endParaRPr lang="en-US" sz="750" dirty="0"/>
          </a:p>
        </p:txBody>
      </p:sp>
      <p:sp>
        <p:nvSpPr>
          <p:cNvPr id="58" name="Shape 56"/>
          <p:cNvSpPr/>
          <p:nvPr/>
        </p:nvSpPr>
        <p:spPr>
          <a:xfrm>
            <a:off x="6025896" y="2084832"/>
            <a:ext cx="0" cy="164592"/>
          </a:xfrm>
          <a:prstGeom prst="line">
            <a:avLst/>
          </a:prstGeom>
          <a:noFill/>
          <a:ln w="9525">
            <a:solidFill>
              <a:srgbClr val="E31837"/>
            </a:solidFill>
            <a:prstDash val="solid"/>
            <a:headEnd type="triangle"/>
            <a:tailEnd type="triangle"/>
          </a:ln>
        </p:spPr>
        <p:txBody>
          <a:bodyPr/>
          <a:lstStyle/>
          <a:p>
            <a:endParaRPr/>
          </a:p>
        </p:txBody>
      </p:sp>
      <p:sp>
        <p:nvSpPr>
          <p:cNvPr id="59" name="Shape 57"/>
          <p:cNvSpPr/>
          <p:nvPr/>
        </p:nvSpPr>
        <p:spPr>
          <a:xfrm>
            <a:off x="5312664" y="2249424"/>
            <a:ext cx="1426464" cy="438912"/>
          </a:xfrm>
          <a:prstGeom prst="roundRect">
            <a:avLst>
              <a:gd name="adj" fmla="val 8333"/>
            </a:avLst>
          </a:prstGeom>
          <a:solidFill>
            <a:srgbClr val="FBE3E4"/>
          </a:solidFill>
          <a:ln w="9525">
            <a:solidFill>
              <a:srgbClr val="E31837"/>
            </a:solidFill>
            <a:prstDash val="solid"/>
          </a:ln>
        </p:spPr>
        <p:txBody>
          <a:bodyPr/>
          <a:lstStyle/>
          <a:p>
            <a:endParaRPr/>
          </a:p>
        </p:txBody>
      </p:sp>
      <p:sp>
        <p:nvSpPr>
          <p:cNvPr id="60" name="Text 58"/>
          <p:cNvSpPr/>
          <p:nvPr/>
        </p:nvSpPr>
        <p:spPr>
          <a:xfrm>
            <a:off x="5349240" y="2286000"/>
            <a:ext cx="1353312" cy="201168"/>
          </a:xfrm>
          <a:prstGeom prst="rect">
            <a:avLst/>
          </a:prstGeom>
          <a:noFill/>
          <a:ln/>
        </p:spPr>
        <p:txBody>
          <a:bodyPr wrap="square" lIns="0" tIns="0" rIns="0" bIns="0" rtlCol="0" anchor="ctr"/>
          <a:lstStyle/>
          <a:p>
            <a:pPr marL="0" indent="0" algn="ctr">
              <a:buNone/>
            </a:pPr>
            <a:r>
              <a:rPr lang="en-US" sz="700" dirty="0">
                <a:solidFill>
                  <a:srgbClr val="333333"/>
                </a:solidFill>
                <a:latin typeface="Montserrat" pitchFamily="34" charset="0"/>
                <a:ea typeface="Montserrat" pitchFamily="34" charset="-122"/>
                <a:cs typeface="Montserrat" pitchFamily="34" charset="-120"/>
              </a:rPr>
              <a:t>Demand, Buy &amp; Allocate</a:t>
            </a:r>
            <a:endParaRPr lang="en-US" sz="700" dirty="0"/>
          </a:p>
        </p:txBody>
      </p:sp>
      <p:sp>
        <p:nvSpPr>
          <p:cNvPr id="61" name="Text 59"/>
          <p:cNvSpPr/>
          <p:nvPr/>
        </p:nvSpPr>
        <p:spPr>
          <a:xfrm>
            <a:off x="5349240" y="2487168"/>
            <a:ext cx="1353312" cy="201168"/>
          </a:xfrm>
          <a:prstGeom prst="rect">
            <a:avLst/>
          </a:prstGeom>
          <a:noFill/>
          <a:ln/>
        </p:spPr>
        <p:txBody>
          <a:bodyPr wrap="square" lIns="0" tIns="0" rIns="0" bIns="0" rtlCol="0" anchor="ctr"/>
          <a:lstStyle/>
          <a:p>
            <a:pPr marL="0" indent="0" algn="ctr">
              <a:buNone/>
            </a:pPr>
            <a:r>
              <a:rPr lang="en-US" sz="750" b="1" dirty="0">
                <a:solidFill>
                  <a:srgbClr val="E31837"/>
                </a:solidFill>
                <a:latin typeface="Montserrat" pitchFamily="34" charset="0"/>
                <a:ea typeface="Montserrat" pitchFamily="34" charset="-122"/>
                <a:cs typeface="Montserrat" pitchFamily="34" charset="-120"/>
              </a:rPr>
              <a:t>SCOUT · OTB · SPREAD</a:t>
            </a:r>
            <a:endParaRPr lang="en-US" sz="750" dirty="0"/>
          </a:p>
        </p:txBody>
      </p:sp>
      <p:sp>
        <p:nvSpPr>
          <p:cNvPr id="62" name="Shape 60"/>
          <p:cNvSpPr/>
          <p:nvPr/>
        </p:nvSpPr>
        <p:spPr>
          <a:xfrm>
            <a:off x="7525512" y="2084832"/>
            <a:ext cx="0" cy="164592"/>
          </a:xfrm>
          <a:prstGeom prst="line">
            <a:avLst/>
          </a:prstGeom>
          <a:noFill/>
          <a:ln w="9525">
            <a:solidFill>
              <a:srgbClr val="E31837"/>
            </a:solidFill>
            <a:prstDash val="solid"/>
            <a:headEnd type="triangle"/>
            <a:tailEnd type="triangle"/>
          </a:ln>
        </p:spPr>
        <p:txBody>
          <a:bodyPr/>
          <a:lstStyle/>
          <a:p>
            <a:endParaRPr/>
          </a:p>
        </p:txBody>
      </p:sp>
      <p:sp>
        <p:nvSpPr>
          <p:cNvPr id="63" name="Shape 61"/>
          <p:cNvSpPr/>
          <p:nvPr/>
        </p:nvSpPr>
        <p:spPr>
          <a:xfrm>
            <a:off x="6812280" y="2249424"/>
            <a:ext cx="1426464" cy="438912"/>
          </a:xfrm>
          <a:prstGeom prst="roundRect">
            <a:avLst>
              <a:gd name="adj" fmla="val 8333"/>
            </a:avLst>
          </a:prstGeom>
          <a:solidFill>
            <a:srgbClr val="FBE3E4"/>
          </a:solidFill>
          <a:ln w="9525">
            <a:solidFill>
              <a:srgbClr val="E31837"/>
            </a:solidFill>
            <a:prstDash val="solid"/>
          </a:ln>
        </p:spPr>
        <p:txBody>
          <a:bodyPr/>
          <a:lstStyle/>
          <a:p>
            <a:endParaRPr/>
          </a:p>
        </p:txBody>
      </p:sp>
      <p:sp>
        <p:nvSpPr>
          <p:cNvPr id="64" name="Text 62"/>
          <p:cNvSpPr/>
          <p:nvPr/>
        </p:nvSpPr>
        <p:spPr>
          <a:xfrm>
            <a:off x="6848856" y="2286000"/>
            <a:ext cx="1353312" cy="201168"/>
          </a:xfrm>
          <a:prstGeom prst="rect">
            <a:avLst/>
          </a:prstGeom>
          <a:noFill/>
          <a:ln/>
        </p:spPr>
        <p:txBody>
          <a:bodyPr wrap="square" lIns="0" tIns="0" rIns="0" bIns="0" rtlCol="0" anchor="ctr"/>
          <a:lstStyle/>
          <a:p>
            <a:pPr marL="0" indent="0" algn="ctr">
              <a:buNone/>
            </a:pPr>
            <a:r>
              <a:rPr lang="en-US" sz="700" dirty="0">
                <a:solidFill>
                  <a:srgbClr val="333333"/>
                </a:solidFill>
                <a:latin typeface="Montserrat" pitchFamily="34" charset="0"/>
                <a:ea typeface="Montserrat" pitchFamily="34" charset="-122"/>
                <a:cs typeface="Montserrat" pitchFamily="34" charset="-120"/>
              </a:rPr>
              <a:t>Pricing &amp; Markdown</a:t>
            </a:r>
            <a:endParaRPr lang="en-US" sz="700" dirty="0"/>
          </a:p>
        </p:txBody>
      </p:sp>
      <p:sp>
        <p:nvSpPr>
          <p:cNvPr id="65" name="Text 63"/>
          <p:cNvSpPr/>
          <p:nvPr/>
        </p:nvSpPr>
        <p:spPr>
          <a:xfrm>
            <a:off x="6848856" y="2487168"/>
            <a:ext cx="1353312" cy="201168"/>
          </a:xfrm>
          <a:prstGeom prst="rect">
            <a:avLst/>
          </a:prstGeom>
          <a:noFill/>
          <a:ln/>
        </p:spPr>
        <p:txBody>
          <a:bodyPr wrap="square" lIns="0" tIns="0" rIns="0" bIns="0" rtlCol="0" anchor="ctr"/>
          <a:lstStyle/>
          <a:p>
            <a:pPr marL="0" indent="0" algn="ctr">
              <a:buNone/>
            </a:pPr>
            <a:r>
              <a:rPr lang="en-US" sz="750" b="1" dirty="0">
                <a:solidFill>
                  <a:srgbClr val="E31837"/>
                </a:solidFill>
                <a:latin typeface="Montserrat" pitchFamily="34" charset="0"/>
                <a:ea typeface="Montserrat" pitchFamily="34" charset="-122"/>
                <a:cs typeface="Montserrat" pitchFamily="34" charset="-120"/>
              </a:rPr>
              <a:t>PACE · CLEAR</a:t>
            </a:r>
            <a:endParaRPr lang="en-US" sz="750" dirty="0"/>
          </a:p>
        </p:txBody>
      </p:sp>
      <p:sp>
        <p:nvSpPr>
          <p:cNvPr id="66" name="Shape 64"/>
          <p:cNvSpPr/>
          <p:nvPr/>
        </p:nvSpPr>
        <p:spPr>
          <a:xfrm>
            <a:off x="9025128" y="2084832"/>
            <a:ext cx="0" cy="164592"/>
          </a:xfrm>
          <a:prstGeom prst="line">
            <a:avLst/>
          </a:prstGeom>
          <a:noFill/>
          <a:ln w="9525">
            <a:solidFill>
              <a:srgbClr val="E31837"/>
            </a:solidFill>
            <a:prstDash val="solid"/>
            <a:headEnd type="triangle"/>
            <a:tailEnd type="triangle"/>
          </a:ln>
        </p:spPr>
        <p:txBody>
          <a:bodyPr/>
          <a:lstStyle/>
          <a:p>
            <a:endParaRPr/>
          </a:p>
        </p:txBody>
      </p:sp>
      <p:sp>
        <p:nvSpPr>
          <p:cNvPr id="67" name="Shape 65"/>
          <p:cNvSpPr/>
          <p:nvPr/>
        </p:nvSpPr>
        <p:spPr>
          <a:xfrm>
            <a:off x="8311896" y="2249424"/>
            <a:ext cx="1426464" cy="438912"/>
          </a:xfrm>
          <a:prstGeom prst="roundRect">
            <a:avLst>
              <a:gd name="adj" fmla="val 8333"/>
            </a:avLst>
          </a:prstGeom>
          <a:solidFill>
            <a:srgbClr val="FBE3E4"/>
          </a:solidFill>
          <a:ln w="9525">
            <a:solidFill>
              <a:srgbClr val="E31837"/>
            </a:solidFill>
            <a:prstDash val="solid"/>
          </a:ln>
        </p:spPr>
        <p:txBody>
          <a:bodyPr/>
          <a:lstStyle/>
          <a:p>
            <a:endParaRPr/>
          </a:p>
        </p:txBody>
      </p:sp>
      <p:sp>
        <p:nvSpPr>
          <p:cNvPr id="68" name="Text 66"/>
          <p:cNvSpPr/>
          <p:nvPr/>
        </p:nvSpPr>
        <p:spPr>
          <a:xfrm>
            <a:off x="8348472" y="2286000"/>
            <a:ext cx="1353312" cy="201168"/>
          </a:xfrm>
          <a:prstGeom prst="rect">
            <a:avLst/>
          </a:prstGeom>
          <a:noFill/>
          <a:ln/>
        </p:spPr>
        <p:txBody>
          <a:bodyPr wrap="square" lIns="0" tIns="0" rIns="0" bIns="0" rtlCol="0" anchor="ctr"/>
          <a:lstStyle/>
          <a:p>
            <a:pPr marL="0" indent="0" algn="ctr">
              <a:buNone/>
            </a:pPr>
            <a:r>
              <a:rPr lang="en-US" sz="700" dirty="0">
                <a:solidFill>
                  <a:srgbClr val="333333"/>
                </a:solidFill>
                <a:latin typeface="Montserrat" pitchFamily="34" charset="0"/>
                <a:ea typeface="Montserrat" pitchFamily="34" charset="-122"/>
                <a:cs typeface="Montserrat" pitchFamily="34" charset="-120"/>
              </a:rPr>
              <a:t>Fulfil &amp; Collect</a:t>
            </a:r>
            <a:endParaRPr lang="en-US" sz="700" dirty="0"/>
          </a:p>
        </p:txBody>
      </p:sp>
      <p:sp>
        <p:nvSpPr>
          <p:cNvPr id="69" name="Text 67"/>
          <p:cNvSpPr/>
          <p:nvPr/>
        </p:nvSpPr>
        <p:spPr>
          <a:xfrm>
            <a:off x="8348472" y="2487168"/>
            <a:ext cx="1353312" cy="201168"/>
          </a:xfrm>
          <a:prstGeom prst="rect">
            <a:avLst/>
          </a:prstGeom>
          <a:noFill/>
          <a:ln/>
        </p:spPr>
        <p:txBody>
          <a:bodyPr wrap="square" lIns="0" tIns="0" rIns="0" bIns="0" rtlCol="0" anchor="ctr"/>
          <a:lstStyle/>
          <a:p>
            <a:pPr marL="0" indent="0" algn="ctr">
              <a:buNone/>
            </a:pPr>
            <a:r>
              <a:rPr lang="en-US" sz="750" b="1" dirty="0">
                <a:solidFill>
                  <a:srgbClr val="E31837"/>
                </a:solidFill>
                <a:latin typeface="Montserrat" pitchFamily="34" charset="0"/>
                <a:ea typeface="Montserrat" pitchFamily="34" charset="-122"/>
                <a:cs typeface="Montserrat" pitchFamily="34" charset="-120"/>
              </a:rPr>
              <a:t>ROUTE · HANDOFF</a:t>
            </a:r>
            <a:endParaRPr lang="en-US" sz="750" dirty="0"/>
          </a:p>
        </p:txBody>
      </p:sp>
      <p:sp>
        <p:nvSpPr>
          <p:cNvPr id="70" name="Shape 68"/>
          <p:cNvSpPr/>
          <p:nvPr/>
        </p:nvSpPr>
        <p:spPr>
          <a:xfrm>
            <a:off x="10524744" y="2084832"/>
            <a:ext cx="0" cy="164592"/>
          </a:xfrm>
          <a:prstGeom prst="line">
            <a:avLst/>
          </a:prstGeom>
          <a:noFill/>
          <a:ln w="9525">
            <a:solidFill>
              <a:srgbClr val="E31837"/>
            </a:solidFill>
            <a:prstDash val="solid"/>
            <a:headEnd type="triangle"/>
            <a:tailEnd type="triangle"/>
          </a:ln>
        </p:spPr>
        <p:txBody>
          <a:bodyPr/>
          <a:lstStyle/>
          <a:p>
            <a:endParaRPr/>
          </a:p>
        </p:txBody>
      </p:sp>
      <p:sp>
        <p:nvSpPr>
          <p:cNvPr id="71" name="Shape 69"/>
          <p:cNvSpPr/>
          <p:nvPr/>
        </p:nvSpPr>
        <p:spPr>
          <a:xfrm>
            <a:off x="9811512" y="2249424"/>
            <a:ext cx="1426464" cy="438912"/>
          </a:xfrm>
          <a:prstGeom prst="roundRect">
            <a:avLst>
              <a:gd name="adj" fmla="val 8333"/>
            </a:avLst>
          </a:prstGeom>
          <a:solidFill>
            <a:srgbClr val="FBE3E4"/>
          </a:solidFill>
          <a:ln w="9525">
            <a:solidFill>
              <a:srgbClr val="E31837"/>
            </a:solidFill>
            <a:prstDash val="solid"/>
          </a:ln>
        </p:spPr>
        <p:txBody>
          <a:bodyPr/>
          <a:lstStyle/>
          <a:p>
            <a:endParaRPr/>
          </a:p>
        </p:txBody>
      </p:sp>
      <p:sp>
        <p:nvSpPr>
          <p:cNvPr id="72" name="Text 70"/>
          <p:cNvSpPr/>
          <p:nvPr/>
        </p:nvSpPr>
        <p:spPr>
          <a:xfrm>
            <a:off x="9848088" y="2286000"/>
            <a:ext cx="1353312" cy="201168"/>
          </a:xfrm>
          <a:prstGeom prst="rect">
            <a:avLst/>
          </a:prstGeom>
          <a:noFill/>
          <a:ln/>
        </p:spPr>
        <p:txBody>
          <a:bodyPr wrap="square" lIns="0" tIns="0" rIns="0" bIns="0" rtlCol="0" anchor="ctr"/>
          <a:lstStyle/>
          <a:p>
            <a:pPr marL="0" indent="0" algn="ctr">
              <a:buNone/>
            </a:pPr>
            <a:r>
              <a:rPr lang="en-US" sz="700" dirty="0">
                <a:solidFill>
                  <a:srgbClr val="333333"/>
                </a:solidFill>
                <a:latin typeface="Montserrat" pitchFamily="34" charset="0"/>
                <a:ea typeface="Montserrat" pitchFamily="34" charset="-122"/>
                <a:cs typeface="Montserrat" pitchFamily="34" charset="-120"/>
              </a:rPr>
              <a:t>Returns, Service &amp; Recovery</a:t>
            </a:r>
            <a:endParaRPr lang="en-US" sz="700" dirty="0"/>
          </a:p>
        </p:txBody>
      </p:sp>
      <p:sp>
        <p:nvSpPr>
          <p:cNvPr id="73" name="Text 71"/>
          <p:cNvSpPr/>
          <p:nvPr/>
        </p:nvSpPr>
        <p:spPr>
          <a:xfrm>
            <a:off x="9848088" y="2487168"/>
            <a:ext cx="1353312" cy="201168"/>
          </a:xfrm>
          <a:prstGeom prst="rect">
            <a:avLst/>
          </a:prstGeom>
          <a:noFill/>
          <a:ln/>
        </p:spPr>
        <p:txBody>
          <a:bodyPr wrap="square" lIns="0" tIns="0" rIns="0" bIns="0" rtlCol="0" anchor="ctr"/>
          <a:lstStyle/>
          <a:p>
            <a:pPr marL="0" indent="0" algn="ctr">
              <a:buNone/>
            </a:pPr>
            <a:r>
              <a:rPr sz="750" b="1">
                <a:solidFill>
                  <a:srgbClr val="333333"/>
                </a:solidFill>
                <a:latin typeface="Montserrat"/>
              </a:rPr>
              <a:t>GRADE · CARE · RECLAIM</a:t>
            </a:r>
            <a:endParaRPr lang="en-US" sz="750" dirty="0"/>
          </a:p>
          <a:p>
            <a:pPr algn="ctr"/>
            <a:r>
              <a:rPr sz="750" b="1">
                <a:solidFill>
                  <a:srgbClr val="E31837"/>
                </a:solidFill>
                <a:latin typeface="Montserrat"/>
              </a:rPr>
              <a:t>CONCIERGE · TALLY</a:t>
            </a:r>
          </a:p>
        </p:txBody>
      </p:sp>
      <p:sp>
        <p:nvSpPr>
          <p:cNvPr id="74" name="Text 72"/>
          <p:cNvSpPr/>
          <p:nvPr/>
        </p:nvSpPr>
        <p:spPr>
          <a:xfrm>
            <a:off x="813816" y="2692908"/>
            <a:ext cx="10424160" cy="146304"/>
          </a:xfrm>
          <a:prstGeom prst="rect">
            <a:avLst/>
          </a:prstGeom>
          <a:noFill/>
          <a:ln/>
        </p:spPr>
        <p:txBody>
          <a:bodyPr wrap="square" lIns="0" tIns="0" rIns="0" bIns="0" rtlCol="0" anchor="ctr"/>
          <a:lstStyle/>
          <a:p>
            <a:pPr marL="0" indent="0" algn="ctr">
              <a:buNone/>
            </a:pPr>
            <a:r>
              <a:rPr lang="en-US" sz="600" i="1" dirty="0">
                <a:solidFill>
                  <a:srgbClr val="5F5E5A"/>
                </a:solidFill>
                <a:latin typeface="Lora" pitchFamily="34" charset="0"/>
                <a:ea typeface="Lora" pitchFamily="34" charset="-122"/>
                <a:cs typeface="Lora" pitchFamily="34" charset="-120"/>
              </a:rPr>
              <a:t>two-way: dispatch ↓  ·  results ↑   |   latency-critical single-domain calls may go direct (A2A)</a:t>
            </a:r>
            <a:endParaRPr lang="en-US" sz="600" dirty="0"/>
          </a:p>
        </p:txBody>
      </p:sp>
      <p:sp>
        <p:nvSpPr>
          <p:cNvPr id="75" name="Shape 73"/>
          <p:cNvSpPr/>
          <p:nvPr/>
        </p:nvSpPr>
        <p:spPr>
          <a:xfrm>
            <a:off x="813816" y="2907792"/>
            <a:ext cx="10890504" cy="274320"/>
          </a:xfrm>
          <a:prstGeom prst="roundRect">
            <a:avLst>
              <a:gd name="adj" fmla="val 16667"/>
            </a:avLst>
          </a:prstGeom>
          <a:solidFill>
            <a:srgbClr val="E31837"/>
          </a:solidFill>
          <a:ln/>
        </p:spPr>
        <p:txBody>
          <a:bodyPr/>
          <a:lstStyle/>
          <a:p>
            <a:endParaRPr lang="en-US"/>
          </a:p>
        </p:txBody>
      </p:sp>
      <p:sp>
        <p:nvSpPr>
          <p:cNvPr id="76" name="Text 74"/>
          <p:cNvSpPr/>
          <p:nvPr/>
        </p:nvSpPr>
        <p:spPr>
          <a:xfrm>
            <a:off x="813816" y="2907792"/>
            <a:ext cx="10890504" cy="274320"/>
          </a:xfrm>
          <a:prstGeom prst="rect">
            <a:avLst/>
          </a:prstGeom>
          <a:noFill/>
          <a:ln/>
        </p:spPr>
        <p:txBody>
          <a:bodyPr wrap="square" lIns="0" tIns="0" rIns="0" bIns="0" rtlCol="0" anchor="ctr"/>
          <a:lstStyle/>
          <a:p>
            <a:pPr marL="0" indent="0" algn="ctr">
              <a:buNone/>
            </a:pPr>
            <a:r>
              <a:rPr lang="en-US" sz="900" b="1" dirty="0">
                <a:solidFill>
                  <a:srgbClr val="FDFDFD"/>
                </a:solidFill>
                <a:latin typeface="Montserrat" pitchFamily="34" charset="0"/>
                <a:ea typeface="Montserrat" pitchFamily="34" charset="-122"/>
                <a:cs typeface="Montserrat" pitchFamily="34" charset="-120"/>
              </a:rPr>
              <a:t>AI &amp; Agent Platform   </a:t>
            </a:r>
            <a:r>
              <a:rPr lang="en-US" sz="800" i="1" dirty="0">
                <a:solidFill>
                  <a:srgbClr val="FBD5D7"/>
                </a:solidFill>
                <a:latin typeface="Montserrat" pitchFamily="34" charset="0"/>
                <a:ea typeface="Montserrat" pitchFamily="34" charset="-122"/>
                <a:cs typeface="Montserrat" pitchFamily="34" charset="-120"/>
              </a:rPr>
              <a:t>model serving · agent runtime (MCP / A2A) · feature serving &amp; retrieval · MLOps &amp; evals · guardrails &amp; governance</a:t>
            </a:r>
            <a:endParaRPr lang="en-US" sz="900" dirty="0"/>
          </a:p>
        </p:txBody>
      </p:sp>
      <p:sp>
        <p:nvSpPr>
          <p:cNvPr id="77" name="Shape 75"/>
          <p:cNvSpPr/>
          <p:nvPr/>
        </p:nvSpPr>
        <p:spPr>
          <a:xfrm>
            <a:off x="676656" y="3145536"/>
            <a:ext cx="11164824" cy="731520"/>
          </a:xfrm>
          <a:prstGeom prst="roundRect">
            <a:avLst>
              <a:gd name="adj" fmla="val 6250"/>
            </a:avLst>
          </a:prstGeom>
          <a:solidFill>
            <a:srgbClr val="F5F4F1"/>
          </a:solidFill>
          <a:ln w="6350">
            <a:solidFill>
              <a:srgbClr val="E5E3DC"/>
            </a:solidFill>
            <a:prstDash val="solid"/>
          </a:ln>
        </p:spPr>
        <p:txBody>
          <a:bodyPr/>
          <a:lstStyle/>
          <a:p>
            <a:endParaRPr lang="en-US"/>
          </a:p>
        </p:txBody>
      </p:sp>
      <p:sp>
        <p:nvSpPr>
          <p:cNvPr id="78" name="Shape 76"/>
          <p:cNvSpPr/>
          <p:nvPr/>
        </p:nvSpPr>
        <p:spPr>
          <a:xfrm>
            <a:off x="4160520" y="3236976"/>
            <a:ext cx="0" cy="603504"/>
          </a:xfrm>
          <a:prstGeom prst="line">
            <a:avLst/>
          </a:prstGeom>
          <a:noFill/>
          <a:ln w="9525">
            <a:solidFill>
              <a:srgbClr val="E5E3DC"/>
            </a:solidFill>
            <a:prstDash val="solid"/>
          </a:ln>
        </p:spPr>
        <p:txBody>
          <a:bodyPr/>
          <a:lstStyle/>
          <a:p>
            <a:endParaRPr lang="en-US"/>
          </a:p>
        </p:txBody>
      </p:sp>
      <p:sp>
        <p:nvSpPr>
          <p:cNvPr id="79" name="Text 77"/>
          <p:cNvSpPr/>
          <p:nvPr/>
        </p:nvSpPr>
        <p:spPr>
          <a:xfrm>
            <a:off x="676656" y="3172968"/>
            <a:ext cx="3483864" cy="182880"/>
          </a:xfrm>
          <a:prstGeom prst="rect">
            <a:avLst/>
          </a:prstGeom>
          <a:noFill/>
          <a:ln/>
        </p:spPr>
        <p:txBody>
          <a:bodyPr wrap="square" lIns="0" tIns="0" rIns="0" bIns="0" rtlCol="0" anchor="ctr"/>
          <a:lstStyle/>
          <a:p>
            <a:pPr marL="0" indent="0" algn="ctr">
              <a:buNone/>
            </a:pPr>
            <a:r>
              <a:rPr lang="en-US" sz="1000" b="1" dirty="0">
                <a:solidFill>
                  <a:srgbClr val="333333"/>
                </a:solidFill>
                <a:latin typeface="Montserrat" pitchFamily="34" charset="0"/>
                <a:ea typeface="Montserrat" pitchFamily="34" charset="-122"/>
                <a:cs typeface="Montserrat" pitchFamily="34" charset="-120"/>
              </a:rPr>
              <a:t>Integration</a:t>
            </a:r>
            <a:endParaRPr lang="en-US" sz="1000" dirty="0"/>
          </a:p>
        </p:txBody>
      </p:sp>
      <p:sp>
        <p:nvSpPr>
          <p:cNvPr id="80" name="Shape 78"/>
          <p:cNvSpPr/>
          <p:nvPr/>
        </p:nvSpPr>
        <p:spPr>
          <a:xfrm>
            <a:off x="813816" y="3383280"/>
            <a:ext cx="1030224" cy="365760"/>
          </a:xfrm>
          <a:prstGeom prst="roundRect">
            <a:avLst>
              <a:gd name="adj" fmla="val 10000"/>
            </a:avLst>
          </a:prstGeom>
          <a:solidFill>
            <a:srgbClr val="A0A5AB"/>
          </a:solidFill>
          <a:ln/>
        </p:spPr>
        <p:txBody>
          <a:bodyPr/>
          <a:lstStyle/>
          <a:p>
            <a:endParaRPr lang="en-US"/>
          </a:p>
        </p:txBody>
      </p:sp>
      <p:sp>
        <p:nvSpPr>
          <p:cNvPr id="81" name="Text 79"/>
          <p:cNvSpPr/>
          <p:nvPr/>
        </p:nvSpPr>
        <p:spPr>
          <a:xfrm>
            <a:off x="850392" y="3383280"/>
            <a:ext cx="957072" cy="365760"/>
          </a:xfrm>
          <a:prstGeom prst="rect">
            <a:avLst/>
          </a:prstGeom>
          <a:noFill/>
          <a:ln/>
        </p:spPr>
        <p:txBody>
          <a:bodyPr wrap="square" lIns="0" tIns="0" rIns="0" bIns="0" rtlCol="0" anchor="ctr"/>
          <a:lstStyle/>
          <a:p>
            <a:pPr marL="0" indent="0" algn="ctr">
              <a:buNone/>
            </a:pPr>
            <a:r>
              <a:rPr lang="en-US" sz="750" b="1" dirty="0">
                <a:solidFill>
                  <a:srgbClr val="333333"/>
                </a:solidFill>
                <a:latin typeface="Montserrat" pitchFamily="34" charset="0"/>
                <a:ea typeface="Montserrat" pitchFamily="34" charset="-122"/>
                <a:cs typeface="Montserrat" pitchFamily="34" charset="-120"/>
              </a:rPr>
              <a:t>API Gateway</a:t>
            </a:r>
            <a:endParaRPr lang="en-US" sz="750" dirty="0"/>
          </a:p>
        </p:txBody>
      </p:sp>
      <p:sp>
        <p:nvSpPr>
          <p:cNvPr id="82" name="Shape 80"/>
          <p:cNvSpPr/>
          <p:nvPr/>
        </p:nvSpPr>
        <p:spPr>
          <a:xfrm>
            <a:off x="1917192" y="3383280"/>
            <a:ext cx="1030224" cy="365760"/>
          </a:xfrm>
          <a:prstGeom prst="roundRect">
            <a:avLst>
              <a:gd name="adj" fmla="val 10000"/>
            </a:avLst>
          </a:prstGeom>
          <a:solidFill>
            <a:srgbClr val="A0A5AB"/>
          </a:solidFill>
          <a:ln/>
        </p:spPr>
        <p:txBody>
          <a:bodyPr/>
          <a:lstStyle/>
          <a:p>
            <a:endParaRPr lang="en-US"/>
          </a:p>
        </p:txBody>
      </p:sp>
      <p:sp>
        <p:nvSpPr>
          <p:cNvPr id="83" name="Text 81"/>
          <p:cNvSpPr/>
          <p:nvPr/>
        </p:nvSpPr>
        <p:spPr>
          <a:xfrm>
            <a:off x="1953768" y="3383280"/>
            <a:ext cx="957072" cy="365760"/>
          </a:xfrm>
          <a:prstGeom prst="rect">
            <a:avLst/>
          </a:prstGeom>
          <a:noFill/>
          <a:ln/>
        </p:spPr>
        <p:txBody>
          <a:bodyPr wrap="square" lIns="0" tIns="0" rIns="0" bIns="0" rtlCol="0" anchor="ctr"/>
          <a:lstStyle/>
          <a:p>
            <a:pPr marL="0" indent="0" algn="ctr">
              <a:buNone/>
            </a:pPr>
            <a:r>
              <a:rPr lang="en-US" sz="750" b="1" dirty="0">
                <a:solidFill>
                  <a:srgbClr val="333333"/>
                </a:solidFill>
                <a:latin typeface="Montserrat" pitchFamily="34" charset="0"/>
                <a:ea typeface="Montserrat" pitchFamily="34" charset="-122"/>
                <a:cs typeface="Montserrat" pitchFamily="34" charset="-120"/>
              </a:rPr>
              <a:t>Event Streaming</a:t>
            </a:r>
            <a:endParaRPr lang="en-US" sz="750" dirty="0"/>
          </a:p>
        </p:txBody>
      </p:sp>
      <p:sp>
        <p:nvSpPr>
          <p:cNvPr id="84" name="Shape 82"/>
          <p:cNvSpPr/>
          <p:nvPr/>
        </p:nvSpPr>
        <p:spPr>
          <a:xfrm>
            <a:off x="3020568" y="3383280"/>
            <a:ext cx="1030224" cy="365760"/>
          </a:xfrm>
          <a:prstGeom prst="roundRect">
            <a:avLst>
              <a:gd name="adj" fmla="val 10000"/>
            </a:avLst>
          </a:prstGeom>
          <a:solidFill>
            <a:srgbClr val="A0A5AB"/>
          </a:solidFill>
          <a:ln/>
        </p:spPr>
        <p:txBody>
          <a:bodyPr/>
          <a:lstStyle/>
          <a:p>
            <a:endParaRPr lang="en-US"/>
          </a:p>
        </p:txBody>
      </p:sp>
      <p:sp>
        <p:nvSpPr>
          <p:cNvPr id="85" name="Text 83"/>
          <p:cNvSpPr/>
          <p:nvPr/>
        </p:nvSpPr>
        <p:spPr>
          <a:xfrm>
            <a:off x="3057144" y="3383280"/>
            <a:ext cx="957072" cy="365760"/>
          </a:xfrm>
          <a:prstGeom prst="rect">
            <a:avLst/>
          </a:prstGeom>
          <a:noFill/>
          <a:ln/>
        </p:spPr>
        <p:txBody>
          <a:bodyPr wrap="square" lIns="0" tIns="0" rIns="0" bIns="0" rtlCol="0" anchor="ctr"/>
          <a:lstStyle/>
          <a:p>
            <a:pPr marL="0" indent="0" algn="ctr">
              <a:buNone/>
            </a:pPr>
            <a:r>
              <a:rPr lang="en-US" sz="750" b="1" dirty="0">
                <a:solidFill>
                  <a:srgbClr val="333333"/>
                </a:solidFill>
                <a:latin typeface="Montserrat" pitchFamily="34" charset="0"/>
                <a:ea typeface="Montserrat" pitchFamily="34" charset="-122"/>
                <a:cs typeface="Montserrat" pitchFamily="34" charset="-120"/>
              </a:rPr>
              <a:t>iPaaS / Middleware</a:t>
            </a:r>
            <a:endParaRPr lang="en-US" sz="750" dirty="0"/>
          </a:p>
        </p:txBody>
      </p:sp>
      <p:sp>
        <p:nvSpPr>
          <p:cNvPr id="86" name="Text 84"/>
          <p:cNvSpPr/>
          <p:nvPr/>
        </p:nvSpPr>
        <p:spPr>
          <a:xfrm>
            <a:off x="4160520" y="3172968"/>
            <a:ext cx="7680960" cy="182880"/>
          </a:xfrm>
          <a:prstGeom prst="rect">
            <a:avLst/>
          </a:prstGeom>
          <a:noFill/>
          <a:ln/>
        </p:spPr>
        <p:txBody>
          <a:bodyPr wrap="square" lIns="0" tIns="0" rIns="0" bIns="0" rtlCol="0" anchor="ctr"/>
          <a:lstStyle/>
          <a:p>
            <a:pPr marL="0" indent="0" algn="ctr">
              <a:buNone/>
            </a:pPr>
            <a:r>
              <a:rPr lang="en-US" sz="1000" b="1" dirty="0">
                <a:solidFill>
                  <a:srgbClr val="333333"/>
                </a:solidFill>
                <a:latin typeface="Montserrat" pitchFamily="34" charset="0"/>
                <a:ea typeface="Montserrat" pitchFamily="34" charset="-122"/>
                <a:cs typeface="Montserrat" pitchFamily="34" charset="-120"/>
              </a:rPr>
              <a:t>Data &amp; Analytics</a:t>
            </a:r>
            <a:endParaRPr lang="en-US" sz="1000" dirty="0"/>
          </a:p>
        </p:txBody>
      </p:sp>
      <p:sp>
        <p:nvSpPr>
          <p:cNvPr id="87" name="Shape 85"/>
          <p:cNvSpPr/>
          <p:nvPr/>
        </p:nvSpPr>
        <p:spPr>
          <a:xfrm>
            <a:off x="4270248" y="3383280"/>
            <a:ext cx="999309" cy="365760"/>
          </a:xfrm>
          <a:prstGeom prst="roundRect">
            <a:avLst>
              <a:gd name="adj" fmla="val 10000"/>
            </a:avLst>
          </a:prstGeom>
          <a:solidFill>
            <a:srgbClr val="333333"/>
          </a:solidFill>
          <a:ln/>
        </p:spPr>
        <p:txBody>
          <a:bodyPr/>
          <a:lstStyle/>
          <a:p>
            <a:endParaRPr lang="en-US"/>
          </a:p>
        </p:txBody>
      </p:sp>
      <p:sp>
        <p:nvSpPr>
          <p:cNvPr id="88" name="Shape 86"/>
          <p:cNvSpPr/>
          <p:nvPr/>
        </p:nvSpPr>
        <p:spPr>
          <a:xfrm>
            <a:off x="4325112" y="3419856"/>
            <a:ext cx="889581" cy="32004"/>
          </a:xfrm>
          <a:prstGeom prst="rect">
            <a:avLst/>
          </a:prstGeom>
          <a:solidFill>
            <a:srgbClr val="FF4D4D"/>
          </a:solidFill>
          <a:ln/>
        </p:spPr>
        <p:txBody>
          <a:bodyPr/>
          <a:lstStyle/>
          <a:p>
            <a:endParaRPr lang="en-US"/>
          </a:p>
        </p:txBody>
      </p:sp>
      <p:sp>
        <p:nvSpPr>
          <p:cNvPr id="89" name="Text 87"/>
          <p:cNvSpPr/>
          <p:nvPr/>
        </p:nvSpPr>
        <p:spPr>
          <a:xfrm>
            <a:off x="4306824" y="3383280"/>
            <a:ext cx="926157" cy="36576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Real-time CDP</a:t>
            </a:r>
            <a:endParaRPr lang="en-US" sz="700" dirty="0"/>
          </a:p>
        </p:txBody>
      </p:sp>
      <p:sp>
        <p:nvSpPr>
          <p:cNvPr id="90" name="Shape 88"/>
          <p:cNvSpPr/>
          <p:nvPr/>
        </p:nvSpPr>
        <p:spPr>
          <a:xfrm>
            <a:off x="5342709" y="3383280"/>
            <a:ext cx="999309" cy="365760"/>
          </a:xfrm>
          <a:prstGeom prst="roundRect">
            <a:avLst>
              <a:gd name="adj" fmla="val 10000"/>
            </a:avLst>
          </a:prstGeom>
          <a:solidFill>
            <a:srgbClr val="333333"/>
          </a:solidFill>
          <a:ln/>
        </p:spPr>
        <p:txBody>
          <a:bodyPr/>
          <a:lstStyle/>
          <a:p>
            <a:endParaRPr lang="en-US"/>
          </a:p>
        </p:txBody>
      </p:sp>
      <p:sp>
        <p:nvSpPr>
          <p:cNvPr id="91" name="Text 89"/>
          <p:cNvSpPr/>
          <p:nvPr/>
        </p:nvSpPr>
        <p:spPr>
          <a:xfrm>
            <a:off x="5379285" y="3383280"/>
            <a:ext cx="926157" cy="36576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Data Lakehouse</a:t>
            </a:r>
            <a:endParaRPr lang="en-US" sz="700" dirty="0"/>
          </a:p>
        </p:txBody>
      </p:sp>
      <p:sp>
        <p:nvSpPr>
          <p:cNvPr id="92" name="Shape 90"/>
          <p:cNvSpPr/>
          <p:nvPr/>
        </p:nvSpPr>
        <p:spPr>
          <a:xfrm>
            <a:off x="6415169" y="3383280"/>
            <a:ext cx="999309" cy="365760"/>
          </a:xfrm>
          <a:prstGeom prst="roundRect">
            <a:avLst>
              <a:gd name="adj" fmla="val 10000"/>
            </a:avLst>
          </a:prstGeom>
          <a:solidFill>
            <a:srgbClr val="333333"/>
          </a:solidFill>
          <a:ln/>
        </p:spPr>
        <p:txBody>
          <a:bodyPr/>
          <a:lstStyle/>
          <a:p>
            <a:endParaRPr lang="en-US"/>
          </a:p>
        </p:txBody>
      </p:sp>
      <p:sp>
        <p:nvSpPr>
          <p:cNvPr id="93" name="Shape 91"/>
          <p:cNvSpPr/>
          <p:nvPr/>
        </p:nvSpPr>
        <p:spPr>
          <a:xfrm>
            <a:off x="6470033" y="3419856"/>
            <a:ext cx="889581" cy="32004"/>
          </a:xfrm>
          <a:prstGeom prst="rect">
            <a:avLst/>
          </a:prstGeom>
          <a:solidFill>
            <a:srgbClr val="FF4D4D"/>
          </a:solidFill>
          <a:ln/>
        </p:spPr>
        <p:txBody>
          <a:bodyPr/>
          <a:lstStyle/>
          <a:p>
            <a:endParaRPr lang="en-US"/>
          </a:p>
        </p:txBody>
      </p:sp>
      <p:sp>
        <p:nvSpPr>
          <p:cNvPr id="94" name="Text 92"/>
          <p:cNvSpPr/>
          <p:nvPr/>
        </p:nvSpPr>
        <p:spPr>
          <a:xfrm>
            <a:off x="6451745" y="3383280"/>
            <a:ext cx="926157" cy="36576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Vector DB</a:t>
            </a:r>
            <a:endParaRPr lang="en-US" sz="700" dirty="0"/>
          </a:p>
        </p:txBody>
      </p:sp>
      <p:sp>
        <p:nvSpPr>
          <p:cNvPr id="95" name="Shape 93"/>
          <p:cNvSpPr/>
          <p:nvPr/>
        </p:nvSpPr>
        <p:spPr>
          <a:xfrm>
            <a:off x="7487630" y="3383280"/>
            <a:ext cx="999309" cy="365760"/>
          </a:xfrm>
          <a:prstGeom prst="roundRect">
            <a:avLst>
              <a:gd name="adj" fmla="val 10000"/>
            </a:avLst>
          </a:prstGeom>
          <a:solidFill>
            <a:srgbClr val="333333"/>
          </a:solidFill>
          <a:ln/>
        </p:spPr>
        <p:txBody>
          <a:bodyPr/>
          <a:lstStyle/>
          <a:p>
            <a:endParaRPr lang="en-US"/>
          </a:p>
        </p:txBody>
      </p:sp>
      <p:sp>
        <p:nvSpPr>
          <p:cNvPr id="96" name="Text 94"/>
          <p:cNvSpPr/>
          <p:nvPr/>
        </p:nvSpPr>
        <p:spPr>
          <a:xfrm>
            <a:off x="7524206" y="3383280"/>
            <a:ext cx="926157" cy="36576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Data Warehouse</a:t>
            </a:r>
            <a:endParaRPr lang="en-US" sz="700" dirty="0"/>
          </a:p>
        </p:txBody>
      </p:sp>
      <p:sp>
        <p:nvSpPr>
          <p:cNvPr id="97" name="Shape 95"/>
          <p:cNvSpPr/>
          <p:nvPr/>
        </p:nvSpPr>
        <p:spPr>
          <a:xfrm>
            <a:off x="8560090" y="3383280"/>
            <a:ext cx="999309" cy="365760"/>
          </a:xfrm>
          <a:prstGeom prst="roundRect">
            <a:avLst>
              <a:gd name="adj" fmla="val 10000"/>
            </a:avLst>
          </a:prstGeom>
          <a:solidFill>
            <a:srgbClr val="333333"/>
          </a:solidFill>
          <a:ln/>
        </p:spPr>
        <p:txBody>
          <a:bodyPr/>
          <a:lstStyle/>
          <a:p>
            <a:endParaRPr lang="en-US"/>
          </a:p>
        </p:txBody>
      </p:sp>
      <p:sp>
        <p:nvSpPr>
          <p:cNvPr id="98" name="Text 96"/>
          <p:cNvSpPr/>
          <p:nvPr/>
        </p:nvSpPr>
        <p:spPr>
          <a:xfrm>
            <a:off x="8596666" y="3383280"/>
            <a:ext cx="926157" cy="36576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Analytics Workbench</a:t>
            </a:r>
            <a:endParaRPr lang="en-US" sz="700" dirty="0"/>
          </a:p>
        </p:txBody>
      </p:sp>
      <p:sp>
        <p:nvSpPr>
          <p:cNvPr id="99" name="Shape 97"/>
          <p:cNvSpPr/>
          <p:nvPr/>
        </p:nvSpPr>
        <p:spPr>
          <a:xfrm>
            <a:off x="9632551" y="3383280"/>
            <a:ext cx="999309" cy="365760"/>
          </a:xfrm>
          <a:prstGeom prst="roundRect">
            <a:avLst>
              <a:gd name="adj" fmla="val 10000"/>
            </a:avLst>
          </a:prstGeom>
          <a:solidFill>
            <a:srgbClr val="333333"/>
          </a:solidFill>
          <a:ln/>
        </p:spPr>
        <p:txBody>
          <a:bodyPr/>
          <a:lstStyle/>
          <a:p>
            <a:endParaRPr lang="en-US"/>
          </a:p>
        </p:txBody>
      </p:sp>
      <p:sp>
        <p:nvSpPr>
          <p:cNvPr id="100" name="Text 98"/>
          <p:cNvSpPr/>
          <p:nvPr/>
        </p:nvSpPr>
        <p:spPr>
          <a:xfrm>
            <a:off x="9669127" y="3383280"/>
            <a:ext cx="926157" cy="36576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AI / ML Models</a:t>
            </a:r>
            <a:endParaRPr lang="en-US" sz="700" dirty="0"/>
          </a:p>
        </p:txBody>
      </p:sp>
      <p:sp>
        <p:nvSpPr>
          <p:cNvPr id="101" name="Shape 99"/>
          <p:cNvSpPr/>
          <p:nvPr/>
        </p:nvSpPr>
        <p:spPr>
          <a:xfrm>
            <a:off x="10705011" y="3383280"/>
            <a:ext cx="999309" cy="365760"/>
          </a:xfrm>
          <a:prstGeom prst="roundRect">
            <a:avLst>
              <a:gd name="adj" fmla="val 10000"/>
            </a:avLst>
          </a:prstGeom>
          <a:solidFill>
            <a:srgbClr val="333333"/>
          </a:solidFill>
          <a:ln/>
        </p:spPr>
        <p:txBody>
          <a:bodyPr/>
          <a:lstStyle/>
          <a:p>
            <a:endParaRPr lang="en-US"/>
          </a:p>
        </p:txBody>
      </p:sp>
      <p:sp>
        <p:nvSpPr>
          <p:cNvPr id="102" name="Text 100"/>
          <p:cNvSpPr/>
          <p:nvPr/>
        </p:nvSpPr>
        <p:spPr>
          <a:xfrm>
            <a:off x="10741587" y="3383280"/>
            <a:ext cx="926157" cy="36576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BI &amp; Reports</a:t>
            </a:r>
            <a:endParaRPr lang="en-US" sz="700" dirty="0"/>
          </a:p>
        </p:txBody>
      </p:sp>
      <p:sp>
        <p:nvSpPr>
          <p:cNvPr id="103" name="Text 101"/>
          <p:cNvSpPr/>
          <p:nvPr/>
        </p:nvSpPr>
        <p:spPr>
          <a:xfrm>
            <a:off x="4270248" y="3749040"/>
            <a:ext cx="7434072" cy="118872"/>
          </a:xfrm>
          <a:prstGeom prst="rect">
            <a:avLst/>
          </a:prstGeom>
          <a:noFill/>
          <a:ln/>
        </p:spPr>
        <p:txBody>
          <a:bodyPr wrap="square" lIns="0" tIns="0" rIns="0" bIns="0" rtlCol="0" anchor="ctr"/>
          <a:lstStyle/>
          <a:p>
            <a:pPr marL="0" indent="0" algn="ctr">
              <a:buNone/>
            </a:pPr>
            <a:r>
              <a:rPr lang="en-US" sz="650" i="1" dirty="0">
                <a:solidFill>
                  <a:srgbClr val="E31837"/>
                </a:solidFill>
                <a:latin typeface="Lora" pitchFamily="34" charset="0"/>
                <a:ea typeface="Lora" pitchFamily="34" charset="-122"/>
                <a:cs typeface="Lora" pitchFamily="34" charset="-120"/>
              </a:rPr>
              <a:t>the AI &amp; Agent Platform serves features &amp; retrieval from these stores — data lives once, here</a:t>
            </a:r>
            <a:endParaRPr lang="en-US" sz="650" dirty="0"/>
          </a:p>
        </p:txBody>
      </p:sp>
      <p:sp>
        <p:nvSpPr>
          <p:cNvPr id="104" name="Shape 102"/>
          <p:cNvSpPr/>
          <p:nvPr/>
        </p:nvSpPr>
        <p:spPr>
          <a:xfrm>
            <a:off x="676656" y="3931920"/>
            <a:ext cx="11164824" cy="512064"/>
          </a:xfrm>
          <a:prstGeom prst="roundRect">
            <a:avLst>
              <a:gd name="adj" fmla="val 8929"/>
            </a:avLst>
          </a:prstGeom>
          <a:solidFill>
            <a:srgbClr val="F5F4F1"/>
          </a:solidFill>
          <a:ln w="6350">
            <a:solidFill>
              <a:srgbClr val="E5E3DC"/>
            </a:solidFill>
            <a:prstDash val="solid"/>
          </a:ln>
        </p:spPr>
        <p:txBody>
          <a:bodyPr/>
          <a:lstStyle/>
          <a:p>
            <a:endParaRPr lang="en-US"/>
          </a:p>
        </p:txBody>
      </p:sp>
      <p:sp>
        <p:nvSpPr>
          <p:cNvPr id="105" name="Text 103"/>
          <p:cNvSpPr/>
          <p:nvPr/>
        </p:nvSpPr>
        <p:spPr>
          <a:xfrm>
            <a:off x="676656" y="3959352"/>
            <a:ext cx="11164824" cy="182880"/>
          </a:xfrm>
          <a:prstGeom prst="rect">
            <a:avLst/>
          </a:prstGeom>
          <a:noFill/>
          <a:ln/>
        </p:spPr>
        <p:txBody>
          <a:bodyPr wrap="square" lIns="0" tIns="0" rIns="0" bIns="0" rtlCol="0" anchor="ctr"/>
          <a:lstStyle/>
          <a:p>
            <a:pPr marL="0" indent="0" algn="ctr">
              <a:buNone/>
            </a:pPr>
            <a:r>
              <a:rPr lang="en-US" sz="1050" b="1" dirty="0">
                <a:solidFill>
                  <a:srgbClr val="333333"/>
                </a:solidFill>
                <a:latin typeface="Montserrat" pitchFamily="34" charset="0"/>
                <a:ea typeface="Montserrat" pitchFamily="34" charset="-122"/>
                <a:cs typeface="Montserrat" pitchFamily="34" charset="-120"/>
              </a:rPr>
              <a:t>Business Services / Enterprise Domains</a:t>
            </a:r>
            <a:endParaRPr lang="en-US" sz="1050" dirty="0"/>
          </a:p>
        </p:txBody>
      </p:sp>
      <p:sp>
        <p:nvSpPr>
          <p:cNvPr id="106" name="Shape 104"/>
          <p:cNvSpPr/>
          <p:nvPr/>
        </p:nvSpPr>
        <p:spPr>
          <a:xfrm>
            <a:off x="813816" y="4114800"/>
            <a:ext cx="857250" cy="274320"/>
          </a:xfrm>
          <a:prstGeom prst="roundRect">
            <a:avLst>
              <a:gd name="adj" fmla="val 13333"/>
            </a:avLst>
          </a:prstGeom>
          <a:solidFill>
            <a:srgbClr val="333333"/>
          </a:solidFill>
          <a:ln/>
        </p:spPr>
        <p:txBody>
          <a:bodyPr/>
          <a:lstStyle/>
          <a:p>
            <a:endParaRPr lang="en-US"/>
          </a:p>
        </p:txBody>
      </p:sp>
      <p:sp>
        <p:nvSpPr>
          <p:cNvPr id="107" name="Shape 105"/>
          <p:cNvSpPr/>
          <p:nvPr/>
        </p:nvSpPr>
        <p:spPr>
          <a:xfrm>
            <a:off x="868680" y="4151376"/>
            <a:ext cx="747522" cy="32004"/>
          </a:xfrm>
          <a:prstGeom prst="rect">
            <a:avLst/>
          </a:prstGeom>
          <a:solidFill>
            <a:srgbClr val="E31837"/>
          </a:solidFill>
          <a:ln/>
        </p:spPr>
        <p:txBody>
          <a:bodyPr/>
          <a:lstStyle/>
          <a:p>
            <a:endParaRPr lang="en-US"/>
          </a:p>
        </p:txBody>
      </p:sp>
      <p:sp>
        <p:nvSpPr>
          <p:cNvPr id="108" name="Text 106"/>
          <p:cNvSpPr/>
          <p:nvPr/>
        </p:nvSpPr>
        <p:spPr>
          <a:xfrm>
            <a:off x="850392" y="4114800"/>
            <a:ext cx="784098" cy="27432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Product</a:t>
            </a:r>
            <a:endParaRPr lang="en-US" sz="700" dirty="0"/>
          </a:p>
        </p:txBody>
      </p:sp>
      <p:sp>
        <p:nvSpPr>
          <p:cNvPr id="109" name="Shape 107"/>
          <p:cNvSpPr/>
          <p:nvPr/>
        </p:nvSpPr>
        <p:spPr>
          <a:xfrm>
            <a:off x="1725930" y="4114800"/>
            <a:ext cx="857250" cy="274320"/>
          </a:xfrm>
          <a:prstGeom prst="roundRect">
            <a:avLst>
              <a:gd name="adj" fmla="val 13333"/>
            </a:avLst>
          </a:prstGeom>
          <a:solidFill>
            <a:srgbClr val="333333"/>
          </a:solidFill>
          <a:ln/>
        </p:spPr>
        <p:txBody>
          <a:bodyPr/>
          <a:lstStyle/>
          <a:p>
            <a:endParaRPr lang="en-US"/>
          </a:p>
        </p:txBody>
      </p:sp>
      <p:sp>
        <p:nvSpPr>
          <p:cNvPr id="110" name="Shape 108"/>
          <p:cNvSpPr/>
          <p:nvPr/>
        </p:nvSpPr>
        <p:spPr>
          <a:xfrm>
            <a:off x="1780794" y="4151376"/>
            <a:ext cx="747522" cy="32004"/>
          </a:xfrm>
          <a:prstGeom prst="rect">
            <a:avLst/>
          </a:prstGeom>
          <a:solidFill>
            <a:srgbClr val="E31837"/>
          </a:solidFill>
          <a:ln/>
        </p:spPr>
        <p:txBody>
          <a:bodyPr/>
          <a:lstStyle/>
          <a:p>
            <a:endParaRPr lang="en-US"/>
          </a:p>
        </p:txBody>
      </p:sp>
      <p:sp>
        <p:nvSpPr>
          <p:cNvPr id="111" name="Text 109"/>
          <p:cNvSpPr/>
          <p:nvPr/>
        </p:nvSpPr>
        <p:spPr>
          <a:xfrm>
            <a:off x="1762506" y="4114800"/>
            <a:ext cx="784098" cy="27432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Assortment</a:t>
            </a:r>
            <a:endParaRPr lang="en-US" sz="700" dirty="0"/>
          </a:p>
        </p:txBody>
      </p:sp>
      <p:sp>
        <p:nvSpPr>
          <p:cNvPr id="112" name="Shape 110"/>
          <p:cNvSpPr/>
          <p:nvPr/>
        </p:nvSpPr>
        <p:spPr>
          <a:xfrm>
            <a:off x="2638044" y="4114800"/>
            <a:ext cx="857250" cy="274320"/>
          </a:xfrm>
          <a:prstGeom prst="roundRect">
            <a:avLst>
              <a:gd name="adj" fmla="val 13333"/>
            </a:avLst>
          </a:prstGeom>
          <a:solidFill>
            <a:srgbClr val="333333"/>
          </a:solidFill>
          <a:ln/>
        </p:spPr>
        <p:txBody>
          <a:bodyPr/>
          <a:lstStyle/>
          <a:p>
            <a:endParaRPr lang="en-US"/>
          </a:p>
        </p:txBody>
      </p:sp>
      <p:sp>
        <p:nvSpPr>
          <p:cNvPr id="113" name="Shape 111"/>
          <p:cNvSpPr/>
          <p:nvPr/>
        </p:nvSpPr>
        <p:spPr>
          <a:xfrm>
            <a:off x="2692908" y="4151376"/>
            <a:ext cx="747522" cy="32004"/>
          </a:xfrm>
          <a:prstGeom prst="rect">
            <a:avLst/>
          </a:prstGeom>
          <a:solidFill>
            <a:srgbClr val="E31837"/>
          </a:solidFill>
          <a:ln/>
        </p:spPr>
        <p:txBody>
          <a:bodyPr/>
          <a:lstStyle/>
          <a:p>
            <a:endParaRPr lang="en-US"/>
          </a:p>
        </p:txBody>
      </p:sp>
      <p:sp>
        <p:nvSpPr>
          <p:cNvPr id="114" name="Text 112"/>
          <p:cNvSpPr/>
          <p:nvPr/>
        </p:nvSpPr>
        <p:spPr>
          <a:xfrm>
            <a:off x="2674620" y="4114800"/>
            <a:ext cx="784098" cy="27432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Pricing</a:t>
            </a:r>
            <a:endParaRPr lang="en-US" sz="700" dirty="0"/>
          </a:p>
        </p:txBody>
      </p:sp>
      <p:sp>
        <p:nvSpPr>
          <p:cNvPr id="115" name="Shape 113"/>
          <p:cNvSpPr/>
          <p:nvPr/>
        </p:nvSpPr>
        <p:spPr>
          <a:xfrm>
            <a:off x="3550158" y="4114800"/>
            <a:ext cx="857250" cy="274320"/>
          </a:xfrm>
          <a:prstGeom prst="roundRect">
            <a:avLst>
              <a:gd name="adj" fmla="val 13333"/>
            </a:avLst>
          </a:prstGeom>
          <a:solidFill>
            <a:srgbClr val="333333"/>
          </a:solidFill>
          <a:ln/>
        </p:spPr>
        <p:txBody>
          <a:bodyPr/>
          <a:lstStyle/>
          <a:p>
            <a:endParaRPr lang="en-US"/>
          </a:p>
        </p:txBody>
      </p:sp>
      <p:sp>
        <p:nvSpPr>
          <p:cNvPr id="116" name="Shape 114"/>
          <p:cNvSpPr/>
          <p:nvPr/>
        </p:nvSpPr>
        <p:spPr>
          <a:xfrm>
            <a:off x="3605022" y="4151376"/>
            <a:ext cx="747522" cy="32004"/>
          </a:xfrm>
          <a:prstGeom prst="rect">
            <a:avLst/>
          </a:prstGeom>
          <a:solidFill>
            <a:srgbClr val="E31837"/>
          </a:solidFill>
          <a:ln/>
        </p:spPr>
        <p:txBody>
          <a:bodyPr/>
          <a:lstStyle/>
          <a:p>
            <a:endParaRPr lang="en-US"/>
          </a:p>
        </p:txBody>
      </p:sp>
      <p:sp>
        <p:nvSpPr>
          <p:cNvPr id="117" name="Text 115"/>
          <p:cNvSpPr/>
          <p:nvPr/>
        </p:nvSpPr>
        <p:spPr>
          <a:xfrm>
            <a:off x="3586734" y="4114800"/>
            <a:ext cx="784098" cy="27432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Promotion</a:t>
            </a:r>
            <a:endParaRPr lang="en-US" sz="700" dirty="0"/>
          </a:p>
        </p:txBody>
      </p:sp>
      <p:sp>
        <p:nvSpPr>
          <p:cNvPr id="118" name="Shape 116"/>
          <p:cNvSpPr/>
          <p:nvPr/>
        </p:nvSpPr>
        <p:spPr>
          <a:xfrm>
            <a:off x="4462272" y="4114800"/>
            <a:ext cx="857250" cy="274320"/>
          </a:xfrm>
          <a:prstGeom prst="roundRect">
            <a:avLst>
              <a:gd name="adj" fmla="val 13333"/>
            </a:avLst>
          </a:prstGeom>
          <a:solidFill>
            <a:srgbClr val="333333"/>
          </a:solidFill>
          <a:ln/>
        </p:spPr>
        <p:txBody>
          <a:bodyPr/>
          <a:lstStyle/>
          <a:p>
            <a:endParaRPr lang="en-US"/>
          </a:p>
        </p:txBody>
      </p:sp>
      <p:sp>
        <p:nvSpPr>
          <p:cNvPr id="119" name="Shape 117"/>
          <p:cNvSpPr/>
          <p:nvPr/>
        </p:nvSpPr>
        <p:spPr>
          <a:xfrm>
            <a:off x="4517136" y="4151376"/>
            <a:ext cx="747522" cy="32004"/>
          </a:xfrm>
          <a:prstGeom prst="rect">
            <a:avLst/>
          </a:prstGeom>
          <a:solidFill>
            <a:srgbClr val="E31837"/>
          </a:solidFill>
          <a:ln/>
        </p:spPr>
        <p:txBody>
          <a:bodyPr/>
          <a:lstStyle/>
          <a:p>
            <a:endParaRPr lang="en-US"/>
          </a:p>
        </p:txBody>
      </p:sp>
      <p:sp>
        <p:nvSpPr>
          <p:cNvPr id="120" name="Text 118"/>
          <p:cNvSpPr/>
          <p:nvPr/>
        </p:nvSpPr>
        <p:spPr>
          <a:xfrm>
            <a:off x="4498848" y="4114800"/>
            <a:ext cx="784098" cy="27432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Inventory</a:t>
            </a:r>
            <a:endParaRPr lang="en-US" sz="700" dirty="0"/>
          </a:p>
        </p:txBody>
      </p:sp>
      <p:sp>
        <p:nvSpPr>
          <p:cNvPr id="121" name="Shape 119"/>
          <p:cNvSpPr/>
          <p:nvPr/>
        </p:nvSpPr>
        <p:spPr>
          <a:xfrm>
            <a:off x="5374386" y="4114800"/>
            <a:ext cx="857250" cy="274320"/>
          </a:xfrm>
          <a:prstGeom prst="roundRect">
            <a:avLst>
              <a:gd name="adj" fmla="val 13333"/>
            </a:avLst>
          </a:prstGeom>
          <a:solidFill>
            <a:srgbClr val="333333"/>
          </a:solidFill>
          <a:ln/>
        </p:spPr>
        <p:txBody>
          <a:bodyPr/>
          <a:lstStyle/>
          <a:p>
            <a:endParaRPr lang="en-US"/>
          </a:p>
        </p:txBody>
      </p:sp>
      <p:sp>
        <p:nvSpPr>
          <p:cNvPr id="122" name="Shape 120"/>
          <p:cNvSpPr/>
          <p:nvPr/>
        </p:nvSpPr>
        <p:spPr>
          <a:xfrm>
            <a:off x="5429250" y="4151376"/>
            <a:ext cx="747522" cy="32004"/>
          </a:xfrm>
          <a:prstGeom prst="rect">
            <a:avLst/>
          </a:prstGeom>
          <a:solidFill>
            <a:srgbClr val="E31837"/>
          </a:solidFill>
          <a:ln/>
        </p:spPr>
        <p:txBody>
          <a:bodyPr/>
          <a:lstStyle/>
          <a:p>
            <a:endParaRPr lang="en-US"/>
          </a:p>
        </p:txBody>
      </p:sp>
      <p:sp>
        <p:nvSpPr>
          <p:cNvPr id="123" name="Text 121"/>
          <p:cNvSpPr/>
          <p:nvPr/>
        </p:nvSpPr>
        <p:spPr>
          <a:xfrm>
            <a:off x="5410962" y="4114800"/>
            <a:ext cx="784098" cy="27432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Order</a:t>
            </a:r>
            <a:endParaRPr lang="en-US" sz="700" dirty="0"/>
          </a:p>
        </p:txBody>
      </p:sp>
      <p:sp>
        <p:nvSpPr>
          <p:cNvPr id="124" name="Shape 122"/>
          <p:cNvSpPr/>
          <p:nvPr/>
        </p:nvSpPr>
        <p:spPr>
          <a:xfrm>
            <a:off x="6286500" y="4114800"/>
            <a:ext cx="857250" cy="274320"/>
          </a:xfrm>
          <a:prstGeom prst="roundRect">
            <a:avLst>
              <a:gd name="adj" fmla="val 13333"/>
            </a:avLst>
          </a:prstGeom>
          <a:solidFill>
            <a:srgbClr val="333333"/>
          </a:solidFill>
          <a:ln/>
        </p:spPr>
        <p:txBody>
          <a:bodyPr/>
          <a:lstStyle/>
          <a:p>
            <a:endParaRPr lang="en-US"/>
          </a:p>
        </p:txBody>
      </p:sp>
      <p:sp>
        <p:nvSpPr>
          <p:cNvPr id="125" name="Shape 123"/>
          <p:cNvSpPr/>
          <p:nvPr/>
        </p:nvSpPr>
        <p:spPr>
          <a:xfrm>
            <a:off x="6341364" y="4151376"/>
            <a:ext cx="747522" cy="32004"/>
          </a:xfrm>
          <a:prstGeom prst="rect">
            <a:avLst/>
          </a:prstGeom>
          <a:solidFill>
            <a:srgbClr val="E31837"/>
          </a:solidFill>
          <a:ln/>
        </p:spPr>
        <p:txBody>
          <a:bodyPr/>
          <a:lstStyle/>
          <a:p>
            <a:endParaRPr lang="en-US"/>
          </a:p>
        </p:txBody>
      </p:sp>
      <p:sp>
        <p:nvSpPr>
          <p:cNvPr id="126" name="Text 124"/>
          <p:cNvSpPr/>
          <p:nvPr/>
        </p:nvSpPr>
        <p:spPr>
          <a:xfrm>
            <a:off x="6323076" y="4114800"/>
            <a:ext cx="784098" cy="27432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Fulfilment</a:t>
            </a:r>
            <a:endParaRPr lang="en-US" sz="700" dirty="0"/>
          </a:p>
        </p:txBody>
      </p:sp>
      <p:sp>
        <p:nvSpPr>
          <p:cNvPr id="127" name="Shape 125"/>
          <p:cNvSpPr/>
          <p:nvPr/>
        </p:nvSpPr>
        <p:spPr>
          <a:xfrm>
            <a:off x="7198614" y="4114800"/>
            <a:ext cx="857250" cy="274320"/>
          </a:xfrm>
          <a:prstGeom prst="roundRect">
            <a:avLst>
              <a:gd name="adj" fmla="val 13333"/>
            </a:avLst>
          </a:prstGeom>
          <a:solidFill>
            <a:srgbClr val="333333"/>
          </a:solidFill>
          <a:ln/>
        </p:spPr>
        <p:txBody>
          <a:bodyPr/>
          <a:lstStyle/>
          <a:p>
            <a:endParaRPr lang="en-US"/>
          </a:p>
        </p:txBody>
      </p:sp>
      <p:sp>
        <p:nvSpPr>
          <p:cNvPr id="128" name="Shape 126"/>
          <p:cNvSpPr/>
          <p:nvPr/>
        </p:nvSpPr>
        <p:spPr>
          <a:xfrm>
            <a:off x="7253478" y="4151376"/>
            <a:ext cx="747522" cy="32004"/>
          </a:xfrm>
          <a:prstGeom prst="rect">
            <a:avLst/>
          </a:prstGeom>
          <a:solidFill>
            <a:srgbClr val="E31837"/>
          </a:solidFill>
          <a:ln/>
        </p:spPr>
        <p:txBody>
          <a:bodyPr/>
          <a:lstStyle/>
          <a:p>
            <a:endParaRPr lang="en-US"/>
          </a:p>
        </p:txBody>
      </p:sp>
      <p:sp>
        <p:nvSpPr>
          <p:cNvPr id="129" name="Text 127"/>
          <p:cNvSpPr/>
          <p:nvPr/>
        </p:nvSpPr>
        <p:spPr>
          <a:xfrm>
            <a:off x="7235190" y="4114800"/>
            <a:ext cx="784098" cy="27432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Customer</a:t>
            </a:r>
            <a:endParaRPr lang="en-US" sz="700" dirty="0"/>
          </a:p>
        </p:txBody>
      </p:sp>
      <p:sp>
        <p:nvSpPr>
          <p:cNvPr id="130" name="Shape 128"/>
          <p:cNvSpPr/>
          <p:nvPr/>
        </p:nvSpPr>
        <p:spPr>
          <a:xfrm>
            <a:off x="8110728" y="4114800"/>
            <a:ext cx="857250" cy="274320"/>
          </a:xfrm>
          <a:prstGeom prst="roundRect">
            <a:avLst>
              <a:gd name="adj" fmla="val 13333"/>
            </a:avLst>
          </a:prstGeom>
          <a:solidFill>
            <a:srgbClr val="333333"/>
          </a:solidFill>
          <a:ln/>
        </p:spPr>
        <p:txBody>
          <a:bodyPr/>
          <a:lstStyle/>
          <a:p>
            <a:endParaRPr lang="en-US"/>
          </a:p>
        </p:txBody>
      </p:sp>
      <p:sp>
        <p:nvSpPr>
          <p:cNvPr id="131" name="Shape 129"/>
          <p:cNvSpPr/>
          <p:nvPr/>
        </p:nvSpPr>
        <p:spPr>
          <a:xfrm>
            <a:off x="8165592" y="4151376"/>
            <a:ext cx="747522" cy="32004"/>
          </a:xfrm>
          <a:prstGeom prst="rect">
            <a:avLst/>
          </a:prstGeom>
          <a:solidFill>
            <a:srgbClr val="E31837"/>
          </a:solidFill>
          <a:ln/>
        </p:spPr>
        <p:txBody>
          <a:bodyPr/>
          <a:lstStyle/>
          <a:p>
            <a:endParaRPr lang="en-US"/>
          </a:p>
        </p:txBody>
      </p:sp>
      <p:sp>
        <p:nvSpPr>
          <p:cNvPr id="132" name="Text 130"/>
          <p:cNvSpPr/>
          <p:nvPr/>
        </p:nvSpPr>
        <p:spPr>
          <a:xfrm>
            <a:off x="8147304" y="4114800"/>
            <a:ext cx="784098" cy="27432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Loyalty</a:t>
            </a:r>
            <a:endParaRPr lang="en-US" sz="700" dirty="0"/>
          </a:p>
        </p:txBody>
      </p:sp>
      <p:sp>
        <p:nvSpPr>
          <p:cNvPr id="133" name="Shape 131"/>
          <p:cNvSpPr/>
          <p:nvPr/>
        </p:nvSpPr>
        <p:spPr>
          <a:xfrm>
            <a:off x="9022842" y="4114800"/>
            <a:ext cx="857250" cy="274320"/>
          </a:xfrm>
          <a:prstGeom prst="roundRect">
            <a:avLst>
              <a:gd name="adj" fmla="val 13333"/>
            </a:avLst>
          </a:prstGeom>
          <a:solidFill>
            <a:srgbClr val="333333"/>
          </a:solidFill>
          <a:ln/>
        </p:spPr>
        <p:txBody>
          <a:bodyPr/>
          <a:lstStyle/>
          <a:p>
            <a:endParaRPr lang="en-US"/>
          </a:p>
        </p:txBody>
      </p:sp>
      <p:sp>
        <p:nvSpPr>
          <p:cNvPr id="134" name="Shape 132"/>
          <p:cNvSpPr/>
          <p:nvPr/>
        </p:nvSpPr>
        <p:spPr>
          <a:xfrm>
            <a:off x="9077706" y="4151376"/>
            <a:ext cx="747522" cy="32004"/>
          </a:xfrm>
          <a:prstGeom prst="rect">
            <a:avLst/>
          </a:prstGeom>
          <a:solidFill>
            <a:srgbClr val="E31837"/>
          </a:solidFill>
          <a:ln/>
        </p:spPr>
        <p:txBody>
          <a:bodyPr/>
          <a:lstStyle/>
          <a:p>
            <a:endParaRPr lang="en-US"/>
          </a:p>
        </p:txBody>
      </p:sp>
      <p:sp>
        <p:nvSpPr>
          <p:cNvPr id="135" name="Text 133"/>
          <p:cNvSpPr/>
          <p:nvPr/>
        </p:nvSpPr>
        <p:spPr>
          <a:xfrm>
            <a:off x="9059418" y="4114800"/>
            <a:ext cx="784098" cy="27432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Returns</a:t>
            </a:r>
            <a:endParaRPr lang="en-US" sz="700" dirty="0"/>
          </a:p>
        </p:txBody>
      </p:sp>
      <p:sp>
        <p:nvSpPr>
          <p:cNvPr id="136" name="Shape 134"/>
          <p:cNvSpPr/>
          <p:nvPr/>
        </p:nvSpPr>
        <p:spPr>
          <a:xfrm>
            <a:off x="9934956" y="4114800"/>
            <a:ext cx="857250" cy="274320"/>
          </a:xfrm>
          <a:prstGeom prst="roundRect">
            <a:avLst>
              <a:gd name="adj" fmla="val 13333"/>
            </a:avLst>
          </a:prstGeom>
          <a:solidFill>
            <a:srgbClr val="333333"/>
          </a:solidFill>
          <a:ln/>
        </p:spPr>
        <p:txBody>
          <a:bodyPr/>
          <a:lstStyle/>
          <a:p>
            <a:endParaRPr lang="en-US"/>
          </a:p>
        </p:txBody>
      </p:sp>
      <p:sp>
        <p:nvSpPr>
          <p:cNvPr id="137" name="Shape 135"/>
          <p:cNvSpPr/>
          <p:nvPr/>
        </p:nvSpPr>
        <p:spPr>
          <a:xfrm>
            <a:off x="9989820" y="4151376"/>
            <a:ext cx="747522" cy="32004"/>
          </a:xfrm>
          <a:prstGeom prst="rect">
            <a:avLst/>
          </a:prstGeom>
          <a:solidFill>
            <a:srgbClr val="E31837"/>
          </a:solidFill>
          <a:ln/>
        </p:spPr>
        <p:txBody>
          <a:bodyPr/>
          <a:lstStyle/>
          <a:p>
            <a:endParaRPr lang="en-US"/>
          </a:p>
        </p:txBody>
      </p:sp>
      <p:sp>
        <p:nvSpPr>
          <p:cNvPr id="138" name="Text 136"/>
          <p:cNvSpPr/>
          <p:nvPr/>
        </p:nvSpPr>
        <p:spPr>
          <a:xfrm>
            <a:off x="9971532" y="4114800"/>
            <a:ext cx="784098" cy="27432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Payment</a:t>
            </a:r>
            <a:endParaRPr lang="en-US" sz="700" dirty="0"/>
          </a:p>
        </p:txBody>
      </p:sp>
      <p:sp>
        <p:nvSpPr>
          <p:cNvPr id="139" name="Shape 137"/>
          <p:cNvSpPr/>
          <p:nvPr/>
        </p:nvSpPr>
        <p:spPr>
          <a:xfrm>
            <a:off x="10847070" y="4114800"/>
            <a:ext cx="857250" cy="274320"/>
          </a:xfrm>
          <a:prstGeom prst="roundRect">
            <a:avLst>
              <a:gd name="adj" fmla="val 13333"/>
            </a:avLst>
          </a:prstGeom>
          <a:solidFill>
            <a:srgbClr val="333333"/>
          </a:solidFill>
          <a:ln/>
        </p:spPr>
        <p:txBody>
          <a:bodyPr/>
          <a:lstStyle/>
          <a:p>
            <a:endParaRPr lang="en-US"/>
          </a:p>
        </p:txBody>
      </p:sp>
      <p:sp>
        <p:nvSpPr>
          <p:cNvPr id="140" name="Shape 138"/>
          <p:cNvSpPr/>
          <p:nvPr/>
        </p:nvSpPr>
        <p:spPr>
          <a:xfrm>
            <a:off x="10901934" y="4151376"/>
            <a:ext cx="747522" cy="32004"/>
          </a:xfrm>
          <a:prstGeom prst="rect">
            <a:avLst/>
          </a:prstGeom>
          <a:solidFill>
            <a:srgbClr val="E31837"/>
          </a:solidFill>
          <a:ln/>
        </p:spPr>
        <p:txBody>
          <a:bodyPr/>
          <a:lstStyle/>
          <a:p>
            <a:endParaRPr lang="en-US"/>
          </a:p>
        </p:txBody>
      </p:sp>
      <p:sp>
        <p:nvSpPr>
          <p:cNvPr id="141" name="Text 139"/>
          <p:cNvSpPr/>
          <p:nvPr/>
        </p:nvSpPr>
        <p:spPr>
          <a:xfrm>
            <a:off x="10883646" y="4114800"/>
            <a:ext cx="784098" cy="274320"/>
          </a:xfrm>
          <a:prstGeom prst="rect">
            <a:avLst/>
          </a:prstGeom>
          <a:noFill/>
          <a:ln/>
        </p:spPr>
        <p:txBody>
          <a:bodyPr wrap="square" lIns="0" tIns="0" rIns="0" bIns="0" rtlCol="0" anchor="ctr"/>
          <a:lstStyle/>
          <a:p>
            <a:pPr marL="0" indent="0" algn="ctr">
              <a:buNone/>
            </a:pPr>
            <a:r>
              <a:rPr lang="en-US" sz="700" b="1" dirty="0">
                <a:solidFill>
                  <a:srgbClr val="FDFDFD"/>
                </a:solidFill>
                <a:latin typeface="Montserrat" pitchFamily="34" charset="0"/>
                <a:ea typeface="Montserrat" pitchFamily="34" charset="-122"/>
                <a:cs typeface="Montserrat" pitchFamily="34" charset="-120"/>
              </a:rPr>
              <a:t>Supplier</a:t>
            </a:r>
            <a:endParaRPr lang="en-US" sz="700" dirty="0"/>
          </a:p>
        </p:txBody>
      </p:sp>
      <p:sp>
        <p:nvSpPr>
          <p:cNvPr id="142" name="Shape 140"/>
          <p:cNvSpPr/>
          <p:nvPr/>
        </p:nvSpPr>
        <p:spPr>
          <a:xfrm>
            <a:off x="676656" y="4480560"/>
            <a:ext cx="11164824" cy="1517904"/>
          </a:xfrm>
          <a:prstGeom prst="roundRect">
            <a:avLst>
              <a:gd name="adj" fmla="val 3012"/>
            </a:avLst>
          </a:prstGeom>
          <a:solidFill>
            <a:srgbClr val="F5F4F1"/>
          </a:solidFill>
          <a:ln w="6350">
            <a:solidFill>
              <a:srgbClr val="E5E3DC"/>
            </a:solidFill>
            <a:prstDash val="solid"/>
          </a:ln>
        </p:spPr>
        <p:txBody>
          <a:bodyPr/>
          <a:lstStyle/>
          <a:p>
            <a:endParaRPr lang="en-US"/>
          </a:p>
        </p:txBody>
      </p:sp>
      <p:sp>
        <p:nvSpPr>
          <p:cNvPr id="143" name="Text 141"/>
          <p:cNvSpPr/>
          <p:nvPr/>
        </p:nvSpPr>
        <p:spPr>
          <a:xfrm>
            <a:off x="676656" y="4498848"/>
            <a:ext cx="11164824" cy="182880"/>
          </a:xfrm>
          <a:prstGeom prst="rect">
            <a:avLst/>
          </a:prstGeom>
          <a:noFill/>
          <a:ln/>
        </p:spPr>
        <p:txBody>
          <a:bodyPr wrap="square" lIns="0" tIns="0" rIns="0" bIns="0" rtlCol="0" anchor="ctr"/>
          <a:lstStyle/>
          <a:p>
            <a:pPr marL="0" indent="0" algn="ctr">
              <a:buNone/>
            </a:pPr>
            <a:r>
              <a:rPr lang="en-US" sz="1050" b="1" dirty="0">
                <a:solidFill>
                  <a:srgbClr val="333333"/>
                </a:solidFill>
                <a:latin typeface="Montserrat" pitchFamily="34" charset="0"/>
                <a:ea typeface="Montserrat" pitchFamily="34" charset="-122"/>
                <a:cs typeface="Montserrat" pitchFamily="34" charset="-120"/>
              </a:rPr>
              <a:t>Core Business Systems</a:t>
            </a:r>
            <a:endParaRPr lang="en-US" sz="1050" dirty="0"/>
          </a:p>
        </p:txBody>
      </p:sp>
      <p:sp>
        <p:nvSpPr>
          <p:cNvPr id="144" name="Shape 142"/>
          <p:cNvSpPr/>
          <p:nvPr/>
        </p:nvSpPr>
        <p:spPr>
          <a:xfrm>
            <a:off x="813816" y="4645152"/>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45" name="Shape 143"/>
          <p:cNvSpPr/>
          <p:nvPr/>
        </p:nvSpPr>
        <p:spPr>
          <a:xfrm>
            <a:off x="1977390" y="4690872"/>
            <a:ext cx="96012" cy="96012"/>
          </a:xfrm>
          <a:prstGeom prst="ellipse">
            <a:avLst/>
          </a:prstGeom>
          <a:solidFill>
            <a:srgbClr val="CFCFCF"/>
          </a:solidFill>
          <a:ln w="9525">
            <a:solidFill>
              <a:srgbClr val="FDFDFD"/>
            </a:solidFill>
            <a:prstDash val="solid"/>
          </a:ln>
        </p:spPr>
        <p:txBody>
          <a:bodyPr/>
          <a:lstStyle/>
          <a:p>
            <a:endParaRPr lang="en-US"/>
          </a:p>
        </p:txBody>
      </p:sp>
      <p:sp>
        <p:nvSpPr>
          <p:cNvPr id="146" name="Text 144"/>
          <p:cNvSpPr/>
          <p:nvPr/>
        </p:nvSpPr>
        <p:spPr>
          <a:xfrm>
            <a:off x="850392" y="4645152"/>
            <a:ext cx="1232154" cy="237744"/>
          </a:xfrm>
          <a:prstGeom prst="rect">
            <a:avLst/>
          </a:prstGeom>
          <a:noFill/>
          <a:ln/>
        </p:spPr>
        <p:txBody>
          <a:bodyPr wrap="square" lIns="0" tIns="0" rIns="0" bIns="0" rtlCol="0" anchor="ctr"/>
          <a:lstStyle/>
          <a:p>
            <a:pPr marL="0" indent="0" algn="ctr">
              <a:buNone/>
            </a:pPr>
            <a:r>
              <a:rPr lang="en-US" sz="700" b="1" dirty="0">
                <a:solidFill>
                  <a:srgbClr val="333333"/>
                </a:solidFill>
                <a:latin typeface="Montserrat" pitchFamily="34" charset="0"/>
                <a:ea typeface="Montserrat" pitchFamily="34" charset="-122"/>
                <a:cs typeface="Montserrat" pitchFamily="34" charset="-120"/>
              </a:rPr>
              <a:t>PLM</a:t>
            </a:r>
            <a:endParaRPr lang="en-US" sz="700" dirty="0"/>
          </a:p>
        </p:txBody>
      </p:sp>
      <p:sp>
        <p:nvSpPr>
          <p:cNvPr id="147" name="Shape 145"/>
          <p:cNvSpPr/>
          <p:nvPr/>
        </p:nvSpPr>
        <p:spPr>
          <a:xfrm>
            <a:off x="2183130" y="4645152"/>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48" name="Shape 146"/>
          <p:cNvSpPr/>
          <p:nvPr/>
        </p:nvSpPr>
        <p:spPr>
          <a:xfrm>
            <a:off x="3346704" y="4690872"/>
            <a:ext cx="96012" cy="96012"/>
          </a:xfrm>
          <a:prstGeom prst="ellipse">
            <a:avLst/>
          </a:prstGeom>
          <a:solidFill>
            <a:srgbClr val="E0A32E"/>
          </a:solidFill>
          <a:ln w="9525">
            <a:solidFill>
              <a:srgbClr val="FDFDFD"/>
            </a:solidFill>
            <a:prstDash val="solid"/>
          </a:ln>
        </p:spPr>
        <p:txBody>
          <a:bodyPr/>
          <a:lstStyle/>
          <a:p>
            <a:endParaRPr lang="en-US"/>
          </a:p>
        </p:txBody>
      </p:sp>
      <p:sp>
        <p:nvSpPr>
          <p:cNvPr id="149" name="Text 147"/>
          <p:cNvSpPr/>
          <p:nvPr/>
        </p:nvSpPr>
        <p:spPr>
          <a:xfrm>
            <a:off x="2219706" y="4645152"/>
            <a:ext cx="1232154" cy="237744"/>
          </a:xfrm>
          <a:prstGeom prst="rect">
            <a:avLst/>
          </a:prstGeom>
          <a:noFill/>
          <a:ln/>
        </p:spPr>
        <p:txBody>
          <a:bodyPr wrap="square" lIns="0" tIns="0" rIns="0" bIns="0" rtlCol="0" anchor="ctr"/>
          <a:lstStyle/>
          <a:p>
            <a:pPr marL="0" indent="0" algn="ctr">
              <a:buNone/>
            </a:pPr>
            <a:r>
              <a:rPr lang="en-US" sz="700" b="1" dirty="0">
                <a:solidFill>
                  <a:srgbClr val="333333"/>
                </a:solidFill>
                <a:latin typeface="Montserrat" pitchFamily="34" charset="0"/>
                <a:ea typeface="Montserrat" pitchFamily="34" charset="-122"/>
                <a:cs typeface="Montserrat" pitchFamily="34" charset="-120"/>
              </a:rPr>
              <a:t>PIM</a:t>
            </a:r>
            <a:endParaRPr lang="en-US" sz="700" dirty="0"/>
          </a:p>
        </p:txBody>
      </p:sp>
      <p:sp>
        <p:nvSpPr>
          <p:cNvPr id="150" name="Shape 148"/>
          <p:cNvSpPr/>
          <p:nvPr/>
        </p:nvSpPr>
        <p:spPr>
          <a:xfrm>
            <a:off x="3552444" y="4645152"/>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51" name="Shape 149"/>
          <p:cNvSpPr/>
          <p:nvPr/>
        </p:nvSpPr>
        <p:spPr>
          <a:xfrm>
            <a:off x="4716018" y="4690872"/>
            <a:ext cx="96012" cy="96012"/>
          </a:xfrm>
          <a:prstGeom prst="ellipse">
            <a:avLst/>
          </a:prstGeom>
          <a:solidFill>
            <a:srgbClr val="CFCFCF"/>
          </a:solidFill>
          <a:ln w="9525">
            <a:solidFill>
              <a:srgbClr val="FDFDFD"/>
            </a:solidFill>
            <a:prstDash val="solid"/>
          </a:ln>
        </p:spPr>
        <p:txBody>
          <a:bodyPr/>
          <a:lstStyle/>
          <a:p>
            <a:endParaRPr lang="en-US"/>
          </a:p>
        </p:txBody>
      </p:sp>
      <p:sp>
        <p:nvSpPr>
          <p:cNvPr id="152" name="Text 150"/>
          <p:cNvSpPr/>
          <p:nvPr/>
        </p:nvSpPr>
        <p:spPr>
          <a:xfrm>
            <a:off x="3589020" y="4645152"/>
            <a:ext cx="1232154" cy="237744"/>
          </a:xfrm>
          <a:prstGeom prst="rect">
            <a:avLst/>
          </a:prstGeom>
          <a:noFill/>
          <a:ln/>
        </p:spPr>
        <p:txBody>
          <a:bodyPr wrap="square" lIns="0" tIns="0" rIns="0" bIns="0" rtlCol="0" anchor="ctr"/>
          <a:lstStyle/>
          <a:p>
            <a:pPr marL="0" indent="0" algn="ctr">
              <a:buNone/>
            </a:pPr>
            <a:r>
              <a:rPr lang="en-US" sz="700" b="1" dirty="0">
                <a:solidFill>
                  <a:srgbClr val="333333"/>
                </a:solidFill>
                <a:latin typeface="Montserrat" pitchFamily="34" charset="0"/>
                <a:ea typeface="Montserrat" pitchFamily="34" charset="-122"/>
                <a:cs typeface="Montserrat" pitchFamily="34" charset="-120"/>
              </a:rPr>
              <a:t>Assortment Plng</a:t>
            </a:r>
            <a:endParaRPr lang="en-US" sz="700" dirty="0"/>
          </a:p>
        </p:txBody>
      </p:sp>
      <p:sp>
        <p:nvSpPr>
          <p:cNvPr id="153" name="Shape 151"/>
          <p:cNvSpPr/>
          <p:nvPr/>
        </p:nvSpPr>
        <p:spPr>
          <a:xfrm>
            <a:off x="4921758" y="4645152"/>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54" name="Shape 152"/>
          <p:cNvSpPr/>
          <p:nvPr/>
        </p:nvSpPr>
        <p:spPr>
          <a:xfrm>
            <a:off x="6085332" y="4690872"/>
            <a:ext cx="96012" cy="96012"/>
          </a:xfrm>
          <a:prstGeom prst="ellipse">
            <a:avLst/>
          </a:prstGeom>
          <a:solidFill>
            <a:srgbClr val="E0A32E"/>
          </a:solidFill>
          <a:ln w="9525">
            <a:solidFill>
              <a:srgbClr val="FDFDFD"/>
            </a:solidFill>
            <a:prstDash val="solid"/>
          </a:ln>
        </p:spPr>
        <p:txBody>
          <a:bodyPr/>
          <a:lstStyle/>
          <a:p>
            <a:endParaRPr lang="en-US"/>
          </a:p>
        </p:txBody>
      </p:sp>
      <p:sp>
        <p:nvSpPr>
          <p:cNvPr id="155" name="Text 153"/>
          <p:cNvSpPr/>
          <p:nvPr/>
        </p:nvSpPr>
        <p:spPr>
          <a:xfrm>
            <a:off x="4958334" y="4645152"/>
            <a:ext cx="1232154" cy="237744"/>
          </a:xfrm>
          <a:prstGeom prst="rect">
            <a:avLst/>
          </a:prstGeom>
          <a:noFill/>
          <a:ln/>
        </p:spPr>
        <p:txBody>
          <a:bodyPr wrap="square" lIns="0" tIns="0" rIns="0" bIns="0" rtlCol="0" anchor="ctr"/>
          <a:lstStyle/>
          <a:p>
            <a:pPr marL="0" indent="0" algn="ctr">
              <a:buNone/>
            </a:pPr>
            <a:r>
              <a:rPr lang="en-US" sz="700" b="1" dirty="0">
                <a:solidFill>
                  <a:srgbClr val="333333"/>
                </a:solidFill>
                <a:latin typeface="Montserrat" pitchFamily="34" charset="0"/>
                <a:ea typeface="Montserrat" pitchFamily="34" charset="-122"/>
                <a:cs typeface="Montserrat" pitchFamily="34" charset="-120"/>
              </a:rPr>
              <a:t>Demand Plng</a:t>
            </a:r>
            <a:endParaRPr lang="en-US" sz="700" dirty="0"/>
          </a:p>
        </p:txBody>
      </p:sp>
      <p:sp>
        <p:nvSpPr>
          <p:cNvPr id="156" name="Shape 154"/>
          <p:cNvSpPr/>
          <p:nvPr/>
        </p:nvSpPr>
        <p:spPr>
          <a:xfrm>
            <a:off x="6291072" y="4645152"/>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57" name="Shape 155"/>
          <p:cNvSpPr/>
          <p:nvPr/>
        </p:nvSpPr>
        <p:spPr>
          <a:xfrm>
            <a:off x="7454646" y="4690872"/>
            <a:ext cx="96012" cy="96012"/>
          </a:xfrm>
          <a:prstGeom prst="ellipse">
            <a:avLst/>
          </a:prstGeom>
          <a:solidFill>
            <a:srgbClr val="E0A32E"/>
          </a:solidFill>
          <a:ln w="9525">
            <a:solidFill>
              <a:srgbClr val="FDFDFD"/>
            </a:solidFill>
            <a:prstDash val="solid"/>
          </a:ln>
        </p:spPr>
        <p:txBody>
          <a:bodyPr/>
          <a:lstStyle/>
          <a:p>
            <a:endParaRPr lang="en-US"/>
          </a:p>
        </p:txBody>
      </p:sp>
      <p:sp>
        <p:nvSpPr>
          <p:cNvPr id="158" name="Text 156"/>
          <p:cNvSpPr/>
          <p:nvPr/>
        </p:nvSpPr>
        <p:spPr>
          <a:xfrm>
            <a:off x="6327648" y="4645152"/>
            <a:ext cx="1232154" cy="237744"/>
          </a:xfrm>
          <a:prstGeom prst="rect">
            <a:avLst/>
          </a:prstGeom>
          <a:noFill/>
          <a:ln/>
        </p:spPr>
        <p:txBody>
          <a:bodyPr wrap="square" lIns="0" tIns="0" rIns="0" bIns="0" rtlCol="0" anchor="ctr"/>
          <a:lstStyle/>
          <a:p>
            <a:pPr marL="0" indent="0" algn="ctr">
              <a:buNone/>
            </a:pPr>
            <a:r>
              <a:rPr lang="en-US" sz="700" b="1" dirty="0">
                <a:solidFill>
                  <a:srgbClr val="333333"/>
                </a:solidFill>
                <a:latin typeface="Montserrat" pitchFamily="34" charset="0"/>
                <a:ea typeface="Montserrat" pitchFamily="34" charset="-122"/>
                <a:cs typeface="Montserrat" pitchFamily="34" charset="-120"/>
              </a:rPr>
              <a:t>Merch Fin. Plng (OTB)</a:t>
            </a:r>
            <a:endParaRPr lang="en-US" sz="700" dirty="0"/>
          </a:p>
        </p:txBody>
      </p:sp>
      <p:sp>
        <p:nvSpPr>
          <p:cNvPr id="159" name="Shape 157"/>
          <p:cNvSpPr/>
          <p:nvPr/>
        </p:nvSpPr>
        <p:spPr>
          <a:xfrm>
            <a:off x="7660386" y="4645152"/>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60" name="Shape 158"/>
          <p:cNvSpPr/>
          <p:nvPr/>
        </p:nvSpPr>
        <p:spPr>
          <a:xfrm>
            <a:off x="8823960" y="4690872"/>
            <a:ext cx="96012" cy="96012"/>
          </a:xfrm>
          <a:prstGeom prst="ellipse">
            <a:avLst/>
          </a:prstGeom>
          <a:solidFill>
            <a:srgbClr val="E31837"/>
          </a:solidFill>
          <a:ln w="9525">
            <a:solidFill>
              <a:srgbClr val="FDFDFD"/>
            </a:solidFill>
            <a:prstDash val="solid"/>
          </a:ln>
        </p:spPr>
        <p:txBody>
          <a:bodyPr/>
          <a:lstStyle/>
          <a:p>
            <a:endParaRPr lang="en-US"/>
          </a:p>
        </p:txBody>
      </p:sp>
      <p:sp>
        <p:nvSpPr>
          <p:cNvPr id="161" name="Text 159"/>
          <p:cNvSpPr/>
          <p:nvPr/>
        </p:nvSpPr>
        <p:spPr>
          <a:xfrm>
            <a:off x="7696962" y="4645152"/>
            <a:ext cx="1232154" cy="237744"/>
          </a:xfrm>
          <a:prstGeom prst="rect">
            <a:avLst/>
          </a:prstGeom>
          <a:noFill/>
          <a:ln/>
        </p:spPr>
        <p:txBody>
          <a:bodyPr wrap="square" lIns="0" tIns="0" rIns="0" bIns="0" rtlCol="0" anchor="ctr"/>
          <a:lstStyle/>
          <a:p>
            <a:pPr marL="0" indent="0" algn="ctr">
              <a:buNone/>
            </a:pPr>
            <a:r>
              <a:rPr lang="en-US" sz="700" b="1" dirty="0">
                <a:solidFill>
                  <a:srgbClr val="333333"/>
                </a:solidFill>
                <a:latin typeface="Montserrat" pitchFamily="34" charset="0"/>
                <a:ea typeface="Montserrat" pitchFamily="34" charset="-122"/>
                <a:cs typeface="Montserrat" pitchFamily="34" charset="-120"/>
              </a:rPr>
              <a:t>Pricing Engine</a:t>
            </a:r>
            <a:endParaRPr lang="en-US" sz="700" dirty="0"/>
          </a:p>
        </p:txBody>
      </p:sp>
      <p:sp>
        <p:nvSpPr>
          <p:cNvPr id="162" name="Shape 160"/>
          <p:cNvSpPr/>
          <p:nvPr/>
        </p:nvSpPr>
        <p:spPr>
          <a:xfrm>
            <a:off x="9029700" y="4645152"/>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63" name="Shape 161"/>
          <p:cNvSpPr/>
          <p:nvPr/>
        </p:nvSpPr>
        <p:spPr>
          <a:xfrm>
            <a:off x="10193274" y="4690872"/>
            <a:ext cx="96012" cy="96012"/>
          </a:xfrm>
          <a:prstGeom prst="ellipse">
            <a:avLst/>
          </a:prstGeom>
          <a:solidFill>
            <a:srgbClr val="CFCFCF"/>
          </a:solidFill>
          <a:ln w="9525">
            <a:solidFill>
              <a:srgbClr val="FDFDFD"/>
            </a:solidFill>
            <a:prstDash val="solid"/>
          </a:ln>
        </p:spPr>
        <p:txBody>
          <a:bodyPr/>
          <a:lstStyle/>
          <a:p>
            <a:endParaRPr lang="en-US"/>
          </a:p>
        </p:txBody>
      </p:sp>
      <p:sp>
        <p:nvSpPr>
          <p:cNvPr id="164" name="Text 162"/>
          <p:cNvSpPr/>
          <p:nvPr/>
        </p:nvSpPr>
        <p:spPr>
          <a:xfrm>
            <a:off x="9066276" y="4645152"/>
            <a:ext cx="1232154" cy="237744"/>
          </a:xfrm>
          <a:prstGeom prst="rect">
            <a:avLst/>
          </a:prstGeom>
          <a:noFill/>
          <a:ln/>
        </p:spPr>
        <p:txBody>
          <a:bodyPr wrap="square" lIns="0" tIns="0" rIns="0" bIns="0" rtlCol="0" anchor="ctr"/>
          <a:lstStyle/>
          <a:p>
            <a:pPr marL="0" indent="0" algn="ctr">
              <a:buNone/>
            </a:pPr>
            <a:r>
              <a:rPr lang="en-US" sz="700" b="1" dirty="0">
                <a:solidFill>
                  <a:srgbClr val="333333"/>
                </a:solidFill>
                <a:latin typeface="Montserrat" pitchFamily="34" charset="0"/>
                <a:ea typeface="Montserrat" pitchFamily="34" charset="-122"/>
                <a:cs typeface="Montserrat" pitchFamily="34" charset="-120"/>
              </a:rPr>
              <a:t>Promotion Engine</a:t>
            </a:r>
            <a:endParaRPr lang="en-US" sz="700" dirty="0"/>
          </a:p>
        </p:txBody>
      </p:sp>
      <p:sp>
        <p:nvSpPr>
          <p:cNvPr id="165" name="Shape 163"/>
          <p:cNvSpPr/>
          <p:nvPr/>
        </p:nvSpPr>
        <p:spPr>
          <a:xfrm>
            <a:off x="10399014" y="4645152"/>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66" name="Shape 164"/>
          <p:cNvSpPr/>
          <p:nvPr/>
        </p:nvSpPr>
        <p:spPr>
          <a:xfrm>
            <a:off x="11562588" y="4690872"/>
            <a:ext cx="96012" cy="96012"/>
          </a:xfrm>
          <a:prstGeom prst="ellipse">
            <a:avLst/>
          </a:prstGeom>
          <a:solidFill>
            <a:srgbClr val="E31837"/>
          </a:solidFill>
          <a:ln w="9525">
            <a:solidFill>
              <a:srgbClr val="FDFDFD"/>
            </a:solidFill>
            <a:prstDash val="solid"/>
          </a:ln>
        </p:spPr>
        <p:txBody>
          <a:bodyPr/>
          <a:lstStyle/>
          <a:p>
            <a:endParaRPr lang="en-US"/>
          </a:p>
        </p:txBody>
      </p:sp>
      <p:sp>
        <p:nvSpPr>
          <p:cNvPr id="167" name="Text 165"/>
          <p:cNvSpPr/>
          <p:nvPr/>
        </p:nvSpPr>
        <p:spPr>
          <a:xfrm>
            <a:off x="10435590" y="4645152"/>
            <a:ext cx="1232154" cy="237744"/>
          </a:xfrm>
          <a:prstGeom prst="rect">
            <a:avLst/>
          </a:prstGeom>
          <a:noFill/>
          <a:ln/>
        </p:spPr>
        <p:txBody>
          <a:bodyPr wrap="square" lIns="0" tIns="0" rIns="0" bIns="0" rtlCol="0" anchor="ctr"/>
          <a:lstStyle/>
          <a:p>
            <a:pPr marL="0" indent="0" algn="ctr">
              <a:buNone/>
            </a:pPr>
            <a:r>
              <a:rPr lang="en-US" sz="700" b="1" dirty="0">
                <a:solidFill>
                  <a:srgbClr val="333333"/>
                </a:solidFill>
                <a:latin typeface="Montserrat" pitchFamily="34" charset="0"/>
                <a:ea typeface="Montserrat" pitchFamily="34" charset="-122"/>
                <a:cs typeface="Montserrat" pitchFamily="34" charset="-120"/>
              </a:rPr>
              <a:t>Markdown Optimisation</a:t>
            </a:r>
            <a:endParaRPr lang="en-US" sz="700" dirty="0"/>
          </a:p>
        </p:txBody>
      </p:sp>
      <p:sp>
        <p:nvSpPr>
          <p:cNvPr id="168" name="Shape 166"/>
          <p:cNvSpPr/>
          <p:nvPr/>
        </p:nvSpPr>
        <p:spPr>
          <a:xfrm>
            <a:off x="813816" y="4937760"/>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69" name="Shape 167"/>
          <p:cNvSpPr/>
          <p:nvPr/>
        </p:nvSpPr>
        <p:spPr>
          <a:xfrm>
            <a:off x="1703527" y="4983480"/>
            <a:ext cx="96012" cy="96012"/>
          </a:xfrm>
          <a:prstGeom prst="ellipse">
            <a:avLst/>
          </a:prstGeom>
          <a:solidFill>
            <a:srgbClr val="E0A32E"/>
          </a:solidFill>
          <a:ln w="9525">
            <a:solidFill>
              <a:srgbClr val="FDFDFD"/>
            </a:solidFill>
            <a:prstDash val="solid"/>
          </a:ln>
        </p:spPr>
        <p:txBody>
          <a:bodyPr/>
          <a:lstStyle/>
          <a:p>
            <a:endParaRPr lang="en-US"/>
          </a:p>
        </p:txBody>
      </p:sp>
      <p:sp>
        <p:nvSpPr>
          <p:cNvPr id="170" name="Text 168"/>
          <p:cNvSpPr/>
          <p:nvPr/>
        </p:nvSpPr>
        <p:spPr>
          <a:xfrm>
            <a:off x="850392" y="4937760"/>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eCommerce Platform</a:t>
            </a:r>
            <a:endParaRPr lang="en-US" sz="680" dirty="0"/>
          </a:p>
        </p:txBody>
      </p:sp>
      <p:sp>
        <p:nvSpPr>
          <p:cNvPr id="171" name="Shape 169"/>
          <p:cNvSpPr/>
          <p:nvPr/>
        </p:nvSpPr>
        <p:spPr>
          <a:xfrm>
            <a:off x="1909267" y="4937760"/>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72" name="Shape 170"/>
          <p:cNvSpPr/>
          <p:nvPr/>
        </p:nvSpPr>
        <p:spPr>
          <a:xfrm>
            <a:off x="2798978" y="4983480"/>
            <a:ext cx="96012" cy="96012"/>
          </a:xfrm>
          <a:prstGeom prst="ellipse">
            <a:avLst/>
          </a:prstGeom>
          <a:solidFill>
            <a:srgbClr val="CFCFCF"/>
          </a:solidFill>
          <a:ln w="9525">
            <a:solidFill>
              <a:srgbClr val="FDFDFD"/>
            </a:solidFill>
            <a:prstDash val="solid"/>
          </a:ln>
        </p:spPr>
        <p:txBody>
          <a:bodyPr/>
          <a:lstStyle/>
          <a:p>
            <a:endParaRPr lang="en-US"/>
          </a:p>
        </p:txBody>
      </p:sp>
      <p:sp>
        <p:nvSpPr>
          <p:cNvPr id="173" name="Text 171"/>
          <p:cNvSpPr/>
          <p:nvPr/>
        </p:nvSpPr>
        <p:spPr>
          <a:xfrm>
            <a:off x="1945843" y="4937760"/>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Search &amp; Merch</a:t>
            </a:r>
            <a:endParaRPr lang="en-US" sz="680" dirty="0"/>
          </a:p>
        </p:txBody>
      </p:sp>
      <p:sp>
        <p:nvSpPr>
          <p:cNvPr id="174" name="Shape 172"/>
          <p:cNvSpPr/>
          <p:nvPr/>
        </p:nvSpPr>
        <p:spPr>
          <a:xfrm>
            <a:off x="3004718" y="4937760"/>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75" name="Shape 173"/>
          <p:cNvSpPr/>
          <p:nvPr/>
        </p:nvSpPr>
        <p:spPr>
          <a:xfrm>
            <a:off x="3894430" y="4983480"/>
            <a:ext cx="96012" cy="96012"/>
          </a:xfrm>
          <a:prstGeom prst="ellipse">
            <a:avLst/>
          </a:prstGeom>
          <a:solidFill>
            <a:srgbClr val="CFCFCF"/>
          </a:solidFill>
          <a:ln w="9525">
            <a:solidFill>
              <a:srgbClr val="FDFDFD"/>
            </a:solidFill>
            <a:prstDash val="solid"/>
          </a:ln>
        </p:spPr>
        <p:txBody>
          <a:bodyPr/>
          <a:lstStyle/>
          <a:p>
            <a:endParaRPr lang="en-US"/>
          </a:p>
        </p:txBody>
      </p:sp>
      <p:sp>
        <p:nvSpPr>
          <p:cNvPr id="176" name="Text 174"/>
          <p:cNvSpPr/>
          <p:nvPr/>
        </p:nvSpPr>
        <p:spPr>
          <a:xfrm>
            <a:off x="3041294" y="4937760"/>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CMS / DAM</a:t>
            </a:r>
            <a:endParaRPr lang="en-US" sz="680" dirty="0"/>
          </a:p>
        </p:txBody>
      </p:sp>
      <p:sp>
        <p:nvSpPr>
          <p:cNvPr id="177" name="Shape 175"/>
          <p:cNvSpPr/>
          <p:nvPr/>
        </p:nvSpPr>
        <p:spPr>
          <a:xfrm>
            <a:off x="4100170" y="4937760"/>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78" name="Shape 176"/>
          <p:cNvSpPr/>
          <p:nvPr/>
        </p:nvSpPr>
        <p:spPr>
          <a:xfrm>
            <a:off x="4989881" y="4983480"/>
            <a:ext cx="96012" cy="96012"/>
          </a:xfrm>
          <a:prstGeom prst="ellipse">
            <a:avLst/>
          </a:prstGeom>
          <a:solidFill>
            <a:srgbClr val="CFCFCF"/>
          </a:solidFill>
          <a:ln w="9525">
            <a:solidFill>
              <a:srgbClr val="FDFDFD"/>
            </a:solidFill>
            <a:prstDash val="solid"/>
          </a:ln>
        </p:spPr>
        <p:txBody>
          <a:bodyPr/>
          <a:lstStyle/>
          <a:p>
            <a:endParaRPr lang="en-US"/>
          </a:p>
        </p:txBody>
      </p:sp>
      <p:sp>
        <p:nvSpPr>
          <p:cNvPr id="179" name="Text 177"/>
          <p:cNvSpPr/>
          <p:nvPr/>
        </p:nvSpPr>
        <p:spPr>
          <a:xfrm>
            <a:off x="4136746" y="4937760"/>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OMS</a:t>
            </a:r>
            <a:endParaRPr lang="en-US" sz="680" dirty="0"/>
          </a:p>
        </p:txBody>
      </p:sp>
      <p:sp>
        <p:nvSpPr>
          <p:cNvPr id="180" name="Shape 178"/>
          <p:cNvSpPr/>
          <p:nvPr/>
        </p:nvSpPr>
        <p:spPr>
          <a:xfrm>
            <a:off x="5195621" y="4937760"/>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81" name="Shape 179"/>
          <p:cNvSpPr/>
          <p:nvPr/>
        </p:nvSpPr>
        <p:spPr>
          <a:xfrm>
            <a:off x="6085332" y="4983480"/>
            <a:ext cx="96012" cy="96012"/>
          </a:xfrm>
          <a:prstGeom prst="ellipse">
            <a:avLst/>
          </a:prstGeom>
          <a:solidFill>
            <a:srgbClr val="E0A32E"/>
          </a:solidFill>
          <a:ln w="9525">
            <a:solidFill>
              <a:srgbClr val="FDFDFD"/>
            </a:solidFill>
            <a:prstDash val="solid"/>
          </a:ln>
        </p:spPr>
        <p:txBody>
          <a:bodyPr/>
          <a:lstStyle/>
          <a:p>
            <a:endParaRPr lang="en-US"/>
          </a:p>
        </p:txBody>
      </p:sp>
      <p:sp>
        <p:nvSpPr>
          <p:cNvPr id="182" name="Text 180"/>
          <p:cNvSpPr/>
          <p:nvPr/>
        </p:nvSpPr>
        <p:spPr>
          <a:xfrm>
            <a:off x="5232197" y="4937760"/>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Inventory Mgmt</a:t>
            </a:r>
            <a:endParaRPr lang="en-US" sz="680" dirty="0"/>
          </a:p>
        </p:txBody>
      </p:sp>
      <p:sp>
        <p:nvSpPr>
          <p:cNvPr id="183" name="Shape 181"/>
          <p:cNvSpPr/>
          <p:nvPr/>
        </p:nvSpPr>
        <p:spPr>
          <a:xfrm>
            <a:off x="6291072" y="4937760"/>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84" name="Shape 182"/>
          <p:cNvSpPr/>
          <p:nvPr/>
        </p:nvSpPr>
        <p:spPr>
          <a:xfrm>
            <a:off x="7180783" y="4983480"/>
            <a:ext cx="96012" cy="96012"/>
          </a:xfrm>
          <a:prstGeom prst="ellipse">
            <a:avLst/>
          </a:prstGeom>
          <a:solidFill>
            <a:srgbClr val="CFCFCF"/>
          </a:solidFill>
          <a:ln w="9525">
            <a:solidFill>
              <a:srgbClr val="FDFDFD"/>
            </a:solidFill>
            <a:prstDash val="solid"/>
          </a:ln>
        </p:spPr>
        <p:txBody>
          <a:bodyPr/>
          <a:lstStyle/>
          <a:p>
            <a:endParaRPr lang="en-US"/>
          </a:p>
        </p:txBody>
      </p:sp>
      <p:sp>
        <p:nvSpPr>
          <p:cNvPr id="185" name="Text 183"/>
          <p:cNvSpPr/>
          <p:nvPr/>
        </p:nvSpPr>
        <p:spPr>
          <a:xfrm>
            <a:off x="6327648" y="4937760"/>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WMS</a:t>
            </a:r>
            <a:endParaRPr lang="en-US" sz="680" dirty="0"/>
          </a:p>
        </p:txBody>
      </p:sp>
      <p:sp>
        <p:nvSpPr>
          <p:cNvPr id="186" name="Shape 184"/>
          <p:cNvSpPr/>
          <p:nvPr/>
        </p:nvSpPr>
        <p:spPr>
          <a:xfrm>
            <a:off x="7386523" y="4937760"/>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87" name="Shape 185"/>
          <p:cNvSpPr/>
          <p:nvPr/>
        </p:nvSpPr>
        <p:spPr>
          <a:xfrm>
            <a:off x="8276234" y="4983480"/>
            <a:ext cx="96012" cy="96012"/>
          </a:xfrm>
          <a:prstGeom prst="ellipse">
            <a:avLst/>
          </a:prstGeom>
          <a:solidFill>
            <a:srgbClr val="CFCFCF"/>
          </a:solidFill>
          <a:ln w="9525">
            <a:solidFill>
              <a:srgbClr val="FDFDFD"/>
            </a:solidFill>
            <a:prstDash val="solid"/>
          </a:ln>
        </p:spPr>
        <p:txBody>
          <a:bodyPr/>
          <a:lstStyle/>
          <a:p>
            <a:endParaRPr lang="en-US"/>
          </a:p>
        </p:txBody>
      </p:sp>
      <p:sp>
        <p:nvSpPr>
          <p:cNvPr id="188" name="Text 186"/>
          <p:cNvSpPr/>
          <p:nvPr/>
        </p:nvSpPr>
        <p:spPr>
          <a:xfrm>
            <a:off x="7423099" y="4937760"/>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TMS / Last-mile</a:t>
            </a:r>
            <a:endParaRPr lang="en-US" sz="680" dirty="0"/>
          </a:p>
        </p:txBody>
      </p:sp>
      <p:sp>
        <p:nvSpPr>
          <p:cNvPr id="189" name="Shape 187"/>
          <p:cNvSpPr/>
          <p:nvPr/>
        </p:nvSpPr>
        <p:spPr>
          <a:xfrm>
            <a:off x="8481974" y="4937760"/>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90" name="Shape 188"/>
          <p:cNvSpPr/>
          <p:nvPr/>
        </p:nvSpPr>
        <p:spPr>
          <a:xfrm>
            <a:off x="9371686" y="4983480"/>
            <a:ext cx="96012" cy="96012"/>
          </a:xfrm>
          <a:prstGeom prst="ellipse">
            <a:avLst/>
          </a:prstGeom>
          <a:solidFill>
            <a:srgbClr val="6E8F3E"/>
          </a:solidFill>
          <a:ln w="9525">
            <a:solidFill>
              <a:srgbClr val="FDFDFD"/>
            </a:solidFill>
            <a:prstDash val="solid"/>
          </a:ln>
        </p:spPr>
        <p:txBody>
          <a:bodyPr/>
          <a:lstStyle/>
          <a:p>
            <a:endParaRPr lang="en-US"/>
          </a:p>
        </p:txBody>
      </p:sp>
      <p:sp>
        <p:nvSpPr>
          <p:cNvPr id="191" name="Text 189"/>
          <p:cNvSpPr/>
          <p:nvPr/>
        </p:nvSpPr>
        <p:spPr>
          <a:xfrm>
            <a:off x="8518550" y="4937760"/>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Store POS</a:t>
            </a:r>
            <a:endParaRPr lang="en-US" sz="680" dirty="0"/>
          </a:p>
        </p:txBody>
      </p:sp>
      <p:sp>
        <p:nvSpPr>
          <p:cNvPr id="192" name="Shape 190"/>
          <p:cNvSpPr/>
          <p:nvPr/>
        </p:nvSpPr>
        <p:spPr>
          <a:xfrm>
            <a:off x="9577426" y="4937760"/>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93" name="Shape 191"/>
          <p:cNvSpPr/>
          <p:nvPr/>
        </p:nvSpPr>
        <p:spPr>
          <a:xfrm>
            <a:off x="10467137" y="4983480"/>
            <a:ext cx="96012" cy="96012"/>
          </a:xfrm>
          <a:prstGeom prst="ellipse">
            <a:avLst/>
          </a:prstGeom>
          <a:solidFill>
            <a:srgbClr val="6E8F3E"/>
          </a:solidFill>
          <a:ln w="9525">
            <a:solidFill>
              <a:srgbClr val="FDFDFD"/>
            </a:solidFill>
            <a:prstDash val="solid"/>
          </a:ln>
        </p:spPr>
        <p:txBody>
          <a:bodyPr/>
          <a:lstStyle/>
          <a:p>
            <a:endParaRPr lang="en-US"/>
          </a:p>
        </p:txBody>
      </p:sp>
      <p:sp>
        <p:nvSpPr>
          <p:cNvPr id="194" name="Text 192"/>
          <p:cNvSpPr/>
          <p:nvPr/>
        </p:nvSpPr>
        <p:spPr>
          <a:xfrm>
            <a:off x="9614002" y="4937760"/>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Click &amp; Collect</a:t>
            </a:r>
            <a:endParaRPr lang="en-US" sz="680" dirty="0"/>
          </a:p>
        </p:txBody>
      </p:sp>
      <p:sp>
        <p:nvSpPr>
          <p:cNvPr id="195" name="Shape 193"/>
          <p:cNvSpPr/>
          <p:nvPr/>
        </p:nvSpPr>
        <p:spPr>
          <a:xfrm>
            <a:off x="10672877" y="4937760"/>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96" name="Shape 194"/>
          <p:cNvSpPr/>
          <p:nvPr/>
        </p:nvSpPr>
        <p:spPr>
          <a:xfrm>
            <a:off x="11562588" y="4983480"/>
            <a:ext cx="96012" cy="96012"/>
          </a:xfrm>
          <a:prstGeom prst="ellipse">
            <a:avLst/>
          </a:prstGeom>
          <a:solidFill>
            <a:srgbClr val="E0A32E"/>
          </a:solidFill>
          <a:ln w="9525">
            <a:solidFill>
              <a:srgbClr val="FDFDFD"/>
            </a:solidFill>
            <a:prstDash val="solid"/>
          </a:ln>
        </p:spPr>
        <p:txBody>
          <a:bodyPr/>
          <a:lstStyle/>
          <a:p>
            <a:endParaRPr lang="en-US"/>
          </a:p>
        </p:txBody>
      </p:sp>
      <p:sp>
        <p:nvSpPr>
          <p:cNvPr id="197" name="Text 195"/>
          <p:cNvSpPr/>
          <p:nvPr/>
        </p:nvSpPr>
        <p:spPr>
          <a:xfrm>
            <a:off x="10709453" y="4937760"/>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Returns / Reverse Log.</a:t>
            </a:r>
            <a:endParaRPr lang="en-US" sz="680" dirty="0"/>
          </a:p>
        </p:txBody>
      </p:sp>
      <p:sp>
        <p:nvSpPr>
          <p:cNvPr id="198" name="Shape 196"/>
          <p:cNvSpPr/>
          <p:nvPr/>
        </p:nvSpPr>
        <p:spPr>
          <a:xfrm>
            <a:off x="813816" y="5230368"/>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199" name="Shape 197"/>
          <p:cNvSpPr/>
          <p:nvPr/>
        </p:nvSpPr>
        <p:spPr>
          <a:xfrm>
            <a:off x="1703527" y="5276088"/>
            <a:ext cx="96012" cy="96012"/>
          </a:xfrm>
          <a:prstGeom prst="ellipse">
            <a:avLst/>
          </a:prstGeom>
          <a:solidFill>
            <a:srgbClr val="E31837"/>
          </a:solidFill>
          <a:ln w="9525">
            <a:solidFill>
              <a:srgbClr val="FDFDFD"/>
            </a:solidFill>
            <a:prstDash val="solid"/>
          </a:ln>
        </p:spPr>
        <p:txBody>
          <a:bodyPr/>
          <a:lstStyle/>
          <a:p>
            <a:endParaRPr lang="en-US"/>
          </a:p>
        </p:txBody>
      </p:sp>
      <p:sp>
        <p:nvSpPr>
          <p:cNvPr id="200" name="Text 198"/>
          <p:cNvSpPr/>
          <p:nvPr/>
        </p:nvSpPr>
        <p:spPr>
          <a:xfrm>
            <a:off x="850392" y="5230368"/>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CDP</a:t>
            </a:r>
            <a:endParaRPr lang="en-US" sz="680" dirty="0"/>
          </a:p>
        </p:txBody>
      </p:sp>
      <p:sp>
        <p:nvSpPr>
          <p:cNvPr id="201" name="Shape 199"/>
          <p:cNvSpPr/>
          <p:nvPr/>
        </p:nvSpPr>
        <p:spPr>
          <a:xfrm>
            <a:off x="1909267" y="5230368"/>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02" name="Shape 200"/>
          <p:cNvSpPr/>
          <p:nvPr/>
        </p:nvSpPr>
        <p:spPr>
          <a:xfrm>
            <a:off x="2798978" y="5276088"/>
            <a:ext cx="96012" cy="96012"/>
          </a:xfrm>
          <a:prstGeom prst="ellipse">
            <a:avLst/>
          </a:prstGeom>
          <a:solidFill>
            <a:srgbClr val="CFCFCF"/>
          </a:solidFill>
          <a:ln w="9525">
            <a:solidFill>
              <a:srgbClr val="FDFDFD"/>
            </a:solidFill>
            <a:prstDash val="solid"/>
          </a:ln>
        </p:spPr>
        <p:txBody>
          <a:bodyPr/>
          <a:lstStyle/>
          <a:p>
            <a:endParaRPr lang="en-US"/>
          </a:p>
        </p:txBody>
      </p:sp>
      <p:sp>
        <p:nvSpPr>
          <p:cNvPr id="203" name="Text 201"/>
          <p:cNvSpPr/>
          <p:nvPr/>
        </p:nvSpPr>
        <p:spPr>
          <a:xfrm>
            <a:off x="1945843" y="5230368"/>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CRM</a:t>
            </a:r>
            <a:endParaRPr lang="en-US" sz="680" dirty="0"/>
          </a:p>
        </p:txBody>
      </p:sp>
      <p:sp>
        <p:nvSpPr>
          <p:cNvPr id="204" name="Shape 202"/>
          <p:cNvSpPr/>
          <p:nvPr/>
        </p:nvSpPr>
        <p:spPr>
          <a:xfrm>
            <a:off x="3004718" y="5230368"/>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05" name="Shape 203"/>
          <p:cNvSpPr/>
          <p:nvPr/>
        </p:nvSpPr>
        <p:spPr>
          <a:xfrm>
            <a:off x="3894430" y="5276088"/>
            <a:ext cx="96012" cy="96012"/>
          </a:xfrm>
          <a:prstGeom prst="ellipse">
            <a:avLst/>
          </a:prstGeom>
          <a:solidFill>
            <a:srgbClr val="6E8F3E"/>
          </a:solidFill>
          <a:ln w="9525">
            <a:solidFill>
              <a:srgbClr val="FDFDFD"/>
            </a:solidFill>
            <a:prstDash val="solid"/>
          </a:ln>
        </p:spPr>
        <p:txBody>
          <a:bodyPr/>
          <a:lstStyle/>
          <a:p>
            <a:endParaRPr lang="en-US"/>
          </a:p>
        </p:txBody>
      </p:sp>
      <p:sp>
        <p:nvSpPr>
          <p:cNvPr id="206" name="Text 204"/>
          <p:cNvSpPr/>
          <p:nvPr/>
        </p:nvSpPr>
        <p:spPr>
          <a:xfrm>
            <a:off x="3041294" y="5230368"/>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Loyalty Mgmt</a:t>
            </a:r>
            <a:endParaRPr lang="en-US" sz="680" dirty="0"/>
          </a:p>
        </p:txBody>
      </p:sp>
      <p:sp>
        <p:nvSpPr>
          <p:cNvPr id="207" name="Shape 205"/>
          <p:cNvSpPr/>
          <p:nvPr/>
        </p:nvSpPr>
        <p:spPr>
          <a:xfrm>
            <a:off x="4100170" y="5230368"/>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08" name="Shape 206"/>
          <p:cNvSpPr/>
          <p:nvPr/>
        </p:nvSpPr>
        <p:spPr>
          <a:xfrm>
            <a:off x="4989881" y="5276088"/>
            <a:ext cx="96012" cy="96012"/>
          </a:xfrm>
          <a:prstGeom prst="ellipse">
            <a:avLst/>
          </a:prstGeom>
          <a:solidFill>
            <a:srgbClr val="CFCFCF"/>
          </a:solidFill>
          <a:ln w="9525">
            <a:solidFill>
              <a:srgbClr val="FDFDFD"/>
            </a:solidFill>
            <a:prstDash val="solid"/>
          </a:ln>
        </p:spPr>
        <p:txBody>
          <a:bodyPr/>
          <a:lstStyle/>
          <a:p>
            <a:endParaRPr lang="en-US"/>
          </a:p>
        </p:txBody>
      </p:sp>
      <p:sp>
        <p:nvSpPr>
          <p:cNvPr id="209" name="Text 207"/>
          <p:cNvSpPr/>
          <p:nvPr/>
        </p:nvSpPr>
        <p:spPr>
          <a:xfrm>
            <a:off x="4136746" y="5230368"/>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Campaign / Marketing</a:t>
            </a:r>
            <a:endParaRPr lang="en-US" sz="680" dirty="0"/>
          </a:p>
        </p:txBody>
      </p:sp>
      <p:sp>
        <p:nvSpPr>
          <p:cNvPr id="210" name="Shape 208"/>
          <p:cNvSpPr/>
          <p:nvPr/>
        </p:nvSpPr>
        <p:spPr>
          <a:xfrm>
            <a:off x="5195621" y="5230368"/>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11" name="Shape 209"/>
          <p:cNvSpPr/>
          <p:nvPr/>
        </p:nvSpPr>
        <p:spPr>
          <a:xfrm>
            <a:off x="6085332" y="5276088"/>
            <a:ext cx="96012" cy="96012"/>
          </a:xfrm>
          <a:prstGeom prst="ellipse">
            <a:avLst/>
          </a:prstGeom>
          <a:solidFill>
            <a:srgbClr val="6E8F3E"/>
          </a:solidFill>
          <a:ln w="9525">
            <a:solidFill>
              <a:srgbClr val="FDFDFD"/>
            </a:solidFill>
            <a:prstDash val="solid"/>
          </a:ln>
        </p:spPr>
        <p:txBody>
          <a:bodyPr/>
          <a:lstStyle/>
          <a:p>
            <a:endParaRPr lang="en-US"/>
          </a:p>
        </p:txBody>
      </p:sp>
      <p:sp>
        <p:nvSpPr>
          <p:cNvPr id="212" name="Text 210"/>
          <p:cNvSpPr/>
          <p:nvPr/>
        </p:nvSpPr>
        <p:spPr>
          <a:xfrm>
            <a:off x="5232197" y="5230368"/>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Contact Centre / CSM</a:t>
            </a:r>
            <a:endParaRPr lang="en-US" sz="680" dirty="0"/>
          </a:p>
        </p:txBody>
      </p:sp>
      <p:sp>
        <p:nvSpPr>
          <p:cNvPr id="213" name="Shape 211"/>
          <p:cNvSpPr/>
          <p:nvPr/>
        </p:nvSpPr>
        <p:spPr>
          <a:xfrm>
            <a:off x="6291072" y="5230368"/>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14" name="Shape 212"/>
          <p:cNvSpPr/>
          <p:nvPr/>
        </p:nvSpPr>
        <p:spPr>
          <a:xfrm>
            <a:off x="7180783" y="5276088"/>
            <a:ext cx="96012" cy="96012"/>
          </a:xfrm>
          <a:prstGeom prst="ellipse">
            <a:avLst/>
          </a:prstGeom>
          <a:solidFill>
            <a:srgbClr val="CFCFCF"/>
          </a:solidFill>
          <a:ln w="9525">
            <a:solidFill>
              <a:srgbClr val="FDFDFD"/>
            </a:solidFill>
            <a:prstDash val="solid"/>
          </a:ln>
        </p:spPr>
        <p:txBody>
          <a:bodyPr/>
          <a:lstStyle/>
          <a:p>
            <a:endParaRPr lang="en-US"/>
          </a:p>
        </p:txBody>
      </p:sp>
      <p:sp>
        <p:nvSpPr>
          <p:cNvPr id="215" name="Text 213"/>
          <p:cNvSpPr/>
          <p:nvPr/>
        </p:nvSpPr>
        <p:spPr>
          <a:xfrm>
            <a:off x="6327648" y="5230368"/>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Payment Gateway</a:t>
            </a:r>
            <a:endParaRPr lang="en-US" sz="680" dirty="0"/>
          </a:p>
        </p:txBody>
      </p:sp>
      <p:sp>
        <p:nvSpPr>
          <p:cNvPr id="216" name="Shape 214"/>
          <p:cNvSpPr/>
          <p:nvPr/>
        </p:nvSpPr>
        <p:spPr>
          <a:xfrm>
            <a:off x="7386523" y="5230368"/>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17" name="Shape 215"/>
          <p:cNvSpPr/>
          <p:nvPr/>
        </p:nvSpPr>
        <p:spPr>
          <a:xfrm>
            <a:off x="8276234" y="5276088"/>
            <a:ext cx="96012" cy="96012"/>
          </a:xfrm>
          <a:prstGeom prst="ellipse">
            <a:avLst/>
          </a:prstGeom>
          <a:solidFill>
            <a:srgbClr val="CFCFCF"/>
          </a:solidFill>
          <a:ln w="9525">
            <a:solidFill>
              <a:srgbClr val="FDFDFD"/>
            </a:solidFill>
            <a:prstDash val="solid"/>
          </a:ln>
        </p:spPr>
        <p:txBody>
          <a:bodyPr/>
          <a:lstStyle/>
          <a:p>
            <a:endParaRPr lang="en-US"/>
          </a:p>
        </p:txBody>
      </p:sp>
      <p:sp>
        <p:nvSpPr>
          <p:cNvPr id="218" name="Text 216"/>
          <p:cNvSpPr/>
          <p:nvPr/>
        </p:nvSpPr>
        <p:spPr>
          <a:xfrm>
            <a:off x="7423099" y="5230368"/>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Fraud Mgmt</a:t>
            </a:r>
            <a:endParaRPr lang="en-US" sz="680" dirty="0"/>
          </a:p>
        </p:txBody>
      </p:sp>
      <p:sp>
        <p:nvSpPr>
          <p:cNvPr id="219" name="Shape 217"/>
          <p:cNvSpPr/>
          <p:nvPr/>
        </p:nvSpPr>
        <p:spPr>
          <a:xfrm>
            <a:off x="8481974" y="5230368"/>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20" name="Shape 218"/>
          <p:cNvSpPr/>
          <p:nvPr/>
        </p:nvSpPr>
        <p:spPr>
          <a:xfrm>
            <a:off x="9371686" y="5276088"/>
            <a:ext cx="96012" cy="96012"/>
          </a:xfrm>
          <a:prstGeom prst="ellipse">
            <a:avLst/>
          </a:prstGeom>
          <a:solidFill>
            <a:srgbClr val="E0A32E"/>
          </a:solidFill>
          <a:ln w="9525">
            <a:solidFill>
              <a:srgbClr val="FDFDFD"/>
            </a:solidFill>
            <a:prstDash val="solid"/>
          </a:ln>
        </p:spPr>
        <p:txBody>
          <a:bodyPr/>
          <a:lstStyle/>
          <a:p>
            <a:endParaRPr lang="en-US"/>
          </a:p>
        </p:txBody>
      </p:sp>
      <p:sp>
        <p:nvSpPr>
          <p:cNvPr id="221" name="Text 219"/>
          <p:cNvSpPr/>
          <p:nvPr/>
        </p:nvSpPr>
        <p:spPr>
          <a:xfrm>
            <a:off x="8518550" y="5230368"/>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ERP (system of record)</a:t>
            </a:r>
            <a:endParaRPr lang="en-US" sz="680" dirty="0"/>
          </a:p>
        </p:txBody>
      </p:sp>
      <p:sp>
        <p:nvSpPr>
          <p:cNvPr id="222" name="Shape 220"/>
          <p:cNvSpPr/>
          <p:nvPr/>
        </p:nvSpPr>
        <p:spPr>
          <a:xfrm>
            <a:off x="9577426" y="5230368"/>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23" name="Shape 221"/>
          <p:cNvSpPr/>
          <p:nvPr/>
        </p:nvSpPr>
        <p:spPr>
          <a:xfrm>
            <a:off x="10467137" y="5276088"/>
            <a:ext cx="96012" cy="96012"/>
          </a:xfrm>
          <a:prstGeom prst="ellipse">
            <a:avLst/>
          </a:prstGeom>
          <a:solidFill>
            <a:srgbClr val="CFCFCF"/>
          </a:solidFill>
          <a:ln w="9525">
            <a:solidFill>
              <a:srgbClr val="FDFDFD"/>
            </a:solidFill>
            <a:prstDash val="solid"/>
          </a:ln>
        </p:spPr>
        <p:txBody>
          <a:bodyPr/>
          <a:lstStyle/>
          <a:p>
            <a:endParaRPr lang="en-US"/>
          </a:p>
        </p:txBody>
      </p:sp>
      <p:sp>
        <p:nvSpPr>
          <p:cNvPr id="224" name="Text 222"/>
          <p:cNvSpPr/>
          <p:nvPr/>
        </p:nvSpPr>
        <p:spPr>
          <a:xfrm>
            <a:off x="9614002" y="5230368"/>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Supplier Mgmt (SRM)</a:t>
            </a:r>
            <a:endParaRPr lang="en-US" sz="680" dirty="0"/>
          </a:p>
        </p:txBody>
      </p:sp>
      <p:sp>
        <p:nvSpPr>
          <p:cNvPr id="225" name="Shape 223"/>
          <p:cNvSpPr/>
          <p:nvPr/>
        </p:nvSpPr>
        <p:spPr>
          <a:xfrm>
            <a:off x="10672877" y="5230368"/>
            <a:ext cx="1031443"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26" name="Shape 224"/>
          <p:cNvSpPr/>
          <p:nvPr/>
        </p:nvSpPr>
        <p:spPr>
          <a:xfrm>
            <a:off x="11562588" y="5276088"/>
            <a:ext cx="96012" cy="96012"/>
          </a:xfrm>
          <a:prstGeom prst="ellipse">
            <a:avLst/>
          </a:prstGeom>
          <a:solidFill>
            <a:srgbClr val="CFCFCF"/>
          </a:solidFill>
          <a:ln w="9525">
            <a:solidFill>
              <a:srgbClr val="FDFDFD"/>
            </a:solidFill>
            <a:prstDash val="solid"/>
          </a:ln>
        </p:spPr>
        <p:txBody>
          <a:bodyPr/>
          <a:lstStyle/>
          <a:p>
            <a:endParaRPr lang="en-US"/>
          </a:p>
        </p:txBody>
      </p:sp>
      <p:sp>
        <p:nvSpPr>
          <p:cNvPr id="227" name="Text 225"/>
          <p:cNvSpPr/>
          <p:nvPr/>
        </p:nvSpPr>
        <p:spPr>
          <a:xfrm>
            <a:off x="10709453" y="5230368"/>
            <a:ext cx="958291" cy="237744"/>
          </a:xfrm>
          <a:prstGeom prst="rect">
            <a:avLst/>
          </a:prstGeom>
          <a:noFill/>
          <a:ln/>
        </p:spPr>
        <p:txBody>
          <a:bodyPr wrap="square" lIns="0" tIns="0" rIns="0" bIns="0" rtlCol="0" anchor="ctr"/>
          <a:lstStyle/>
          <a:p>
            <a:pPr marL="0" indent="0" algn="ctr">
              <a:buNone/>
            </a:pPr>
            <a:r>
              <a:rPr lang="en-US" sz="680" b="1" dirty="0">
                <a:solidFill>
                  <a:srgbClr val="333333"/>
                </a:solidFill>
                <a:latin typeface="Montserrat" pitchFamily="34" charset="0"/>
                <a:ea typeface="Montserrat" pitchFamily="34" charset="-122"/>
                <a:cs typeface="Montserrat" pitchFamily="34" charset="-120"/>
              </a:rPr>
              <a:t>Financial Ledger</a:t>
            </a:r>
            <a:endParaRPr lang="en-US" sz="680" dirty="0"/>
          </a:p>
        </p:txBody>
      </p:sp>
      <p:sp>
        <p:nvSpPr>
          <p:cNvPr id="228" name="Shape 226"/>
          <p:cNvSpPr/>
          <p:nvPr/>
        </p:nvSpPr>
        <p:spPr>
          <a:xfrm>
            <a:off x="813816" y="5522976"/>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29" name="Shape 227"/>
          <p:cNvSpPr/>
          <p:nvPr/>
        </p:nvSpPr>
        <p:spPr>
          <a:xfrm>
            <a:off x="1977390" y="5568696"/>
            <a:ext cx="96012" cy="96012"/>
          </a:xfrm>
          <a:prstGeom prst="ellipse">
            <a:avLst/>
          </a:prstGeom>
          <a:solidFill>
            <a:srgbClr val="E0A32E"/>
          </a:solidFill>
          <a:ln w="9525">
            <a:solidFill>
              <a:srgbClr val="FDFDFD"/>
            </a:solidFill>
            <a:prstDash val="solid"/>
          </a:ln>
        </p:spPr>
        <p:txBody>
          <a:bodyPr/>
          <a:lstStyle/>
          <a:p>
            <a:endParaRPr lang="en-US"/>
          </a:p>
        </p:txBody>
      </p:sp>
      <p:sp>
        <p:nvSpPr>
          <p:cNvPr id="230" name="Text 228"/>
          <p:cNvSpPr/>
          <p:nvPr/>
        </p:nvSpPr>
        <p:spPr>
          <a:xfrm>
            <a:off x="850392" y="5522976"/>
            <a:ext cx="1232154" cy="237744"/>
          </a:xfrm>
          <a:prstGeom prst="rect">
            <a:avLst/>
          </a:prstGeom>
          <a:noFill/>
          <a:ln/>
        </p:spPr>
        <p:txBody>
          <a:bodyPr wrap="square" lIns="0" tIns="0" rIns="0" bIns="0" rtlCol="0" anchor="ctr"/>
          <a:lstStyle/>
          <a:p>
            <a:pPr marL="0" indent="0" algn="ctr">
              <a:buNone/>
            </a:pPr>
            <a:r>
              <a:rPr lang="en-US" sz="660" b="1" dirty="0">
                <a:solidFill>
                  <a:srgbClr val="333333"/>
                </a:solidFill>
                <a:latin typeface="Montserrat" pitchFamily="34" charset="0"/>
                <a:ea typeface="Montserrat" pitchFamily="34" charset="-122"/>
                <a:cs typeface="Montserrat" pitchFamily="34" charset="-120"/>
              </a:rPr>
              <a:t>Space &amp; Visual Merch</a:t>
            </a:r>
            <a:endParaRPr lang="en-US" sz="660" dirty="0"/>
          </a:p>
        </p:txBody>
      </p:sp>
      <p:sp>
        <p:nvSpPr>
          <p:cNvPr id="231" name="Shape 229"/>
          <p:cNvSpPr/>
          <p:nvPr/>
        </p:nvSpPr>
        <p:spPr>
          <a:xfrm>
            <a:off x="2183130" y="5522976"/>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32" name="Shape 230"/>
          <p:cNvSpPr/>
          <p:nvPr/>
        </p:nvSpPr>
        <p:spPr>
          <a:xfrm>
            <a:off x="3346704" y="5568696"/>
            <a:ext cx="96012" cy="96012"/>
          </a:xfrm>
          <a:prstGeom prst="ellipse">
            <a:avLst/>
          </a:prstGeom>
          <a:solidFill>
            <a:srgbClr val="E0A32E"/>
          </a:solidFill>
          <a:ln w="9525">
            <a:solidFill>
              <a:srgbClr val="FDFDFD"/>
            </a:solidFill>
            <a:prstDash val="solid"/>
          </a:ln>
        </p:spPr>
        <p:txBody>
          <a:bodyPr/>
          <a:lstStyle/>
          <a:p>
            <a:endParaRPr lang="en-US"/>
          </a:p>
        </p:txBody>
      </p:sp>
      <p:sp>
        <p:nvSpPr>
          <p:cNvPr id="233" name="Text 231"/>
          <p:cNvSpPr/>
          <p:nvPr/>
        </p:nvSpPr>
        <p:spPr>
          <a:xfrm>
            <a:off x="2219706" y="5522976"/>
            <a:ext cx="1232154" cy="237744"/>
          </a:xfrm>
          <a:prstGeom prst="rect">
            <a:avLst/>
          </a:prstGeom>
          <a:noFill/>
          <a:ln/>
        </p:spPr>
        <p:txBody>
          <a:bodyPr wrap="square" lIns="0" tIns="0" rIns="0" bIns="0" rtlCol="0" anchor="ctr"/>
          <a:lstStyle/>
          <a:p>
            <a:pPr marL="0" indent="0" algn="ctr">
              <a:buNone/>
            </a:pPr>
            <a:r>
              <a:rPr lang="en-US" sz="660" b="1" dirty="0">
                <a:solidFill>
                  <a:srgbClr val="333333"/>
                </a:solidFill>
                <a:latin typeface="Montserrat" pitchFamily="34" charset="0"/>
                <a:ea typeface="Montserrat" pitchFamily="34" charset="-122"/>
                <a:cs typeface="Montserrat" pitchFamily="34" charset="-120"/>
              </a:rPr>
              <a:t>Store Operations</a:t>
            </a:r>
            <a:endParaRPr lang="en-US" sz="660" dirty="0"/>
          </a:p>
        </p:txBody>
      </p:sp>
      <p:sp>
        <p:nvSpPr>
          <p:cNvPr id="234" name="Shape 232"/>
          <p:cNvSpPr/>
          <p:nvPr/>
        </p:nvSpPr>
        <p:spPr>
          <a:xfrm>
            <a:off x="3552444" y="5522976"/>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35" name="Shape 233"/>
          <p:cNvSpPr/>
          <p:nvPr/>
        </p:nvSpPr>
        <p:spPr>
          <a:xfrm>
            <a:off x="4716018" y="5568696"/>
            <a:ext cx="96012" cy="96012"/>
          </a:xfrm>
          <a:prstGeom prst="ellipse">
            <a:avLst/>
          </a:prstGeom>
          <a:solidFill>
            <a:srgbClr val="CFCFCF"/>
          </a:solidFill>
          <a:ln w="9525">
            <a:solidFill>
              <a:srgbClr val="FDFDFD"/>
            </a:solidFill>
            <a:prstDash val="solid"/>
          </a:ln>
        </p:spPr>
        <p:txBody>
          <a:bodyPr/>
          <a:lstStyle/>
          <a:p>
            <a:endParaRPr lang="en-US"/>
          </a:p>
        </p:txBody>
      </p:sp>
      <p:sp>
        <p:nvSpPr>
          <p:cNvPr id="236" name="Text 234"/>
          <p:cNvSpPr/>
          <p:nvPr/>
        </p:nvSpPr>
        <p:spPr>
          <a:xfrm>
            <a:off x="3589020" y="5522976"/>
            <a:ext cx="1232154" cy="237744"/>
          </a:xfrm>
          <a:prstGeom prst="rect">
            <a:avLst/>
          </a:prstGeom>
          <a:noFill/>
          <a:ln/>
        </p:spPr>
        <p:txBody>
          <a:bodyPr wrap="square" lIns="0" tIns="0" rIns="0" bIns="0" rtlCol="0" anchor="ctr"/>
          <a:lstStyle/>
          <a:p>
            <a:pPr marL="0" indent="0" algn="ctr">
              <a:buNone/>
            </a:pPr>
            <a:r>
              <a:rPr lang="en-US" sz="660" b="1" dirty="0">
                <a:solidFill>
                  <a:srgbClr val="333333"/>
                </a:solidFill>
                <a:latin typeface="Montserrat" pitchFamily="34" charset="0"/>
                <a:ea typeface="Montserrat" pitchFamily="34" charset="-122"/>
                <a:cs typeface="Montserrat" pitchFamily="34" charset="-120"/>
              </a:rPr>
              <a:t>Workforce Mgmt (WFM)</a:t>
            </a:r>
            <a:endParaRPr lang="en-US" sz="660" dirty="0"/>
          </a:p>
        </p:txBody>
      </p:sp>
      <p:sp>
        <p:nvSpPr>
          <p:cNvPr id="237" name="Shape 235"/>
          <p:cNvSpPr/>
          <p:nvPr/>
        </p:nvSpPr>
        <p:spPr>
          <a:xfrm>
            <a:off x="4921758" y="5522976"/>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38" name="Shape 236"/>
          <p:cNvSpPr/>
          <p:nvPr/>
        </p:nvSpPr>
        <p:spPr>
          <a:xfrm>
            <a:off x="6085332" y="5568696"/>
            <a:ext cx="96012" cy="96012"/>
          </a:xfrm>
          <a:prstGeom prst="ellipse">
            <a:avLst/>
          </a:prstGeom>
          <a:solidFill>
            <a:srgbClr val="E31837"/>
          </a:solidFill>
          <a:ln w="9525">
            <a:solidFill>
              <a:srgbClr val="FDFDFD"/>
            </a:solidFill>
            <a:prstDash val="solid"/>
          </a:ln>
        </p:spPr>
        <p:txBody>
          <a:bodyPr/>
          <a:lstStyle/>
          <a:p>
            <a:endParaRPr lang="en-US"/>
          </a:p>
        </p:txBody>
      </p:sp>
      <p:sp>
        <p:nvSpPr>
          <p:cNvPr id="239" name="Text 237"/>
          <p:cNvSpPr/>
          <p:nvPr/>
        </p:nvSpPr>
        <p:spPr>
          <a:xfrm>
            <a:off x="4958334" y="5522976"/>
            <a:ext cx="1232154" cy="237744"/>
          </a:xfrm>
          <a:prstGeom prst="rect">
            <a:avLst/>
          </a:prstGeom>
          <a:noFill/>
          <a:ln/>
        </p:spPr>
        <p:txBody>
          <a:bodyPr wrap="square" lIns="0" tIns="0" rIns="0" bIns="0" rtlCol="0" anchor="ctr"/>
          <a:lstStyle/>
          <a:p>
            <a:pPr marL="0" indent="0" algn="ctr">
              <a:buNone/>
            </a:pPr>
            <a:r>
              <a:rPr lang="en-US" sz="660" b="1" dirty="0">
                <a:solidFill>
                  <a:srgbClr val="333333"/>
                </a:solidFill>
                <a:latin typeface="Montserrat" pitchFamily="34" charset="0"/>
                <a:ea typeface="Montserrat" pitchFamily="34" charset="-122"/>
                <a:cs typeface="Montserrat" pitchFamily="34" charset="-120"/>
              </a:rPr>
              <a:t>Master Data Mgmt (MDM)</a:t>
            </a:r>
            <a:endParaRPr lang="en-US" sz="660" dirty="0"/>
          </a:p>
        </p:txBody>
      </p:sp>
      <p:sp>
        <p:nvSpPr>
          <p:cNvPr id="240" name="Shape 238"/>
          <p:cNvSpPr/>
          <p:nvPr/>
        </p:nvSpPr>
        <p:spPr>
          <a:xfrm>
            <a:off x="6291072" y="5522976"/>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41" name="Shape 239"/>
          <p:cNvSpPr/>
          <p:nvPr/>
        </p:nvSpPr>
        <p:spPr>
          <a:xfrm>
            <a:off x="7454646" y="5568696"/>
            <a:ext cx="96012" cy="96012"/>
          </a:xfrm>
          <a:prstGeom prst="ellipse">
            <a:avLst/>
          </a:prstGeom>
          <a:solidFill>
            <a:srgbClr val="CFCFCF"/>
          </a:solidFill>
          <a:ln w="9525">
            <a:solidFill>
              <a:srgbClr val="FDFDFD"/>
            </a:solidFill>
            <a:prstDash val="solid"/>
          </a:ln>
        </p:spPr>
        <p:txBody>
          <a:bodyPr/>
          <a:lstStyle/>
          <a:p>
            <a:endParaRPr lang="en-US"/>
          </a:p>
        </p:txBody>
      </p:sp>
      <p:sp>
        <p:nvSpPr>
          <p:cNvPr id="242" name="Text 240"/>
          <p:cNvSpPr/>
          <p:nvPr/>
        </p:nvSpPr>
        <p:spPr>
          <a:xfrm>
            <a:off x="6327648" y="5522976"/>
            <a:ext cx="1232154" cy="237744"/>
          </a:xfrm>
          <a:prstGeom prst="rect">
            <a:avLst/>
          </a:prstGeom>
          <a:noFill/>
          <a:ln/>
        </p:spPr>
        <p:txBody>
          <a:bodyPr wrap="square" lIns="0" tIns="0" rIns="0" bIns="0" rtlCol="0" anchor="ctr"/>
          <a:lstStyle/>
          <a:p>
            <a:pPr marL="0" indent="0" algn="ctr">
              <a:buNone/>
            </a:pPr>
            <a:r>
              <a:rPr lang="en-US" sz="660" b="1" dirty="0">
                <a:solidFill>
                  <a:srgbClr val="333333"/>
                </a:solidFill>
                <a:latin typeface="Montserrat" pitchFamily="34" charset="0"/>
                <a:ea typeface="Montserrat" pitchFamily="34" charset="-122"/>
                <a:cs typeface="Montserrat" pitchFamily="34" charset="-120"/>
              </a:rPr>
              <a:t>Tax Engine</a:t>
            </a:r>
            <a:endParaRPr lang="en-US" sz="660" dirty="0"/>
          </a:p>
        </p:txBody>
      </p:sp>
      <p:sp>
        <p:nvSpPr>
          <p:cNvPr id="243" name="Shape 241"/>
          <p:cNvSpPr/>
          <p:nvPr/>
        </p:nvSpPr>
        <p:spPr>
          <a:xfrm>
            <a:off x="7660386" y="5522976"/>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44" name="Shape 242"/>
          <p:cNvSpPr/>
          <p:nvPr/>
        </p:nvSpPr>
        <p:spPr>
          <a:xfrm>
            <a:off x="8823960" y="5568696"/>
            <a:ext cx="96012" cy="96012"/>
          </a:xfrm>
          <a:prstGeom prst="ellipse">
            <a:avLst/>
          </a:prstGeom>
          <a:solidFill>
            <a:srgbClr val="CFCFCF"/>
          </a:solidFill>
          <a:ln w="9525">
            <a:solidFill>
              <a:srgbClr val="FDFDFD"/>
            </a:solidFill>
            <a:prstDash val="solid"/>
          </a:ln>
        </p:spPr>
        <p:txBody>
          <a:bodyPr/>
          <a:lstStyle/>
          <a:p>
            <a:endParaRPr lang="en-US"/>
          </a:p>
        </p:txBody>
      </p:sp>
      <p:sp>
        <p:nvSpPr>
          <p:cNvPr id="245" name="Text 243"/>
          <p:cNvSpPr/>
          <p:nvPr/>
        </p:nvSpPr>
        <p:spPr>
          <a:xfrm>
            <a:off x="7696962" y="5522976"/>
            <a:ext cx="1232154" cy="237744"/>
          </a:xfrm>
          <a:prstGeom prst="rect">
            <a:avLst/>
          </a:prstGeom>
          <a:noFill/>
          <a:ln/>
        </p:spPr>
        <p:txBody>
          <a:bodyPr wrap="square" lIns="0" tIns="0" rIns="0" bIns="0" rtlCol="0" anchor="ctr"/>
          <a:lstStyle/>
          <a:p>
            <a:pPr marL="0" indent="0" algn="ctr">
              <a:buNone/>
            </a:pPr>
            <a:r>
              <a:rPr lang="en-US" sz="660" b="1" dirty="0">
                <a:solidFill>
                  <a:srgbClr val="333333"/>
                </a:solidFill>
                <a:latin typeface="Montserrat" pitchFamily="34" charset="0"/>
                <a:ea typeface="Montserrat" pitchFamily="34" charset="-122"/>
                <a:cs typeface="Montserrat" pitchFamily="34" charset="-120"/>
              </a:rPr>
              <a:t>Gift Card &amp; Vouchers</a:t>
            </a:r>
            <a:endParaRPr lang="en-US" sz="660" dirty="0"/>
          </a:p>
        </p:txBody>
      </p:sp>
      <p:sp>
        <p:nvSpPr>
          <p:cNvPr id="246" name="Shape 244"/>
          <p:cNvSpPr/>
          <p:nvPr/>
        </p:nvSpPr>
        <p:spPr>
          <a:xfrm>
            <a:off x="9029700" y="5522976"/>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47" name="Shape 245"/>
          <p:cNvSpPr/>
          <p:nvPr/>
        </p:nvSpPr>
        <p:spPr>
          <a:xfrm>
            <a:off x="10193274" y="5568696"/>
            <a:ext cx="96012" cy="96012"/>
          </a:xfrm>
          <a:prstGeom prst="ellipse">
            <a:avLst/>
          </a:prstGeom>
          <a:solidFill>
            <a:srgbClr val="E0A32E"/>
          </a:solidFill>
          <a:ln w="9525">
            <a:solidFill>
              <a:srgbClr val="FDFDFD"/>
            </a:solidFill>
            <a:prstDash val="solid"/>
          </a:ln>
        </p:spPr>
        <p:txBody>
          <a:bodyPr/>
          <a:lstStyle/>
          <a:p>
            <a:endParaRPr lang="en-US"/>
          </a:p>
        </p:txBody>
      </p:sp>
      <p:sp>
        <p:nvSpPr>
          <p:cNvPr id="248" name="Text 246"/>
          <p:cNvSpPr/>
          <p:nvPr/>
        </p:nvSpPr>
        <p:spPr>
          <a:xfrm>
            <a:off x="9066276" y="5522976"/>
            <a:ext cx="1232154" cy="237744"/>
          </a:xfrm>
          <a:prstGeom prst="rect">
            <a:avLst/>
          </a:prstGeom>
          <a:noFill/>
          <a:ln/>
        </p:spPr>
        <p:txBody>
          <a:bodyPr wrap="square" lIns="0" tIns="0" rIns="0" bIns="0" rtlCol="0" anchor="ctr"/>
          <a:lstStyle/>
          <a:p>
            <a:pPr marL="0" indent="0" algn="ctr">
              <a:buNone/>
            </a:pPr>
            <a:r>
              <a:rPr lang="en-US" sz="660" b="1" dirty="0">
                <a:solidFill>
                  <a:srgbClr val="333333"/>
                </a:solidFill>
                <a:latin typeface="Montserrat" pitchFamily="34" charset="0"/>
                <a:ea typeface="Montserrat" pitchFamily="34" charset="-122"/>
                <a:cs typeface="Montserrat" pitchFamily="34" charset="-120"/>
              </a:rPr>
              <a:t>Voice of Customer (VoC)</a:t>
            </a:r>
            <a:endParaRPr lang="en-US" sz="660" dirty="0"/>
          </a:p>
        </p:txBody>
      </p:sp>
      <p:sp>
        <p:nvSpPr>
          <p:cNvPr id="249" name="Shape 247"/>
          <p:cNvSpPr/>
          <p:nvPr/>
        </p:nvSpPr>
        <p:spPr>
          <a:xfrm>
            <a:off x="10399014" y="5522976"/>
            <a:ext cx="1305306" cy="237744"/>
          </a:xfrm>
          <a:prstGeom prst="roundRect">
            <a:avLst>
              <a:gd name="adj" fmla="val 15385"/>
            </a:avLst>
          </a:prstGeom>
          <a:solidFill>
            <a:srgbClr val="FDFDFD"/>
          </a:solidFill>
          <a:ln w="6350">
            <a:solidFill>
              <a:srgbClr val="A0A5AB"/>
            </a:solidFill>
            <a:prstDash val="solid"/>
          </a:ln>
        </p:spPr>
        <p:txBody>
          <a:bodyPr/>
          <a:lstStyle/>
          <a:p>
            <a:endParaRPr lang="en-US"/>
          </a:p>
        </p:txBody>
      </p:sp>
      <p:sp>
        <p:nvSpPr>
          <p:cNvPr id="250" name="Shape 248"/>
          <p:cNvSpPr/>
          <p:nvPr/>
        </p:nvSpPr>
        <p:spPr>
          <a:xfrm>
            <a:off x="11562588" y="5568696"/>
            <a:ext cx="96012" cy="96012"/>
          </a:xfrm>
          <a:prstGeom prst="ellipse">
            <a:avLst/>
          </a:prstGeom>
          <a:solidFill>
            <a:srgbClr val="E31837"/>
          </a:solidFill>
          <a:ln w="9525">
            <a:solidFill>
              <a:srgbClr val="FDFDFD"/>
            </a:solidFill>
            <a:prstDash val="solid"/>
          </a:ln>
        </p:spPr>
        <p:txBody>
          <a:bodyPr/>
          <a:lstStyle/>
          <a:p>
            <a:endParaRPr lang="en-US"/>
          </a:p>
        </p:txBody>
      </p:sp>
      <p:sp>
        <p:nvSpPr>
          <p:cNvPr id="251" name="Text 249"/>
          <p:cNvSpPr/>
          <p:nvPr/>
        </p:nvSpPr>
        <p:spPr>
          <a:xfrm>
            <a:off x="10435590" y="5522976"/>
            <a:ext cx="1232154" cy="237744"/>
          </a:xfrm>
          <a:prstGeom prst="rect">
            <a:avLst/>
          </a:prstGeom>
          <a:noFill/>
          <a:ln/>
        </p:spPr>
        <p:txBody>
          <a:bodyPr wrap="square" lIns="0" tIns="0" rIns="0" bIns="0" rtlCol="0" anchor="ctr"/>
          <a:lstStyle/>
          <a:p>
            <a:pPr marL="0" indent="0" algn="ctr">
              <a:buNone/>
            </a:pPr>
            <a:r>
              <a:rPr lang="en-US" sz="660" b="1" dirty="0">
                <a:solidFill>
                  <a:srgbClr val="333333"/>
                </a:solidFill>
                <a:latin typeface="Montserrat" pitchFamily="34" charset="0"/>
                <a:ea typeface="Montserrat" pitchFamily="34" charset="-122"/>
                <a:cs typeface="Montserrat" pitchFamily="34" charset="-120"/>
              </a:rPr>
              <a:t>Digital Product Passport</a:t>
            </a:r>
            <a:endParaRPr lang="en-US" sz="660" dirty="0"/>
          </a:p>
        </p:txBody>
      </p:sp>
      <p:sp>
        <p:nvSpPr>
          <p:cNvPr id="252" name="Shape 250"/>
          <p:cNvSpPr/>
          <p:nvPr/>
        </p:nvSpPr>
        <p:spPr>
          <a:xfrm>
            <a:off x="859536" y="5838444"/>
            <a:ext cx="96012" cy="96012"/>
          </a:xfrm>
          <a:prstGeom prst="ellipse">
            <a:avLst/>
          </a:prstGeom>
          <a:solidFill>
            <a:srgbClr val="6E8F3E"/>
          </a:solidFill>
          <a:ln w="9525">
            <a:solidFill>
              <a:srgbClr val="FDFDFD"/>
            </a:solidFill>
            <a:prstDash val="solid"/>
          </a:ln>
        </p:spPr>
        <p:txBody>
          <a:bodyPr/>
          <a:lstStyle/>
          <a:p>
            <a:endParaRPr lang="en-US"/>
          </a:p>
        </p:txBody>
      </p:sp>
      <p:sp>
        <p:nvSpPr>
          <p:cNvPr id="253" name="Text 251"/>
          <p:cNvSpPr/>
          <p:nvPr/>
        </p:nvSpPr>
        <p:spPr>
          <a:xfrm>
            <a:off x="987552" y="5797296"/>
            <a:ext cx="1234440" cy="182880"/>
          </a:xfrm>
          <a:prstGeom prst="rect">
            <a:avLst/>
          </a:prstGeom>
          <a:noFill/>
          <a:ln/>
        </p:spPr>
        <p:txBody>
          <a:bodyPr wrap="square" lIns="0" tIns="0" rIns="0" bIns="0" rtlCol="0" anchor="ctr"/>
          <a:lstStyle/>
          <a:p>
            <a:pPr marL="0" indent="0">
              <a:buNone/>
            </a:pPr>
            <a:r>
              <a:rPr lang="en-US" sz="700" dirty="0">
                <a:solidFill>
                  <a:srgbClr val="5F5E5A"/>
                </a:solidFill>
                <a:latin typeface="Montserrat" pitchFamily="34" charset="0"/>
                <a:ea typeface="Montserrat" pitchFamily="34" charset="-122"/>
                <a:cs typeface="Montserrat" pitchFamily="34" charset="-120"/>
              </a:rPr>
              <a:t>In place</a:t>
            </a:r>
            <a:endParaRPr lang="en-US" sz="700" dirty="0"/>
          </a:p>
        </p:txBody>
      </p:sp>
      <p:sp>
        <p:nvSpPr>
          <p:cNvPr id="254" name="Shape 252"/>
          <p:cNvSpPr/>
          <p:nvPr/>
        </p:nvSpPr>
        <p:spPr>
          <a:xfrm>
            <a:off x="2249424" y="5838444"/>
            <a:ext cx="96012" cy="96012"/>
          </a:xfrm>
          <a:prstGeom prst="ellipse">
            <a:avLst/>
          </a:prstGeom>
          <a:solidFill>
            <a:srgbClr val="E0A32E"/>
          </a:solidFill>
          <a:ln w="9525">
            <a:solidFill>
              <a:srgbClr val="FDFDFD"/>
            </a:solidFill>
            <a:prstDash val="solid"/>
          </a:ln>
        </p:spPr>
        <p:txBody>
          <a:bodyPr/>
          <a:lstStyle/>
          <a:p>
            <a:endParaRPr lang="en-US"/>
          </a:p>
        </p:txBody>
      </p:sp>
      <p:sp>
        <p:nvSpPr>
          <p:cNvPr id="255" name="Text 253"/>
          <p:cNvSpPr/>
          <p:nvPr/>
        </p:nvSpPr>
        <p:spPr>
          <a:xfrm>
            <a:off x="2377440" y="5797296"/>
            <a:ext cx="1234440" cy="182880"/>
          </a:xfrm>
          <a:prstGeom prst="rect">
            <a:avLst/>
          </a:prstGeom>
          <a:noFill/>
          <a:ln/>
        </p:spPr>
        <p:txBody>
          <a:bodyPr wrap="square" lIns="0" tIns="0" rIns="0" bIns="0" rtlCol="0" anchor="ctr"/>
          <a:lstStyle/>
          <a:p>
            <a:pPr marL="0" indent="0">
              <a:buNone/>
            </a:pPr>
            <a:r>
              <a:rPr lang="en-US" sz="700" dirty="0">
                <a:solidFill>
                  <a:srgbClr val="5F5E5A"/>
                </a:solidFill>
                <a:latin typeface="Montserrat" pitchFamily="34" charset="0"/>
                <a:ea typeface="Montserrat" pitchFamily="34" charset="-122"/>
                <a:cs typeface="Montserrat" pitchFamily="34" charset="-120"/>
              </a:rPr>
              <a:t>Partial / fragmented</a:t>
            </a:r>
            <a:endParaRPr lang="en-US" sz="700" dirty="0"/>
          </a:p>
        </p:txBody>
      </p:sp>
      <p:sp>
        <p:nvSpPr>
          <p:cNvPr id="256" name="Shape 254"/>
          <p:cNvSpPr/>
          <p:nvPr/>
        </p:nvSpPr>
        <p:spPr>
          <a:xfrm>
            <a:off x="3639312" y="5838444"/>
            <a:ext cx="96012" cy="96012"/>
          </a:xfrm>
          <a:prstGeom prst="ellipse">
            <a:avLst/>
          </a:prstGeom>
          <a:solidFill>
            <a:srgbClr val="E31837"/>
          </a:solidFill>
          <a:ln w="9525">
            <a:solidFill>
              <a:srgbClr val="FDFDFD"/>
            </a:solidFill>
            <a:prstDash val="solid"/>
          </a:ln>
        </p:spPr>
        <p:txBody>
          <a:bodyPr/>
          <a:lstStyle/>
          <a:p>
            <a:endParaRPr lang="en-US"/>
          </a:p>
        </p:txBody>
      </p:sp>
      <p:sp>
        <p:nvSpPr>
          <p:cNvPr id="257" name="Text 255"/>
          <p:cNvSpPr/>
          <p:nvPr/>
        </p:nvSpPr>
        <p:spPr>
          <a:xfrm>
            <a:off x="3767328" y="5797296"/>
            <a:ext cx="1234440" cy="182880"/>
          </a:xfrm>
          <a:prstGeom prst="rect">
            <a:avLst/>
          </a:prstGeom>
          <a:noFill/>
          <a:ln/>
        </p:spPr>
        <p:txBody>
          <a:bodyPr wrap="square" lIns="0" tIns="0" rIns="0" bIns="0" rtlCol="0" anchor="ctr"/>
          <a:lstStyle/>
          <a:p>
            <a:pPr marL="0" indent="0">
              <a:buNone/>
            </a:pPr>
            <a:r>
              <a:rPr lang="en-US" sz="700" dirty="0">
                <a:solidFill>
                  <a:srgbClr val="5F5E5A"/>
                </a:solidFill>
                <a:latin typeface="Montserrat" pitchFamily="34" charset="0"/>
                <a:ea typeface="Montserrat" pitchFamily="34" charset="-122"/>
                <a:cs typeface="Montserrat" pitchFamily="34" charset="-120"/>
              </a:rPr>
              <a:t>Gap</a:t>
            </a:r>
            <a:endParaRPr lang="en-US" sz="700" dirty="0"/>
          </a:p>
        </p:txBody>
      </p:sp>
      <p:sp>
        <p:nvSpPr>
          <p:cNvPr id="258" name="Shape 256"/>
          <p:cNvSpPr/>
          <p:nvPr/>
        </p:nvSpPr>
        <p:spPr>
          <a:xfrm>
            <a:off x="5029200" y="5838444"/>
            <a:ext cx="96012" cy="96012"/>
          </a:xfrm>
          <a:prstGeom prst="ellipse">
            <a:avLst/>
          </a:prstGeom>
          <a:solidFill>
            <a:srgbClr val="CFCFCF"/>
          </a:solidFill>
          <a:ln w="9525">
            <a:solidFill>
              <a:srgbClr val="FDFDFD"/>
            </a:solidFill>
            <a:prstDash val="solid"/>
          </a:ln>
        </p:spPr>
        <p:txBody>
          <a:bodyPr/>
          <a:lstStyle/>
          <a:p>
            <a:endParaRPr lang="en-US"/>
          </a:p>
        </p:txBody>
      </p:sp>
      <p:sp>
        <p:nvSpPr>
          <p:cNvPr id="259" name="Text 257"/>
          <p:cNvSpPr/>
          <p:nvPr/>
        </p:nvSpPr>
        <p:spPr>
          <a:xfrm>
            <a:off x="5157216" y="5797296"/>
            <a:ext cx="1234440" cy="182880"/>
          </a:xfrm>
          <a:prstGeom prst="rect">
            <a:avLst/>
          </a:prstGeom>
          <a:noFill/>
          <a:ln/>
        </p:spPr>
        <p:txBody>
          <a:bodyPr wrap="square" lIns="0" tIns="0" rIns="0" bIns="0" rtlCol="0" anchor="ctr"/>
          <a:lstStyle/>
          <a:p>
            <a:pPr marL="0" indent="0">
              <a:buNone/>
            </a:pPr>
            <a:r>
              <a:rPr lang="en-US" sz="700" dirty="0">
                <a:solidFill>
                  <a:srgbClr val="5F5E5A"/>
                </a:solidFill>
                <a:latin typeface="Montserrat" pitchFamily="34" charset="0"/>
                <a:ea typeface="Montserrat" pitchFamily="34" charset="-122"/>
                <a:cs typeface="Montserrat" pitchFamily="34" charset="-120"/>
              </a:rPr>
              <a:t>To be validated</a:t>
            </a:r>
            <a:endParaRPr lang="en-US" sz="700" dirty="0"/>
          </a:p>
        </p:txBody>
      </p:sp>
      <p:sp>
        <p:nvSpPr>
          <p:cNvPr id="261" name="Text 259"/>
          <p:cNvSpPr/>
          <p:nvPr/>
        </p:nvSpPr>
        <p:spPr>
          <a:xfrm>
            <a:off x="7553582" y="5800274"/>
            <a:ext cx="3291840" cy="182880"/>
          </a:xfrm>
          <a:prstGeom prst="rect">
            <a:avLst/>
          </a:prstGeom>
          <a:noFill/>
          <a:ln/>
        </p:spPr>
        <p:txBody>
          <a:bodyPr wrap="square" lIns="0" tIns="0" rIns="0" bIns="0" rtlCol="0" anchor="ctr"/>
          <a:lstStyle/>
          <a:p>
            <a:pPr marL="0" indent="0" algn="ctr">
              <a:buNone/>
            </a:pPr>
            <a:r>
              <a:rPr lang="en-US" sz="650" i="1" dirty="0">
                <a:solidFill>
                  <a:srgbClr val="5F5E5A"/>
                </a:solidFill>
                <a:latin typeface="Lora" pitchFamily="34" charset="0"/>
                <a:ea typeface="Lora" pitchFamily="34" charset="-122"/>
                <a:cs typeface="Lora" pitchFamily="34" charset="-120"/>
              </a:rPr>
              <a:t>System of record: ERP · master data across product, customer, order, inventory</a:t>
            </a:r>
            <a:endParaRPr lang="en-US" sz="650" dirty="0"/>
          </a:p>
        </p:txBody>
      </p:sp>
      <p:sp>
        <p:nvSpPr>
          <p:cNvPr id="262" name="Shape 260"/>
          <p:cNvSpPr/>
          <p:nvPr/>
        </p:nvSpPr>
        <p:spPr>
          <a:xfrm>
            <a:off x="676656" y="6035040"/>
            <a:ext cx="11164824" cy="0"/>
          </a:xfrm>
          <a:prstGeom prst="line">
            <a:avLst/>
          </a:prstGeom>
          <a:noFill/>
          <a:ln w="12700">
            <a:solidFill>
              <a:srgbClr val="E31837"/>
            </a:solidFill>
            <a:prstDash val="dash"/>
          </a:ln>
        </p:spPr>
        <p:txBody>
          <a:bodyPr/>
          <a:lstStyle/>
          <a:p>
            <a:endParaRPr lang="en-US"/>
          </a:p>
        </p:txBody>
      </p:sp>
      <p:sp>
        <p:nvSpPr>
          <p:cNvPr id="264" name="Shape 262"/>
          <p:cNvSpPr/>
          <p:nvPr/>
        </p:nvSpPr>
        <p:spPr>
          <a:xfrm>
            <a:off x="676656" y="6035040"/>
            <a:ext cx="11164824" cy="713232"/>
          </a:xfrm>
          <a:prstGeom prst="roundRect">
            <a:avLst>
              <a:gd name="adj" fmla="val 6410"/>
            </a:avLst>
          </a:prstGeom>
          <a:solidFill>
            <a:srgbClr val="F5F4F1"/>
          </a:solidFill>
          <a:ln w="6350">
            <a:solidFill>
              <a:srgbClr val="E5E3DC"/>
            </a:solidFill>
            <a:prstDash val="solid"/>
          </a:ln>
        </p:spPr>
        <p:txBody>
          <a:bodyPr/>
          <a:lstStyle/>
          <a:p>
            <a:endParaRPr lang="en-US"/>
          </a:p>
        </p:txBody>
      </p:sp>
      <p:sp>
        <p:nvSpPr>
          <p:cNvPr id="265" name="Text 263"/>
          <p:cNvSpPr/>
          <p:nvPr/>
        </p:nvSpPr>
        <p:spPr>
          <a:xfrm>
            <a:off x="676656" y="6053328"/>
            <a:ext cx="11164824" cy="164592"/>
          </a:xfrm>
          <a:prstGeom prst="rect">
            <a:avLst/>
          </a:prstGeom>
          <a:noFill/>
          <a:ln/>
        </p:spPr>
        <p:txBody>
          <a:bodyPr wrap="square" lIns="0" tIns="0" rIns="0" bIns="0" rtlCol="0" anchor="ctr"/>
          <a:lstStyle/>
          <a:p>
            <a:pPr marL="0" indent="0" algn="ctr">
              <a:buNone/>
            </a:pPr>
            <a:r>
              <a:rPr lang="en-US" sz="900" b="1" dirty="0">
                <a:solidFill>
                  <a:srgbClr val="333333"/>
                </a:solidFill>
                <a:latin typeface="Montserrat" pitchFamily="34" charset="0"/>
                <a:ea typeface="Montserrat" pitchFamily="34" charset="-122"/>
                <a:cs typeface="Montserrat" pitchFamily="34" charset="-120"/>
              </a:rPr>
              <a:t>Third Party / External Systems</a:t>
            </a:r>
            <a:endParaRPr lang="en-US" sz="900" dirty="0"/>
          </a:p>
        </p:txBody>
      </p:sp>
      <p:sp>
        <p:nvSpPr>
          <p:cNvPr id="266" name="Shape 264"/>
          <p:cNvSpPr/>
          <p:nvPr/>
        </p:nvSpPr>
        <p:spPr>
          <a:xfrm>
            <a:off x="813816" y="6254496"/>
            <a:ext cx="1754124" cy="402336"/>
          </a:xfrm>
          <a:prstGeom prst="roundRect">
            <a:avLst>
              <a:gd name="adj" fmla="val 9091"/>
            </a:avLst>
          </a:prstGeom>
          <a:solidFill>
            <a:srgbClr val="FDFDFD"/>
          </a:solidFill>
          <a:ln w="9525">
            <a:solidFill>
              <a:srgbClr val="A0A5AB"/>
            </a:solidFill>
            <a:prstDash val="dash"/>
          </a:ln>
        </p:spPr>
        <p:txBody>
          <a:bodyPr/>
          <a:lstStyle/>
          <a:p>
            <a:endParaRPr lang="en-US"/>
          </a:p>
        </p:txBody>
      </p:sp>
      <p:sp>
        <p:nvSpPr>
          <p:cNvPr id="267" name="Text 265"/>
          <p:cNvSpPr/>
          <p:nvPr/>
        </p:nvSpPr>
        <p:spPr>
          <a:xfrm>
            <a:off x="850392" y="6281928"/>
            <a:ext cx="1680972" cy="182880"/>
          </a:xfrm>
          <a:prstGeom prst="rect">
            <a:avLst/>
          </a:prstGeom>
          <a:noFill/>
          <a:ln/>
        </p:spPr>
        <p:txBody>
          <a:bodyPr wrap="square" lIns="0" tIns="0" rIns="0" bIns="0" rtlCol="0" anchor="ctr"/>
          <a:lstStyle/>
          <a:p>
            <a:pPr marL="0" indent="0" algn="ctr">
              <a:buNone/>
            </a:pPr>
            <a:r>
              <a:rPr lang="en-US" sz="750" b="1" dirty="0">
                <a:solidFill>
                  <a:srgbClr val="333333"/>
                </a:solidFill>
                <a:latin typeface="Montserrat" pitchFamily="34" charset="0"/>
                <a:ea typeface="Montserrat" pitchFamily="34" charset="-122"/>
                <a:cs typeface="Montserrat" pitchFamily="34" charset="-120"/>
              </a:rPr>
              <a:t>Payments &amp; Financial</a:t>
            </a:r>
            <a:endParaRPr lang="en-US" sz="750" dirty="0"/>
          </a:p>
        </p:txBody>
      </p:sp>
      <p:sp>
        <p:nvSpPr>
          <p:cNvPr id="268" name="Text 266"/>
          <p:cNvSpPr/>
          <p:nvPr/>
        </p:nvSpPr>
        <p:spPr>
          <a:xfrm>
            <a:off x="850392" y="6464808"/>
            <a:ext cx="1680972" cy="219456"/>
          </a:xfrm>
          <a:prstGeom prst="rect">
            <a:avLst/>
          </a:prstGeom>
          <a:noFill/>
          <a:ln/>
        </p:spPr>
        <p:txBody>
          <a:bodyPr wrap="square" lIns="0" tIns="0" rIns="0" bIns="0" rtlCol="0" anchor="ctr"/>
          <a:lstStyle/>
          <a:p>
            <a:pPr marL="0" indent="0" algn="ctr">
              <a:buNone/>
            </a:pPr>
            <a:r>
              <a:rPr lang="en-US" sz="600" i="1" dirty="0">
                <a:solidFill>
                  <a:srgbClr val="5F5E5A"/>
                </a:solidFill>
                <a:latin typeface="Lora" pitchFamily="34" charset="0"/>
                <a:ea typeface="Lora" pitchFamily="34" charset="-122"/>
                <a:cs typeface="Lora" pitchFamily="34" charset="-120"/>
              </a:rPr>
              <a:t>PSPs · card schemes · BNPL · tax</a:t>
            </a:r>
            <a:endParaRPr lang="en-US" sz="600" dirty="0"/>
          </a:p>
        </p:txBody>
      </p:sp>
      <p:sp>
        <p:nvSpPr>
          <p:cNvPr id="269" name="Shape 267"/>
          <p:cNvSpPr/>
          <p:nvPr/>
        </p:nvSpPr>
        <p:spPr>
          <a:xfrm>
            <a:off x="2641092" y="6254496"/>
            <a:ext cx="1754124" cy="402336"/>
          </a:xfrm>
          <a:prstGeom prst="roundRect">
            <a:avLst>
              <a:gd name="adj" fmla="val 9091"/>
            </a:avLst>
          </a:prstGeom>
          <a:solidFill>
            <a:srgbClr val="FDFDFD"/>
          </a:solidFill>
          <a:ln w="9525">
            <a:solidFill>
              <a:srgbClr val="A0A5AB"/>
            </a:solidFill>
            <a:prstDash val="dash"/>
          </a:ln>
        </p:spPr>
        <p:txBody>
          <a:bodyPr/>
          <a:lstStyle/>
          <a:p>
            <a:endParaRPr lang="en-US"/>
          </a:p>
        </p:txBody>
      </p:sp>
      <p:sp>
        <p:nvSpPr>
          <p:cNvPr id="270" name="Text 268"/>
          <p:cNvSpPr/>
          <p:nvPr/>
        </p:nvSpPr>
        <p:spPr>
          <a:xfrm>
            <a:off x="2677668" y="6281928"/>
            <a:ext cx="1680972" cy="182880"/>
          </a:xfrm>
          <a:prstGeom prst="rect">
            <a:avLst/>
          </a:prstGeom>
          <a:noFill/>
          <a:ln/>
        </p:spPr>
        <p:txBody>
          <a:bodyPr wrap="square" lIns="0" tIns="0" rIns="0" bIns="0" rtlCol="0" anchor="ctr"/>
          <a:lstStyle/>
          <a:p>
            <a:pPr marL="0" indent="0" algn="ctr">
              <a:buNone/>
            </a:pPr>
            <a:r>
              <a:rPr lang="en-US" sz="750" b="1" dirty="0">
                <a:solidFill>
                  <a:srgbClr val="333333"/>
                </a:solidFill>
                <a:latin typeface="Montserrat" pitchFamily="34" charset="0"/>
                <a:ea typeface="Montserrat" pitchFamily="34" charset="-122"/>
                <a:cs typeface="Montserrat" pitchFamily="34" charset="-120"/>
              </a:rPr>
              <a:t>Logistics &amp; Fulfilment</a:t>
            </a:r>
            <a:endParaRPr lang="en-US" sz="750" dirty="0"/>
          </a:p>
        </p:txBody>
      </p:sp>
      <p:sp>
        <p:nvSpPr>
          <p:cNvPr id="271" name="Text 269"/>
          <p:cNvSpPr/>
          <p:nvPr/>
        </p:nvSpPr>
        <p:spPr>
          <a:xfrm>
            <a:off x="2677668" y="6464808"/>
            <a:ext cx="1680972" cy="219456"/>
          </a:xfrm>
          <a:prstGeom prst="rect">
            <a:avLst/>
          </a:prstGeom>
          <a:noFill/>
          <a:ln/>
        </p:spPr>
        <p:txBody>
          <a:bodyPr wrap="square" lIns="0" tIns="0" rIns="0" bIns="0" rtlCol="0" anchor="ctr"/>
          <a:lstStyle/>
          <a:p>
            <a:pPr marL="0" indent="0" algn="ctr">
              <a:buNone/>
            </a:pPr>
            <a:r>
              <a:rPr lang="en-US" sz="600" i="1" dirty="0">
                <a:solidFill>
                  <a:srgbClr val="5F5E5A"/>
                </a:solidFill>
                <a:latin typeface="Lora" pitchFamily="34" charset="0"/>
                <a:ea typeface="Lora" pitchFamily="34" charset="-122"/>
                <a:cs typeface="Lora" pitchFamily="34" charset="-120"/>
              </a:rPr>
              <a:t>carriers · last-mile · 3PL · returns network</a:t>
            </a:r>
            <a:endParaRPr lang="en-US" sz="600" dirty="0"/>
          </a:p>
        </p:txBody>
      </p:sp>
      <p:sp>
        <p:nvSpPr>
          <p:cNvPr id="272" name="Shape 270"/>
          <p:cNvSpPr/>
          <p:nvPr/>
        </p:nvSpPr>
        <p:spPr>
          <a:xfrm>
            <a:off x="4468368" y="6254496"/>
            <a:ext cx="1754124" cy="402336"/>
          </a:xfrm>
          <a:prstGeom prst="roundRect">
            <a:avLst>
              <a:gd name="adj" fmla="val 9091"/>
            </a:avLst>
          </a:prstGeom>
          <a:solidFill>
            <a:srgbClr val="FDFDFD"/>
          </a:solidFill>
          <a:ln w="9525">
            <a:solidFill>
              <a:srgbClr val="A0A5AB"/>
            </a:solidFill>
            <a:prstDash val="dash"/>
          </a:ln>
        </p:spPr>
        <p:txBody>
          <a:bodyPr/>
          <a:lstStyle/>
          <a:p>
            <a:endParaRPr lang="en-US"/>
          </a:p>
        </p:txBody>
      </p:sp>
      <p:sp>
        <p:nvSpPr>
          <p:cNvPr id="273" name="Text 271"/>
          <p:cNvSpPr/>
          <p:nvPr/>
        </p:nvSpPr>
        <p:spPr>
          <a:xfrm>
            <a:off x="4504944" y="6281928"/>
            <a:ext cx="1680972" cy="182880"/>
          </a:xfrm>
          <a:prstGeom prst="rect">
            <a:avLst/>
          </a:prstGeom>
          <a:noFill/>
          <a:ln/>
        </p:spPr>
        <p:txBody>
          <a:bodyPr wrap="square" lIns="0" tIns="0" rIns="0" bIns="0" rtlCol="0" anchor="ctr"/>
          <a:lstStyle/>
          <a:p>
            <a:pPr marL="0" indent="0" algn="ctr">
              <a:buNone/>
            </a:pPr>
            <a:r>
              <a:rPr lang="en-US" sz="750" b="1" dirty="0">
                <a:solidFill>
                  <a:srgbClr val="333333"/>
                </a:solidFill>
                <a:latin typeface="Montserrat" pitchFamily="34" charset="0"/>
                <a:ea typeface="Montserrat" pitchFamily="34" charset="-122"/>
                <a:cs typeface="Montserrat" pitchFamily="34" charset="-120"/>
              </a:rPr>
              <a:t>AI &amp; Model Providers</a:t>
            </a:r>
            <a:endParaRPr lang="en-US" sz="750" dirty="0"/>
          </a:p>
        </p:txBody>
      </p:sp>
      <p:sp>
        <p:nvSpPr>
          <p:cNvPr id="274" name="Text 272"/>
          <p:cNvSpPr/>
          <p:nvPr/>
        </p:nvSpPr>
        <p:spPr>
          <a:xfrm>
            <a:off x="4504944" y="6464808"/>
            <a:ext cx="1680972" cy="219456"/>
          </a:xfrm>
          <a:prstGeom prst="rect">
            <a:avLst/>
          </a:prstGeom>
          <a:noFill/>
          <a:ln/>
        </p:spPr>
        <p:txBody>
          <a:bodyPr wrap="square" lIns="0" tIns="0" rIns="0" bIns="0" rtlCol="0" anchor="ctr"/>
          <a:lstStyle/>
          <a:p>
            <a:pPr marL="0" indent="0" algn="ctr">
              <a:buNone/>
            </a:pPr>
            <a:r>
              <a:rPr lang="en-US" sz="600" i="1" dirty="0">
                <a:solidFill>
                  <a:srgbClr val="5F5E5A"/>
                </a:solidFill>
                <a:latin typeface="Lora" pitchFamily="34" charset="0"/>
                <a:ea typeface="Lora" pitchFamily="34" charset="-122"/>
                <a:cs typeface="Lora" pitchFamily="34" charset="-120"/>
              </a:rPr>
              <a:t>foundation models — via platform gateway</a:t>
            </a:r>
            <a:endParaRPr lang="en-US" sz="600" dirty="0"/>
          </a:p>
        </p:txBody>
      </p:sp>
      <p:sp>
        <p:nvSpPr>
          <p:cNvPr id="275" name="Shape 273"/>
          <p:cNvSpPr/>
          <p:nvPr/>
        </p:nvSpPr>
        <p:spPr>
          <a:xfrm>
            <a:off x="6295644" y="6254496"/>
            <a:ext cx="1754124" cy="402336"/>
          </a:xfrm>
          <a:prstGeom prst="roundRect">
            <a:avLst>
              <a:gd name="adj" fmla="val 9091"/>
            </a:avLst>
          </a:prstGeom>
          <a:solidFill>
            <a:srgbClr val="FDFDFD"/>
          </a:solidFill>
          <a:ln w="9525">
            <a:solidFill>
              <a:srgbClr val="A0A5AB"/>
            </a:solidFill>
            <a:prstDash val="dash"/>
          </a:ln>
        </p:spPr>
        <p:txBody>
          <a:bodyPr/>
          <a:lstStyle/>
          <a:p>
            <a:endParaRPr lang="en-US"/>
          </a:p>
        </p:txBody>
      </p:sp>
      <p:sp>
        <p:nvSpPr>
          <p:cNvPr id="276" name="Text 274"/>
          <p:cNvSpPr/>
          <p:nvPr/>
        </p:nvSpPr>
        <p:spPr>
          <a:xfrm>
            <a:off x="6332220" y="6281928"/>
            <a:ext cx="1680972" cy="182880"/>
          </a:xfrm>
          <a:prstGeom prst="rect">
            <a:avLst/>
          </a:prstGeom>
          <a:noFill/>
          <a:ln/>
        </p:spPr>
        <p:txBody>
          <a:bodyPr wrap="square" lIns="0" tIns="0" rIns="0" bIns="0" rtlCol="0" anchor="ctr"/>
          <a:lstStyle/>
          <a:p>
            <a:pPr marL="0" indent="0" algn="ctr">
              <a:buNone/>
            </a:pPr>
            <a:r>
              <a:rPr lang="en-US" sz="750" b="1" dirty="0">
                <a:solidFill>
                  <a:srgbClr val="333333"/>
                </a:solidFill>
                <a:latin typeface="Montserrat" pitchFamily="34" charset="0"/>
                <a:ea typeface="Montserrat" pitchFamily="34" charset="-122"/>
                <a:cs typeface="Montserrat" pitchFamily="34" charset="-120"/>
              </a:rPr>
              <a:t>Commerce &amp; Demand</a:t>
            </a:r>
            <a:endParaRPr lang="en-US" sz="750" dirty="0"/>
          </a:p>
        </p:txBody>
      </p:sp>
      <p:sp>
        <p:nvSpPr>
          <p:cNvPr id="277" name="Text 275"/>
          <p:cNvSpPr/>
          <p:nvPr/>
        </p:nvSpPr>
        <p:spPr>
          <a:xfrm>
            <a:off x="6332220" y="6464808"/>
            <a:ext cx="1680972" cy="219456"/>
          </a:xfrm>
          <a:prstGeom prst="rect">
            <a:avLst/>
          </a:prstGeom>
          <a:noFill/>
          <a:ln/>
        </p:spPr>
        <p:txBody>
          <a:bodyPr wrap="square" lIns="0" tIns="0" rIns="0" bIns="0" rtlCol="0" anchor="ctr"/>
          <a:lstStyle/>
          <a:p>
            <a:pPr marL="0" indent="0" algn="ctr">
              <a:buNone/>
            </a:pPr>
            <a:r>
              <a:rPr lang="en-US" sz="600" i="1" dirty="0">
                <a:solidFill>
                  <a:srgbClr val="5F5E5A"/>
                </a:solidFill>
                <a:latin typeface="Lora" pitchFamily="34" charset="0"/>
                <a:ea typeface="Lora" pitchFamily="34" charset="-122"/>
                <a:cs typeface="Lora" pitchFamily="34" charset="-120"/>
              </a:rPr>
              <a:t>marketplaces · retail media · social · affiliates</a:t>
            </a:r>
            <a:endParaRPr lang="en-US" sz="600" dirty="0"/>
          </a:p>
        </p:txBody>
      </p:sp>
      <p:sp>
        <p:nvSpPr>
          <p:cNvPr id="278" name="Shape 276"/>
          <p:cNvSpPr/>
          <p:nvPr/>
        </p:nvSpPr>
        <p:spPr>
          <a:xfrm>
            <a:off x="8122920" y="6254496"/>
            <a:ext cx="1754124" cy="402336"/>
          </a:xfrm>
          <a:prstGeom prst="roundRect">
            <a:avLst>
              <a:gd name="adj" fmla="val 9091"/>
            </a:avLst>
          </a:prstGeom>
          <a:solidFill>
            <a:srgbClr val="FDFDFD"/>
          </a:solidFill>
          <a:ln w="9525">
            <a:solidFill>
              <a:srgbClr val="A0A5AB"/>
            </a:solidFill>
            <a:prstDash val="dash"/>
          </a:ln>
        </p:spPr>
        <p:txBody>
          <a:bodyPr/>
          <a:lstStyle/>
          <a:p>
            <a:endParaRPr lang="en-US"/>
          </a:p>
        </p:txBody>
      </p:sp>
      <p:sp>
        <p:nvSpPr>
          <p:cNvPr id="279" name="Text 277"/>
          <p:cNvSpPr/>
          <p:nvPr/>
        </p:nvSpPr>
        <p:spPr>
          <a:xfrm>
            <a:off x="8159496" y="6281928"/>
            <a:ext cx="1680972" cy="182880"/>
          </a:xfrm>
          <a:prstGeom prst="rect">
            <a:avLst/>
          </a:prstGeom>
          <a:noFill/>
          <a:ln/>
        </p:spPr>
        <p:txBody>
          <a:bodyPr wrap="square" lIns="0" tIns="0" rIns="0" bIns="0" rtlCol="0" anchor="ctr"/>
          <a:lstStyle/>
          <a:p>
            <a:pPr marL="0" indent="0" algn="ctr">
              <a:buNone/>
            </a:pPr>
            <a:r>
              <a:rPr lang="en-US" sz="750" b="1" dirty="0">
                <a:solidFill>
                  <a:srgbClr val="333333"/>
                </a:solidFill>
                <a:latin typeface="Montserrat" pitchFamily="34" charset="0"/>
                <a:ea typeface="Montserrat" pitchFamily="34" charset="-122"/>
                <a:cs typeface="Montserrat" pitchFamily="34" charset="-120"/>
              </a:rPr>
              <a:t>Supply &amp; Compliance</a:t>
            </a:r>
            <a:endParaRPr lang="en-US" sz="750" dirty="0"/>
          </a:p>
        </p:txBody>
      </p:sp>
      <p:sp>
        <p:nvSpPr>
          <p:cNvPr id="280" name="Text 278"/>
          <p:cNvSpPr/>
          <p:nvPr/>
        </p:nvSpPr>
        <p:spPr>
          <a:xfrm>
            <a:off x="8159496" y="6464808"/>
            <a:ext cx="1680972" cy="219456"/>
          </a:xfrm>
          <a:prstGeom prst="rect">
            <a:avLst/>
          </a:prstGeom>
          <a:noFill/>
          <a:ln/>
        </p:spPr>
        <p:txBody>
          <a:bodyPr wrap="square" lIns="0" tIns="0" rIns="0" bIns="0" rtlCol="0" anchor="ctr"/>
          <a:lstStyle/>
          <a:p>
            <a:pPr marL="0" indent="0" algn="ctr">
              <a:buNone/>
            </a:pPr>
            <a:r>
              <a:rPr lang="en-US" sz="600" i="1" dirty="0">
                <a:solidFill>
                  <a:srgbClr val="5F5E5A"/>
                </a:solidFill>
                <a:latin typeface="Lora" pitchFamily="34" charset="0"/>
                <a:ea typeface="Lora" pitchFamily="34" charset="-122"/>
                <a:cs typeface="Lora" pitchFamily="34" charset="-120"/>
              </a:rPr>
              <a:t>suppliers · DPP registry · ethical audit</a:t>
            </a:r>
            <a:endParaRPr lang="en-US" sz="600" dirty="0"/>
          </a:p>
        </p:txBody>
      </p:sp>
      <p:sp>
        <p:nvSpPr>
          <p:cNvPr id="281" name="Shape 279"/>
          <p:cNvSpPr/>
          <p:nvPr/>
        </p:nvSpPr>
        <p:spPr>
          <a:xfrm>
            <a:off x="9950196" y="6254496"/>
            <a:ext cx="1754124" cy="402336"/>
          </a:xfrm>
          <a:prstGeom prst="roundRect">
            <a:avLst>
              <a:gd name="adj" fmla="val 9091"/>
            </a:avLst>
          </a:prstGeom>
          <a:solidFill>
            <a:srgbClr val="FDFDFD"/>
          </a:solidFill>
          <a:ln w="9525">
            <a:solidFill>
              <a:srgbClr val="A0A5AB"/>
            </a:solidFill>
            <a:prstDash val="dash"/>
          </a:ln>
        </p:spPr>
        <p:txBody>
          <a:bodyPr/>
          <a:lstStyle/>
          <a:p>
            <a:endParaRPr lang="en-US"/>
          </a:p>
        </p:txBody>
      </p:sp>
      <p:sp>
        <p:nvSpPr>
          <p:cNvPr id="282" name="Text 280"/>
          <p:cNvSpPr/>
          <p:nvPr/>
        </p:nvSpPr>
        <p:spPr>
          <a:xfrm>
            <a:off x="9986772" y="6281928"/>
            <a:ext cx="1680972" cy="182880"/>
          </a:xfrm>
          <a:prstGeom prst="rect">
            <a:avLst/>
          </a:prstGeom>
          <a:noFill/>
          <a:ln/>
        </p:spPr>
        <p:txBody>
          <a:bodyPr wrap="square" lIns="0" tIns="0" rIns="0" bIns="0" rtlCol="0" anchor="ctr"/>
          <a:lstStyle/>
          <a:p>
            <a:pPr marL="0" indent="0" algn="ctr">
              <a:buNone/>
            </a:pPr>
            <a:r>
              <a:rPr lang="en-US" sz="750" b="1" dirty="0">
                <a:solidFill>
                  <a:srgbClr val="333333"/>
                </a:solidFill>
                <a:latin typeface="Montserrat" pitchFamily="34" charset="0"/>
                <a:ea typeface="Montserrat" pitchFamily="34" charset="-122"/>
                <a:cs typeface="Montserrat" pitchFamily="34" charset="-120"/>
              </a:rPr>
              <a:t>Data &amp; Identity</a:t>
            </a:r>
            <a:endParaRPr lang="en-US" sz="750" dirty="0"/>
          </a:p>
        </p:txBody>
      </p:sp>
      <p:sp>
        <p:nvSpPr>
          <p:cNvPr id="283" name="Text 281"/>
          <p:cNvSpPr/>
          <p:nvPr/>
        </p:nvSpPr>
        <p:spPr>
          <a:xfrm>
            <a:off x="9986772" y="6464808"/>
            <a:ext cx="1680972" cy="219456"/>
          </a:xfrm>
          <a:prstGeom prst="rect">
            <a:avLst/>
          </a:prstGeom>
          <a:noFill/>
          <a:ln/>
        </p:spPr>
        <p:txBody>
          <a:bodyPr wrap="square" lIns="0" tIns="0" rIns="0" bIns="0" rtlCol="0" anchor="ctr"/>
          <a:lstStyle/>
          <a:p>
            <a:pPr marL="0" indent="0" algn="ctr">
              <a:buNone/>
            </a:pPr>
            <a:r>
              <a:rPr lang="en-US" sz="600" i="1" dirty="0">
                <a:solidFill>
                  <a:srgbClr val="5F5E5A"/>
                </a:solidFill>
                <a:latin typeface="Lora" pitchFamily="34" charset="0"/>
                <a:ea typeface="Lora" pitchFamily="34" charset="-122"/>
                <a:cs typeface="Lora" pitchFamily="34" charset="-120"/>
              </a:rPr>
              <a:t>fraud/identity · competitor feeds · trend · weather</a:t>
            </a:r>
            <a:endParaRPr lang="en-US" sz="600" dirty="0"/>
          </a:p>
        </p:txBody>
      </p:sp>
      <p:sp>
        <p:nvSpPr>
          <p:cNvPr id="284" name="Text 282"/>
          <p:cNvSpPr/>
          <p:nvPr/>
        </p:nvSpPr>
        <p:spPr>
          <a:xfrm>
            <a:off x="813816" y="6693408"/>
            <a:ext cx="10890504" cy="146304"/>
          </a:xfrm>
          <a:prstGeom prst="rect">
            <a:avLst/>
          </a:prstGeom>
          <a:noFill/>
          <a:ln/>
        </p:spPr>
        <p:txBody>
          <a:bodyPr wrap="square" lIns="0" tIns="0" rIns="0" bIns="0" rtlCol="0" anchor="ctr"/>
          <a:lstStyle/>
          <a:p>
            <a:pPr marL="0" indent="0" algn="ctr">
              <a:buNone/>
            </a:pPr>
            <a:r>
              <a:rPr lang="en-US" sz="650" i="1" dirty="0">
                <a:solidFill>
                  <a:srgbClr val="5F5E5A"/>
                </a:solidFill>
                <a:latin typeface="Lora" pitchFamily="34" charset="0"/>
                <a:ea typeface="Lora" pitchFamily="34" charset="-122"/>
                <a:cs typeface="Lora" pitchFamily="34" charset="-120"/>
              </a:rPr>
              <a:t>External calls are made from several layers — payments at checkout, carriers at fulfil, model providers via the platform gateway — not routed down through core systems.</a:t>
            </a:r>
            <a:endParaRPr lang="en-US" sz="650" dirty="0"/>
          </a:p>
        </p:txBody>
      </p:sp>
      <p:pic>
        <p:nvPicPr>
          <p:cNvPr id="478" name="Google Shape;126;p2" descr="preencoded.png">
            <a:extLst>
              <a:ext uri="{FF2B5EF4-FFF2-40B4-BE49-F238E27FC236}">
                <a16:creationId xmlns:a16="http://schemas.microsoft.com/office/drawing/2014/main" id="{C3DE01CC-41B0-19C1-C4B9-F5EB23D4F23F}"/>
              </a:ext>
            </a:extLst>
          </p:cNvPr>
          <p:cNvPicPr preferRelativeResize="0"/>
          <p:nvPr/>
        </p:nvPicPr>
        <p:blipFill rotWithShape="1">
          <a:blip r:embed="rId3">
            <a:alphaModFix/>
          </a:blip>
          <a:srcRect/>
          <a:stretch/>
        </p:blipFill>
        <p:spPr>
          <a:xfrm>
            <a:off x="11196119" y="118872"/>
            <a:ext cx="669527" cy="671619"/>
          </a:xfrm>
          <a:prstGeom prst="rect">
            <a:avLst/>
          </a:prstGeom>
          <a:noFill/>
          <a:ln>
            <a:noFill/>
          </a:ln>
        </p:spPr>
      </p:pic>
      <p:sp>
        <p:nvSpPr>
          <p:cNvPr id="556" name="Rectangle 555">
            <a:extLst>
              <a:ext uri="{FF2B5EF4-FFF2-40B4-BE49-F238E27FC236}">
                <a16:creationId xmlns:a16="http://schemas.microsoft.com/office/drawing/2014/main" id="{4FD00909-900D-30C1-AF21-B76E06EA5330}"/>
              </a:ext>
            </a:extLst>
          </p:cNvPr>
          <p:cNvSpPr/>
          <p:nvPr/>
        </p:nvSpPr>
        <p:spPr>
          <a:xfrm>
            <a:off x="188197" y="1827738"/>
            <a:ext cx="11618196" cy="353820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557" name="Group 556">
            <a:extLst>
              <a:ext uri="{FF2B5EF4-FFF2-40B4-BE49-F238E27FC236}">
                <a16:creationId xmlns:a16="http://schemas.microsoft.com/office/drawing/2014/main" id="{C0F3DC83-30E3-2D18-DB2F-E8652D8E53B2}"/>
              </a:ext>
            </a:extLst>
          </p:cNvPr>
          <p:cNvGrpSpPr/>
          <p:nvPr/>
        </p:nvGrpSpPr>
        <p:grpSpPr>
          <a:xfrm>
            <a:off x="257975" y="1810512"/>
            <a:ext cx="11422133" cy="3510230"/>
            <a:chOff x="401059" y="1138113"/>
            <a:chExt cx="11422133" cy="3510230"/>
          </a:xfrm>
        </p:grpSpPr>
        <p:sp>
          <p:nvSpPr>
            <p:cNvPr id="558" name="Shape 5">
              <a:extLst>
                <a:ext uri="{FF2B5EF4-FFF2-40B4-BE49-F238E27FC236}">
                  <a16:creationId xmlns:a16="http://schemas.microsoft.com/office/drawing/2014/main" id="{09220EAF-E25E-B4AC-FF82-46BA6077213B}"/>
                </a:ext>
              </a:extLst>
            </p:cNvPr>
            <p:cNvSpPr/>
            <p:nvPr/>
          </p:nvSpPr>
          <p:spPr>
            <a:xfrm>
              <a:off x="401059" y="1191911"/>
              <a:ext cx="384048" cy="3456432"/>
            </a:xfrm>
            <a:prstGeom prst="roundRect">
              <a:avLst>
                <a:gd name="adj" fmla="val 9524"/>
              </a:avLst>
            </a:prstGeom>
            <a:solidFill>
              <a:srgbClr val="333333"/>
            </a:solidFill>
            <a:ln/>
          </p:spPr>
          <p:txBody>
            <a:bodyPr/>
            <a:lstStyle/>
            <a:p>
              <a:endParaRPr lang="en-US"/>
            </a:p>
          </p:txBody>
        </p:sp>
        <p:sp>
          <p:nvSpPr>
            <p:cNvPr id="559" name="Text 6">
              <a:extLst>
                <a:ext uri="{FF2B5EF4-FFF2-40B4-BE49-F238E27FC236}">
                  <a16:creationId xmlns:a16="http://schemas.microsoft.com/office/drawing/2014/main" id="{119F3B21-2994-A1F6-8E26-7CD66C063331}"/>
                </a:ext>
              </a:extLst>
            </p:cNvPr>
            <p:cNvSpPr/>
            <p:nvPr/>
          </p:nvSpPr>
          <p:spPr>
            <a:xfrm rot="16200000">
              <a:off x="-1097280" y="2688336"/>
              <a:ext cx="3291840" cy="274320"/>
            </a:xfrm>
            <a:prstGeom prst="rect">
              <a:avLst/>
            </a:prstGeom>
            <a:noFill/>
            <a:ln/>
          </p:spPr>
          <p:txBody>
            <a:bodyPr wrap="square" lIns="0" tIns="0" rIns="0" bIns="0" rtlCol="0" anchor="ctr"/>
            <a:lstStyle/>
            <a:p>
              <a:pPr marL="0" indent="0" algn="ctr">
                <a:buNone/>
              </a:pPr>
              <a:r>
                <a:rPr lang="en-US" sz="800" b="1" dirty="0">
                  <a:solidFill>
                    <a:srgbClr val="FDFDFD"/>
                  </a:solidFill>
                  <a:latin typeface="Montserrat" pitchFamily="34" charset="0"/>
                  <a:ea typeface="Montserrat" pitchFamily="34" charset="-122"/>
                  <a:cs typeface="Montserrat" pitchFamily="34" charset="-120"/>
                </a:rPr>
                <a:t>SECURITY &amp; POLICY</a:t>
              </a:r>
              <a:endParaRPr lang="en-US" sz="800" dirty="0"/>
            </a:p>
          </p:txBody>
        </p:sp>
        <p:sp>
          <p:nvSpPr>
            <p:cNvPr id="560" name="Shape 7">
              <a:extLst>
                <a:ext uri="{FF2B5EF4-FFF2-40B4-BE49-F238E27FC236}">
                  <a16:creationId xmlns:a16="http://schemas.microsoft.com/office/drawing/2014/main" id="{B17449AB-C65F-C10F-E99B-87DBEDEC56F5}"/>
                </a:ext>
              </a:extLst>
            </p:cNvPr>
            <p:cNvSpPr/>
            <p:nvPr/>
          </p:nvSpPr>
          <p:spPr>
            <a:xfrm>
              <a:off x="11439144" y="1207008"/>
              <a:ext cx="384048" cy="3346704"/>
            </a:xfrm>
            <a:prstGeom prst="roundRect">
              <a:avLst>
                <a:gd name="adj" fmla="val 9524"/>
              </a:avLst>
            </a:prstGeom>
            <a:solidFill>
              <a:srgbClr val="333333"/>
            </a:solidFill>
            <a:ln/>
          </p:spPr>
          <p:txBody>
            <a:bodyPr/>
            <a:lstStyle/>
            <a:p>
              <a:endParaRPr lang="en-US"/>
            </a:p>
          </p:txBody>
        </p:sp>
        <p:sp>
          <p:nvSpPr>
            <p:cNvPr id="561" name="Text 8">
              <a:extLst>
                <a:ext uri="{FF2B5EF4-FFF2-40B4-BE49-F238E27FC236}">
                  <a16:creationId xmlns:a16="http://schemas.microsoft.com/office/drawing/2014/main" id="{29D2BF04-7A2A-2F75-8809-421150483003}"/>
                </a:ext>
              </a:extLst>
            </p:cNvPr>
            <p:cNvSpPr/>
            <p:nvPr/>
          </p:nvSpPr>
          <p:spPr>
            <a:xfrm rot="16200000">
              <a:off x="9976104" y="2688336"/>
              <a:ext cx="3291840" cy="274320"/>
            </a:xfrm>
            <a:prstGeom prst="rect">
              <a:avLst/>
            </a:prstGeom>
            <a:noFill/>
            <a:ln/>
          </p:spPr>
          <p:txBody>
            <a:bodyPr wrap="square" lIns="0" tIns="0" rIns="0" bIns="0" rtlCol="0" anchor="ctr"/>
            <a:lstStyle/>
            <a:p>
              <a:pPr marL="0" indent="0" algn="ctr">
                <a:buNone/>
              </a:pPr>
              <a:r>
                <a:rPr lang="en-US" sz="800" b="1" dirty="0">
                  <a:solidFill>
                    <a:srgbClr val="FDFDFD"/>
                  </a:solidFill>
                  <a:latin typeface="Montserrat" pitchFamily="34" charset="0"/>
                  <a:ea typeface="Montserrat" pitchFamily="34" charset="-122"/>
                  <a:cs typeface="Montserrat" pitchFamily="34" charset="-120"/>
                </a:rPr>
                <a:t>HUMAN-IN-THE-LOOP</a:t>
              </a:r>
              <a:endParaRPr lang="en-US" sz="800" dirty="0"/>
            </a:p>
          </p:txBody>
        </p:sp>
        <p:sp>
          <p:nvSpPr>
            <p:cNvPr id="562" name="Shape 9">
              <a:extLst>
                <a:ext uri="{FF2B5EF4-FFF2-40B4-BE49-F238E27FC236}">
                  <a16:creationId xmlns:a16="http://schemas.microsoft.com/office/drawing/2014/main" id="{3B6758DF-5A51-B455-4102-6B5D9D62AB5F}"/>
                </a:ext>
              </a:extLst>
            </p:cNvPr>
            <p:cNvSpPr/>
            <p:nvPr/>
          </p:nvSpPr>
          <p:spPr>
            <a:xfrm>
              <a:off x="868680" y="1207008"/>
              <a:ext cx="10552176" cy="347472"/>
            </a:xfrm>
            <a:prstGeom prst="roundRect">
              <a:avLst>
                <a:gd name="adj" fmla="val 10000"/>
              </a:avLst>
            </a:prstGeom>
            <a:solidFill>
              <a:srgbClr val="22262A"/>
            </a:solidFill>
            <a:ln/>
          </p:spPr>
          <p:txBody>
            <a:bodyPr/>
            <a:lstStyle/>
            <a:p>
              <a:endParaRPr lang="en-US"/>
            </a:p>
          </p:txBody>
        </p:sp>
        <p:sp>
          <p:nvSpPr>
            <p:cNvPr id="563" name="Text 10">
              <a:extLst>
                <a:ext uri="{FF2B5EF4-FFF2-40B4-BE49-F238E27FC236}">
                  <a16:creationId xmlns:a16="http://schemas.microsoft.com/office/drawing/2014/main" id="{4D75FC9A-E836-8EC8-5A3E-A2B0B3CC4A9E}"/>
                </a:ext>
              </a:extLst>
            </p:cNvPr>
            <p:cNvSpPr/>
            <p:nvPr/>
          </p:nvSpPr>
          <p:spPr>
            <a:xfrm>
              <a:off x="1051560" y="1138113"/>
              <a:ext cx="10186416" cy="457200"/>
            </a:xfrm>
            <a:prstGeom prst="rect">
              <a:avLst/>
            </a:prstGeom>
            <a:noFill/>
            <a:ln/>
          </p:spPr>
          <p:txBody>
            <a:bodyPr wrap="square" lIns="0" tIns="0" rIns="0" bIns="0" rtlCol="0" anchor="ctr"/>
            <a:lstStyle/>
            <a:p>
              <a:pPr marL="0" indent="0">
                <a:buNone/>
              </a:pPr>
              <a:r>
                <a:rPr lang="en-US" sz="1100" b="1" dirty="0">
                  <a:solidFill>
                    <a:srgbClr val="FDFDFD"/>
                  </a:solidFill>
                  <a:latin typeface="Montserrat" pitchFamily="34" charset="0"/>
                  <a:ea typeface="Montserrat" pitchFamily="34" charset="-122"/>
                  <a:cs typeface="Montserrat" pitchFamily="34" charset="-120"/>
                </a:rPr>
                <a:t>LEAD ORCHESTRATOR   </a:t>
              </a:r>
              <a:r>
                <a:rPr lang="en-US" sz="900" i="1" dirty="0">
                  <a:solidFill>
                    <a:srgbClr val="C9C9C7"/>
                  </a:solidFill>
                  <a:latin typeface="Montserrat" pitchFamily="34" charset="0"/>
                  <a:ea typeface="Montserrat" pitchFamily="34" charset="-122"/>
                  <a:cs typeface="Montserrat" pitchFamily="34" charset="-120"/>
                </a:rPr>
                <a:t>senses intent · routes to the owning agent · holds context · arbitrates conflicts</a:t>
              </a:r>
              <a:endParaRPr lang="en-US" sz="1100" dirty="0"/>
            </a:p>
          </p:txBody>
        </p:sp>
        <p:sp>
          <p:nvSpPr>
            <p:cNvPr id="564" name="Shape 12">
              <a:extLst>
                <a:ext uri="{FF2B5EF4-FFF2-40B4-BE49-F238E27FC236}">
                  <a16:creationId xmlns:a16="http://schemas.microsoft.com/office/drawing/2014/main" id="{14B4C950-F547-2458-6966-7469A15D4DCE}"/>
                </a:ext>
              </a:extLst>
            </p:cNvPr>
            <p:cNvSpPr/>
            <p:nvPr/>
          </p:nvSpPr>
          <p:spPr>
            <a:xfrm>
              <a:off x="868680" y="1639115"/>
              <a:ext cx="1993392" cy="1824963"/>
            </a:xfrm>
            <a:prstGeom prst="roundRect">
              <a:avLst>
                <a:gd name="adj" fmla="val 3211"/>
              </a:avLst>
            </a:prstGeom>
            <a:solidFill>
              <a:srgbClr val="FDFDFD"/>
            </a:solidFill>
            <a:ln w="9525">
              <a:solidFill>
                <a:srgbClr val="E2E0D9"/>
              </a:solidFill>
              <a:prstDash val="solid"/>
            </a:ln>
            <a:effectLst>
              <a:outerShdw blurRad="38100" dist="12700" dir="5400000" algn="bl" rotWithShape="0">
                <a:srgbClr val="000000">
                  <a:alpha val="9000"/>
                </a:srgbClr>
              </a:outerShdw>
            </a:effectLst>
          </p:spPr>
          <p:txBody>
            <a:bodyPr/>
            <a:lstStyle/>
            <a:p>
              <a:endParaRPr lang="en-US"/>
            </a:p>
          </p:txBody>
        </p:sp>
        <p:sp>
          <p:nvSpPr>
            <p:cNvPr id="565" name="Shape 13">
              <a:extLst>
                <a:ext uri="{FF2B5EF4-FFF2-40B4-BE49-F238E27FC236}">
                  <a16:creationId xmlns:a16="http://schemas.microsoft.com/office/drawing/2014/main" id="{95AA9594-F053-A43B-C0CF-17ACEB135600}"/>
                </a:ext>
              </a:extLst>
            </p:cNvPr>
            <p:cNvSpPr/>
            <p:nvPr/>
          </p:nvSpPr>
          <p:spPr>
            <a:xfrm>
              <a:off x="868680" y="1639115"/>
              <a:ext cx="1993392" cy="548640"/>
            </a:xfrm>
            <a:prstGeom prst="roundRect">
              <a:avLst>
                <a:gd name="adj" fmla="val 11667"/>
              </a:avLst>
            </a:prstGeom>
            <a:solidFill>
              <a:srgbClr val="F5F4F1"/>
            </a:solidFill>
            <a:ln/>
          </p:spPr>
          <p:txBody>
            <a:bodyPr/>
            <a:lstStyle/>
            <a:p>
              <a:endParaRPr lang="en-US"/>
            </a:p>
          </p:txBody>
        </p:sp>
        <p:sp>
          <p:nvSpPr>
            <p:cNvPr id="566" name="Text 14">
              <a:extLst>
                <a:ext uri="{FF2B5EF4-FFF2-40B4-BE49-F238E27FC236}">
                  <a16:creationId xmlns:a16="http://schemas.microsoft.com/office/drawing/2014/main" id="{1C906C7D-B5A0-A078-95DE-3B2DCDF8B138}"/>
                </a:ext>
              </a:extLst>
            </p:cNvPr>
            <p:cNvSpPr/>
            <p:nvPr/>
          </p:nvSpPr>
          <p:spPr>
            <a:xfrm>
              <a:off x="960120" y="1693979"/>
              <a:ext cx="1810512" cy="182880"/>
            </a:xfrm>
            <a:prstGeom prst="rect">
              <a:avLst/>
            </a:prstGeom>
            <a:noFill/>
            <a:ln/>
          </p:spPr>
          <p:txBody>
            <a:bodyPr wrap="square" lIns="0" tIns="0" rIns="0" bIns="0" rtlCol="0" anchor="ctr"/>
            <a:lstStyle/>
            <a:p>
              <a:pPr marL="0" indent="0">
                <a:buNone/>
              </a:pPr>
              <a:r>
                <a:rPr lang="en-US" sz="950" b="1" dirty="0">
                  <a:solidFill>
                    <a:srgbClr val="E31837"/>
                  </a:solidFill>
                  <a:latin typeface="Montserrat" pitchFamily="34" charset="0"/>
                  <a:ea typeface="Montserrat" pitchFamily="34" charset="-122"/>
                  <a:cs typeface="Montserrat" pitchFamily="34" charset="-120"/>
                </a:rPr>
                <a:t>UC1</a:t>
              </a:r>
              <a:endParaRPr lang="en-US" sz="950" dirty="0"/>
            </a:p>
          </p:txBody>
        </p:sp>
        <p:sp>
          <p:nvSpPr>
            <p:cNvPr id="567" name="Text 15">
              <a:extLst>
                <a:ext uri="{FF2B5EF4-FFF2-40B4-BE49-F238E27FC236}">
                  <a16:creationId xmlns:a16="http://schemas.microsoft.com/office/drawing/2014/main" id="{011CC048-8B55-AA28-F028-588A90659C29}"/>
                </a:ext>
              </a:extLst>
            </p:cNvPr>
            <p:cNvSpPr/>
            <p:nvPr/>
          </p:nvSpPr>
          <p:spPr>
            <a:xfrm>
              <a:off x="960120" y="1858571"/>
              <a:ext cx="1810512" cy="310896"/>
            </a:xfrm>
            <a:prstGeom prst="rect">
              <a:avLst/>
            </a:prstGeom>
            <a:noFill/>
            <a:ln/>
          </p:spPr>
          <p:txBody>
            <a:bodyPr wrap="square" lIns="0" tIns="0" rIns="0" bIns="0" rtlCol="0" anchor="t"/>
            <a:lstStyle/>
            <a:p>
              <a:pPr marL="0" indent="0">
                <a:lnSpc>
                  <a:spcPct val="90000"/>
                </a:lnSpc>
                <a:buNone/>
              </a:pPr>
              <a:r>
                <a:rPr lang="en-US" sz="900" b="1" dirty="0">
                  <a:solidFill>
                    <a:srgbClr val="333333"/>
                  </a:solidFill>
                  <a:latin typeface="Montserrat" pitchFamily="34" charset="0"/>
                  <a:ea typeface="Montserrat" pitchFamily="34" charset="-122"/>
                  <a:cs typeface="Montserrat" pitchFamily="34" charset="-120"/>
                </a:rPr>
                <a:t>Profiling &amp;</a:t>
              </a:r>
              <a:endParaRPr lang="en-US" sz="900" dirty="0"/>
            </a:p>
            <a:p>
              <a:pPr marL="0" indent="0">
                <a:lnSpc>
                  <a:spcPct val="90000"/>
                </a:lnSpc>
                <a:buNone/>
              </a:pPr>
              <a:r>
                <a:rPr lang="en-US" sz="900" b="1" dirty="0">
                  <a:solidFill>
                    <a:srgbClr val="333333"/>
                  </a:solidFill>
                  <a:latin typeface="Montserrat" pitchFamily="34" charset="0"/>
                  <a:ea typeface="Montserrat" pitchFamily="34" charset="-122"/>
                  <a:cs typeface="Montserrat" pitchFamily="34" charset="-120"/>
                </a:rPr>
                <a:t>Segmentation</a:t>
              </a:r>
              <a:endParaRPr lang="en-US" sz="900" dirty="0"/>
            </a:p>
          </p:txBody>
        </p:sp>
        <p:sp>
          <p:nvSpPr>
            <p:cNvPr id="568" name="Shape 16">
              <a:extLst>
                <a:ext uri="{FF2B5EF4-FFF2-40B4-BE49-F238E27FC236}">
                  <a16:creationId xmlns:a16="http://schemas.microsoft.com/office/drawing/2014/main" id="{20B5B1FC-3F54-97AF-7AB5-7BE91228A39E}"/>
                </a:ext>
              </a:extLst>
            </p:cNvPr>
            <p:cNvSpPr/>
            <p:nvPr/>
          </p:nvSpPr>
          <p:spPr>
            <a:xfrm>
              <a:off x="978408" y="2297483"/>
              <a:ext cx="1773936" cy="475488"/>
            </a:xfrm>
            <a:prstGeom prst="roundRect">
              <a:avLst>
                <a:gd name="adj" fmla="val 7576"/>
              </a:avLst>
            </a:prstGeom>
            <a:solidFill>
              <a:srgbClr val="FBE3E4"/>
            </a:solidFill>
            <a:ln w="15875">
              <a:solidFill>
                <a:srgbClr val="E24B4A"/>
              </a:solidFill>
              <a:prstDash val="solid"/>
            </a:ln>
          </p:spPr>
          <p:txBody>
            <a:bodyPr/>
            <a:lstStyle/>
            <a:p>
              <a:endParaRPr lang="en-US"/>
            </a:p>
          </p:txBody>
        </p:sp>
        <p:sp>
          <p:nvSpPr>
            <p:cNvPr id="569" name="Text 17">
              <a:extLst>
                <a:ext uri="{FF2B5EF4-FFF2-40B4-BE49-F238E27FC236}">
                  <a16:creationId xmlns:a16="http://schemas.microsoft.com/office/drawing/2014/main" id="{D6824110-C38C-8910-EC7F-15738452C8DE}"/>
                </a:ext>
              </a:extLst>
            </p:cNvPr>
            <p:cNvSpPr/>
            <p:nvPr/>
          </p:nvSpPr>
          <p:spPr>
            <a:xfrm>
              <a:off x="978408" y="2370635"/>
              <a:ext cx="1773936" cy="256032"/>
            </a:xfrm>
            <a:prstGeom prst="rect">
              <a:avLst/>
            </a:prstGeom>
            <a:noFill/>
            <a:ln/>
          </p:spPr>
          <p:txBody>
            <a:bodyPr wrap="square" lIns="0" tIns="0" rIns="0" bIns="0" rtlCol="0" anchor="ctr"/>
            <a:lstStyle/>
            <a:p>
              <a:pPr marL="0" indent="0" algn="ctr">
                <a:buNone/>
              </a:pPr>
              <a:r>
                <a:rPr lang="en-US" sz="1300" b="1" dirty="0">
                  <a:solidFill>
                    <a:srgbClr val="E31837"/>
                  </a:solidFill>
                  <a:latin typeface="Montserrat" pitchFamily="34" charset="0"/>
                  <a:ea typeface="Montserrat" pitchFamily="34" charset="-122"/>
                  <a:cs typeface="Montserrat" pitchFamily="34" charset="-120"/>
                </a:rPr>
                <a:t>PERSONA</a:t>
              </a:r>
              <a:endParaRPr lang="en-US" sz="1300" dirty="0"/>
            </a:p>
          </p:txBody>
        </p:sp>
        <p:sp>
          <p:nvSpPr>
            <p:cNvPr id="570" name="Text 18">
              <a:extLst>
                <a:ext uri="{FF2B5EF4-FFF2-40B4-BE49-F238E27FC236}">
                  <a16:creationId xmlns:a16="http://schemas.microsoft.com/office/drawing/2014/main" id="{9ACF2E23-F565-F64E-4BE3-35BAC2A06D92}"/>
                </a:ext>
              </a:extLst>
            </p:cNvPr>
            <p:cNvSpPr/>
            <p:nvPr/>
          </p:nvSpPr>
          <p:spPr>
            <a:xfrm>
              <a:off x="978408" y="2626667"/>
              <a:ext cx="1773936" cy="219456"/>
            </a:xfrm>
            <a:prstGeom prst="rect">
              <a:avLst/>
            </a:prstGeom>
            <a:noFill/>
            <a:ln/>
          </p:spPr>
          <p:txBody>
            <a:bodyPr wrap="square" lIns="0" tIns="0" rIns="0" bIns="0" rtlCol="0" anchor="t"/>
            <a:lstStyle/>
            <a:p>
              <a:pPr marL="0" indent="0" algn="ctr">
                <a:lnSpc>
                  <a:spcPct val="90000"/>
                </a:lnSpc>
                <a:buNone/>
              </a:pPr>
              <a:r>
                <a:rPr lang="en-US" sz="680" dirty="0">
                  <a:solidFill>
                    <a:srgbClr val="8A2732"/>
                  </a:solidFill>
                  <a:latin typeface="Lora" pitchFamily="34" charset="0"/>
                  <a:ea typeface="Lora" pitchFamily="34" charset="-122"/>
                  <a:cs typeface="Lora" pitchFamily="34" charset="-120"/>
                </a:rPr>
                <a:t>profiling</a:t>
              </a:r>
              <a:endParaRPr lang="en-US" sz="680" dirty="0"/>
            </a:p>
          </p:txBody>
        </p:sp>
        <p:sp>
          <p:nvSpPr>
            <p:cNvPr id="571" name="Text 21">
              <a:extLst>
                <a:ext uri="{FF2B5EF4-FFF2-40B4-BE49-F238E27FC236}">
                  <a16:creationId xmlns:a16="http://schemas.microsoft.com/office/drawing/2014/main" id="{881FDBE5-53E2-DD5E-6934-74FEEBF111B9}"/>
                </a:ext>
              </a:extLst>
            </p:cNvPr>
            <p:cNvSpPr/>
            <p:nvPr/>
          </p:nvSpPr>
          <p:spPr>
            <a:xfrm>
              <a:off x="978408" y="2782748"/>
              <a:ext cx="1773936" cy="146304"/>
            </a:xfrm>
            <a:prstGeom prst="rect">
              <a:avLst/>
            </a:prstGeom>
            <a:noFill/>
            <a:ln/>
          </p:spPr>
          <p:txBody>
            <a:bodyPr wrap="square" lIns="0" tIns="0" rIns="0" bIns="0" rtlCol="0" anchor="ctr"/>
            <a:lstStyle/>
            <a:p>
              <a:pPr marL="0" indent="0" algn="ctr">
                <a:buNone/>
              </a:pPr>
              <a:r>
                <a:rPr lang="en-US" sz="650" b="1" kern="0" spc="50" dirty="0">
                  <a:solidFill>
                    <a:srgbClr val="A0A5AB"/>
                  </a:solidFill>
                  <a:latin typeface="Montserrat" pitchFamily="34" charset="0"/>
                  <a:ea typeface="Montserrat" pitchFamily="34" charset="-122"/>
                  <a:cs typeface="Montserrat" pitchFamily="34" charset="-120"/>
                </a:rPr>
                <a:t>SUPPORTED BY</a:t>
              </a:r>
              <a:endParaRPr lang="en-US" sz="650" dirty="0"/>
            </a:p>
          </p:txBody>
        </p:sp>
        <p:sp>
          <p:nvSpPr>
            <p:cNvPr id="572" name="Shape 22">
              <a:extLst>
                <a:ext uri="{FF2B5EF4-FFF2-40B4-BE49-F238E27FC236}">
                  <a16:creationId xmlns:a16="http://schemas.microsoft.com/office/drawing/2014/main" id="{BECD7EDD-6D3C-83C0-2988-2561865002B0}"/>
                </a:ext>
              </a:extLst>
            </p:cNvPr>
            <p:cNvSpPr/>
            <p:nvPr/>
          </p:nvSpPr>
          <p:spPr>
            <a:xfrm>
              <a:off x="1014984" y="2926076"/>
              <a:ext cx="1700784" cy="256032"/>
            </a:xfrm>
            <a:prstGeom prst="roundRect">
              <a:avLst>
                <a:gd name="adj" fmla="val 14286"/>
              </a:avLst>
            </a:prstGeom>
            <a:solidFill>
              <a:srgbClr val="F5F4F1"/>
            </a:solidFill>
            <a:ln w="6350">
              <a:solidFill>
                <a:srgbClr val="D8D6CE"/>
              </a:solidFill>
              <a:prstDash val="solid"/>
            </a:ln>
          </p:spPr>
          <p:txBody>
            <a:bodyPr/>
            <a:lstStyle/>
            <a:p>
              <a:endParaRPr lang="en-US"/>
            </a:p>
          </p:txBody>
        </p:sp>
        <p:sp>
          <p:nvSpPr>
            <p:cNvPr id="573" name="Text 23">
              <a:extLst>
                <a:ext uri="{FF2B5EF4-FFF2-40B4-BE49-F238E27FC236}">
                  <a16:creationId xmlns:a16="http://schemas.microsoft.com/office/drawing/2014/main" id="{B978AC0F-36FC-3736-AE3C-0526D54774B0}"/>
                </a:ext>
              </a:extLst>
            </p:cNvPr>
            <p:cNvSpPr/>
            <p:nvPr/>
          </p:nvSpPr>
          <p:spPr>
            <a:xfrm>
              <a:off x="1069848" y="2915438"/>
              <a:ext cx="1591056" cy="256032"/>
            </a:xfrm>
            <a:prstGeom prst="rect">
              <a:avLst/>
            </a:prstGeom>
            <a:noFill/>
            <a:ln/>
          </p:spPr>
          <p:txBody>
            <a:bodyPr wrap="square" lIns="0" tIns="0" rIns="0" bIns="0" rtlCol="0" anchor="ctr"/>
            <a:lstStyle/>
            <a:p>
              <a:pPr marL="0" indent="0">
                <a:buNone/>
              </a:pPr>
              <a:r>
                <a:rPr lang="en-US" sz="750" b="1" dirty="0">
                  <a:solidFill>
                    <a:srgbClr val="333333"/>
                  </a:solidFill>
                  <a:latin typeface="Montserrat" pitchFamily="34" charset="0"/>
                  <a:ea typeface="Montserrat" pitchFamily="34" charset="-122"/>
                  <a:cs typeface="Montserrat" pitchFamily="34" charset="-120"/>
                </a:rPr>
                <a:t>ONEBASKET  </a:t>
              </a:r>
              <a:r>
                <a:rPr lang="en-US" sz="630" i="1" dirty="0">
                  <a:solidFill>
                    <a:srgbClr val="A0A5AB"/>
                  </a:solidFill>
                  <a:latin typeface="Montserrat" pitchFamily="34" charset="0"/>
                  <a:ea typeface="Montserrat" pitchFamily="34" charset="-122"/>
                  <a:cs typeface="Montserrat" pitchFamily="34" charset="-120"/>
                </a:rPr>
                <a:t>identity base</a:t>
              </a:r>
              <a:endParaRPr lang="en-US" sz="750" dirty="0"/>
            </a:p>
          </p:txBody>
        </p:sp>
        <p:sp>
          <p:nvSpPr>
            <p:cNvPr id="574" name="Shape 25">
              <a:extLst>
                <a:ext uri="{FF2B5EF4-FFF2-40B4-BE49-F238E27FC236}">
                  <a16:creationId xmlns:a16="http://schemas.microsoft.com/office/drawing/2014/main" id="{828AB15F-C529-8A4C-3EA6-5CD983316C04}"/>
                </a:ext>
              </a:extLst>
            </p:cNvPr>
            <p:cNvSpPr/>
            <p:nvPr/>
          </p:nvSpPr>
          <p:spPr>
            <a:xfrm>
              <a:off x="3008376" y="1639115"/>
              <a:ext cx="1993392" cy="1824963"/>
            </a:xfrm>
            <a:prstGeom prst="roundRect">
              <a:avLst>
                <a:gd name="adj" fmla="val 3211"/>
              </a:avLst>
            </a:prstGeom>
            <a:solidFill>
              <a:srgbClr val="FDFDFD"/>
            </a:solidFill>
            <a:ln w="9525">
              <a:solidFill>
                <a:srgbClr val="E2E0D9"/>
              </a:solidFill>
              <a:prstDash val="solid"/>
            </a:ln>
            <a:effectLst>
              <a:outerShdw blurRad="38100" dist="12700" dir="5400000" algn="bl" rotWithShape="0">
                <a:srgbClr val="000000">
                  <a:alpha val="9000"/>
                </a:srgbClr>
              </a:outerShdw>
            </a:effectLst>
          </p:spPr>
          <p:txBody>
            <a:bodyPr/>
            <a:lstStyle/>
            <a:p>
              <a:endParaRPr lang="en-US"/>
            </a:p>
          </p:txBody>
        </p:sp>
        <p:sp>
          <p:nvSpPr>
            <p:cNvPr id="575" name="Shape 26">
              <a:extLst>
                <a:ext uri="{FF2B5EF4-FFF2-40B4-BE49-F238E27FC236}">
                  <a16:creationId xmlns:a16="http://schemas.microsoft.com/office/drawing/2014/main" id="{7536758F-BB26-F691-AC93-61F201CEED82}"/>
                </a:ext>
              </a:extLst>
            </p:cNvPr>
            <p:cNvSpPr/>
            <p:nvPr/>
          </p:nvSpPr>
          <p:spPr>
            <a:xfrm>
              <a:off x="3008376" y="1639115"/>
              <a:ext cx="1993392" cy="548640"/>
            </a:xfrm>
            <a:prstGeom prst="roundRect">
              <a:avLst>
                <a:gd name="adj" fmla="val 11667"/>
              </a:avLst>
            </a:prstGeom>
            <a:solidFill>
              <a:srgbClr val="F5F4F1"/>
            </a:solidFill>
            <a:ln/>
          </p:spPr>
          <p:txBody>
            <a:bodyPr/>
            <a:lstStyle/>
            <a:p>
              <a:endParaRPr lang="en-US"/>
            </a:p>
          </p:txBody>
        </p:sp>
        <p:sp>
          <p:nvSpPr>
            <p:cNvPr id="576" name="Text 27">
              <a:extLst>
                <a:ext uri="{FF2B5EF4-FFF2-40B4-BE49-F238E27FC236}">
                  <a16:creationId xmlns:a16="http://schemas.microsoft.com/office/drawing/2014/main" id="{E47ACCCF-117A-162D-6A24-934C3BA55503}"/>
                </a:ext>
              </a:extLst>
            </p:cNvPr>
            <p:cNvSpPr/>
            <p:nvPr/>
          </p:nvSpPr>
          <p:spPr>
            <a:xfrm>
              <a:off x="3099816" y="1693979"/>
              <a:ext cx="1810512" cy="182880"/>
            </a:xfrm>
            <a:prstGeom prst="rect">
              <a:avLst/>
            </a:prstGeom>
            <a:noFill/>
            <a:ln/>
          </p:spPr>
          <p:txBody>
            <a:bodyPr wrap="square" lIns="0" tIns="0" rIns="0" bIns="0" rtlCol="0" anchor="ctr"/>
            <a:lstStyle/>
            <a:p>
              <a:pPr marL="0" indent="0">
                <a:buNone/>
              </a:pPr>
              <a:r>
                <a:rPr lang="en-US" sz="950" b="1" dirty="0">
                  <a:solidFill>
                    <a:srgbClr val="E31837"/>
                  </a:solidFill>
                  <a:latin typeface="Montserrat" pitchFamily="34" charset="0"/>
                  <a:ea typeface="Montserrat" pitchFamily="34" charset="-122"/>
                  <a:cs typeface="Montserrat" pitchFamily="34" charset="-120"/>
                </a:rPr>
                <a:t>UC2</a:t>
              </a:r>
              <a:endParaRPr lang="en-US" sz="950" dirty="0"/>
            </a:p>
          </p:txBody>
        </p:sp>
        <p:sp>
          <p:nvSpPr>
            <p:cNvPr id="577" name="Text 28">
              <a:extLst>
                <a:ext uri="{FF2B5EF4-FFF2-40B4-BE49-F238E27FC236}">
                  <a16:creationId xmlns:a16="http://schemas.microsoft.com/office/drawing/2014/main" id="{D7B368BB-0DDC-4AF7-875F-D3BF7BF60B91}"/>
                </a:ext>
              </a:extLst>
            </p:cNvPr>
            <p:cNvSpPr/>
            <p:nvPr/>
          </p:nvSpPr>
          <p:spPr>
            <a:xfrm>
              <a:off x="3099816" y="1858571"/>
              <a:ext cx="1810512" cy="310896"/>
            </a:xfrm>
            <a:prstGeom prst="rect">
              <a:avLst/>
            </a:prstGeom>
            <a:noFill/>
            <a:ln/>
          </p:spPr>
          <p:txBody>
            <a:bodyPr wrap="square" lIns="0" tIns="0" rIns="0" bIns="0" rtlCol="0" anchor="t"/>
            <a:lstStyle/>
            <a:p>
              <a:pPr marL="0" indent="0">
                <a:lnSpc>
                  <a:spcPct val="90000"/>
                </a:lnSpc>
                <a:buNone/>
              </a:pPr>
              <a:r>
                <a:rPr lang="en-US" sz="900" b="1" dirty="0">
                  <a:solidFill>
                    <a:srgbClr val="333333"/>
                  </a:solidFill>
                  <a:latin typeface="Montserrat" pitchFamily="34" charset="0"/>
                  <a:ea typeface="Montserrat" pitchFamily="34" charset="-122"/>
                  <a:cs typeface="Montserrat" pitchFamily="34" charset="-120"/>
                </a:rPr>
                <a:t>Personalised</a:t>
              </a:r>
              <a:endParaRPr lang="en-US" sz="900" dirty="0"/>
            </a:p>
            <a:p>
              <a:pPr marL="0" indent="0">
                <a:lnSpc>
                  <a:spcPct val="90000"/>
                </a:lnSpc>
                <a:buNone/>
              </a:pPr>
              <a:r>
                <a:rPr lang="en-US" sz="900" b="1" dirty="0">
                  <a:solidFill>
                    <a:srgbClr val="333333"/>
                  </a:solidFill>
                  <a:latin typeface="Montserrat" pitchFamily="34" charset="0"/>
                  <a:ea typeface="Montserrat" pitchFamily="34" charset="-122"/>
                  <a:cs typeface="Montserrat" pitchFamily="34" charset="-120"/>
                </a:rPr>
                <a:t>Discovery</a:t>
              </a:r>
              <a:endParaRPr lang="en-US" sz="900" dirty="0"/>
            </a:p>
          </p:txBody>
        </p:sp>
        <p:sp>
          <p:nvSpPr>
            <p:cNvPr id="578" name="Shape 29">
              <a:extLst>
                <a:ext uri="{FF2B5EF4-FFF2-40B4-BE49-F238E27FC236}">
                  <a16:creationId xmlns:a16="http://schemas.microsoft.com/office/drawing/2014/main" id="{F1F79B89-C985-29A0-8261-EF1DD0B78C68}"/>
                </a:ext>
              </a:extLst>
            </p:cNvPr>
            <p:cNvSpPr/>
            <p:nvPr/>
          </p:nvSpPr>
          <p:spPr>
            <a:xfrm>
              <a:off x="3118104" y="2297483"/>
              <a:ext cx="1773936" cy="475488"/>
            </a:xfrm>
            <a:prstGeom prst="roundRect">
              <a:avLst>
                <a:gd name="adj" fmla="val 7576"/>
              </a:avLst>
            </a:prstGeom>
            <a:solidFill>
              <a:srgbClr val="F5F4F1"/>
            </a:solidFill>
            <a:ln w="15875">
              <a:solidFill>
                <a:srgbClr val="A0A5AB"/>
              </a:solidFill>
              <a:prstDash val="solid"/>
            </a:ln>
          </p:spPr>
          <p:txBody>
            <a:bodyPr/>
            <a:lstStyle/>
            <a:p>
              <a:endParaRPr lang="en-US"/>
            </a:p>
          </p:txBody>
        </p:sp>
        <p:sp>
          <p:nvSpPr>
            <p:cNvPr id="579" name="Text 30">
              <a:extLst>
                <a:ext uri="{FF2B5EF4-FFF2-40B4-BE49-F238E27FC236}">
                  <a16:creationId xmlns:a16="http://schemas.microsoft.com/office/drawing/2014/main" id="{31FABF35-75C6-816A-A081-EE6A5786ED4B}"/>
                </a:ext>
              </a:extLst>
            </p:cNvPr>
            <p:cNvSpPr/>
            <p:nvPr/>
          </p:nvSpPr>
          <p:spPr>
            <a:xfrm>
              <a:off x="3118104" y="2370635"/>
              <a:ext cx="1773936" cy="256032"/>
            </a:xfrm>
            <a:prstGeom prst="rect">
              <a:avLst/>
            </a:prstGeom>
            <a:noFill/>
            <a:ln/>
          </p:spPr>
          <p:txBody>
            <a:bodyPr wrap="square" lIns="0" tIns="0" rIns="0" bIns="0" rtlCol="0" anchor="ctr"/>
            <a:lstStyle/>
            <a:p>
              <a:pPr marL="0" indent="0" algn="ctr">
                <a:buNone/>
              </a:pPr>
              <a:r>
                <a:rPr lang="en-US" sz="1300" b="1" dirty="0">
                  <a:solidFill>
                    <a:srgbClr val="333333"/>
                  </a:solidFill>
                  <a:latin typeface="Montserrat" pitchFamily="34" charset="0"/>
                  <a:ea typeface="Montserrat" pitchFamily="34" charset="-122"/>
                  <a:cs typeface="Montserrat" pitchFamily="34" charset="-120"/>
                </a:rPr>
                <a:t>MUSE</a:t>
              </a:r>
              <a:endParaRPr lang="en-US" sz="1300" dirty="0"/>
            </a:p>
          </p:txBody>
        </p:sp>
        <p:sp>
          <p:nvSpPr>
            <p:cNvPr id="580" name="Text 31">
              <a:extLst>
                <a:ext uri="{FF2B5EF4-FFF2-40B4-BE49-F238E27FC236}">
                  <a16:creationId xmlns:a16="http://schemas.microsoft.com/office/drawing/2014/main" id="{578B31D0-86AA-D3AE-D26B-773A3EA69C23}"/>
                </a:ext>
              </a:extLst>
            </p:cNvPr>
            <p:cNvSpPr/>
            <p:nvPr/>
          </p:nvSpPr>
          <p:spPr>
            <a:xfrm>
              <a:off x="3118104" y="2626667"/>
              <a:ext cx="1773936" cy="219456"/>
            </a:xfrm>
            <a:prstGeom prst="rect">
              <a:avLst/>
            </a:prstGeom>
            <a:noFill/>
            <a:ln/>
          </p:spPr>
          <p:txBody>
            <a:bodyPr wrap="square" lIns="0" tIns="0" rIns="0" bIns="0" rtlCol="0" anchor="t"/>
            <a:lstStyle/>
            <a:p>
              <a:pPr marL="0" indent="0" algn="ctr">
                <a:lnSpc>
                  <a:spcPct val="90000"/>
                </a:lnSpc>
                <a:buNone/>
              </a:pPr>
              <a:r>
                <a:rPr lang="en-US" sz="680" dirty="0">
                  <a:solidFill>
                    <a:srgbClr val="A0A5AB"/>
                  </a:solidFill>
                  <a:latin typeface="Lora" pitchFamily="34" charset="0"/>
                  <a:ea typeface="Lora" pitchFamily="34" charset="-122"/>
                  <a:cs typeface="Lora" pitchFamily="34" charset="-120"/>
                </a:rPr>
                <a:t>discovery lead</a:t>
              </a:r>
              <a:endParaRPr lang="en-US" sz="680" dirty="0"/>
            </a:p>
          </p:txBody>
        </p:sp>
        <p:sp>
          <p:nvSpPr>
            <p:cNvPr id="581" name="Text 34">
              <a:extLst>
                <a:ext uri="{FF2B5EF4-FFF2-40B4-BE49-F238E27FC236}">
                  <a16:creationId xmlns:a16="http://schemas.microsoft.com/office/drawing/2014/main" id="{996F3C1C-470F-8571-322F-AE54EC85A346}"/>
                </a:ext>
              </a:extLst>
            </p:cNvPr>
            <p:cNvSpPr/>
            <p:nvPr/>
          </p:nvSpPr>
          <p:spPr>
            <a:xfrm>
              <a:off x="3118104" y="2782748"/>
              <a:ext cx="1773936" cy="146304"/>
            </a:xfrm>
            <a:prstGeom prst="rect">
              <a:avLst/>
            </a:prstGeom>
            <a:noFill/>
            <a:ln/>
          </p:spPr>
          <p:txBody>
            <a:bodyPr wrap="square" lIns="0" tIns="0" rIns="0" bIns="0" rtlCol="0" anchor="ctr"/>
            <a:lstStyle/>
            <a:p>
              <a:pPr marL="0" indent="0" algn="ctr">
                <a:buNone/>
              </a:pPr>
              <a:r>
                <a:rPr lang="en-US" sz="650" b="1" kern="0" spc="50" dirty="0">
                  <a:solidFill>
                    <a:srgbClr val="A0A5AB"/>
                  </a:solidFill>
                  <a:latin typeface="Montserrat" pitchFamily="34" charset="0"/>
                  <a:ea typeface="Montserrat" pitchFamily="34" charset="-122"/>
                  <a:cs typeface="Montserrat" pitchFamily="34" charset="-120"/>
                </a:rPr>
                <a:t>SUPPORTED BY</a:t>
              </a:r>
              <a:endParaRPr lang="en-US" sz="650" dirty="0"/>
            </a:p>
          </p:txBody>
        </p:sp>
        <p:sp>
          <p:nvSpPr>
            <p:cNvPr id="582" name="Shape 35">
              <a:extLst>
                <a:ext uri="{FF2B5EF4-FFF2-40B4-BE49-F238E27FC236}">
                  <a16:creationId xmlns:a16="http://schemas.microsoft.com/office/drawing/2014/main" id="{3922D04D-7FE4-F776-93A7-FEE46918FD95}"/>
                </a:ext>
              </a:extLst>
            </p:cNvPr>
            <p:cNvSpPr/>
            <p:nvPr/>
          </p:nvSpPr>
          <p:spPr>
            <a:xfrm>
              <a:off x="3154680" y="2915438"/>
              <a:ext cx="1700784" cy="256032"/>
            </a:xfrm>
            <a:prstGeom prst="roundRect">
              <a:avLst>
                <a:gd name="adj" fmla="val 14286"/>
              </a:avLst>
            </a:prstGeom>
            <a:solidFill>
              <a:srgbClr val="F5F4F1"/>
            </a:solidFill>
            <a:ln w="6350">
              <a:solidFill>
                <a:srgbClr val="D8D6CE"/>
              </a:solidFill>
              <a:prstDash val="solid"/>
            </a:ln>
          </p:spPr>
          <p:txBody>
            <a:bodyPr/>
            <a:lstStyle/>
            <a:p>
              <a:endParaRPr lang="en-US"/>
            </a:p>
          </p:txBody>
        </p:sp>
        <p:sp>
          <p:nvSpPr>
            <p:cNvPr id="583" name="Text 36">
              <a:extLst>
                <a:ext uri="{FF2B5EF4-FFF2-40B4-BE49-F238E27FC236}">
                  <a16:creationId xmlns:a16="http://schemas.microsoft.com/office/drawing/2014/main" id="{CD310E33-C980-5432-416E-963E6AD2CFF7}"/>
                </a:ext>
              </a:extLst>
            </p:cNvPr>
            <p:cNvSpPr/>
            <p:nvPr/>
          </p:nvSpPr>
          <p:spPr>
            <a:xfrm>
              <a:off x="3209544" y="2915438"/>
              <a:ext cx="1591056" cy="256032"/>
            </a:xfrm>
            <a:prstGeom prst="rect">
              <a:avLst/>
            </a:prstGeom>
            <a:noFill/>
            <a:ln/>
          </p:spPr>
          <p:txBody>
            <a:bodyPr wrap="square" lIns="0" tIns="0" rIns="0" bIns="0" rtlCol="0" anchor="ctr"/>
            <a:lstStyle/>
            <a:p>
              <a:pPr marL="0" indent="0">
                <a:buNone/>
              </a:pPr>
              <a:r>
                <a:rPr lang="en-US" sz="750" b="1" dirty="0">
                  <a:solidFill>
                    <a:srgbClr val="333333"/>
                  </a:solidFill>
                  <a:latin typeface="Montserrat" pitchFamily="34" charset="0"/>
                  <a:ea typeface="Montserrat" pitchFamily="34" charset="-122"/>
                  <a:cs typeface="Montserrat" pitchFamily="34" charset="-120"/>
                </a:rPr>
                <a:t>SCOUT  </a:t>
              </a:r>
              <a:r>
                <a:rPr lang="en-US" sz="630" i="1" dirty="0">
                  <a:solidFill>
                    <a:srgbClr val="A0A5AB"/>
                  </a:solidFill>
                  <a:latin typeface="Montserrat" pitchFamily="34" charset="0"/>
                  <a:ea typeface="Montserrat" pitchFamily="34" charset="-122"/>
                  <a:cs typeface="Montserrat" pitchFamily="34" charset="-120"/>
                </a:rPr>
                <a:t>trend signal</a:t>
              </a:r>
              <a:endParaRPr lang="en-US" sz="750" dirty="0"/>
            </a:p>
          </p:txBody>
        </p:sp>
        <p:sp>
          <p:nvSpPr>
            <p:cNvPr id="584" name="Shape 37">
              <a:extLst>
                <a:ext uri="{FF2B5EF4-FFF2-40B4-BE49-F238E27FC236}">
                  <a16:creationId xmlns:a16="http://schemas.microsoft.com/office/drawing/2014/main" id="{75C67C32-4F05-2A58-9843-EC4B31B5E467}"/>
                </a:ext>
              </a:extLst>
            </p:cNvPr>
            <p:cNvSpPr/>
            <p:nvPr/>
          </p:nvSpPr>
          <p:spPr>
            <a:xfrm>
              <a:off x="3154680" y="3208046"/>
              <a:ext cx="1700784" cy="256032"/>
            </a:xfrm>
            <a:prstGeom prst="roundRect">
              <a:avLst>
                <a:gd name="adj" fmla="val 14286"/>
              </a:avLst>
            </a:prstGeom>
            <a:solidFill>
              <a:srgbClr val="F5F4F1"/>
            </a:solidFill>
            <a:ln w="6350">
              <a:solidFill>
                <a:srgbClr val="D8D6CE"/>
              </a:solidFill>
              <a:prstDash val="solid"/>
            </a:ln>
          </p:spPr>
          <p:txBody>
            <a:bodyPr/>
            <a:lstStyle/>
            <a:p>
              <a:endParaRPr lang="en-US"/>
            </a:p>
          </p:txBody>
        </p:sp>
        <p:sp>
          <p:nvSpPr>
            <p:cNvPr id="585" name="Text 38">
              <a:extLst>
                <a:ext uri="{FF2B5EF4-FFF2-40B4-BE49-F238E27FC236}">
                  <a16:creationId xmlns:a16="http://schemas.microsoft.com/office/drawing/2014/main" id="{09978BB1-A7EE-2B4B-B4DC-FCAD07B81FBB}"/>
                </a:ext>
              </a:extLst>
            </p:cNvPr>
            <p:cNvSpPr/>
            <p:nvPr/>
          </p:nvSpPr>
          <p:spPr>
            <a:xfrm>
              <a:off x="3209544" y="3208046"/>
              <a:ext cx="1591056" cy="256032"/>
            </a:xfrm>
            <a:prstGeom prst="rect">
              <a:avLst/>
            </a:prstGeom>
            <a:noFill/>
            <a:ln/>
          </p:spPr>
          <p:txBody>
            <a:bodyPr wrap="square" lIns="0" tIns="0" rIns="0" bIns="0" rtlCol="0" anchor="ctr"/>
            <a:lstStyle/>
            <a:p>
              <a:pPr marL="0" indent="0">
                <a:buNone/>
              </a:pPr>
              <a:r>
                <a:rPr lang="en-US" sz="750" b="1" dirty="0">
                  <a:solidFill>
                    <a:srgbClr val="333333"/>
                  </a:solidFill>
                  <a:latin typeface="Montserrat" pitchFamily="34" charset="0"/>
                  <a:ea typeface="Montserrat" pitchFamily="34" charset="-122"/>
                  <a:cs typeface="Montserrat" pitchFamily="34" charset="-120"/>
                </a:rPr>
                <a:t>PACE  </a:t>
              </a:r>
              <a:r>
                <a:rPr lang="en-US" sz="630" i="1" dirty="0">
                  <a:solidFill>
                    <a:srgbClr val="A0A5AB"/>
                  </a:solidFill>
                  <a:latin typeface="Montserrat" pitchFamily="34" charset="0"/>
                  <a:ea typeface="Montserrat" pitchFamily="34" charset="-122"/>
                  <a:cs typeface="Montserrat" pitchFamily="34" charset="-120"/>
                </a:rPr>
                <a:t>price context</a:t>
              </a:r>
              <a:endParaRPr lang="en-US" sz="750" dirty="0"/>
            </a:p>
          </p:txBody>
        </p:sp>
        <p:sp>
          <p:nvSpPr>
            <p:cNvPr id="586" name="Shape 40">
              <a:extLst>
                <a:ext uri="{FF2B5EF4-FFF2-40B4-BE49-F238E27FC236}">
                  <a16:creationId xmlns:a16="http://schemas.microsoft.com/office/drawing/2014/main" id="{0A8FE2EF-4021-B4F0-7AB9-1F041B458529}"/>
                </a:ext>
              </a:extLst>
            </p:cNvPr>
            <p:cNvSpPr/>
            <p:nvPr/>
          </p:nvSpPr>
          <p:spPr>
            <a:xfrm>
              <a:off x="5148072" y="1639115"/>
              <a:ext cx="1993392" cy="1824963"/>
            </a:xfrm>
            <a:prstGeom prst="roundRect">
              <a:avLst>
                <a:gd name="adj" fmla="val 3211"/>
              </a:avLst>
            </a:prstGeom>
            <a:solidFill>
              <a:srgbClr val="FDFDFD"/>
            </a:solidFill>
            <a:ln w="9525">
              <a:solidFill>
                <a:srgbClr val="E2E0D9"/>
              </a:solidFill>
              <a:prstDash val="solid"/>
            </a:ln>
            <a:effectLst>
              <a:outerShdw blurRad="38100" dist="12700" dir="5400000" algn="bl" rotWithShape="0">
                <a:srgbClr val="000000">
                  <a:alpha val="9000"/>
                </a:srgbClr>
              </a:outerShdw>
            </a:effectLst>
          </p:spPr>
          <p:txBody>
            <a:bodyPr/>
            <a:lstStyle/>
            <a:p>
              <a:endParaRPr lang="en-US"/>
            </a:p>
          </p:txBody>
        </p:sp>
        <p:sp>
          <p:nvSpPr>
            <p:cNvPr id="587" name="Shape 41">
              <a:extLst>
                <a:ext uri="{FF2B5EF4-FFF2-40B4-BE49-F238E27FC236}">
                  <a16:creationId xmlns:a16="http://schemas.microsoft.com/office/drawing/2014/main" id="{AD8D76F2-7D6E-8C3E-8504-7013C4F5D2AD}"/>
                </a:ext>
              </a:extLst>
            </p:cNvPr>
            <p:cNvSpPr/>
            <p:nvPr/>
          </p:nvSpPr>
          <p:spPr>
            <a:xfrm>
              <a:off x="5148072" y="1639115"/>
              <a:ext cx="1993392" cy="548640"/>
            </a:xfrm>
            <a:prstGeom prst="roundRect">
              <a:avLst>
                <a:gd name="adj" fmla="val 11667"/>
              </a:avLst>
            </a:prstGeom>
            <a:solidFill>
              <a:srgbClr val="F5F4F1"/>
            </a:solidFill>
            <a:ln/>
          </p:spPr>
          <p:txBody>
            <a:bodyPr/>
            <a:lstStyle/>
            <a:p>
              <a:endParaRPr lang="en-US"/>
            </a:p>
          </p:txBody>
        </p:sp>
        <p:sp>
          <p:nvSpPr>
            <p:cNvPr id="588" name="Text 42">
              <a:extLst>
                <a:ext uri="{FF2B5EF4-FFF2-40B4-BE49-F238E27FC236}">
                  <a16:creationId xmlns:a16="http://schemas.microsoft.com/office/drawing/2014/main" id="{28E9F3F4-61BA-94B2-4205-28182FEDAA75}"/>
                </a:ext>
              </a:extLst>
            </p:cNvPr>
            <p:cNvSpPr/>
            <p:nvPr/>
          </p:nvSpPr>
          <p:spPr>
            <a:xfrm>
              <a:off x="5239512" y="1693979"/>
              <a:ext cx="1810512" cy="182880"/>
            </a:xfrm>
            <a:prstGeom prst="rect">
              <a:avLst/>
            </a:prstGeom>
            <a:noFill/>
            <a:ln/>
          </p:spPr>
          <p:txBody>
            <a:bodyPr wrap="square" lIns="0" tIns="0" rIns="0" bIns="0" rtlCol="0" anchor="ctr"/>
            <a:lstStyle/>
            <a:p>
              <a:pPr marL="0" indent="0">
                <a:buNone/>
              </a:pPr>
              <a:r>
                <a:rPr lang="en-US" sz="950" b="1" dirty="0">
                  <a:solidFill>
                    <a:srgbClr val="E31837"/>
                  </a:solidFill>
                  <a:latin typeface="Montserrat" pitchFamily="34" charset="0"/>
                  <a:ea typeface="Montserrat" pitchFamily="34" charset="-122"/>
                  <a:cs typeface="Montserrat" pitchFamily="34" charset="-120"/>
                </a:rPr>
                <a:t>UC3</a:t>
              </a:r>
              <a:endParaRPr lang="en-US" sz="950" dirty="0"/>
            </a:p>
          </p:txBody>
        </p:sp>
        <p:sp>
          <p:nvSpPr>
            <p:cNvPr id="589" name="Text 43">
              <a:extLst>
                <a:ext uri="{FF2B5EF4-FFF2-40B4-BE49-F238E27FC236}">
                  <a16:creationId xmlns:a16="http://schemas.microsoft.com/office/drawing/2014/main" id="{0CECE994-F6AE-C64A-D703-0C4FA424BE3F}"/>
                </a:ext>
              </a:extLst>
            </p:cNvPr>
            <p:cNvSpPr/>
            <p:nvPr/>
          </p:nvSpPr>
          <p:spPr>
            <a:xfrm>
              <a:off x="5239512" y="1858571"/>
              <a:ext cx="1810512" cy="310896"/>
            </a:xfrm>
            <a:prstGeom prst="rect">
              <a:avLst/>
            </a:prstGeom>
            <a:noFill/>
            <a:ln/>
          </p:spPr>
          <p:txBody>
            <a:bodyPr wrap="square" lIns="0" tIns="0" rIns="0" bIns="0" rtlCol="0" anchor="t"/>
            <a:lstStyle/>
            <a:p>
              <a:pPr marL="0" indent="0">
                <a:lnSpc>
                  <a:spcPct val="90000"/>
                </a:lnSpc>
                <a:buNone/>
              </a:pPr>
              <a:r>
                <a:rPr lang="en-US" sz="900" b="1" dirty="0">
                  <a:solidFill>
                    <a:srgbClr val="333333"/>
                  </a:solidFill>
                  <a:latin typeface="Montserrat" pitchFamily="34" charset="0"/>
                  <a:ea typeface="Montserrat" pitchFamily="34" charset="-122"/>
                  <a:cs typeface="Montserrat" pitchFamily="34" charset="-120"/>
                </a:rPr>
                <a:t>Size &amp; Fit</a:t>
              </a:r>
              <a:endParaRPr lang="en-US" sz="900" dirty="0"/>
            </a:p>
            <a:p>
              <a:pPr marL="0" indent="0">
                <a:lnSpc>
                  <a:spcPct val="90000"/>
                </a:lnSpc>
                <a:buNone/>
              </a:pPr>
              <a:r>
                <a:rPr lang="en-US" sz="900" b="1" dirty="0">
                  <a:solidFill>
                    <a:srgbClr val="333333"/>
                  </a:solidFill>
                  <a:latin typeface="Montserrat" pitchFamily="34" charset="0"/>
                  <a:ea typeface="Montserrat" pitchFamily="34" charset="-122"/>
                  <a:cs typeface="Montserrat" pitchFamily="34" charset="-120"/>
                </a:rPr>
                <a:t>Personalisation</a:t>
              </a:r>
              <a:endParaRPr lang="en-US" sz="900" dirty="0"/>
            </a:p>
          </p:txBody>
        </p:sp>
        <p:sp>
          <p:nvSpPr>
            <p:cNvPr id="590" name="Shape 44">
              <a:extLst>
                <a:ext uri="{FF2B5EF4-FFF2-40B4-BE49-F238E27FC236}">
                  <a16:creationId xmlns:a16="http://schemas.microsoft.com/office/drawing/2014/main" id="{94BB241A-AFEA-FA72-D766-CB83636A630D}"/>
                </a:ext>
              </a:extLst>
            </p:cNvPr>
            <p:cNvSpPr/>
            <p:nvPr/>
          </p:nvSpPr>
          <p:spPr>
            <a:xfrm>
              <a:off x="5257800" y="2297483"/>
              <a:ext cx="1773936" cy="475488"/>
            </a:xfrm>
            <a:prstGeom prst="roundRect">
              <a:avLst>
                <a:gd name="adj" fmla="val 7576"/>
              </a:avLst>
            </a:prstGeom>
            <a:solidFill>
              <a:srgbClr val="FBE3E4"/>
            </a:solidFill>
            <a:ln w="15875">
              <a:solidFill>
                <a:srgbClr val="E24B4A"/>
              </a:solidFill>
              <a:prstDash val="solid"/>
            </a:ln>
          </p:spPr>
          <p:txBody>
            <a:bodyPr/>
            <a:lstStyle/>
            <a:p>
              <a:endParaRPr lang="en-US"/>
            </a:p>
          </p:txBody>
        </p:sp>
        <p:sp>
          <p:nvSpPr>
            <p:cNvPr id="591" name="Text 45">
              <a:extLst>
                <a:ext uri="{FF2B5EF4-FFF2-40B4-BE49-F238E27FC236}">
                  <a16:creationId xmlns:a16="http://schemas.microsoft.com/office/drawing/2014/main" id="{7AB4E7DB-00ED-48B2-5958-7DFE0944EA14}"/>
                </a:ext>
              </a:extLst>
            </p:cNvPr>
            <p:cNvSpPr/>
            <p:nvPr/>
          </p:nvSpPr>
          <p:spPr>
            <a:xfrm>
              <a:off x="5257800" y="2370635"/>
              <a:ext cx="1773936" cy="256032"/>
            </a:xfrm>
            <a:prstGeom prst="rect">
              <a:avLst/>
            </a:prstGeom>
            <a:noFill/>
            <a:ln/>
          </p:spPr>
          <p:txBody>
            <a:bodyPr wrap="square" lIns="0" tIns="0" rIns="0" bIns="0" rtlCol="0" anchor="ctr"/>
            <a:lstStyle/>
            <a:p>
              <a:pPr marL="0" indent="0" algn="ctr">
                <a:buNone/>
              </a:pPr>
              <a:r>
                <a:rPr lang="en-US" sz="1300" b="1" dirty="0">
                  <a:solidFill>
                    <a:srgbClr val="E31837"/>
                  </a:solidFill>
                  <a:latin typeface="Montserrat" pitchFamily="34" charset="0"/>
                  <a:ea typeface="Montserrat" pitchFamily="34" charset="-122"/>
                  <a:cs typeface="Montserrat" pitchFamily="34" charset="-120"/>
                </a:rPr>
                <a:t>TAILOR</a:t>
              </a:r>
              <a:endParaRPr lang="en-US" sz="1300" dirty="0"/>
            </a:p>
          </p:txBody>
        </p:sp>
        <p:sp>
          <p:nvSpPr>
            <p:cNvPr id="592" name="Text 46">
              <a:extLst>
                <a:ext uri="{FF2B5EF4-FFF2-40B4-BE49-F238E27FC236}">
                  <a16:creationId xmlns:a16="http://schemas.microsoft.com/office/drawing/2014/main" id="{2E9EE89D-9B43-4A6C-7421-6E50636EA395}"/>
                </a:ext>
              </a:extLst>
            </p:cNvPr>
            <p:cNvSpPr/>
            <p:nvPr/>
          </p:nvSpPr>
          <p:spPr>
            <a:xfrm>
              <a:off x="5257800" y="2626667"/>
              <a:ext cx="1773936" cy="219456"/>
            </a:xfrm>
            <a:prstGeom prst="rect">
              <a:avLst/>
            </a:prstGeom>
            <a:noFill/>
            <a:ln/>
          </p:spPr>
          <p:txBody>
            <a:bodyPr wrap="square" lIns="0" tIns="0" rIns="0" bIns="0" rtlCol="0" anchor="t"/>
            <a:lstStyle/>
            <a:p>
              <a:pPr marL="0" indent="0" algn="ctr">
                <a:lnSpc>
                  <a:spcPct val="90000"/>
                </a:lnSpc>
                <a:buNone/>
              </a:pPr>
              <a:r>
                <a:rPr lang="en-US" sz="680" dirty="0">
                  <a:solidFill>
                    <a:srgbClr val="8A2732"/>
                  </a:solidFill>
                  <a:latin typeface="Lora" pitchFamily="34" charset="0"/>
                  <a:ea typeface="Lora" pitchFamily="34" charset="-122"/>
                  <a:cs typeface="Lora" pitchFamily="34" charset="-120"/>
                </a:rPr>
                <a:t>fit · returns 34→10-15%</a:t>
              </a:r>
              <a:endParaRPr lang="en-US" sz="680" dirty="0"/>
            </a:p>
          </p:txBody>
        </p:sp>
        <p:sp>
          <p:nvSpPr>
            <p:cNvPr id="593" name="Text 49">
              <a:extLst>
                <a:ext uri="{FF2B5EF4-FFF2-40B4-BE49-F238E27FC236}">
                  <a16:creationId xmlns:a16="http://schemas.microsoft.com/office/drawing/2014/main" id="{2F6B97E6-658F-3104-B95A-37BA3E72D834}"/>
                </a:ext>
              </a:extLst>
            </p:cNvPr>
            <p:cNvSpPr/>
            <p:nvPr/>
          </p:nvSpPr>
          <p:spPr>
            <a:xfrm>
              <a:off x="5257800" y="2782748"/>
              <a:ext cx="1773936" cy="146304"/>
            </a:xfrm>
            <a:prstGeom prst="rect">
              <a:avLst/>
            </a:prstGeom>
            <a:noFill/>
            <a:ln/>
          </p:spPr>
          <p:txBody>
            <a:bodyPr wrap="square" lIns="0" tIns="0" rIns="0" bIns="0" rtlCol="0" anchor="ctr"/>
            <a:lstStyle/>
            <a:p>
              <a:pPr marL="0" indent="0" algn="ctr">
                <a:buNone/>
              </a:pPr>
              <a:r>
                <a:rPr lang="en-US" sz="650" b="1" kern="0" spc="50" dirty="0">
                  <a:solidFill>
                    <a:srgbClr val="A0A5AB"/>
                  </a:solidFill>
                  <a:latin typeface="Montserrat" pitchFamily="34" charset="0"/>
                  <a:ea typeface="Montserrat" pitchFamily="34" charset="-122"/>
                  <a:cs typeface="Montserrat" pitchFamily="34" charset="-120"/>
                </a:rPr>
                <a:t>SUPPORTED BY</a:t>
              </a:r>
              <a:endParaRPr lang="en-US" sz="650" dirty="0"/>
            </a:p>
          </p:txBody>
        </p:sp>
        <p:sp>
          <p:nvSpPr>
            <p:cNvPr id="594" name="Shape 50">
              <a:extLst>
                <a:ext uri="{FF2B5EF4-FFF2-40B4-BE49-F238E27FC236}">
                  <a16:creationId xmlns:a16="http://schemas.microsoft.com/office/drawing/2014/main" id="{47AE1E15-39D4-EB72-0E8D-D6DE0A170E64}"/>
                </a:ext>
              </a:extLst>
            </p:cNvPr>
            <p:cNvSpPr/>
            <p:nvPr/>
          </p:nvSpPr>
          <p:spPr>
            <a:xfrm>
              <a:off x="5294376" y="2915438"/>
              <a:ext cx="1700784" cy="256032"/>
            </a:xfrm>
            <a:prstGeom prst="roundRect">
              <a:avLst>
                <a:gd name="adj" fmla="val 14286"/>
              </a:avLst>
            </a:prstGeom>
            <a:solidFill>
              <a:srgbClr val="F5F4F1"/>
            </a:solidFill>
            <a:ln w="6350">
              <a:solidFill>
                <a:srgbClr val="D8D6CE"/>
              </a:solidFill>
              <a:prstDash val="solid"/>
            </a:ln>
          </p:spPr>
          <p:txBody>
            <a:bodyPr/>
            <a:lstStyle/>
            <a:p>
              <a:endParaRPr lang="en-US"/>
            </a:p>
          </p:txBody>
        </p:sp>
        <p:sp>
          <p:nvSpPr>
            <p:cNvPr id="595" name="Text 51">
              <a:extLst>
                <a:ext uri="{FF2B5EF4-FFF2-40B4-BE49-F238E27FC236}">
                  <a16:creationId xmlns:a16="http://schemas.microsoft.com/office/drawing/2014/main" id="{92B95921-24A7-222B-396A-003BDB7D29FA}"/>
                </a:ext>
              </a:extLst>
            </p:cNvPr>
            <p:cNvSpPr/>
            <p:nvPr/>
          </p:nvSpPr>
          <p:spPr>
            <a:xfrm>
              <a:off x="5349240" y="2915438"/>
              <a:ext cx="1591056" cy="256032"/>
            </a:xfrm>
            <a:prstGeom prst="rect">
              <a:avLst/>
            </a:prstGeom>
            <a:noFill/>
            <a:ln/>
          </p:spPr>
          <p:txBody>
            <a:bodyPr wrap="square" lIns="0" tIns="0" rIns="0" bIns="0" rtlCol="0" anchor="ctr"/>
            <a:lstStyle/>
            <a:p>
              <a:pPr marL="0" indent="0">
                <a:buNone/>
              </a:pPr>
              <a:r>
                <a:rPr lang="en-US" sz="750" b="1" dirty="0">
                  <a:solidFill>
                    <a:srgbClr val="333333"/>
                  </a:solidFill>
                  <a:latin typeface="Montserrat" pitchFamily="34" charset="0"/>
                  <a:ea typeface="Montserrat" pitchFamily="34" charset="-122"/>
                  <a:cs typeface="Montserrat" pitchFamily="34" charset="-120"/>
                </a:rPr>
                <a:t>GRADE  </a:t>
              </a:r>
              <a:r>
                <a:rPr lang="en-US" sz="630" i="1" dirty="0">
                  <a:solidFill>
                    <a:srgbClr val="A0A5AB"/>
                  </a:solidFill>
                  <a:latin typeface="Montserrat" pitchFamily="34" charset="0"/>
                  <a:ea typeface="Montserrat" pitchFamily="34" charset="-122"/>
                  <a:cs typeface="Montserrat" pitchFamily="34" charset="-120"/>
                </a:rPr>
                <a:t>return reasons</a:t>
              </a:r>
              <a:endParaRPr lang="en-US" sz="750" dirty="0"/>
            </a:p>
          </p:txBody>
        </p:sp>
        <p:sp>
          <p:nvSpPr>
            <p:cNvPr id="596" name="Shape 53">
              <a:extLst>
                <a:ext uri="{FF2B5EF4-FFF2-40B4-BE49-F238E27FC236}">
                  <a16:creationId xmlns:a16="http://schemas.microsoft.com/office/drawing/2014/main" id="{3E48A907-E608-7449-A2C3-3CFCD88FBD99}"/>
                </a:ext>
              </a:extLst>
            </p:cNvPr>
            <p:cNvSpPr/>
            <p:nvPr/>
          </p:nvSpPr>
          <p:spPr>
            <a:xfrm>
              <a:off x="7287768" y="1639115"/>
              <a:ext cx="1993392" cy="1824963"/>
            </a:xfrm>
            <a:prstGeom prst="roundRect">
              <a:avLst>
                <a:gd name="adj" fmla="val 3211"/>
              </a:avLst>
            </a:prstGeom>
            <a:solidFill>
              <a:srgbClr val="FDFDFD"/>
            </a:solidFill>
            <a:ln w="9525">
              <a:solidFill>
                <a:srgbClr val="E2E0D9"/>
              </a:solidFill>
              <a:prstDash val="solid"/>
            </a:ln>
            <a:effectLst>
              <a:outerShdw blurRad="38100" dist="12700" dir="5400000" algn="bl" rotWithShape="0">
                <a:srgbClr val="000000">
                  <a:alpha val="9000"/>
                </a:srgbClr>
              </a:outerShdw>
            </a:effectLst>
          </p:spPr>
          <p:txBody>
            <a:bodyPr/>
            <a:lstStyle/>
            <a:p>
              <a:endParaRPr lang="en-US"/>
            </a:p>
          </p:txBody>
        </p:sp>
        <p:sp>
          <p:nvSpPr>
            <p:cNvPr id="597" name="Shape 54">
              <a:extLst>
                <a:ext uri="{FF2B5EF4-FFF2-40B4-BE49-F238E27FC236}">
                  <a16:creationId xmlns:a16="http://schemas.microsoft.com/office/drawing/2014/main" id="{62D4EC5B-31FB-3547-C56A-49D4A947205F}"/>
                </a:ext>
              </a:extLst>
            </p:cNvPr>
            <p:cNvSpPr/>
            <p:nvPr/>
          </p:nvSpPr>
          <p:spPr>
            <a:xfrm>
              <a:off x="7287768" y="1639115"/>
              <a:ext cx="1993392" cy="548640"/>
            </a:xfrm>
            <a:prstGeom prst="roundRect">
              <a:avLst>
                <a:gd name="adj" fmla="val 11667"/>
              </a:avLst>
            </a:prstGeom>
            <a:solidFill>
              <a:srgbClr val="F5F4F1"/>
            </a:solidFill>
            <a:ln/>
          </p:spPr>
          <p:txBody>
            <a:bodyPr/>
            <a:lstStyle/>
            <a:p>
              <a:endParaRPr lang="en-US"/>
            </a:p>
          </p:txBody>
        </p:sp>
        <p:sp>
          <p:nvSpPr>
            <p:cNvPr id="598" name="Text 55">
              <a:extLst>
                <a:ext uri="{FF2B5EF4-FFF2-40B4-BE49-F238E27FC236}">
                  <a16:creationId xmlns:a16="http://schemas.microsoft.com/office/drawing/2014/main" id="{817E312F-16E1-C529-687B-A84B4109110A}"/>
                </a:ext>
              </a:extLst>
            </p:cNvPr>
            <p:cNvSpPr/>
            <p:nvPr/>
          </p:nvSpPr>
          <p:spPr>
            <a:xfrm>
              <a:off x="7379208" y="1693979"/>
              <a:ext cx="1810512" cy="182880"/>
            </a:xfrm>
            <a:prstGeom prst="rect">
              <a:avLst/>
            </a:prstGeom>
            <a:noFill/>
            <a:ln/>
          </p:spPr>
          <p:txBody>
            <a:bodyPr wrap="square" lIns="0" tIns="0" rIns="0" bIns="0" rtlCol="0" anchor="ctr"/>
            <a:lstStyle/>
            <a:p>
              <a:pPr marL="0" indent="0">
                <a:buNone/>
              </a:pPr>
              <a:r>
                <a:rPr lang="en-US" sz="950" b="1" dirty="0">
                  <a:solidFill>
                    <a:srgbClr val="E31837"/>
                  </a:solidFill>
                  <a:latin typeface="Montserrat" pitchFamily="34" charset="0"/>
                  <a:ea typeface="Montserrat" pitchFamily="34" charset="-122"/>
                  <a:cs typeface="Montserrat" pitchFamily="34" charset="-120"/>
                </a:rPr>
                <a:t>UC4</a:t>
              </a:r>
              <a:endParaRPr lang="en-US" sz="950" dirty="0"/>
            </a:p>
          </p:txBody>
        </p:sp>
        <p:sp>
          <p:nvSpPr>
            <p:cNvPr id="599" name="Text 56">
              <a:extLst>
                <a:ext uri="{FF2B5EF4-FFF2-40B4-BE49-F238E27FC236}">
                  <a16:creationId xmlns:a16="http://schemas.microsoft.com/office/drawing/2014/main" id="{E08BA3B9-0128-DC96-7CB6-18B72A0B98AC}"/>
                </a:ext>
              </a:extLst>
            </p:cNvPr>
            <p:cNvSpPr/>
            <p:nvPr/>
          </p:nvSpPr>
          <p:spPr>
            <a:xfrm>
              <a:off x="7379208" y="1858571"/>
              <a:ext cx="1810512" cy="310896"/>
            </a:xfrm>
            <a:prstGeom prst="rect">
              <a:avLst/>
            </a:prstGeom>
            <a:noFill/>
            <a:ln/>
          </p:spPr>
          <p:txBody>
            <a:bodyPr wrap="square" lIns="0" tIns="0" rIns="0" bIns="0" rtlCol="0" anchor="t"/>
            <a:lstStyle/>
            <a:p>
              <a:pPr marL="0" indent="0">
                <a:lnSpc>
                  <a:spcPct val="90000"/>
                </a:lnSpc>
                <a:buNone/>
              </a:pPr>
              <a:r>
                <a:rPr lang="en-US" sz="900" b="1" dirty="0">
                  <a:solidFill>
                    <a:srgbClr val="333333"/>
                  </a:solidFill>
                  <a:latin typeface="Montserrat" pitchFamily="34" charset="0"/>
                  <a:ea typeface="Montserrat" pitchFamily="34" charset="-122"/>
                  <a:cs typeface="Montserrat" pitchFamily="34" charset="-120"/>
                </a:rPr>
                <a:t>Service Upsell</a:t>
              </a:r>
              <a:endParaRPr lang="en-US" sz="900" dirty="0"/>
            </a:p>
            <a:p>
              <a:pPr marL="0" indent="0">
                <a:lnSpc>
                  <a:spcPct val="90000"/>
                </a:lnSpc>
                <a:buNone/>
              </a:pPr>
              <a:r>
                <a:rPr lang="en-US" sz="900" b="1" dirty="0">
                  <a:solidFill>
                    <a:srgbClr val="333333"/>
                  </a:solidFill>
                  <a:latin typeface="Montserrat" pitchFamily="34" charset="0"/>
                  <a:ea typeface="Montserrat" pitchFamily="34" charset="-122"/>
                  <a:cs typeface="Montserrat" pitchFamily="34" charset="-120"/>
                </a:rPr>
                <a:t>&amp; Monetisation</a:t>
              </a:r>
              <a:endParaRPr lang="en-US" sz="900" dirty="0"/>
            </a:p>
          </p:txBody>
        </p:sp>
        <p:sp>
          <p:nvSpPr>
            <p:cNvPr id="600" name="Shape 57">
              <a:extLst>
                <a:ext uri="{FF2B5EF4-FFF2-40B4-BE49-F238E27FC236}">
                  <a16:creationId xmlns:a16="http://schemas.microsoft.com/office/drawing/2014/main" id="{DEC4412F-4276-38CB-0687-9376C102167A}"/>
                </a:ext>
              </a:extLst>
            </p:cNvPr>
            <p:cNvSpPr/>
            <p:nvPr/>
          </p:nvSpPr>
          <p:spPr>
            <a:xfrm>
              <a:off x="7397496" y="2297483"/>
              <a:ext cx="1773936" cy="475488"/>
            </a:xfrm>
            <a:prstGeom prst="roundRect">
              <a:avLst>
                <a:gd name="adj" fmla="val 7576"/>
              </a:avLst>
            </a:prstGeom>
            <a:solidFill>
              <a:srgbClr val="FBE3E4"/>
            </a:solidFill>
            <a:ln w="15875">
              <a:solidFill>
                <a:srgbClr val="E24B4A"/>
              </a:solidFill>
              <a:prstDash val="solid"/>
            </a:ln>
          </p:spPr>
          <p:txBody>
            <a:bodyPr/>
            <a:lstStyle/>
            <a:p>
              <a:endParaRPr lang="en-US"/>
            </a:p>
          </p:txBody>
        </p:sp>
        <p:sp>
          <p:nvSpPr>
            <p:cNvPr id="601" name="Text 58">
              <a:extLst>
                <a:ext uri="{FF2B5EF4-FFF2-40B4-BE49-F238E27FC236}">
                  <a16:creationId xmlns:a16="http://schemas.microsoft.com/office/drawing/2014/main" id="{FE48CBC7-A343-7C16-2A5D-9D6DD025A748}"/>
                </a:ext>
              </a:extLst>
            </p:cNvPr>
            <p:cNvSpPr/>
            <p:nvPr/>
          </p:nvSpPr>
          <p:spPr>
            <a:xfrm>
              <a:off x="7397496" y="2370635"/>
              <a:ext cx="1773936" cy="256032"/>
            </a:xfrm>
            <a:prstGeom prst="rect">
              <a:avLst/>
            </a:prstGeom>
            <a:noFill/>
            <a:ln/>
          </p:spPr>
          <p:txBody>
            <a:bodyPr wrap="square" lIns="0" tIns="0" rIns="0" bIns="0" rtlCol="0" anchor="ctr"/>
            <a:lstStyle/>
            <a:p>
              <a:pPr marL="0" indent="0" algn="ctr">
                <a:buNone/>
              </a:pPr>
              <a:r>
                <a:rPr lang="en-US" sz="1300" b="1" dirty="0">
                  <a:solidFill>
                    <a:srgbClr val="E31837"/>
                  </a:solidFill>
                  <a:latin typeface="Montserrat" pitchFamily="34" charset="0"/>
                  <a:ea typeface="Montserrat" pitchFamily="34" charset="-122"/>
                  <a:cs typeface="Montserrat" pitchFamily="34" charset="-120"/>
                </a:rPr>
                <a:t>CONCIERGE</a:t>
              </a:r>
              <a:endParaRPr lang="en-US" sz="1300" dirty="0"/>
            </a:p>
          </p:txBody>
        </p:sp>
        <p:sp>
          <p:nvSpPr>
            <p:cNvPr id="602" name="Text 59">
              <a:extLst>
                <a:ext uri="{FF2B5EF4-FFF2-40B4-BE49-F238E27FC236}">
                  <a16:creationId xmlns:a16="http://schemas.microsoft.com/office/drawing/2014/main" id="{B47B0B96-E387-02BB-014F-13EDAE564098}"/>
                </a:ext>
              </a:extLst>
            </p:cNvPr>
            <p:cNvSpPr/>
            <p:nvPr/>
          </p:nvSpPr>
          <p:spPr>
            <a:xfrm>
              <a:off x="7397496" y="2626667"/>
              <a:ext cx="1773936" cy="219456"/>
            </a:xfrm>
            <a:prstGeom prst="rect">
              <a:avLst/>
            </a:prstGeom>
            <a:noFill/>
            <a:ln/>
          </p:spPr>
          <p:txBody>
            <a:bodyPr wrap="square" lIns="0" tIns="0" rIns="0" bIns="0" rtlCol="0" anchor="t"/>
            <a:lstStyle/>
            <a:p>
              <a:pPr marL="0" indent="0" algn="ctr">
                <a:lnSpc>
                  <a:spcPct val="90000"/>
                </a:lnSpc>
                <a:buNone/>
              </a:pPr>
              <a:r>
                <a:rPr lang="en-US" sz="680" dirty="0">
                  <a:solidFill>
                    <a:srgbClr val="8A2732"/>
                  </a:solidFill>
                  <a:latin typeface="Lora" pitchFamily="34" charset="0"/>
                  <a:ea typeface="Lora" pitchFamily="34" charset="-122"/>
                  <a:cs typeface="Lora" pitchFamily="34" charset="-120"/>
                </a:rPr>
                <a:t>upsell → Obj 2</a:t>
              </a:r>
              <a:endParaRPr lang="en-US" sz="680" dirty="0"/>
            </a:p>
          </p:txBody>
        </p:sp>
        <p:sp>
          <p:nvSpPr>
            <p:cNvPr id="603" name="Text 62">
              <a:extLst>
                <a:ext uri="{FF2B5EF4-FFF2-40B4-BE49-F238E27FC236}">
                  <a16:creationId xmlns:a16="http://schemas.microsoft.com/office/drawing/2014/main" id="{8B0EECA4-1F36-4153-DBAA-6FA6A0ED02E7}"/>
                </a:ext>
              </a:extLst>
            </p:cNvPr>
            <p:cNvSpPr/>
            <p:nvPr/>
          </p:nvSpPr>
          <p:spPr>
            <a:xfrm>
              <a:off x="7397496" y="2782748"/>
              <a:ext cx="1773936" cy="146304"/>
            </a:xfrm>
            <a:prstGeom prst="rect">
              <a:avLst/>
            </a:prstGeom>
            <a:noFill/>
            <a:ln/>
          </p:spPr>
          <p:txBody>
            <a:bodyPr wrap="square" lIns="0" tIns="0" rIns="0" bIns="0" rtlCol="0" anchor="ctr"/>
            <a:lstStyle/>
            <a:p>
              <a:pPr marL="0" indent="0" algn="ctr">
                <a:buNone/>
              </a:pPr>
              <a:r>
                <a:rPr lang="en-US" sz="650" b="1" kern="0" spc="50" dirty="0">
                  <a:solidFill>
                    <a:srgbClr val="A0A5AB"/>
                  </a:solidFill>
                  <a:latin typeface="Montserrat" pitchFamily="34" charset="0"/>
                  <a:ea typeface="Montserrat" pitchFamily="34" charset="-122"/>
                  <a:cs typeface="Montserrat" pitchFamily="34" charset="-120"/>
                </a:rPr>
                <a:t>SUPPORTED BY</a:t>
              </a:r>
              <a:endParaRPr lang="en-US" sz="650" dirty="0"/>
            </a:p>
          </p:txBody>
        </p:sp>
        <p:sp>
          <p:nvSpPr>
            <p:cNvPr id="604" name="Shape 63">
              <a:extLst>
                <a:ext uri="{FF2B5EF4-FFF2-40B4-BE49-F238E27FC236}">
                  <a16:creationId xmlns:a16="http://schemas.microsoft.com/office/drawing/2014/main" id="{C3F3B238-5639-AAC4-94DA-B7C059B3F4B3}"/>
                </a:ext>
              </a:extLst>
            </p:cNvPr>
            <p:cNvSpPr/>
            <p:nvPr/>
          </p:nvSpPr>
          <p:spPr>
            <a:xfrm>
              <a:off x="7434072" y="2915438"/>
              <a:ext cx="1700784" cy="256032"/>
            </a:xfrm>
            <a:prstGeom prst="roundRect">
              <a:avLst>
                <a:gd name="adj" fmla="val 14286"/>
              </a:avLst>
            </a:prstGeom>
            <a:solidFill>
              <a:srgbClr val="F5F4F1"/>
            </a:solidFill>
            <a:ln w="6350">
              <a:solidFill>
                <a:srgbClr val="D8D6CE"/>
              </a:solidFill>
              <a:prstDash val="solid"/>
            </a:ln>
          </p:spPr>
          <p:txBody>
            <a:bodyPr/>
            <a:lstStyle/>
            <a:p>
              <a:endParaRPr lang="en-US"/>
            </a:p>
          </p:txBody>
        </p:sp>
        <p:sp>
          <p:nvSpPr>
            <p:cNvPr id="605" name="Text 64">
              <a:extLst>
                <a:ext uri="{FF2B5EF4-FFF2-40B4-BE49-F238E27FC236}">
                  <a16:creationId xmlns:a16="http://schemas.microsoft.com/office/drawing/2014/main" id="{CC55468A-8D7E-0BBD-A51B-272CEFA2D9F3}"/>
                </a:ext>
              </a:extLst>
            </p:cNvPr>
            <p:cNvSpPr/>
            <p:nvPr/>
          </p:nvSpPr>
          <p:spPr>
            <a:xfrm>
              <a:off x="7488936" y="2915438"/>
              <a:ext cx="1591056" cy="256032"/>
            </a:xfrm>
            <a:prstGeom prst="rect">
              <a:avLst/>
            </a:prstGeom>
            <a:noFill/>
            <a:ln/>
          </p:spPr>
          <p:txBody>
            <a:bodyPr wrap="square" lIns="0" tIns="0" rIns="0" bIns="0" rtlCol="0" anchor="ctr"/>
            <a:lstStyle/>
            <a:p>
              <a:pPr marL="0" indent="0">
                <a:buNone/>
              </a:pPr>
              <a:r>
                <a:rPr lang="en-US" sz="750" b="1" dirty="0">
                  <a:solidFill>
                    <a:srgbClr val="333333"/>
                  </a:solidFill>
                  <a:latin typeface="Montserrat" pitchFamily="34" charset="0"/>
                  <a:ea typeface="Montserrat" pitchFamily="34" charset="-122"/>
                  <a:cs typeface="Montserrat" pitchFamily="34" charset="-120"/>
                </a:rPr>
                <a:t>CARE  </a:t>
              </a:r>
              <a:r>
                <a:rPr lang="en-US" sz="630" i="1" dirty="0">
                  <a:solidFill>
                    <a:srgbClr val="A0A5AB"/>
                  </a:solidFill>
                  <a:latin typeface="Montserrat" pitchFamily="34" charset="0"/>
                  <a:ea typeface="Montserrat" pitchFamily="34" charset="-122"/>
                  <a:cs typeface="Montserrat" pitchFamily="34" charset="-120"/>
                </a:rPr>
                <a:t>hosts session</a:t>
              </a:r>
              <a:endParaRPr lang="en-US" sz="750" dirty="0"/>
            </a:p>
          </p:txBody>
        </p:sp>
        <p:sp>
          <p:nvSpPr>
            <p:cNvPr id="606" name="Shape 65">
              <a:extLst>
                <a:ext uri="{FF2B5EF4-FFF2-40B4-BE49-F238E27FC236}">
                  <a16:creationId xmlns:a16="http://schemas.microsoft.com/office/drawing/2014/main" id="{8E2B864B-555F-5BDF-F4AB-35598B180356}"/>
                </a:ext>
              </a:extLst>
            </p:cNvPr>
            <p:cNvSpPr/>
            <p:nvPr/>
          </p:nvSpPr>
          <p:spPr>
            <a:xfrm>
              <a:off x="7434072" y="3208046"/>
              <a:ext cx="1700784" cy="256032"/>
            </a:xfrm>
            <a:prstGeom prst="roundRect">
              <a:avLst>
                <a:gd name="adj" fmla="val 14286"/>
              </a:avLst>
            </a:prstGeom>
            <a:solidFill>
              <a:srgbClr val="F5F4F1"/>
            </a:solidFill>
            <a:ln w="6350">
              <a:solidFill>
                <a:srgbClr val="D8D6CE"/>
              </a:solidFill>
              <a:prstDash val="solid"/>
            </a:ln>
          </p:spPr>
          <p:txBody>
            <a:bodyPr/>
            <a:lstStyle/>
            <a:p>
              <a:endParaRPr lang="en-US"/>
            </a:p>
          </p:txBody>
        </p:sp>
        <p:sp>
          <p:nvSpPr>
            <p:cNvPr id="607" name="Text 66">
              <a:extLst>
                <a:ext uri="{FF2B5EF4-FFF2-40B4-BE49-F238E27FC236}">
                  <a16:creationId xmlns:a16="http://schemas.microsoft.com/office/drawing/2014/main" id="{AAA33CCB-1C8E-B8C0-B173-FFD59E3B363D}"/>
                </a:ext>
              </a:extLst>
            </p:cNvPr>
            <p:cNvSpPr/>
            <p:nvPr/>
          </p:nvSpPr>
          <p:spPr>
            <a:xfrm>
              <a:off x="7488936" y="3208046"/>
              <a:ext cx="1591056" cy="256032"/>
            </a:xfrm>
            <a:prstGeom prst="rect">
              <a:avLst/>
            </a:prstGeom>
            <a:noFill/>
            <a:ln/>
          </p:spPr>
          <p:txBody>
            <a:bodyPr wrap="square" lIns="0" tIns="0" rIns="0" bIns="0" rtlCol="0" anchor="ctr"/>
            <a:lstStyle/>
            <a:p>
              <a:pPr marL="0" indent="0">
                <a:buNone/>
              </a:pPr>
              <a:r>
                <a:rPr lang="en-US" sz="750" b="1" dirty="0">
                  <a:solidFill>
                    <a:srgbClr val="333333"/>
                  </a:solidFill>
                  <a:latin typeface="Montserrat" pitchFamily="34" charset="0"/>
                  <a:ea typeface="Montserrat" pitchFamily="34" charset="-122"/>
                  <a:cs typeface="Montserrat" pitchFamily="34" charset="-120"/>
                </a:rPr>
                <a:t>SENTRY  </a:t>
              </a:r>
              <a:r>
                <a:rPr lang="en-US" sz="630" i="1" dirty="0">
                  <a:solidFill>
                    <a:srgbClr val="A0A5AB"/>
                  </a:solidFill>
                  <a:latin typeface="Montserrat" pitchFamily="34" charset="0"/>
                  <a:ea typeface="Montserrat" pitchFamily="34" charset="-122"/>
                  <a:cs typeface="Montserrat" pitchFamily="34" charset="-120"/>
                </a:rPr>
                <a:t>approves pay</a:t>
              </a:r>
              <a:endParaRPr lang="en-US" sz="750" dirty="0"/>
            </a:p>
          </p:txBody>
        </p:sp>
        <p:sp>
          <p:nvSpPr>
            <p:cNvPr id="608" name="Shape 68">
              <a:extLst>
                <a:ext uri="{FF2B5EF4-FFF2-40B4-BE49-F238E27FC236}">
                  <a16:creationId xmlns:a16="http://schemas.microsoft.com/office/drawing/2014/main" id="{FBD67F96-5301-4A75-69F6-93A28B3CA6E0}"/>
                </a:ext>
              </a:extLst>
            </p:cNvPr>
            <p:cNvSpPr/>
            <p:nvPr/>
          </p:nvSpPr>
          <p:spPr>
            <a:xfrm>
              <a:off x="9427464" y="1639115"/>
              <a:ext cx="1993392" cy="1824963"/>
            </a:xfrm>
            <a:prstGeom prst="roundRect">
              <a:avLst>
                <a:gd name="adj" fmla="val 3211"/>
              </a:avLst>
            </a:prstGeom>
            <a:solidFill>
              <a:srgbClr val="FDFDFD"/>
            </a:solidFill>
            <a:ln w="9525">
              <a:solidFill>
                <a:srgbClr val="E2E0D9"/>
              </a:solidFill>
              <a:prstDash val="solid"/>
            </a:ln>
            <a:effectLst>
              <a:outerShdw blurRad="38100" dist="12700" dir="5400000" algn="bl" rotWithShape="0">
                <a:srgbClr val="000000">
                  <a:alpha val="9000"/>
                </a:srgbClr>
              </a:outerShdw>
            </a:effectLst>
          </p:spPr>
          <p:txBody>
            <a:bodyPr/>
            <a:lstStyle/>
            <a:p>
              <a:endParaRPr lang="en-US"/>
            </a:p>
          </p:txBody>
        </p:sp>
        <p:sp>
          <p:nvSpPr>
            <p:cNvPr id="609" name="Shape 69">
              <a:extLst>
                <a:ext uri="{FF2B5EF4-FFF2-40B4-BE49-F238E27FC236}">
                  <a16:creationId xmlns:a16="http://schemas.microsoft.com/office/drawing/2014/main" id="{E71F7FF4-BFEE-7297-EE31-C92472674532}"/>
                </a:ext>
              </a:extLst>
            </p:cNvPr>
            <p:cNvSpPr/>
            <p:nvPr/>
          </p:nvSpPr>
          <p:spPr>
            <a:xfrm>
              <a:off x="9427464" y="1681647"/>
              <a:ext cx="1993392" cy="548640"/>
            </a:xfrm>
            <a:prstGeom prst="roundRect">
              <a:avLst>
                <a:gd name="adj" fmla="val 11667"/>
              </a:avLst>
            </a:prstGeom>
            <a:solidFill>
              <a:srgbClr val="F5F4F1"/>
            </a:solidFill>
            <a:ln/>
          </p:spPr>
          <p:txBody>
            <a:bodyPr/>
            <a:lstStyle/>
            <a:p>
              <a:endParaRPr lang="en-US"/>
            </a:p>
          </p:txBody>
        </p:sp>
        <p:sp>
          <p:nvSpPr>
            <p:cNvPr id="610" name="Text 70">
              <a:extLst>
                <a:ext uri="{FF2B5EF4-FFF2-40B4-BE49-F238E27FC236}">
                  <a16:creationId xmlns:a16="http://schemas.microsoft.com/office/drawing/2014/main" id="{233B4362-0762-392F-575C-019947014230}"/>
                </a:ext>
              </a:extLst>
            </p:cNvPr>
            <p:cNvSpPr/>
            <p:nvPr/>
          </p:nvSpPr>
          <p:spPr>
            <a:xfrm>
              <a:off x="9518904" y="1693979"/>
              <a:ext cx="1810512" cy="182880"/>
            </a:xfrm>
            <a:prstGeom prst="rect">
              <a:avLst/>
            </a:prstGeom>
            <a:noFill/>
            <a:ln/>
          </p:spPr>
          <p:txBody>
            <a:bodyPr wrap="square" lIns="0" tIns="0" rIns="0" bIns="0" rtlCol="0" anchor="ctr"/>
            <a:lstStyle/>
            <a:p>
              <a:pPr marL="0" indent="0">
                <a:buNone/>
              </a:pPr>
              <a:r>
                <a:rPr lang="en-US" sz="950" b="1" dirty="0">
                  <a:solidFill>
                    <a:srgbClr val="E31837"/>
                  </a:solidFill>
                  <a:latin typeface="Montserrat" pitchFamily="34" charset="0"/>
                  <a:ea typeface="Montserrat" pitchFamily="34" charset="-122"/>
                  <a:cs typeface="Montserrat" pitchFamily="34" charset="-120"/>
                </a:rPr>
                <a:t>UC5</a:t>
              </a:r>
              <a:endParaRPr lang="en-US" sz="950" dirty="0"/>
            </a:p>
          </p:txBody>
        </p:sp>
        <p:sp>
          <p:nvSpPr>
            <p:cNvPr id="611" name="Text 71">
              <a:extLst>
                <a:ext uri="{FF2B5EF4-FFF2-40B4-BE49-F238E27FC236}">
                  <a16:creationId xmlns:a16="http://schemas.microsoft.com/office/drawing/2014/main" id="{FDD454D2-A747-B12A-51A4-A77CC7D1612C}"/>
                </a:ext>
              </a:extLst>
            </p:cNvPr>
            <p:cNvSpPr/>
            <p:nvPr/>
          </p:nvSpPr>
          <p:spPr>
            <a:xfrm>
              <a:off x="9518904" y="1858571"/>
              <a:ext cx="1810512" cy="310896"/>
            </a:xfrm>
            <a:prstGeom prst="rect">
              <a:avLst/>
            </a:prstGeom>
            <a:noFill/>
            <a:ln/>
          </p:spPr>
          <p:txBody>
            <a:bodyPr wrap="square" lIns="0" tIns="0" rIns="0" bIns="0" rtlCol="0" anchor="t"/>
            <a:lstStyle/>
            <a:p>
              <a:pPr marL="0" indent="0">
                <a:lnSpc>
                  <a:spcPct val="90000"/>
                </a:lnSpc>
                <a:buNone/>
              </a:pPr>
              <a:r>
                <a:rPr lang="en-US" sz="900" b="1" dirty="0">
                  <a:solidFill>
                    <a:srgbClr val="333333"/>
                  </a:solidFill>
                  <a:latin typeface="Montserrat" pitchFamily="34" charset="0"/>
                  <a:ea typeface="Montserrat" pitchFamily="34" charset="-122"/>
                  <a:cs typeface="Montserrat" pitchFamily="34" charset="-120"/>
                </a:rPr>
                <a:t>Loyalty &amp;</a:t>
              </a:r>
              <a:endParaRPr lang="en-US" sz="900" dirty="0"/>
            </a:p>
            <a:p>
              <a:pPr marL="0" indent="0">
                <a:lnSpc>
                  <a:spcPct val="90000"/>
                </a:lnSpc>
                <a:buNone/>
              </a:pPr>
              <a:r>
                <a:rPr lang="en-US" sz="900" b="1" dirty="0">
                  <a:solidFill>
                    <a:srgbClr val="333333"/>
                  </a:solidFill>
                  <a:latin typeface="Montserrat" pitchFamily="34" charset="0"/>
                  <a:ea typeface="Montserrat" pitchFamily="34" charset="-122"/>
                  <a:cs typeface="Montserrat" pitchFamily="34" charset="-120"/>
                </a:rPr>
                <a:t>Gamification</a:t>
              </a:r>
              <a:endParaRPr lang="en-US" sz="900" dirty="0"/>
            </a:p>
          </p:txBody>
        </p:sp>
        <p:sp>
          <p:nvSpPr>
            <p:cNvPr id="612" name="Shape 72">
              <a:extLst>
                <a:ext uri="{FF2B5EF4-FFF2-40B4-BE49-F238E27FC236}">
                  <a16:creationId xmlns:a16="http://schemas.microsoft.com/office/drawing/2014/main" id="{34EFBF1F-AEB0-D8AD-EEA2-D71FEF23CF04}"/>
                </a:ext>
              </a:extLst>
            </p:cNvPr>
            <p:cNvSpPr/>
            <p:nvPr/>
          </p:nvSpPr>
          <p:spPr>
            <a:xfrm>
              <a:off x="9537192" y="2297483"/>
              <a:ext cx="1773936" cy="475488"/>
            </a:xfrm>
            <a:prstGeom prst="roundRect">
              <a:avLst>
                <a:gd name="adj" fmla="val 7576"/>
              </a:avLst>
            </a:prstGeom>
            <a:solidFill>
              <a:srgbClr val="FBE3E4"/>
            </a:solidFill>
            <a:ln w="15875">
              <a:solidFill>
                <a:srgbClr val="E24B4A"/>
              </a:solidFill>
              <a:prstDash val="solid"/>
            </a:ln>
          </p:spPr>
          <p:txBody>
            <a:bodyPr/>
            <a:lstStyle/>
            <a:p>
              <a:endParaRPr lang="en-US"/>
            </a:p>
          </p:txBody>
        </p:sp>
        <p:sp>
          <p:nvSpPr>
            <p:cNvPr id="613" name="Text 73">
              <a:extLst>
                <a:ext uri="{FF2B5EF4-FFF2-40B4-BE49-F238E27FC236}">
                  <a16:creationId xmlns:a16="http://schemas.microsoft.com/office/drawing/2014/main" id="{2330793B-6DC7-9CCA-C443-98169CA8566C}"/>
                </a:ext>
              </a:extLst>
            </p:cNvPr>
            <p:cNvSpPr/>
            <p:nvPr/>
          </p:nvSpPr>
          <p:spPr>
            <a:xfrm>
              <a:off x="9537192" y="2370635"/>
              <a:ext cx="1773936" cy="256032"/>
            </a:xfrm>
            <a:prstGeom prst="rect">
              <a:avLst/>
            </a:prstGeom>
            <a:noFill/>
            <a:ln/>
          </p:spPr>
          <p:txBody>
            <a:bodyPr wrap="square" lIns="0" tIns="0" rIns="0" bIns="0" rtlCol="0" anchor="ctr"/>
            <a:lstStyle/>
            <a:p>
              <a:pPr marL="0" indent="0" algn="ctr">
                <a:buNone/>
              </a:pPr>
              <a:r>
                <a:rPr lang="en-US" sz="1300" b="1" dirty="0">
                  <a:solidFill>
                    <a:srgbClr val="E31837"/>
                  </a:solidFill>
                  <a:latin typeface="Montserrat" pitchFamily="34" charset="0"/>
                  <a:ea typeface="Montserrat" pitchFamily="34" charset="-122"/>
                  <a:cs typeface="Montserrat" pitchFamily="34" charset="-120"/>
                </a:rPr>
                <a:t>TALLY</a:t>
              </a:r>
              <a:endParaRPr lang="en-US" sz="1300" dirty="0"/>
            </a:p>
          </p:txBody>
        </p:sp>
        <p:sp>
          <p:nvSpPr>
            <p:cNvPr id="614" name="Text 74">
              <a:extLst>
                <a:ext uri="{FF2B5EF4-FFF2-40B4-BE49-F238E27FC236}">
                  <a16:creationId xmlns:a16="http://schemas.microsoft.com/office/drawing/2014/main" id="{6C1654A0-4357-079B-529D-F6BFCA405033}"/>
                </a:ext>
              </a:extLst>
            </p:cNvPr>
            <p:cNvSpPr/>
            <p:nvPr/>
          </p:nvSpPr>
          <p:spPr>
            <a:xfrm>
              <a:off x="9537192" y="2626667"/>
              <a:ext cx="1773936" cy="219456"/>
            </a:xfrm>
            <a:prstGeom prst="rect">
              <a:avLst/>
            </a:prstGeom>
            <a:noFill/>
            <a:ln/>
          </p:spPr>
          <p:txBody>
            <a:bodyPr wrap="square" lIns="0" tIns="0" rIns="0" bIns="0" rtlCol="0" anchor="t"/>
            <a:lstStyle/>
            <a:p>
              <a:pPr marL="0" indent="0" algn="ctr">
                <a:lnSpc>
                  <a:spcPct val="90000"/>
                </a:lnSpc>
                <a:buNone/>
              </a:pPr>
              <a:r>
                <a:rPr lang="en-US" sz="680" dirty="0">
                  <a:solidFill>
                    <a:srgbClr val="8A2732"/>
                  </a:solidFill>
                  <a:latin typeface="Lora" pitchFamily="34" charset="0"/>
                  <a:ea typeface="Lora" pitchFamily="34" charset="-122"/>
                  <a:cs typeface="Lora" pitchFamily="34" charset="-120"/>
                </a:rPr>
                <a:t>points · gamify</a:t>
              </a:r>
              <a:endParaRPr lang="en-US" sz="680" dirty="0"/>
            </a:p>
          </p:txBody>
        </p:sp>
        <p:sp>
          <p:nvSpPr>
            <p:cNvPr id="615" name="Text 77">
              <a:extLst>
                <a:ext uri="{FF2B5EF4-FFF2-40B4-BE49-F238E27FC236}">
                  <a16:creationId xmlns:a16="http://schemas.microsoft.com/office/drawing/2014/main" id="{465AF0D3-BB72-056D-9BCC-611887405B29}"/>
                </a:ext>
              </a:extLst>
            </p:cNvPr>
            <p:cNvSpPr/>
            <p:nvPr/>
          </p:nvSpPr>
          <p:spPr>
            <a:xfrm>
              <a:off x="9537192" y="2782748"/>
              <a:ext cx="1773936" cy="146304"/>
            </a:xfrm>
            <a:prstGeom prst="rect">
              <a:avLst/>
            </a:prstGeom>
            <a:noFill/>
            <a:ln/>
          </p:spPr>
          <p:txBody>
            <a:bodyPr wrap="square" lIns="0" tIns="0" rIns="0" bIns="0" rtlCol="0" anchor="ctr"/>
            <a:lstStyle/>
            <a:p>
              <a:pPr marL="0" indent="0" algn="ctr">
                <a:buNone/>
              </a:pPr>
              <a:r>
                <a:rPr lang="en-US" sz="650" b="1" kern="0" spc="50" dirty="0">
                  <a:solidFill>
                    <a:srgbClr val="A0A5AB"/>
                  </a:solidFill>
                  <a:latin typeface="Montserrat" pitchFamily="34" charset="0"/>
                  <a:ea typeface="Montserrat" pitchFamily="34" charset="-122"/>
                  <a:cs typeface="Montserrat" pitchFamily="34" charset="-120"/>
                </a:rPr>
                <a:t>SUPPORTED BY</a:t>
              </a:r>
              <a:endParaRPr lang="en-US" sz="650" dirty="0"/>
            </a:p>
          </p:txBody>
        </p:sp>
        <p:sp>
          <p:nvSpPr>
            <p:cNvPr id="616" name="Shape 78">
              <a:extLst>
                <a:ext uri="{FF2B5EF4-FFF2-40B4-BE49-F238E27FC236}">
                  <a16:creationId xmlns:a16="http://schemas.microsoft.com/office/drawing/2014/main" id="{923EF15A-2CE4-5DCA-CB70-EB06C20F3C6B}"/>
                </a:ext>
              </a:extLst>
            </p:cNvPr>
            <p:cNvSpPr/>
            <p:nvPr/>
          </p:nvSpPr>
          <p:spPr>
            <a:xfrm>
              <a:off x="9573768" y="2915438"/>
              <a:ext cx="1700784" cy="256032"/>
            </a:xfrm>
            <a:prstGeom prst="roundRect">
              <a:avLst>
                <a:gd name="adj" fmla="val 14286"/>
              </a:avLst>
            </a:prstGeom>
            <a:solidFill>
              <a:srgbClr val="F5F4F1"/>
            </a:solidFill>
            <a:ln w="6350">
              <a:solidFill>
                <a:srgbClr val="D8D6CE"/>
              </a:solidFill>
              <a:prstDash val="solid"/>
            </a:ln>
          </p:spPr>
          <p:txBody>
            <a:bodyPr/>
            <a:lstStyle/>
            <a:p>
              <a:endParaRPr lang="en-US"/>
            </a:p>
          </p:txBody>
        </p:sp>
        <p:sp>
          <p:nvSpPr>
            <p:cNvPr id="617" name="Text 79">
              <a:extLst>
                <a:ext uri="{FF2B5EF4-FFF2-40B4-BE49-F238E27FC236}">
                  <a16:creationId xmlns:a16="http://schemas.microsoft.com/office/drawing/2014/main" id="{011DE468-9A8A-5360-67B7-C750EA6734F4}"/>
                </a:ext>
              </a:extLst>
            </p:cNvPr>
            <p:cNvSpPr/>
            <p:nvPr/>
          </p:nvSpPr>
          <p:spPr>
            <a:xfrm>
              <a:off x="9628632" y="2915438"/>
              <a:ext cx="1591056" cy="256032"/>
            </a:xfrm>
            <a:prstGeom prst="rect">
              <a:avLst/>
            </a:prstGeom>
            <a:noFill/>
            <a:ln/>
          </p:spPr>
          <p:txBody>
            <a:bodyPr wrap="square" lIns="0" tIns="0" rIns="0" bIns="0" rtlCol="0" anchor="ctr"/>
            <a:lstStyle/>
            <a:p>
              <a:pPr marL="0" indent="0">
                <a:buNone/>
              </a:pPr>
              <a:r>
                <a:rPr lang="en-US" sz="750" b="1" dirty="0">
                  <a:solidFill>
                    <a:srgbClr val="333333"/>
                  </a:solidFill>
                  <a:latin typeface="Montserrat" pitchFamily="34" charset="0"/>
                  <a:ea typeface="Montserrat" pitchFamily="34" charset="-122"/>
                  <a:cs typeface="Montserrat" pitchFamily="34" charset="-120"/>
                </a:rPr>
                <a:t>consumes  </a:t>
              </a:r>
              <a:r>
                <a:rPr lang="en-US" sz="630" i="1" dirty="0">
                  <a:solidFill>
                    <a:srgbClr val="A0A5AB"/>
                  </a:solidFill>
                  <a:latin typeface="Montserrat" pitchFamily="34" charset="0"/>
                  <a:ea typeface="Montserrat" pitchFamily="34" charset="-122"/>
                  <a:cs typeface="Montserrat" pitchFamily="34" charset="-120"/>
                </a:rPr>
                <a:t>PERSONA segment</a:t>
              </a:r>
              <a:endParaRPr lang="en-US" sz="750" dirty="0"/>
            </a:p>
          </p:txBody>
        </p:sp>
        <p:sp>
          <p:nvSpPr>
            <p:cNvPr id="618" name="Shape 80">
              <a:extLst>
                <a:ext uri="{FF2B5EF4-FFF2-40B4-BE49-F238E27FC236}">
                  <a16:creationId xmlns:a16="http://schemas.microsoft.com/office/drawing/2014/main" id="{FFDA9684-4AFD-EF10-C989-64EFA5F31FA7}"/>
                </a:ext>
              </a:extLst>
            </p:cNvPr>
            <p:cNvSpPr/>
            <p:nvPr/>
          </p:nvSpPr>
          <p:spPr>
            <a:xfrm>
              <a:off x="868680" y="3553394"/>
              <a:ext cx="10460736" cy="1060704"/>
            </a:xfrm>
            <a:prstGeom prst="roundRect">
              <a:avLst>
                <a:gd name="adj" fmla="val 6034"/>
              </a:avLst>
            </a:prstGeom>
            <a:solidFill>
              <a:srgbClr val="F1F0EB"/>
            </a:solidFill>
            <a:ln w="9525">
              <a:solidFill>
                <a:srgbClr val="D4D2CA"/>
              </a:solidFill>
              <a:prstDash val="dash"/>
            </a:ln>
          </p:spPr>
          <p:txBody>
            <a:bodyPr/>
            <a:lstStyle/>
            <a:p>
              <a:endParaRPr lang="en-US"/>
            </a:p>
          </p:txBody>
        </p:sp>
        <p:sp>
          <p:nvSpPr>
            <p:cNvPr id="619" name="Text 81">
              <a:extLst>
                <a:ext uri="{FF2B5EF4-FFF2-40B4-BE49-F238E27FC236}">
                  <a16:creationId xmlns:a16="http://schemas.microsoft.com/office/drawing/2014/main" id="{43516A03-C35F-C20E-104C-AD3B7F278E53}"/>
                </a:ext>
              </a:extLst>
            </p:cNvPr>
            <p:cNvSpPr/>
            <p:nvPr/>
          </p:nvSpPr>
          <p:spPr>
            <a:xfrm>
              <a:off x="1051560" y="3644834"/>
              <a:ext cx="10185234" cy="182880"/>
            </a:xfrm>
            <a:prstGeom prst="rect">
              <a:avLst/>
            </a:prstGeom>
            <a:noFill/>
            <a:ln/>
          </p:spPr>
          <p:txBody>
            <a:bodyPr wrap="square" lIns="0" tIns="0" rIns="0" bIns="0" rtlCol="0" anchor="ctr"/>
            <a:lstStyle/>
            <a:p>
              <a:pPr marL="0" indent="0">
                <a:buNone/>
              </a:pPr>
              <a:r>
                <a:rPr lang="en-US" sz="900" b="1" dirty="0">
                  <a:solidFill>
                    <a:srgbClr val="9B9A92"/>
                  </a:solidFill>
                  <a:latin typeface="Montserrat" pitchFamily="34" charset="0"/>
                  <a:ea typeface="Montserrat" pitchFamily="34" charset="-122"/>
                  <a:cs typeface="Montserrat" pitchFamily="34" charset="-120"/>
                </a:rPr>
                <a:t>WIDER ESTATE —</a:t>
              </a:r>
              <a:r>
                <a:rPr lang="en-US" sz="800" i="1" dirty="0">
                  <a:solidFill>
                    <a:srgbClr val="9B9A92"/>
                  </a:solidFill>
                  <a:latin typeface="Montserrat" pitchFamily="34" charset="0"/>
                  <a:ea typeface="Montserrat" pitchFamily="34" charset="-122"/>
                  <a:cs typeface="Montserrat" pitchFamily="34" charset="-120"/>
                </a:rPr>
                <a:t> agents kept in the ecosystem; drawn on by the use cases but not use-case owners (merchandise &amp; fulfilment lifecycle)</a:t>
              </a:r>
              <a:endParaRPr lang="en-US" sz="900" dirty="0"/>
            </a:p>
          </p:txBody>
        </p:sp>
        <p:sp>
          <p:nvSpPr>
            <p:cNvPr id="620" name="Shape 82">
              <a:extLst>
                <a:ext uri="{FF2B5EF4-FFF2-40B4-BE49-F238E27FC236}">
                  <a16:creationId xmlns:a16="http://schemas.microsoft.com/office/drawing/2014/main" id="{1082F307-2F8B-E963-4375-7796F670A3F4}"/>
                </a:ext>
              </a:extLst>
            </p:cNvPr>
            <p:cNvSpPr/>
            <p:nvPr/>
          </p:nvSpPr>
          <p:spPr>
            <a:xfrm>
              <a:off x="1051560" y="3937442"/>
              <a:ext cx="1576485" cy="530352"/>
            </a:xfrm>
            <a:prstGeom prst="roundRect">
              <a:avLst>
                <a:gd name="adj" fmla="val 8621"/>
              </a:avLst>
            </a:prstGeom>
            <a:solidFill>
              <a:srgbClr val="FDFDFD"/>
            </a:solidFill>
            <a:ln w="9525">
              <a:solidFill>
                <a:srgbClr val="D4D2CA"/>
              </a:solidFill>
              <a:prstDash val="solid"/>
            </a:ln>
          </p:spPr>
          <p:txBody>
            <a:bodyPr/>
            <a:lstStyle/>
            <a:p>
              <a:endParaRPr lang="en-US"/>
            </a:p>
          </p:txBody>
        </p:sp>
        <p:sp>
          <p:nvSpPr>
            <p:cNvPr id="621" name="Text 83">
              <a:extLst>
                <a:ext uri="{FF2B5EF4-FFF2-40B4-BE49-F238E27FC236}">
                  <a16:creationId xmlns:a16="http://schemas.microsoft.com/office/drawing/2014/main" id="{516BE448-ACDF-2194-CEAD-177A7C6E7FBE}"/>
                </a:ext>
              </a:extLst>
            </p:cNvPr>
            <p:cNvSpPr/>
            <p:nvPr/>
          </p:nvSpPr>
          <p:spPr>
            <a:xfrm>
              <a:off x="1051560" y="4010594"/>
              <a:ext cx="1576485" cy="219456"/>
            </a:xfrm>
            <a:prstGeom prst="rect">
              <a:avLst/>
            </a:prstGeom>
            <a:noFill/>
            <a:ln/>
          </p:spPr>
          <p:txBody>
            <a:bodyPr wrap="square" lIns="0" tIns="0" rIns="0" bIns="0" rtlCol="0" anchor="ctr"/>
            <a:lstStyle/>
            <a:p>
              <a:pPr marL="0" indent="0" algn="ctr">
                <a:buNone/>
              </a:pPr>
              <a:r>
                <a:rPr lang="en-US" sz="1050" b="1" dirty="0">
                  <a:solidFill>
                    <a:srgbClr val="9B9A92"/>
                  </a:solidFill>
                  <a:latin typeface="Montserrat" pitchFamily="34" charset="0"/>
                  <a:ea typeface="Montserrat" pitchFamily="34" charset="-122"/>
                  <a:cs typeface="Montserrat" pitchFamily="34" charset="-120"/>
                </a:rPr>
                <a:t>OTB</a:t>
              </a:r>
              <a:endParaRPr lang="en-US" sz="1050" dirty="0"/>
            </a:p>
          </p:txBody>
        </p:sp>
        <p:sp>
          <p:nvSpPr>
            <p:cNvPr id="622" name="Text 84">
              <a:extLst>
                <a:ext uri="{FF2B5EF4-FFF2-40B4-BE49-F238E27FC236}">
                  <a16:creationId xmlns:a16="http://schemas.microsoft.com/office/drawing/2014/main" id="{AB01C868-D166-98C7-0728-60BD3ACFC78E}"/>
                </a:ext>
              </a:extLst>
            </p:cNvPr>
            <p:cNvSpPr/>
            <p:nvPr/>
          </p:nvSpPr>
          <p:spPr>
            <a:xfrm>
              <a:off x="1051560" y="4230050"/>
              <a:ext cx="1576485" cy="182880"/>
            </a:xfrm>
            <a:prstGeom prst="rect">
              <a:avLst/>
            </a:prstGeom>
            <a:noFill/>
            <a:ln/>
          </p:spPr>
          <p:txBody>
            <a:bodyPr wrap="square" lIns="0" tIns="0" rIns="0" bIns="0" rtlCol="0" anchor="t"/>
            <a:lstStyle/>
            <a:p>
              <a:pPr marL="0" indent="0" algn="ctr">
                <a:buNone/>
              </a:pPr>
              <a:r>
                <a:rPr lang="en-US" sz="700" dirty="0">
                  <a:solidFill>
                    <a:srgbClr val="9B9A92"/>
                  </a:solidFill>
                  <a:latin typeface="Lora" pitchFamily="34" charset="0"/>
                  <a:ea typeface="Lora" pitchFamily="34" charset="-122"/>
                  <a:cs typeface="Lora" pitchFamily="34" charset="-120"/>
                </a:rPr>
                <a:t>buy commit</a:t>
              </a:r>
              <a:endParaRPr lang="en-US" sz="700" dirty="0"/>
            </a:p>
          </p:txBody>
        </p:sp>
        <p:sp>
          <p:nvSpPr>
            <p:cNvPr id="623" name="Shape 85">
              <a:extLst>
                <a:ext uri="{FF2B5EF4-FFF2-40B4-BE49-F238E27FC236}">
                  <a16:creationId xmlns:a16="http://schemas.microsoft.com/office/drawing/2014/main" id="{CBADA436-AB5A-5B62-8B6B-F9B5CF622FE8}"/>
                </a:ext>
              </a:extLst>
            </p:cNvPr>
            <p:cNvSpPr/>
            <p:nvPr/>
          </p:nvSpPr>
          <p:spPr>
            <a:xfrm>
              <a:off x="2796964" y="3937442"/>
              <a:ext cx="1576485" cy="530352"/>
            </a:xfrm>
            <a:prstGeom prst="roundRect">
              <a:avLst>
                <a:gd name="adj" fmla="val 8621"/>
              </a:avLst>
            </a:prstGeom>
            <a:solidFill>
              <a:srgbClr val="FDFDFD"/>
            </a:solidFill>
            <a:ln w="9525">
              <a:solidFill>
                <a:srgbClr val="D4D2CA"/>
              </a:solidFill>
              <a:prstDash val="solid"/>
            </a:ln>
          </p:spPr>
          <p:txBody>
            <a:bodyPr/>
            <a:lstStyle/>
            <a:p>
              <a:endParaRPr lang="en-US"/>
            </a:p>
          </p:txBody>
        </p:sp>
        <p:sp>
          <p:nvSpPr>
            <p:cNvPr id="624" name="Text 86">
              <a:extLst>
                <a:ext uri="{FF2B5EF4-FFF2-40B4-BE49-F238E27FC236}">
                  <a16:creationId xmlns:a16="http://schemas.microsoft.com/office/drawing/2014/main" id="{682BE481-99B5-F02B-90D0-49530259E1EC}"/>
                </a:ext>
              </a:extLst>
            </p:cNvPr>
            <p:cNvSpPr/>
            <p:nvPr/>
          </p:nvSpPr>
          <p:spPr>
            <a:xfrm>
              <a:off x="2796964" y="4010594"/>
              <a:ext cx="1576485" cy="219456"/>
            </a:xfrm>
            <a:prstGeom prst="rect">
              <a:avLst/>
            </a:prstGeom>
            <a:noFill/>
            <a:ln/>
          </p:spPr>
          <p:txBody>
            <a:bodyPr wrap="square" lIns="0" tIns="0" rIns="0" bIns="0" rtlCol="0" anchor="ctr"/>
            <a:lstStyle/>
            <a:p>
              <a:pPr marL="0" indent="0" algn="ctr">
                <a:buNone/>
              </a:pPr>
              <a:r>
                <a:rPr lang="en-US" sz="1050" b="1" dirty="0">
                  <a:solidFill>
                    <a:srgbClr val="9B9A92"/>
                  </a:solidFill>
                  <a:latin typeface="Montserrat" pitchFamily="34" charset="0"/>
                  <a:ea typeface="Montserrat" pitchFamily="34" charset="-122"/>
                  <a:cs typeface="Montserrat" pitchFamily="34" charset="-120"/>
                </a:rPr>
                <a:t>SPREAD</a:t>
              </a:r>
              <a:endParaRPr lang="en-US" sz="1050" dirty="0"/>
            </a:p>
          </p:txBody>
        </p:sp>
        <p:sp>
          <p:nvSpPr>
            <p:cNvPr id="625" name="Text 87">
              <a:extLst>
                <a:ext uri="{FF2B5EF4-FFF2-40B4-BE49-F238E27FC236}">
                  <a16:creationId xmlns:a16="http://schemas.microsoft.com/office/drawing/2014/main" id="{03138462-B8FB-4DC7-165B-98634850EB58}"/>
                </a:ext>
              </a:extLst>
            </p:cNvPr>
            <p:cNvSpPr/>
            <p:nvPr/>
          </p:nvSpPr>
          <p:spPr>
            <a:xfrm>
              <a:off x="2796964" y="4230050"/>
              <a:ext cx="1576485" cy="182880"/>
            </a:xfrm>
            <a:prstGeom prst="rect">
              <a:avLst/>
            </a:prstGeom>
            <a:noFill/>
            <a:ln/>
          </p:spPr>
          <p:txBody>
            <a:bodyPr wrap="square" lIns="0" tIns="0" rIns="0" bIns="0" rtlCol="0" anchor="t"/>
            <a:lstStyle/>
            <a:p>
              <a:pPr marL="0" indent="0" algn="ctr">
                <a:buNone/>
              </a:pPr>
              <a:r>
                <a:rPr lang="en-US" sz="700" dirty="0">
                  <a:solidFill>
                    <a:srgbClr val="9B9A92"/>
                  </a:solidFill>
                  <a:latin typeface="Lora" pitchFamily="34" charset="0"/>
                  <a:ea typeface="Lora" pitchFamily="34" charset="-122"/>
                  <a:cs typeface="Lora" pitchFamily="34" charset="-120"/>
                </a:rPr>
                <a:t>allocate</a:t>
              </a:r>
              <a:endParaRPr lang="en-US" sz="700" dirty="0"/>
            </a:p>
          </p:txBody>
        </p:sp>
        <p:sp>
          <p:nvSpPr>
            <p:cNvPr id="626" name="Shape 88">
              <a:extLst>
                <a:ext uri="{FF2B5EF4-FFF2-40B4-BE49-F238E27FC236}">
                  <a16:creationId xmlns:a16="http://schemas.microsoft.com/office/drawing/2014/main" id="{C5B60B0B-BD78-4155-7EA6-54E877408646}"/>
                </a:ext>
              </a:extLst>
            </p:cNvPr>
            <p:cNvSpPr/>
            <p:nvPr/>
          </p:nvSpPr>
          <p:spPr>
            <a:xfrm>
              <a:off x="4563634" y="3937442"/>
              <a:ext cx="1576485" cy="530352"/>
            </a:xfrm>
            <a:prstGeom prst="roundRect">
              <a:avLst>
                <a:gd name="adj" fmla="val 8621"/>
              </a:avLst>
            </a:prstGeom>
            <a:solidFill>
              <a:srgbClr val="FDFDFD"/>
            </a:solidFill>
            <a:ln w="9525">
              <a:solidFill>
                <a:srgbClr val="D4D2CA"/>
              </a:solidFill>
              <a:prstDash val="solid"/>
            </a:ln>
          </p:spPr>
          <p:txBody>
            <a:bodyPr/>
            <a:lstStyle/>
            <a:p>
              <a:endParaRPr lang="en-US"/>
            </a:p>
          </p:txBody>
        </p:sp>
        <p:sp>
          <p:nvSpPr>
            <p:cNvPr id="627" name="Text 89">
              <a:extLst>
                <a:ext uri="{FF2B5EF4-FFF2-40B4-BE49-F238E27FC236}">
                  <a16:creationId xmlns:a16="http://schemas.microsoft.com/office/drawing/2014/main" id="{96D304AB-A74F-E84D-E4F5-E1D6AA690AC3}"/>
                </a:ext>
              </a:extLst>
            </p:cNvPr>
            <p:cNvSpPr/>
            <p:nvPr/>
          </p:nvSpPr>
          <p:spPr>
            <a:xfrm>
              <a:off x="4563634" y="4010594"/>
              <a:ext cx="1576485" cy="219456"/>
            </a:xfrm>
            <a:prstGeom prst="rect">
              <a:avLst/>
            </a:prstGeom>
            <a:noFill/>
            <a:ln/>
          </p:spPr>
          <p:txBody>
            <a:bodyPr wrap="square" lIns="0" tIns="0" rIns="0" bIns="0" rtlCol="0" anchor="ctr"/>
            <a:lstStyle/>
            <a:p>
              <a:pPr marL="0" indent="0" algn="ctr">
                <a:buNone/>
              </a:pPr>
              <a:r>
                <a:rPr lang="en-US" sz="1050" b="1" dirty="0">
                  <a:solidFill>
                    <a:srgbClr val="9B9A92"/>
                  </a:solidFill>
                  <a:latin typeface="Montserrat" pitchFamily="34" charset="0"/>
                  <a:ea typeface="Montserrat" pitchFamily="34" charset="-122"/>
                  <a:cs typeface="Montserrat" pitchFamily="34" charset="-120"/>
                </a:rPr>
                <a:t>CLEAR</a:t>
              </a:r>
              <a:endParaRPr lang="en-US" sz="1050" dirty="0"/>
            </a:p>
          </p:txBody>
        </p:sp>
        <p:sp>
          <p:nvSpPr>
            <p:cNvPr id="628" name="Text 90">
              <a:extLst>
                <a:ext uri="{FF2B5EF4-FFF2-40B4-BE49-F238E27FC236}">
                  <a16:creationId xmlns:a16="http://schemas.microsoft.com/office/drawing/2014/main" id="{F6EA1A47-49FB-7389-43F8-16A7B6F302AA}"/>
                </a:ext>
              </a:extLst>
            </p:cNvPr>
            <p:cNvSpPr/>
            <p:nvPr/>
          </p:nvSpPr>
          <p:spPr>
            <a:xfrm>
              <a:off x="4563634" y="4230050"/>
              <a:ext cx="1576485" cy="182880"/>
            </a:xfrm>
            <a:prstGeom prst="rect">
              <a:avLst/>
            </a:prstGeom>
            <a:noFill/>
            <a:ln/>
          </p:spPr>
          <p:txBody>
            <a:bodyPr wrap="square" lIns="0" tIns="0" rIns="0" bIns="0" rtlCol="0" anchor="t"/>
            <a:lstStyle/>
            <a:p>
              <a:pPr marL="0" indent="0" algn="ctr">
                <a:buNone/>
              </a:pPr>
              <a:r>
                <a:rPr lang="en-US" sz="700" dirty="0">
                  <a:solidFill>
                    <a:srgbClr val="9B9A92"/>
                  </a:solidFill>
                  <a:latin typeface="Lora" pitchFamily="34" charset="0"/>
                  <a:ea typeface="Lora" pitchFamily="34" charset="-122"/>
                  <a:cs typeface="Lora" pitchFamily="34" charset="-120"/>
                </a:rPr>
                <a:t>markdown</a:t>
              </a:r>
              <a:endParaRPr lang="en-US" sz="700" dirty="0"/>
            </a:p>
          </p:txBody>
        </p:sp>
        <p:sp>
          <p:nvSpPr>
            <p:cNvPr id="629" name="Shape 91">
              <a:extLst>
                <a:ext uri="{FF2B5EF4-FFF2-40B4-BE49-F238E27FC236}">
                  <a16:creationId xmlns:a16="http://schemas.microsoft.com/office/drawing/2014/main" id="{42700B8D-CA0D-86B0-CC7C-6AD7D7A094C8}"/>
                </a:ext>
              </a:extLst>
            </p:cNvPr>
            <p:cNvSpPr/>
            <p:nvPr/>
          </p:nvSpPr>
          <p:spPr>
            <a:xfrm>
              <a:off x="6223979" y="3937442"/>
              <a:ext cx="1576485" cy="530352"/>
            </a:xfrm>
            <a:prstGeom prst="roundRect">
              <a:avLst>
                <a:gd name="adj" fmla="val 8621"/>
              </a:avLst>
            </a:prstGeom>
            <a:solidFill>
              <a:srgbClr val="FDFDFD"/>
            </a:solidFill>
            <a:ln w="9525">
              <a:solidFill>
                <a:srgbClr val="D4D2CA"/>
              </a:solidFill>
              <a:prstDash val="solid"/>
            </a:ln>
          </p:spPr>
          <p:txBody>
            <a:bodyPr/>
            <a:lstStyle/>
            <a:p>
              <a:endParaRPr lang="en-US"/>
            </a:p>
          </p:txBody>
        </p:sp>
        <p:sp>
          <p:nvSpPr>
            <p:cNvPr id="630" name="Text 92">
              <a:extLst>
                <a:ext uri="{FF2B5EF4-FFF2-40B4-BE49-F238E27FC236}">
                  <a16:creationId xmlns:a16="http://schemas.microsoft.com/office/drawing/2014/main" id="{1E9B1668-B661-85E5-C19D-D6189EC42F07}"/>
                </a:ext>
              </a:extLst>
            </p:cNvPr>
            <p:cNvSpPr/>
            <p:nvPr/>
          </p:nvSpPr>
          <p:spPr>
            <a:xfrm>
              <a:off x="6223979" y="4010594"/>
              <a:ext cx="1576485" cy="219456"/>
            </a:xfrm>
            <a:prstGeom prst="rect">
              <a:avLst/>
            </a:prstGeom>
            <a:noFill/>
            <a:ln/>
          </p:spPr>
          <p:txBody>
            <a:bodyPr wrap="square" lIns="0" tIns="0" rIns="0" bIns="0" rtlCol="0" anchor="ctr"/>
            <a:lstStyle/>
            <a:p>
              <a:pPr marL="0" indent="0" algn="ctr">
                <a:buNone/>
              </a:pPr>
              <a:r>
                <a:rPr lang="en-US" sz="1050" b="1" dirty="0">
                  <a:solidFill>
                    <a:srgbClr val="9B9A92"/>
                  </a:solidFill>
                  <a:latin typeface="Montserrat" pitchFamily="34" charset="0"/>
                  <a:ea typeface="Montserrat" pitchFamily="34" charset="-122"/>
                  <a:cs typeface="Montserrat" pitchFamily="34" charset="-120"/>
                </a:rPr>
                <a:t>ROUTE</a:t>
              </a:r>
              <a:endParaRPr lang="en-US" sz="1050" dirty="0"/>
            </a:p>
          </p:txBody>
        </p:sp>
        <p:sp>
          <p:nvSpPr>
            <p:cNvPr id="631" name="Text 93">
              <a:extLst>
                <a:ext uri="{FF2B5EF4-FFF2-40B4-BE49-F238E27FC236}">
                  <a16:creationId xmlns:a16="http://schemas.microsoft.com/office/drawing/2014/main" id="{358EB33F-462F-BA8A-5DF0-531F0958FC13}"/>
                </a:ext>
              </a:extLst>
            </p:cNvPr>
            <p:cNvSpPr/>
            <p:nvPr/>
          </p:nvSpPr>
          <p:spPr>
            <a:xfrm>
              <a:off x="6223979" y="4230050"/>
              <a:ext cx="1576485" cy="182880"/>
            </a:xfrm>
            <a:prstGeom prst="rect">
              <a:avLst/>
            </a:prstGeom>
            <a:noFill/>
            <a:ln/>
          </p:spPr>
          <p:txBody>
            <a:bodyPr wrap="square" lIns="0" tIns="0" rIns="0" bIns="0" rtlCol="0" anchor="t"/>
            <a:lstStyle/>
            <a:p>
              <a:pPr marL="0" indent="0" algn="ctr">
                <a:buNone/>
              </a:pPr>
              <a:r>
                <a:rPr lang="en-US" sz="700" dirty="0">
                  <a:solidFill>
                    <a:srgbClr val="9B9A92"/>
                  </a:solidFill>
                  <a:latin typeface="Lora" pitchFamily="34" charset="0"/>
                  <a:ea typeface="Lora" pitchFamily="34" charset="-122"/>
                  <a:cs typeface="Lora" pitchFamily="34" charset="-120"/>
                </a:rPr>
                <a:t>fulfil</a:t>
              </a:r>
              <a:endParaRPr lang="en-US" sz="700" dirty="0"/>
            </a:p>
          </p:txBody>
        </p:sp>
        <p:sp>
          <p:nvSpPr>
            <p:cNvPr id="632" name="Shape 94">
              <a:extLst>
                <a:ext uri="{FF2B5EF4-FFF2-40B4-BE49-F238E27FC236}">
                  <a16:creationId xmlns:a16="http://schemas.microsoft.com/office/drawing/2014/main" id="{307DC6BC-46C7-34EC-6B18-1A7D585200F9}"/>
                </a:ext>
              </a:extLst>
            </p:cNvPr>
            <p:cNvSpPr/>
            <p:nvPr/>
          </p:nvSpPr>
          <p:spPr>
            <a:xfrm>
              <a:off x="7894955" y="3937442"/>
              <a:ext cx="1576485" cy="530352"/>
            </a:xfrm>
            <a:prstGeom prst="roundRect">
              <a:avLst>
                <a:gd name="adj" fmla="val 8621"/>
              </a:avLst>
            </a:prstGeom>
            <a:solidFill>
              <a:srgbClr val="FDFDFD"/>
            </a:solidFill>
            <a:ln w="9525">
              <a:solidFill>
                <a:srgbClr val="D4D2CA"/>
              </a:solidFill>
              <a:prstDash val="solid"/>
            </a:ln>
          </p:spPr>
          <p:txBody>
            <a:bodyPr/>
            <a:lstStyle/>
            <a:p>
              <a:endParaRPr lang="en-US"/>
            </a:p>
          </p:txBody>
        </p:sp>
        <p:sp>
          <p:nvSpPr>
            <p:cNvPr id="633" name="Text 95">
              <a:extLst>
                <a:ext uri="{FF2B5EF4-FFF2-40B4-BE49-F238E27FC236}">
                  <a16:creationId xmlns:a16="http://schemas.microsoft.com/office/drawing/2014/main" id="{CF83262F-71A7-E924-77A1-A91C8AF47C76}"/>
                </a:ext>
              </a:extLst>
            </p:cNvPr>
            <p:cNvSpPr/>
            <p:nvPr/>
          </p:nvSpPr>
          <p:spPr>
            <a:xfrm>
              <a:off x="7894955" y="4010594"/>
              <a:ext cx="1576485" cy="219456"/>
            </a:xfrm>
            <a:prstGeom prst="rect">
              <a:avLst/>
            </a:prstGeom>
            <a:noFill/>
            <a:ln/>
          </p:spPr>
          <p:txBody>
            <a:bodyPr wrap="square" lIns="0" tIns="0" rIns="0" bIns="0" rtlCol="0" anchor="ctr"/>
            <a:lstStyle/>
            <a:p>
              <a:pPr marL="0" indent="0" algn="ctr">
                <a:buNone/>
              </a:pPr>
              <a:r>
                <a:rPr lang="en-US" sz="1050" b="1" dirty="0">
                  <a:solidFill>
                    <a:srgbClr val="9B9A92"/>
                  </a:solidFill>
                  <a:latin typeface="Montserrat" pitchFamily="34" charset="0"/>
                  <a:ea typeface="Montserrat" pitchFamily="34" charset="-122"/>
                  <a:cs typeface="Montserrat" pitchFamily="34" charset="-120"/>
                </a:rPr>
                <a:t>HANDOFF</a:t>
              </a:r>
              <a:endParaRPr lang="en-US" sz="1050" dirty="0"/>
            </a:p>
          </p:txBody>
        </p:sp>
        <p:sp>
          <p:nvSpPr>
            <p:cNvPr id="634" name="Text 96">
              <a:extLst>
                <a:ext uri="{FF2B5EF4-FFF2-40B4-BE49-F238E27FC236}">
                  <a16:creationId xmlns:a16="http://schemas.microsoft.com/office/drawing/2014/main" id="{3EB0086C-4FF7-EB1D-CEDF-1947698956BD}"/>
                </a:ext>
              </a:extLst>
            </p:cNvPr>
            <p:cNvSpPr/>
            <p:nvPr/>
          </p:nvSpPr>
          <p:spPr>
            <a:xfrm>
              <a:off x="7894955" y="4230050"/>
              <a:ext cx="1576485" cy="182880"/>
            </a:xfrm>
            <a:prstGeom prst="rect">
              <a:avLst/>
            </a:prstGeom>
            <a:noFill/>
            <a:ln/>
          </p:spPr>
          <p:txBody>
            <a:bodyPr wrap="square" lIns="0" tIns="0" rIns="0" bIns="0" rtlCol="0" anchor="t"/>
            <a:lstStyle/>
            <a:p>
              <a:pPr marL="0" indent="0" algn="ctr">
                <a:buNone/>
              </a:pPr>
              <a:r>
                <a:rPr lang="en-US" sz="700" dirty="0">
                  <a:solidFill>
                    <a:srgbClr val="9B9A92"/>
                  </a:solidFill>
                  <a:latin typeface="Lora" pitchFamily="34" charset="0"/>
                  <a:ea typeface="Lora" pitchFamily="34" charset="-122"/>
                  <a:cs typeface="Lora" pitchFamily="34" charset="-120"/>
                </a:rPr>
                <a:t>collect</a:t>
              </a:r>
              <a:endParaRPr lang="en-US" sz="700" dirty="0"/>
            </a:p>
          </p:txBody>
        </p:sp>
        <p:sp>
          <p:nvSpPr>
            <p:cNvPr id="635" name="Shape 97">
              <a:extLst>
                <a:ext uri="{FF2B5EF4-FFF2-40B4-BE49-F238E27FC236}">
                  <a16:creationId xmlns:a16="http://schemas.microsoft.com/office/drawing/2014/main" id="{2DE058E0-9B48-59EE-6977-4FF40219430A}"/>
                </a:ext>
              </a:extLst>
            </p:cNvPr>
            <p:cNvSpPr/>
            <p:nvPr/>
          </p:nvSpPr>
          <p:spPr>
            <a:xfrm>
              <a:off x="9602588" y="3938296"/>
              <a:ext cx="1576485" cy="530352"/>
            </a:xfrm>
            <a:prstGeom prst="roundRect">
              <a:avLst>
                <a:gd name="adj" fmla="val 8621"/>
              </a:avLst>
            </a:prstGeom>
            <a:solidFill>
              <a:srgbClr val="FDFDFD"/>
            </a:solidFill>
            <a:ln w="9525">
              <a:solidFill>
                <a:srgbClr val="D4D2CA"/>
              </a:solidFill>
              <a:prstDash val="solid"/>
            </a:ln>
          </p:spPr>
          <p:txBody>
            <a:bodyPr/>
            <a:lstStyle/>
            <a:p>
              <a:endParaRPr lang="en-US"/>
            </a:p>
          </p:txBody>
        </p:sp>
        <p:sp>
          <p:nvSpPr>
            <p:cNvPr id="636" name="Text 98">
              <a:extLst>
                <a:ext uri="{FF2B5EF4-FFF2-40B4-BE49-F238E27FC236}">
                  <a16:creationId xmlns:a16="http://schemas.microsoft.com/office/drawing/2014/main" id="{A008B615-8A81-8ADE-FD85-ED38D88A54A4}"/>
                </a:ext>
              </a:extLst>
            </p:cNvPr>
            <p:cNvSpPr/>
            <p:nvPr/>
          </p:nvSpPr>
          <p:spPr>
            <a:xfrm>
              <a:off x="9566012" y="4021226"/>
              <a:ext cx="1576485" cy="219456"/>
            </a:xfrm>
            <a:prstGeom prst="rect">
              <a:avLst/>
            </a:prstGeom>
            <a:noFill/>
            <a:ln/>
          </p:spPr>
          <p:txBody>
            <a:bodyPr wrap="square" lIns="0" tIns="0" rIns="0" bIns="0" rtlCol="0" anchor="ctr"/>
            <a:lstStyle/>
            <a:p>
              <a:pPr marL="0" indent="0" algn="ctr">
                <a:buNone/>
              </a:pPr>
              <a:r>
                <a:rPr lang="en-US" sz="1050" b="1" dirty="0">
                  <a:solidFill>
                    <a:srgbClr val="9B9A92"/>
                  </a:solidFill>
                  <a:latin typeface="Montserrat" pitchFamily="34" charset="0"/>
                  <a:ea typeface="Montserrat" pitchFamily="34" charset="-122"/>
                  <a:cs typeface="Montserrat" pitchFamily="34" charset="-120"/>
                </a:rPr>
                <a:t>RECLAIM</a:t>
              </a:r>
              <a:endParaRPr lang="en-US" sz="1050" dirty="0"/>
            </a:p>
          </p:txBody>
        </p:sp>
        <p:sp>
          <p:nvSpPr>
            <p:cNvPr id="637" name="Text 99">
              <a:extLst>
                <a:ext uri="{FF2B5EF4-FFF2-40B4-BE49-F238E27FC236}">
                  <a16:creationId xmlns:a16="http://schemas.microsoft.com/office/drawing/2014/main" id="{0CD77E5B-DCBB-F6F4-A099-30F2855DB945}"/>
                </a:ext>
              </a:extLst>
            </p:cNvPr>
            <p:cNvSpPr/>
            <p:nvPr/>
          </p:nvSpPr>
          <p:spPr>
            <a:xfrm>
              <a:off x="9566012" y="4240682"/>
              <a:ext cx="1576485" cy="182880"/>
            </a:xfrm>
            <a:prstGeom prst="rect">
              <a:avLst/>
            </a:prstGeom>
            <a:noFill/>
            <a:ln/>
          </p:spPr>
          <p:txBody>
            <a:bodyPr wrap="square" lIns="0" tIns="0" rIns="0" bIns="0" rtlCol="0" anchor="t"/>
            <a:lstStyle/>
            <a:p>
              <a:pPr marL="0" indent="0" algn="ctr">
                <a:buNone/>
              </a:pPr>
              <a:r>
                <a:rPr lang="en-US" sz="700" dirty="0">
                  <a:solidFill>
                    <a:srgbClr val="9B9A92"/>
                  </a:solidFill>
                  <a:latin typeface="Lora" pitchFamily="34" charset="0"/>
                  <a:ea typeface="Lora" pitchFamily="34" charset="-122"/>
                  <a:cs typeface="Lora" pitchFamily="34" charset="-120"/>
                </a:rPr>
                <a:t>recovery</a:t>
              </a:r>
              <a:endParaRPr lang="en-US" sz="700" dirty="0"/>
            </a:p>
          </p:txBody>
        </p:sp>
        <p:sp>
          <p:nvSpPr>
            <p:cNvPr id="638" name="Shape 11">
              <a:extLst>
                <a:ext uri="{FF2B5EF4-FFF2-40B4-BE49-F238E27FC236}">
                  <a16:creationId xmlns:a16="http://schemas.microsoft.com/office/drawing/2014/main" id="{03B57512-C698-B865-9CE7-FAFCF2A90907}"/>
                </a:ext>
              </a:extLst>
            </p:cNvPr>
            <p:cNvSpPr/>
            <p:nvPr/>
          </p:nvSpPr>
          <p:spPr>
            <a:xfrm>
              <a:off x="1865376" y="1554480"/>
              <a:ext cx="0" cy="127167"/>
            </a:xfrm>
            <a:prstGeom prst="line">
              <a:avLst/>
            </a:prstGeom>
            <a:noFill/>
            <a:ln w="15875">
              <a:solidFill>
                <a:srgbClr val="E31837"/>
              </a:solidFill>
              <a:prstDash val="solid"/>
              <a:tailEnd type="triangle"/>
            </a:ln>
          </p:spPr>
          <p:txBody>
            <a:bodyPr/>
            <a:lstStyle/>
            <a:p>
              <a:endParaRPr lang="en-US"/>
            </a:p>
          </p:txBody>
        </p:sp>
        <p:sp>
          <p:nvSpPr>
            <p:cNvPr id="639" name="Shape 24">
              <a:extLst>
                <a:ext uri="{FF2B5EF4-FFF2-40B4-BE49-F238E27FC236}">
                  <a16:creationId xmlns:a16="http://schemas.microsoft.com/office/drawing/2014/main" id="{CEA1C652-B3F8-215C-D8B3-B176AABDE42B}"/>
                </a:ext>
              </a:extLst>
            </p:cNvPr>
            <p:cNvSpPr/>
            <p:nvPr/>
          </p:nvSpPr>
          <p:spPr>
            <a:xfrm>
              <a:off x="4005072" y="1554480"/>
              <a:ext cx="0" cy="127167"/>
            </a:xfrm>
            <a:prstGeom prst="line">
              <a:avLst/>
            </a:prstGeom>
            <a:noFill/>
            <a:ln w="15875">
              <a:solidFill>
                <a:srgbClr val="E31837"/>
              </a:solidFill>
              <a:prstDash val="solid"/>
              <a:tailEnd type="triangle"/>
            </a:ln>
          </p:spPr>
          <p:txBody>
            <a:bodyPr/>
            <a:lstStyle/>
            <a:p>
              <a:endParaRPr lang="en-US"/>
            </a:p>
          </p:txBody>
        </p:sp>
        <p:sp>
          <p:nvSpPr>
            <p:cNvPr id="640" name="Shape 39">
              <a:extLst>
                <a:ext uri="{FF2B5EF4-FFF2-40B4-BE49-F238E27FC236}">
                  <a16:creationId xmlns:a16="http://schemas.microsoft.com/office/drawing/2014/main" id="{83815A83-BDFA-A06C-CED5-F5CF0712A9AC}"/>
                </a:ext>
              </a:extLst>
            </p:cNvPr>
            <p:cNvSpPr/>
            <p:nvPr/>
          </p:nvSpPr>
          <p:spPr>
            <a:xfrm flipH="1">
              <a:off x="6138150" y="1554480"/>
              <a:ext cx="6618" cy="132273"/>
            </a:xfrm>
            <a:prstGeom prst="line">
              <a:avLst/>
            </a:prstGeom>
            <a:noFill/>
            <a:ln w="15875">
              <a:solidFill>
                <a:srgbClr val="E31837"/>
              </a:solidFill>
              <a:prstDash val="solid"/>
              <a:tailEnd type="triangle"/>
            </a:ln>
          </p:spPr>
          <p:txBody>
            <a:bodyPr/>
            <a:lstStyle/>
            <a:p>
              <a:endParaRPr lang="en-US"/>
            </a:p>
          </p:txBody>
        </p:sp>
        <p:sp>
          <p:nvSpPr>
            <p:cNvPr id="641" name="Shape 52">
              <a:extLst>
                <a:ext uri="{FF2B5EF4-FFF2-40B4-BE49-F238E27FC236}">
                  <a16:creationId xmlns:a16="http://schemas.microsoft.com/office/drawing/2014/main" id="{60F76B48-1240-5E31-AF01-ADEE142BE826}"/>
                </a:ext>
              </a:extLst>
            </p:cNvPr>
            <p:cNvSpPr/>
            <p:nvPr/>
          </p:nvSpPr>
          <p:spPr>
            <a:xfrm flipH="1">
              <a:off x="8282763" y="1554480"/>
              <a:ext cx="1701" cy="182031"/>
            </a:xfrm>
            <a:prstGeom prst="line">
              <a:avLst/>
            </a:prstGeom>
            <a:noFill/>
            <a:ln w="15875">
              <a:solidFill>
                <a:srgbClr val="E31837"/>
              </a:solidFill>
              <a:prstDash val="solid"/>
              <a:tailEnd type="triangle"/>
            </a:ln>
          </p:spPr>
          <p:txBody>
            <a:bodyPr/>
            <a:lstStyle/>
            <a:p>
              <a:endParaRPr lang="en-US"/>
            </a:p>
          </p:txBody>
        </p:sp>
        <p:sp>
          <p:nvSpPr>
            <p:cNvPr id="642" name="Shape 67">
              <a:extLst>
                <a:ext uri="{FF2B5EF4-FFF2-40B4-BE49-F238E27FC236}">
                  <a16:creationId xmlns:a16="http://schemas.microsoft.com/office/drawing/2014/main" id="{967718A2-8464-50D7-54BF-7194A3A193F9}"/>
                </a:ext>
              </a:extLst>
            </p:cNvPr>
            <p:cNvSpPr/>
            <p:nvPr/>
          </p:nvSpPr>
          <p:spPr>
            <a:xfrm>
              <a:off x="10424160" y="1554480"/>
              <a:ext cx="0" cy="182031"/>
            </a:xfrm>
            <a:prstGeom prst="line">
              <a:avLst/>
            </a:prstGeom>
            <a:noFill/>
            <a:ln w="15875">
              <a:solidFill>
                <a:srgbClr val="E31837"/>
              </a:solidFill>
              <a:prstDash val="solid"/>
              <a:tailEnd type="triangle"/>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55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 grpId="0" animBg="1"/>
      <p:bldP spid="556"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E31837"/>
          </a:solidFill>
          <a:ln/>
        </p:spPr>
        <p:txBody>
          <a:bodyPr/>
          <a:lstStyle/>
          <a:p>
            <a:endParaRPr lang="en-US"/>
          </a:p>
        </p:txBody>
      </p:sp>
      <p:sp>
        <p:nvSpPr>
          <p:cNvPr id="4" name="Text 2"/>
          <p:cNvSpPr/>
          <p:nvPr/>
        </p:nvSpPr>
        <p:spPr>
          <a:xfrm>
            <a:off x="365760" y="146304"/>
            <a:ext cx="8229600" cy="201168"/>
          </a:xfrm>
          <a:prstGeom prst="rect">
            <a:avLst/>
          </a:prstGeom>
          <a:noFill/>
          <a:ln/>
        </p:spPr>
        <p:txBody>
          <a:bodyPr wrap="square" lIns="0" tIns="0" rIns="0" bIns="0" rtlCol="0" anchor="ctr"/>
          <a:lstStyle/>
          <a:p>
            <a:pPr marL="0" indent="0">
              <a:buNone/>
            </a:pPr>
            <a:r>
              <a:rPr lang="en-US" sz="1000" b="1" kern="0" spc="200" dirty="0">
                <a:solidFill>
                  <a:srgbClr val="E31837"/>
                </a:solidFill>
                <a:latin typeface="Montserrat" pitchFamily="34" charset="0"/>
                <a:ea typeface="Montserrat" pitchFamily="34" charset="-122"/>
                <a:cs typeface="Montserrat" pitchFamily="34" charset="-120"/>
              </a:rPr>
              <a:t>OBJECTIVE 1 · SERVICE BLUEPRINT (1 of 2)</a:t>
            </a:r>
            <a:endParaRPr lang="en-US" sz="1000" dirty="0"/>
          </a:p>
        </p:txBody>
      </p:sp>
      <p:sp>
        <p:nvSpPr>
          <p:cNvPr id="5" name="Text 3"/>
          <p:cNvSpPr/>
          <p:nvPr/>
        </p:nvSpPr>
        <p:spPr>
          <a:xfrm>
            <a:off x="365760" y="365760"/>
            <a:ext cx="11430000" cy="310896"/>
          </a:xfrm>
          <a:prstGeom prst="rect">
            <a:avLst/>
          </a:prstGeom>
          <a:noFill/>
          <a:ln/>
        </p:spPr>
        <p:txBody>
          <a:bodyPr wrap="square" lIns="0" tIns="0" rIns="0" bIns="0" rtlCol="0" anchor="ctr"/>
          <a:lstStyle/>
          <a:p>
            <a:pPr marL="0" indent="0">
              <a:buNone/>
            </a:pPr>
            <a:r>
              <a:rPr lang="en-US" sz="1700" b="1" dirty="0">
                <a:solidFill>
                  <a:srgbClr val="333333"/>
                </a:solidFill>
                <a:latin typeface="Montserrat" pitchFamily="34" charset="0"/>
                <a:ea typeface="Montserrat" pitchFamily="34" charset="-122"/>
                <a:cs typeface="Montserrat" pitchFamily="34" charset="-120"/>
              </a:rPr>
              <a:t>The agentic solution blueprint — how a request flows through the estate</a:t>
            </a:r>
            <a:endParaRPr lang="en-US" sz="1700" dirty="0"/>
          </a:p>
        </p:txBody>
      </p:sp>
      <p:sp>
        <p:nvSpPr>
          <p:cNvPr id="6" name="Shape 4"/>
          <p:cNvSpPr/>
          <p:nvPr/>
        </p:nvSpPr>
        <p:spPr>
          <a:xfrm>
            <a:off x="438912" y="813816"/>
            <a:ext cx="457200" cy="4965192"/>
          </a:xfrm>
          <a:prstGeom prst="roundRect">
            <a:avLst>
              <a:gd name="adj" fmla="val 10000"/>
            </a:avLst>
          </a:prstGeom>
          <a:solidFill>
            <a:srgbClr val="333333"/>
          </a:solidFill>
          <a:ln/>
        </p:spPr>
        <p:txBody>
          <a:bodyPr/>
          <a:lstStyle/>
          <a:p>
            <a:endParaRPr lang="en-US"/>
          </a:p>
        </p:txBody>
      </p:sp>
      <p:sp>
        <p:nvSpPr>
          <p:cNvPr id="7" name="Text 5"/>
          <p:cNvSpPr/>
          <p:nvPr/>
        </p:nvSpPr>
        <p:spPr>
          <a:xfrm rot="16200000">
            <a:off x="-1737360" y="3310128"/>
            <a:ext cx="4663440" cy="274320"/>
          </a:xfrm>
          <a:prstGeom prst="rect">
            <a:avLst/>
          </a:prstGeom>
          <a:noFill/>
          <a:ln/>
        </p:spPr>
        <p:txBody>
          <a:bodyPr wrap="square" lIns="0" tIns="0" rIns="0" bIns="0" rtlCol="0" anchor="ctr"/>
          <a:lstStyle/>
          <a:p>
            <a:pPr marL="0" indent="0" algn="ctr">
              <a:buNone/>
            </a:pPr>
            <a:r>
              <a:rPr lang="en-US" sz="900" b="1" dirty="0">
                <a:solidFill>
                  <a:srgbClr val="FDFDFD"/>
                </a:solidFill>
                <a:latin typeface="Montserrat" pitchFamily="34" charset="0"/>
                <a:ea typeface="Montserrat" pitchFamily="34" charset="-122"/>
                <a:cs typeface="Montserrat" pitchFamily="34" charset="-120"/>
              </a:rPr>
              <a:t>SECURITY &amp; POLICY-AS-CODE</a:t>
            </a:r>
            <a:endParaRPr lang="en-US" sz="900" dirty="0"/>
          </a:p>
        </p:txBody>
      </p:sp>
      <p:sp>
        <p:nvSpPr>
          <p:cNvPr id="8" name="Text 6"/>
          <p:cNvSpPr/>
          <p:nvPr/>
        </p:nvSpPr>
        <p:spPr>
          <a:xfrm rot="16200000">
            <a:off x="-1569194" y="3433572"/>
            <a:ext cx="4663440" cy="274320"/>
          </a:xfrm>
          <a:prstGeom prst="rect">
            <a:avLst/>
          </a:prstGeom>
          <a:noFill/>
          <a:ln/>
        </p:spPr>
        <p:txBody>
          <a:bodyPr wrap="square" lIns="0" tIns="0" rIns="0" bIns="0" rtlCol="0" anchor="ctr"/>
          <a:lstStyle/>
          <a:p>
            <a:pPr marL="0" indent="0" algn="ctr">
              <a:buNone/>
            </a:pPr>
            <a:r>
              <a:rPr lang="en-US" sz="600" i="1" dirty="0">
                <a:solidFill>
                  <a:srgbClr val="C9C9C7"/>
                </a:solidFill>
                <a:latin typeface="Lora" pitchFamily="34" charset="0"/>
                <a:ea typeface="Lora" pitchFamily="34" charset="-122"/>
                <a:cs typeface="Lora" pitchFamily="34" charset="-120"/>
              </a:rPr>
              <a:t>guardrails · PII &amp; consent · segment-access policy · rate limits · audit</a:t>
            </a:r>
            <a:endParaRPr lang="en-US" sz="600" dirty="0"/>
          </a:p>
        </p:txBody>
      </p:sp>
      <p:sp>
        <p:nvSpPr>
          <p:cNvPr id="9" name="Shape 7"/>
          <p:cNvSpPr/>
          <p:nvPr/>
        </p:nvSpPr>
        <p:spPr>
          <a:xfrm>
            <a:off x="969264" y="841248"/>
            <a:ext cx="10853928" cy="457200"/>
          </a:xfrm>
          <a:prstGeom prst="roundRect">
            <a:avLst>
              <a:gd name="adj" fmla="val 10000"/>
            </a:avLst>
          </a:prstGeom>
          <a:solidFill>
            <a:srgbClr val="F5F4F1"/>
          </a:solidFill>
          <a:ln/>
        </p:spPr>
        <p:txBody>
          <a:bodyPr/>
          <a:lstStyle/>
          <a:p>
            <a:endParaRPr lang="en-US"/>
          </a:p>
        </p:txBody>
      </p:sp>
      <p:sp>
        <p:nvSpPr>
          <p:cNvPr id="10" name="Text 8"/>
          <p:cNvSpPr/>
          <p:nvPr/>
        </p:nvSpPr>
        <p:spPr>
          <a:xfrm>
            <a:off x="1097280" y="877824"/>
            <a:ext cx="4572000" cy="182880"/>
          </a:xfrm>
          <a:prstGeom prst="rect">
            <a:avLst/>
          </a:prstGeom>
          <a:noFill/>
          <a:ln/>
        </p:spPr>
        <p:txBody>
          <a:bodyPr wrap="square" lIns="0" tIns="0" rIns="0" bIns="0" rtlCol="0" anchor="ctr"/>
          <a:lstStyle/>
          <a:p>
            <a:pPr marL="0" indent="0">
              <a:buNone/>
            </a:pPr>
            <a:r>
              <a:rPr lang="en-US" sz="900" b="1" kern="0" spc="50" dirty="0">
                <a:solidFill>
                  <a:srgbClr val="A0A5AB"/>
                </a:solidFill>
                <a:latin typeface="Montserrat" pitchFamily="34" charset="0"/>
                <a:ea typeface="Montserrat" pitchFamily="34" charset="-122"/>
                <a:cs typeface="Montserrat" pitchFamily="34" charset="-120"/>
              </a:rPr>
              <a:t>CHANNELS</a:t>
            </a:r>
            <a:endParaRPr lang="en-US" sz="900" dirty="0"/>
          </a:p>
        </p:txBody>
      </p:sp>
      <p:sp>
        <p:nvSpPr>
          <p:cNvPr id="11" name="Shape 9"/>
          <p:cNvSpPr/>
          <p:nvPr/>
        </p:nvSpPr>
        <p:spPr>
          <a:xfrm>
            <a:off x="1097280" y="1024128"/>
            <a:ext cx="2181758" cy="265176"/>
          </a:xfrm>
          <a:prstGeom prst="roundRect">
            <a:avLst>
              <a:gd name="adj" fmla="val 16667"/>
            </a:avLst>
          </a:prstGeom>
          <a:solidFill>
            <a:srgbClr val="FDFDFD"/>
          </a:solidFill>
          <a:ln w="9525">
            <a:solidFill>
              <a:srgbClr val="D8D6CE"/>
            </a:solidFill>
            <a:prstDash val="solid"/>
          </a:ln>
        </p:spPr>
        <p:txBody>
          <a:bodyPr/>
          <a:lstStyle/>
          <a:p>
            <a:endParaRPr lang="en-US"/>
          </a:p>
        </p:txBody>
      </p:sp>
      <p:sp>
        <p:nvSpPr>
          <p:cNvPr id="12" name="Text 10"/>
          <p:cNvSpPr/>
          <p:nvPr/>
        </p:nvSpPr>
        <p:spPr>
          <a:xfrm>
            <a:off x="894014" y="1065171"/>
            <a:ext cx="2480310" cy="219456"/>
          </a:xfrm>
          <a:prstGeom prst="rect">
            <a:avLst/>
          </a:prstGeom>
          <a:noFill/>
          <a:ln/>
        </p:spPr>
        <p:txBody>
          <a:bodyPr wrap="square" lIns="0" tIns="0" rIns="0" bIns="0" rtlCol="0" anchor="ctr"/>
          <a:lstStyle/>
          <a:p>
            <a:pPr marL="0" indent="0" algn="ctr">
              <a:lnSpc>
                <a:spcPct val="90000"/>
              </a:lnSpc>
              <a:buNone/>
            </a:pPr>
            <a:r>
              <a:rPr lang="en-US" sz="750" b="1" dirty="0">
                <a:solidFill>
                  <a:srgbClr val="333333"/>
                </a:solidFill>
                <a:latin typeface="Montserrat" pitchFamily="34" charset="0"/>
                <a:ea typeface="Montserrat" pitchFamily="34" charset="-122"/>
                <a:cs typeface="Montserrat" pitchFamily="34" charset="-120"/>
              </a:rPr>
              <a:t>Web / Mobile</a:t>
            </a:r>
            <a:endParaRPr lang="en-US" sz="750" dirty="0"/>
          </a:p>
        </p:txBody>
      </p:sp>
      <p:sp>
        <p:nvSpPr>
          <p:cNvPr id="13" name="Shape 11"/>
          <p:cNvSpPr/>
          <p:nvPr/>
        </p:nvSpPr>
        <p:spPr>
          <a:xfrm>
            <a:off x="3443630" y="1040130"/>
            <a:ext cx="2553462" cy="245294"/>
          </a:xfrm>
          <a:prstGeom prst="roundRect">
            <a:avLst>
              <a:gd name="adj" fmla="val 16667"/>
            </a:avLst>
          </a:prstGeom>
          <a:solidFill>
            <a:srgbClr val="FDFDFD"/>
          </a:solidFill>
          <a:ln w="9525">
            <a:solidFill>
              <a:srgbClr val="D8D6CE"/>
            </a:solidFill>
            <a:prstDash val="solid"/>
          </a:ln>
        </p:spPr>
        <p:txBody>
          <a:bodyPr/>
          <a:lstStyle/>
          <a:p>
            <a:endParaRPr lang="en-US"/>
          </a:p>
        </p:txBody>
      </p:sp>
      <p:sp>
        <p:nvSpPr>
          <p:cNvPr id="14" name="Text 12"/>
          <p:cNvSpPr/>
          <p:nvPr/>
        </p:nvSpPr>
        <p:spPr>
          <a:xfrm>
            <a:off x="3348615" y="1085850"/>
            <a:ext cx="2480310" cy="219456"/>
          </a:xfrm>
          <a:prstGeom prst="rect">
            <a:avLst/>
          </a:prstGeom>
          <a:noFill/>
          <a:ln/>
        </p:spPr>
        <p:txBody>
          <a:bodyPr wrap="square" lIns="0" tIns="0" rIns="0" bIns="0" rtlCol="0" anchor="ctr"/>
          <a:lstStyle/>
          <a:p>
            <a:pPr marL="0" indent="0" algn="ctr">
              <a:lnSpc>
                <a:spcPct val="90000"/>
              </a:lnSpc>
              <a:buNone/>
            </a:pPr>
            <a:r>
              <a:rPr lang="en-US" sz="750" b="1" dirty="0">
                <a:solidFill>
                  <a:srgbClr val="333333"/>
                </a:solidFill>
                <a:latin typeface="Montserrat" pitchFamily="34" charset="0"/>
                <a:ea typeface="Montserrat" pitchFamily="34" charset="-122"/>
                <a:cs typeface="Montserrat" pitchFamily="34" charset="-120"/>
              </a:rPr>
              <a:t>Store POS · Clienteling</a:t>
            </a:r>
            <a:endParaRPr lang="en-US" sz="750" dirty="0"/>
          </a:p>
        </p:txBody>
      </p:sp>
      <p:sp>
        <p:nvSpPr>
          <p:cNvPr id="15" name="Shape 13"/>
          <p:cNvSpPr/>
          <p:nvPr/>
        </p:nvSpPr>
        <p:spPr>
          <a:xfrm>
            <a:off x="6092107" y="1056132"/>
            <a:ext cx="1787652" cy="214884"/>
          </a:xfrm>
          <a:prstGeom prst="roundRect">
            <a:avLst>
              <a:gd name="adj" fmla="val 16667"/>
            </a:avLst>
          </a:prstGeom>
          <a:solidFill>
            <a:srgbClr val="FDFDFD"/>
          </a:solidFill>
          <a:ln w="9525">
            <a:solidFill>
              <a:srgbClr val="D8D6CE"/>
            </a:solidFill>
            <a:prstDash val="solid"/>
          </a:ln>
        </p:spPr>
        <p:txBody>
          <a:bodyPr/>
          <a:lstStyle/>
          <a:p>
            <a:endParaRPr lang="en-US"/>
          </a:p>
        </p:txBody>
      </p:sp>
      <p:sp>
        <p:nvSpPr>
          <p:cNvPr id="16" name="Text 14"/>
          <p:cNvSpPr/>
          <p:nvPr/>
        </p:nvSpPr>
        <p:spPr>
          <a:xfrm>
            <a:off x="5804154" y="1085850"/>
            <a:ext cx="2075605" cy="196596"/>
          </a:xfrm>
          <a:prstGeom prst="rect">
            <a:avLst/>
          </a:prstGeom>
          <a:noFill/>
          <a:ln/>
        </p:spPr>
        <p:txBody>
          <a:bodyPr wrap="square" lIns="0" tIns="0" rIns="0" bIns="0" rtlCol="0" anchor="ctr"/>
          <a:lstStyle/>
          <a:p>
            <a:pPr marL="0" indent="0" algn="ctr">
              <a:lnSpc>
                <a:spcPct val="90000"/>
              </a:lnSpc>
              <a:buNone/>
            </a:pPr>
            <a:r>
              <a:rPr lang="en-US" sz="750" b="1" dirty="0">
                <a:solidFill>
                  <a:srgbClr val="333333"/>
                </a:solidFill>
                <a:latin typeface="Montserrat" pitchFamily="34" charset="0"/>
                <a:ea typeface="Montserrat" pitchFamily="34" charset="-122"/>
                <a:cs typeface="Montserrat" pitchFamily="34" charset="-120"/>
              </a:rPr>
              <a:t>Contact Centre</a:t>
            </a:r>
            <a:endParaRPr lang="en-US" sz="750" dirty="0"/>
          </a:p>
        </p:txBody>
      </p:sp>
      <p:sp>
        <p:nvSpPr>
          <p:cNvPr id="17" name="Shape 15"/>
          <p:cNvSpPr/>
          <p:nvPr/>
        </p:nvSpPr>
        <p:spPr>
          <a:xfrm>
            <a:off x="9824484" y="1078992"/>
            <a:ext cx="1870692" cy="192024"/>
          </a:xfrm>
          <a:prstGeom prst="roundRect">
            <a:avLst>
              <a:gd name="adj" fmla="val 16667"/>
            </a:avLst>
          </a:prstGeom>
          <a:solidFill>
            <a:srgbClr val="FDFDFD"/>
          </a:solidFill>
          <a:ln w="9525">
            <a:solidFill>
              <a:srgbClr val="D8D6CE"/>
            </a:solidFill>
            <a:prstDash val="solid"/>
          </a:ln>
        </p:spPr>
        <p:txBody>
          <a:bodyPr/>
          <a:lstStyle/>
          <a:p>
            <a:endParaRPr lang="en-US"/>
          </a:p>
        </p:txBody>
      </p:sp>
      <p:sp>
        <p:nvSpPr>
          <p:cNvPr id="18" name="Text 16"/>
          <p:cNvSpPr/>
          <p:nvPr/>
        </p:nvSpPr>
        <p:spPr>
          <a:xfrm>
            <a:off x="9272778" y="1078992"/>
            <a:ext cx="2480310" cy="219456"/>
          </a:xfrm>
          <a:prstGeom prst="rect">
            <a:avLst/>
          </a:prstGeom>
          <a:noFill/>
          <a:ln/>
        </p:spPr>
        <p:txBody>
          <a:bodyPr wrap="square" lIns="0" tIns="0" rIns="0" bIns="0" rtlCol="0" anchor="ctr"/>
          <a:lstStyle/>
          <a:p>
            <a:pPr marL="0" indent="0" algn="ctr">
              <a:lnSpc>
                <a:spcPct val="90000"/>
              </a:lnSpc>
              <a:buNone/>
            </a:pPr>
            <a:r>
              <a:rPr lang="en-US" sz="750" b="1" dirty="0">
                <a:solidFill>
                  <a:srgbClr val="333333"/>
                </a:solidFill>
                <a:latin typeface="Montserrat" pitchFamily="34" charset="0"/>
                <a:ea typeface="Montserrat" pitchFamily="34" charset="-122"/>
                <a:cs typeface="Montserrat" pitchFamily="34" charset="-120"/>
              </a:rPr>
              <a:t>Social &amp; Marketplace</a:t>
            </a:r>
            <a:endParaRPr lang="en-US" sz="750" dirty="0"/>
          </a:p>
        </p:txBody>
      </p:sp>
      <p:sp>
        <p:nvSpPr>
          <p:cNvPr id="19" name="Shape 17"/>
          <p:cNvSpPr/>
          <p:nvPr/>
        </p:nvSpPr>
        <p:spPr>
          <a:xfrm>
            <a:off x="969264" y="1371600"/>
            <a:ext cx="10853928" cy="566928"/>
          </a:xfrm>
          <a:prstGeom prst="roundRect">
            <a:avLst>
              <a:gd name="adj" fmla="val 8065"/>
            </a:avLst>
          </a:prstGeom>
          <a:solidFill>
            <a:srgbClr val="FBE3E4"/>
          </a:solidFill>
          <a:ln/>
        </p:spPr>
        <p:txBody>
          <a:bodyPr/>
          <a:lstStyle/>
          <a:p>
            <a:endParaRPr lang="en-US"/>
          </a:p>
        </p:txBody>
      </p:sp>
      <p:sp>
        <p:nvSpPr>
          <p:cNvPr id="20" name="Text 18"/>
          <p:cNvSpPr/>
          <p:nvPr/>
        </p:nvSpPr>
        <p:spPr>
          <a:xfrm>
            <a:off x="1097280" y="1408176"/>
            <a:ext cx="4572000" cy="182880"/>
          </a:xfrm>
          <a:prstGeom prst="rect">
            <a:avLst/>
          </a:prstGeom>
          <a:noFill/>
          <a:ln/>
        </p:spPr>
        <p:txBody>
          <a:bodyPr wrap="square" lIns="0" tIns="0" rIns="0" bIns="0" rtlCol="0" anchor="ctr"/>
          <a:lstStyle/>
          <a:p>
            <a:pPr marL="0" indent="0">
              <a:buNone/>
            </a:pPr>
            <a:r>
              <a:rPr lang="en-US" sz="900" b="1" kern="0" spc="50" dirty="0">
                <a:solidFill>
                  <a:srgbClr val="E31837"/>
                </a:solidFill>
                <a:latin typeface="Montserrat" pitchFamily="34" charset="0"/>
                <a:ea typeface="Montserrat" pitchFamily="34" charset="-122"/>
                <a:cs typeface="Montserrat" pitchFamily="34" charset="-120"/>
              </a:rPr>
              <a:t>INTENT SENSING &amp; TRIGGERS</a:t>
            </a:r>
            <a:endParaRPr lang="en-US" sz="900" dirty="0"/>
          </a:p>
        </p:txBody>
      </p:sp>
      <p:sp>
        <p:nvSpPr>
          <p:cNvPr id="21" name="Shape 19"/>
          <p:cNvSpPr/>
          <p:nvPr/>
        </p:nvSpPr>
        <p:spPr>
          <a:xfrm>
            <a:off x="1097280" y="1554480"/>
            <a:ext cx="3447288" cy="329184"/>
          </a:xfrm>
          <a:prstGeom prst="roundRect">
            <a:avLst>
              <a:gd name="adj" fmla="val 11111"/>
            </a:avLst>
          </a:prstGeom>
          <a:solidFill>
            <a:srgbClr val="FDFDFD"/>
          </a:solidFill>
          <a:ln w="9525">
            <a:solidFill>
              <a:srgbClr val="E24B4A"/>
            </a:solidFill>
            <a:prstDash val="solid"/>
          </a:ln>
        </p:spPr>
        <p:txBody>
          <a:bodyPr/>
          <a:lstStyle/>
          <a:p>
            <a:endParaRPr lang="en-US"/>
          </a:p>
        </p:txBody>
      </p:sp>
      <p:sp>
        <p:nvSpPr>
          <p:cNvPr id="22" name="Text 20"/>
          <p:cNvSpPr/>
          <p:nvPr/>
        </p:nvSpPr>
        <p:spPr>
          <a:xfrm>
            <a:off x="1133856" y="1600200"/>
            <a:ext cx="3374136" cy="182880"/>
          </a:xfrm>
          <a:prstGeom prst="rect">
            <a:avLst/>
          </a:prstGeom>
          <a:noFill/>
          <a:ln/>
        </p:spPr>
        <p:txBody>
          <a:bodyPr wrap="square" lIns="0" tIns="0" rIns="0" bIns="0" rtlCol="0" anchor="t"/>
          <a:lstStyle/>
          <a:p>
            <a:pPr marL="0" indent="0" algn="ctr">
              <a:lnSpc>
                <a:spcPct val="90000"/>
              </a:lnSpc>
              <a:buNone/>
            </a:pPr>
            <a:r>
              <a:rPr lang="en-US" sz="800" b="1" dirty="0">
                <a:solidFill>
                  <a:srgbClr val="E31837"/>
                </a:solidFill>
                <a:latin typeface="Montserrat" pitchFamily="34" charset="0"/>
                <a:ea typeface="Montserrat" pitchFamily="34" charset="-122"/>
                <a:cs typeface="Montserrat" pitchFamily="34" charset="-120"/>
              </a:rPr>
              <a:t>Intent detection</a:t>
            </a:r>
            <a:endParaRPr lang="en-US" sz="800" dirty="0"/>
          </a:p>
        </p:txBody>
      </p:sp>
      <p:sp>
        <p:nvSpPr>
          <p:cNvPr id="23" name="Text 21"/>
          <p:cNvSpPr/>
          <p:nvPr/>
        </p:nvSpPr>
        <p:spPr>
          <a:xfrm>
            <a:off x="1133856" y="1773936"/>
            <a:ext cx="3374136" cy="91440"/>
          </a:xfrm>
          <a:prstGeom prst="rect">
            <a:avLst/>
          </a:prstGeom>
          <a:noFill/>
          <a:ln/>
        </p:spPr>
        <p:txBody>
          <a:bodyPr wrap="square" lIns="0" tIns="0" rIns="0" bIns="0" rtlCol="0" anchor="t"/>
          <a:lstStyle/>
          <a:p>
            <a:pPr marL="0" indent="0" algn="ctr">
              <a:lnSpc>
                <a:spcPct val="90000"/>
              </a:lnSpc>
              <a:buNone/>
            </a:pPr>
            <a:r>
              <a:rPr lang="en-US" sz="630" dirty="0">
                <a:solidFill>
                  <a:srgbClr val="8A2732"/>
                </a:solidFill>
                <a:latin typeface="Lora" pitchFamily="34" charset="0"/>
                <a:ea typeface="Lora" pitchFamily="34" charset="-122"/>
                <a:cs typeface="Lora" pitchFamily="34" charset="-120"/>
              </a:rPr>
              <a:t>classify the ask — browse · fit · service · loyalty</a:t>
            </a:r>
            <a:endParaRPr lang="en-US" sz="630" dirty="0"/>
          </a:p>
        </p:txBody>
      </p:sp>
      <p:sp>
        <p:nvSpPr>
          <p:cNvPr id="24" name="Shape 22"/>
          <p:cNvSpPr/>
          <p:nvPr/>
        </p:nvSpPr>
        <p:spPr>
          <a:xfrm>
            <a:off x="4672584" y="1554480"/>
            <a:ext cx="3447288" cy="329184"/>
          </a:xfrm>
          <a:prstGeom prst="roundRect">
            <a:avLst>
              <a:gd name="adj" fmla="val 11111"/>
            </a:avLst>
          </a:prstGeom>
          <a:solidFill>
            <a:srgbClr val="FDFDFD"/>
          </a:solidFill>
          <a:ln w="9525">
            <a:solidFill>
              <a:srgbClr val="E24B4A"/>
            </a:solidFill>
            <a:prstDash val="solid"/>
          </a:ln>
        </p:spPr>
        <p:txBody>
          <a:bodyPr/>
          <a:lstStyle/>
          <a:p>
            <a:endParaRPr lang="en-US"/>
          </a:p>
        </p:txBody>
      </p:sp>
      <p:sp>
        <p:nvSpPr>
          <p:cNvPr id="25" name="Text 23"/>
          <p:cNvSpPr/>
          <p:nvPr/>
        </p:nvSpPr>
        <p:spPr>
          <a:xfrm>
            <a:off x="4709160" y="1600200"/>
            <a:ext cx="3374136" cy="182880"/>
          </a:xfrm>
          <a:prstGeom prst="rect">
            <a:avLst/>
          </a:prstGeom>
          <a:noFill/>
          <a:ln/>
        </p:spPr>
        <p:txBody>
          <a:bodyPr wrap="square" lIns="0" tIns="0" rIns="0" bIns="0" rtlCol="0" anchor="t"/>
          <a:lstStyle/>
          <a:p>
            <a:pPr marL="0" indent="0" algn="ctr">
              <a:lnSpc>
                <a:spcPct val="90000"/>
              </a:lnSpc>
              <a:buNone/>
            </a:pPr>
            <a:r>
              <a:rPr lang="en-US" sz="800" b="1" dirty="0">
                <a:solidFill>
                  <a:srgbClr val="E31837"/>
                </a:solidFill>
                <a:latin typeface="Montserrat" pitchFamily="34" charset="0"/>
                <a:ea typeface="Montserrat" pitchFamily="34" charset="-122"/>
                <a:cs typeface="Montserrat" pitchFamily="34" charset="-120"/>
              </a:rPr>
              <a:t>Event triggers</a:t>
            </a:r>
            <a:endParaRPr lang="en-US" sz="800" dirty="0"/>
          </a:p>
        </p:txBody>
      </p:sp>
      <p:sp>
        <p:nvSpPr>
          <p:cNvPr id="26" name="Text 24"/>
          <p:cNvSpPr/>
          <p:nvPr/>
        </p:nvSpPr>
        <p:spPr>
          <a:xfrm>
            <a:off x="4709160" y="1773936"/>
            <a:ext cx="3374136" cy="91440"/>
          </a:xfrm>
          <a:prstGeom prst="rect">
            <a:avLst/>
          </a:prstGeom>
          <a:noFill/>
          <a:ln/>
        </p:spPr>
        <p:txBody>
          <a:bodyPr wrap="square" lIns="0" tIns="0" rIns="0" bIns="0" rtlCol="0" anchor="t"/>
          <a:lstStyle/>
          <a:p>
            <a:pPr marL="0" indent="0" algn="ctr">
              <a:lnSpc>
                <a:spcPct val="90000"/>
              </a:lnSpc>
              <a:buNone/>
            </a:pPr>
            <a:r>
              <a:rPr lang="en-US" sz="630" dirty="0">
                <a:solidFill>
                  <a:srgbClr val="8A2732"/>
                </a:solidFill>
                <a:latin typeface="Lora" pitchFamily="34" charset="0"/>
                <a:ea typeface="Lora" pitchFamily="34" charset="-122"/>
                <a:cs typeface="Lora" pitchFamily="34" charset="-120"/>
              </a:rPr>
              <a:t>cart · return · tier change · session start</a:t>
            </a:r>
            <a:endParaRPr lang="en-US" sz="630" dirty="0"/>
          </a:p>
        </p:txBody>
      </p:sp>
      <p:sp>
        <p:nvSpPr>
          <p:cNvPr id="27" name="Shape 25"/>
          <p:cNvSpPr/>
          <p:nvPr/>
        </p:nvSpPr>
        <p:spPr>
          <a:xfrm>
            <a:off x="8247888" y="1554480"/>
            <a:ext cx="3447288" cy="329184"/>
          </a:xfrm>
          <a:prstGeom prst="roundRect">
            <a:avLst>
              <a:gd name="adj" fmla="val 11111"/>
            </a:avLst>
          </a:prstGeom>
          <a:solidFill>
            <a:srgbClr val="FDFDFD"/>
          </a:solidFill>
          <a:ln w="9525">
            <a:solidFill>
              <a:srgbClr val="E24B4A"/>
            </a:solidFill>
            <a:prstDash val="solid"/>
          </a:ln>
        </p:spPr>
        <p:txBody>
          <a:bodyPr/>
          <a:lstStyle/>
          <a:p>
            <a:endParaRPr lang="en-US"/>
          </a:p>
        </p:txBody>
      </p:sp>
      <p:sp>
        <p:nvSpPr>
          <p:cNvPr id="28" name="Text 26"/>
          <p:cNvSpPr/>
          <p:nvPr/>
        </p:nvSpPr>
        <p:spPr>
          <a:xfrm>
            <a:off x="8284464" y="1600200"/>
            <a:ext cx="3374136" cy="182880"/>
          </a:xfrm>
          <a:prstGeom prst="rect">
            <a:avLst/>
          </a:prstGeom>
          <a:noFill/>
          <a:ln/>
        </p:spPr>
        <p:txBody>
          <a:bodyPr wrap="square" lIns="0" tIns="0" rIns="0" bIns="0" rtlCol="0" anchor="t"/>
          <a:lstStyle/>
          <a:p>
            <a:pPr marL="0" indent="0" algn="ctr">
              <a:lnSpc>
                <a:spcPct val="90000"/>
              </a:lnSpc>
              <a:buNone/>
            </a:pPr>
            <a:r>
              <a:rPr lang="en-US" sz="800" b="1" dirty="0">
                <a:solidFill>
                  <a:srgbClr val="E31837"/>
                </a:solidFill>
                <a:latin typeface="Montserrat" pitchFamily="34" charset="0"/>
                <a:ea typeface="Montserrat" pitchFamily="34" charset="-122"/>
                <a:cs typeface="Montserrat" pitchFamily="34" charset="-120"/>
              </a:rPr>
              <a:t>Context assembly</a:t>
            </a:r>
            <a:endParaRPr lang="en-US" sz="800" dirty="0"/>
          </a:p>
        </p:txBody>
      </p:sp>
      <p:sp>
        <p:nvSpPr>
          <p:cNvPr id="29" name="Text 27"/>
          <p:cNvSpPr/>
          <p:nvPr/>
        </p:nvSpPr>
        <p:spPr>
          <a:xfrm>
            <a:off x="8284464" y="1773936"/>
            <a:ext cx="3374136" cy="91440"/>
          </a:xfrm>
          <a:prstGeom prst="rect">
            <a:avLst/>
          </a:prstGeom>
          <a:noFill/>
          <a:ln/>
        </p:spPr>
        <p:txBody>
          <a:bodyPr wrap="square" lIns="0" tIns="0" rIns="0" bIns="0" rtlCol="0" anchor="t"/>
          <a:lstStyle/>
          <a:p>
            <a:pPr marL="0" indent="0" algn="ctr">
              <a:lnSpc>
                <a:spcPct val="90000"/>
              </a:lnSpc>
              <a:buNone/>
            </a:pPr>
            <a:r>
              <a:rPr lang="en-US" sz="630" dirty="0">
                <a:solidFill>
                  <a:srgbClr val="8A2732"/>
                </a:solidFill>
                <a:latin typeface="Lora" pitchFamily="34" charset="0"/>
                <a:ea typeface="Lora" pitchFamily="34" charset="-122"/>
                <a:cs typeface="Lora" pitchFamily="34" charset="-120"/>
              </a:rPr>
              <a:t>load identity, segment &amp; session state</a:t>
            </a:r>
            <a:endParaRPr lang="en-US" sz="630" dirty="0"/>
          </a:p>
        </p:txBody>
      </p:sp>
      <p:sp>
        <p:nvSpPr>
          <p:cNvPr id="30" name="Shape 28"/>
          <p:cNvSpPr/>
          <p:nvPr/>
        </p:nvSpPr>
        <p:spPr>
          <a:xfrm>
            <a:off x="1723696" y="2048256"/>
            <a:ext cx="9371023" cy="658368"/>
          </a:xfrm>
          <a:prstGeom prst="roundRect">
            <a:avLst>
              <a:gd name="adj" fmla="val 6944"/>
            </a:avLst>
          </a:prstGeom>
          <a:solidFill>
            <a:srgbClr val="22262A"/>
          </a:solidFill>
          <a:ln/>
        </p:spPr>
        <p:txBody>
          <a:bodyPr/>
          <a:lstStyle/>
          <a:p>
            <a:endParaRPr lang="en-US"/>
          </a:p>
        </p:txBody>
      </p:sp>
      <p:sp>
        <p:nvSpPr>
          <p:cNvPr id="31" name="Text 29"/>
          <p:cNvSpPr/>
          <p:nvPr/>
        </p:nvSpPr>
        <p:spPr>
          <a:xfrm>
            <a:off x="1888236" y="2107692"/>
            <a:ext cx="4572000" cy="182880"/>
          </a:xfrm>
          <a:prstGeom prst="rect">
            <a:avLst/>
          </a:prstGeom>
          <a:noFill/>
          <a:ln/>
        </p:spPr>
        <p:txBody>
          <a:bodyPr wrap="square" lIns="0" tIns="0" rIns="0" bIns="0" rtlCol="0" anchor="ctr"/>
          <a:lstStyle/>
          <a:p>
            <a:pPr marL="0" indent="0">
              <a:buNone/>
            </a:pPr>
            <a:r>
              <a:rPr lang="en-US" sz="900" b="1" kern="0" spc="50" dirty="0">
                <a:solidFill>
                  <a:srgbClr val="FDFDFD"/>
                </a:solidFill>
                <a:latin typeface="Montserrat" pitchFamily="34" charset="0"/>
                <a:ea typeface="Montserrat" pitchFamily="34" charset="-122"/>
                <a:cs typeface="Montserrat" pitchFamily="34" charset="-120"/>
              </a:rPr>
              <a:t>ORCHESTRATION</a:t>
            </a:r>
            <a:endParaRPr lang="en-US" sz="900" dirty="0"/>
          </a:p>
        </p:txBody>
      </p:sp>
      <p:sp>
        <p:nvSpPr>
          <p:cNvPr id="32" name="Text 30"/>
          <p:cNvSpPr/>
          <p:nvPr/>
        </p:nvSpPr>
        <p:spPr>
          <a:xfrm>
            <a:off x="1888236" y="2299716"/>
            <a:ext cx="2286000" cy="365760"/>
          </a:xfrm>
          <a:prstGeom prst="rect">
            <a:avLst/>
          </a:prstGeom>
          <a:noFill/>
          <a:ln/>
        </p:spPr>
        <p:txBody>
          <a:bodyPr wrap="square" lIns="0" tIns="0" rIns="0" bIns="0" rtlCol="0" anchor="ctr"/>
          <a:lstStyle/>
          <a:p>
            <a:pPr marL="0" indent="0">
              <a:buNone/>
            </a:pPr>
            <a:r>
              <a:rPr lang="en-US" sz="1100" b="1" dirty="0">
                <a:solidFill>
                  <a:srgbClr val="FDFDFD"/>
                </a:solidFill>
                <a:latin typeface="Montserrat" pitchFamily="34" charset="0"/>
                <a:ea typeface="Montserrat" pitchFamily="34" charset="-122"/>
                <a:cs typeface="Montserrat" pitchFamily="34" charset="-120"/>
              </a:rPr>
              <a:t>LEAD ORCHESTRATOR</a:t>
            </a:r>
            <a:endParaRPr lang="en-US" sz="1100" dirty="0"/>
          </a:p>
        </p:txBody>
      </p:sp>
      <p:sp>
        <p:nvSpPr>
          <p:cNvPr id="33" name="Shape 31"/>
          <p:cNvSpPr/>
          <p:nvPr/>
        </p:nvSpPr>
        <p:spPr>
          <a:xfrm>
            <a:off x="3621024" y="2231136"/>
            <a:ext cx="1691640" cy="384048"/>
          </a:xfrm>
          <a:prstGeom prst="roundRect">
            <a:avLst>
              <a:gd name="adj" fmla="val 9524"/>
            </a:avLst>
          </a:prstGeom>
          <a:solidFill>
            <a:srgbClr val="333A40"/>
          </a:solidFill>
          <a:ln/>
        </p:spPr>
        <p:txBody>
          <a:bodyPr/>
          <a:lstStyle/>
          <a:p>
            <a:endParaRPr lang="en-US"/>
          </a:p>
        </p:txBody>
      </p:sp>
      <p:sp>
        <p:nvSpPr>
          <p:cNvPr id="34" name="Text 32"/>
          <p:cNvSpPr/>
          <p:nvPr/>
        </p:nvSpPr>
        <p:spPr>
          <a:xfrm>
            <a:off x="3657600" y="2267712"/>
            <a:ext cx="1618488" cy="164592"/>
          </a:xfrm>
          <a:prstGeom prst="rect">
            <a:avLst/>
          </a:prstGeom>
          <a:noFill/>
          <a:ln/>
        </p:spPr>
        <p:txBody>
          <a:bodyPr wrap="square" lIns="0" tIns="0" rIns="0" bIns="0" rtlCol="0" anchor="ctr"/>
          <a:lstStyle/>
          <a:p>
            <a:pPr marL="0" indent="0" algn="ctr">
              <a:buNone/>
            </a:pPr>
            <a:r>
              <a:rPr lang="en-US" sz="850" b="1" dirty="0">
                <a:solidFill>
                  <a:srgbClr val="FF4D4D"/>
                </a:solidFill>
                <a:latin typeface="Montserrat" pitchFamily="34" charset="0"/>
                <a:ea typeface="Montserrat" pitchFamily="34" charset="-122"/>
                <a:cs typeface="Montserrat" pitchFamily="34" charset="-120"/>
              </a:rPr>
              <a:t>Route</a:t>
            </a:r>
            <a:endParaRPr lang="en-US" sz="850" dirty="0"/>
          </a:p>
        </p:txBody>
      </p:sp>
      <p:sp>
        <p:nvSpPr>
          <p:cNvPr id="35" name="Text 33"/>
          <p:cNvSpPr/>
          <p:nvPr/>
        </p:nvSpPr>
        <p:spPr>
          <a:xfrm>
            <a:off x="3657600" y="2432304"/>
            <a:ext cx="1618488" cy="164592"/>
          </a:xfrm>
          <a:prstGeom prst="rect">
            <a:avLst/>
          </a:prstGeom>
          <a:noFill/>
          <a:ln/>
        </p:spPr>
        <p:txBody>
          <a:bodyPr wrap="square" lIns="0" tIns="0" rIns="0" bIns="0" rtlCol="0" anchor="ctr"/>
          <a:lstStyle/>
          <a:p>
            <a:pPr marL="0" indent="0" algn="ctr">
              <a:buNone/>
            </a:pPr>
            <a:r>
              <a:rPr lang="en-US" sz="630" dirty="0">
                <a:solidFill>
                  <a:srgbClr val="C9C9C7"/>
                </a:solidFill>
                <a:latin typeface="Lora" pitchFamily="34" charset="0"/>
                <a:ea typeface="Lora" pitchFamily="34" charset="-122"/>
                <a:cs typeface="Lora" pitchFamily="34" charset="-120"/>
              </a:rPr>
              <a:t>to the right agent(s)</a:t>
            </a:r>
            <a:endParaRPr lang="en-US" sz="630" dirty="0"/>
          </a:p>
        </p:txBody>
      </p:sp>
      <p:sp>
        <p:nvSpPr>
          <p:cNvPr id="36" name="Shape 34"/>
          <p:cNvSpPr/>
          <p:nvPr/>
        </p:nvSpPr>
        <p:spPr>
          <a:xfrm>
            <a:off x="5422392" y="2231136"/>
            <a:ext cx="1691640" cy="384048"/>
          </a:xfrm>
          <a:prstGeom prst="roundRect">
            <a:avLst>
              <a:gd name="adj" fmla="val 9524"/>
            </a:avLst>
          </a:prstGeom>
          <a:solidFill>
            <a:srgbClr val="333A40"/>
          </a:solidFill>
          <a:ln/>
        </p:spPr>
        <p:txBody>
          <a:bodyPr/>
          <a:lstStyle/>
          <a:p>
            <a:endParaRPr lang="en-US"/>
          </a:p>
        </p:txBody>
      </p:sp>
      <p:sp>
        <p:nvSpPr>
          <p:cNvPr id="37" name="Text 35"/>
          <p:cNvSpPr/>
          <p:nvPr/>
        </p:nvSpPr>
        <p:spPr>
          <a:xfrm>
            <a:off x="5458968" y="2267712"/>
            <a:ext cx="1618488" cy="164592"/>
          </a:xfrm>
          <a:prstGeom prst="rect">
            <a:avLst/>
          </a:prstGeom>
          <a:noFill/>
          <a:ln/>
        </p:spPr>
        <p:txBody>
          <a:bodyPr wrap="square" lIns="0" tIns="0" rIns="0" bIns="0" rtlCol="0" anchor="ctr"/>
          <a:lstStyle/>
          <a:p>
            <a:pPr marL="0" indent="0" algn="ctr">
              <a:buNone/>
            </a:pPr>
            <a:r>
              <a:rPr lang="en-US" sz="850" b="1" dirty="0">
                <a:solidFill>
                  <a:srgbClr val="FF4D4D"/>
                </a:solidFill>
                <a:latin typeface="Montserrat" pitchFamily="34" charset="0"/>
                <a:ea typeface="Montserrat" pitchFamily="34" charset="-122"/>
                <a:cs typeface="Montserrat" pitchFamily="34" charset="-120"/>
              </a:rPr>
              <a:t>Decompose</a:t>
            </a:r>
            <a:endParaRPr lang="en-US" sz="850" dirty="0"/>
          </a:p>
        </p:txBody>
      </p:sp>
      <p:sp>
        <p:nvSpPr>
          <p:cNvPr id="38" name="Text 36"/>
          <p:cNvSpPr/>
          <p:nvPr/>
        </p:nvSpPr>
        <p:spPr>
          <a:xfrm>
            <a:off x="5458968" y="2432304"/>
            <a:ext cx="1618488" cy="164592"/>
          </a:xfrm>
          <a:prstGeom prst="rect">
            <a:avLst/>
          </a:prstGeom>
          <a:noFill/>
          <a:ln/>
        </p:spPr>
        <p:txBody>
          <a:bodyPr wrap="square" lIns="0" tIns="0" rIns="0" bIns="0" rtlCol="0" anchor="ctr"/>
          <a:lstStyle/>
          <a:p>
            <a:pPr marL="0" indent="0" algn="ctr">
              <a:buNone/>
            </a:pPr>
            <a:r>
              <a:rPr lang="en-US" sz="630" dirty="0">
                <a:solidFill>
                  <a:srgbClr val="C9C9C7"/>
                </a:solidFill>
                <a:latin typeface="Lora" pitchFamily="34" charset="0"/>
                <a:ea typeface="Lora" pitchFamily="34" charset="-122"/>
                <a:cs typeface="Lora" pitchFamily="34" charset="-120"/>
              </a:rPr>
              <a:t>multi-agent requests</a:t>
            </a:r>
            <a:endParaRPr lang="en-US" sz="630" dirty="0"/>
          </a:p>
        </p:txBody>
      </p:sp>
      <p:sp>
        <p:nvSpPr>
          <p:cNvPr id="39" name="Shape 37"/>
          <p:cNvSpPr/>
          <p:nvPr/>
        </p:nvSpPr>
        <p:spPr>
          <a:xfrm>
            <a:off x="7223760" y="2231136"/>
            <a:ext cx="1691640" cy="384048"/>
          </a:xfrm>
          <a:prstGeom prst="roundRect">
            <a:avLst>
              <a:gd name="adj" fmla="val 9524"/>
            </a:avLst>
          </a:prstGeom>
          <a:solidFill>
            <a:srgbClr val="333A40"/>
          </a:solidFill>
          <a:ln/>
        </p:spPr>
        <p:txBody>
          <a:bodyPr/>
          <a:lstStyle/>
          <a:p>
            <a:endParaRPr lang="en-US"/>
          </a:p>
        </p:txBody>
      </p:sp>
      <p:sp>
        <p:nvSpPr>
          <p:cNvPr id="40" name="Text 38"/>
          <p:cNvSpPr/>
          <p:nvPr/>
        </p:nvSpPr>
        <p:spPr>
          <a:xfrm>
            <a:off x="7260336" y="2267712"/>
            <a:ext cx="1618488" cy="164592"/>
          </a:xfrm>
          <a:prstGeom prst="rect">
            <a:avLst/>
          </a:prstGeom>
          <a:noFill/>
          <a:ln/>
        </p:spPr>
        <p:txBody>
          <a:bodyPr wrap="square" lIns="0" tIns="0" rIns="0" bIns="0" rtlCol="0" anchor="ctr"/>
          <a:lstStyle/>
          <a:p>
            <a:pPr marL="0" indent="0" algn="ctr">
              <a:buNone/>
            </a:pPr>
            <a:r>
              <a:rPr lang="en-US" sz="850" b="1" dirty="0">
                <a:solidFill>
                  <a:srgbClr val="FF4D4D"/>
                </a:solidFill>
                <a:latin typeface="Montserrat" pitchFamily="34" charset="0"/>
                <a:ea typeface="Montserrat" pitchFamily="34" charset="-122"/>
                <a:cs typeface="Montserrat" pitchFamily="34" charset="-120"/>
              </a:rPr>
              <a:t>Arbitrate</a:t>
            </a:r>
            <a:endParaRPr lang="en-US" sz="850" dirty="0"/>
          </a:p>
        </p:txBody>
      </p:sp>
      <p:sp>
        <p:nvSpPr>
          <p:cNvPr id="41" name="Text 39"/>
          <p:cNvSpPr/>
          <p:nvPr/>
        </p:nvSpPr>
        <p:spPr>
          <a:xfrm>
            <a:off x="7260336" y="2432304"/>
            <a:ext cx="1618488" cy="164592"/>
          </a:xfrm>
          <a:prstGeom prst="rect">
            <a:avLst/>
          </a:prstGeom>
          <a:noFill/>
          <a:ln/>
        </p:spPr>
        <p:txBody>
          <a:bodyPr wrap="square" lIns="0" tIns="0" rIns="0" bIns="0" rtlCol="0" anchor="ctr"/>
          <a:lstStyle/>
          <a:p>
            <a:pPr marL="0" indent="0" algn="ctr">
              <a:buNone/>
            </a:pPr>
            <a:r>
              <a:rPr lang="en-US" sz="630" dirty="0">
                <a:solidFill>
                  <a:srgbClr val="C9C9C7"/>
                </a:solidFill>
                <a:latin typeface="Lora" pitchFamily="34" charset="0"/>
                <a:ea typeface="Lora" pitchFamily="34" charset="-122"/>
                <a:cs typeface="Lora" pitchFamily="34" charset="-120"/>
              </a:rPr>
              <a:t>conflicting goals</a:t>
            </a:r>
            <a:endParaRPr lang="en-US" sz="630" dirty="0"/>
          </a:p>
        </p:txBody>
      </p:sp>
      <p:sp>
        <p:nvSpPr>
          <p:cNvPr id="42" name="Shape 40"/>
          <p:cNvSpPr/>
          <p:nvPr/>
        </p:nvSpPr>
        <p:spPr>
          <a:xfrm>
            <a:off x="9025128" y="2231136"/>
            <a:ext cx="1691640" cy="384048"/>
          </a:xfrm>
          <a:prstGeom prst="roundRect">
            <a:avLst>
              <a:gd name="adj" fmla="val 9524"/>
            </a:avLst>
          </a:prstGeom>
          <a:solidFill>
            <a:srgbClr val="333A40"/>
          </a:solidFill>
          <a:ln/>
        </p:spPr>
        <p:txBody>
          <a:bodyPr/>
          <a:lstStyle/>
          <a:p>
            <a:endParaRPr lang="en-US"/>
          </a:p>
        </p:txBody>
      </p:sp>
      <p:sp>
        <p:nvSpPr>
          <p:cNvPr id="43" name="Text 41"/>
          <p:cNvSpPr/>
          <p:nvPr/>
        </p:nvSpPr>
        <p:spPr>
          <a:xfrm>
            <a:off x="9061704" y="2267712"/>
            <a:ext cx="1618488" cy="164592"/>
          </a:xfrm>
          <a:prstGeom prst="rect">
            <a:avLst/>
          </a:prstGeom>
          <a:noFill/>
          <a:ln/>
        </p:spPr>
        <p:txBody>
          <a:bodyPr wrap="square" lIns="0" tIns="0" rIns="0" bIns="0" rtlCol="0" anchor="ctr"/>
          <a:lstStyle/>
          <a:p>
            <a:pPr marL="0" indent="0" algn="ctr">
              <a:buNone/>
            </a:pPr>
            <a:r>
              <a:rPr lang="en-US" sz="850" b="1" dirty="0">
                <a:solidFill>
                  <a:srgbClr val="FF4D4D"/>
                </a:solidFill>
                <a:latin typeface="Montserrat" pitchFamily="34" charset="0"/>
                <a:ea typeface="Montserrat" pitchFamily="34" charset="-122"/>
                <a:cs typeface="Montserrat" pitchFamily="34" charset="-120"/>
              </a:rPr>
              <a:t>Hold context</a:t>
            </a:r>
            <a:endParaRPr lang="en-US" sz="850" dirty="0"/>
          </a:p>
        </p:txBody>
      </p:sp>
      <p:sp>
        <p:nvSpPr>
          <p:cNvPr id="44" name="Text 42"/>
          <p:cNvSpPr/>
          <p:nvPr/>
        </p:nvSpPr>
        <p:spPr>
          <a:xfrm>
            <a:off x="9061704" y="2432304"/>
            <a:ext cx="1618488" cy="164592"/>
          </a:xfrm>
          <a:prstGeom prst="rect">
            <a:avLst/>
          </a:prstGeom>
          <a:noFill/>
          <a:ln/>
        </p:spPr>
        <p:txBody>
          <a:bodyPr wrap="square" lIns="0" tIns="0" rIns="0" bIns="0" rtlCol="0" anchor="ctr"/>
          <a:lstStyle/>
          <a:p>
            <a:pPr marL="0" indent="0" algn="ctr">
              <a:buNone/>
            </a:pPr>
            <a:r>
              <a:rPr lang="en-US" sz="630" dirty="0">
                <a:solidFill>
                  <a:srgbClr val="C9C9C7"/>
                </a:solidFill>
                <a:latin typeface="Lora" pitchFamily="34" charset="0"/>
                <a:ea typeface="Lora" pitchFamily="34" charset="-122"/>
                <a:cs typeface="Lora" pitchFamily="34" charset="-120"/>
              </a:rPr>
              <a:t>across the journey</a:t>
            </a:r>
            <a:endParaRPr lang="en-US" sz="630" dirty="0"/>
          </a:p>
        </p:txBody>
      </p:sp>
      <p:sp>
        <p:nvSpPr>
          <p:cNvPr id="45" name="Shape 43"/>
          <p:cNvSpPr/>
          <p:nvPr/>
        </p:nvSpPr>
        <p:spPr>
          <a:xfrm>
            <a:off x="969264" y="2816352"/>
            <a:ext cx="10853928" cy="1280160"/>
          </a:xfrm>
          <a:prstGeom prst="roundRect">
            <a:avLst>
              <a:gd name="adj" fmla="val 3571"/>
            </a:avLst>
          </a:prstGeom>
          <a:solidFill>
            <a:srgbClr val="FDFDFD"/>
          </a:solidFill>
          <a:ln w="9525">
            <a:solidFill>
              <a:srgbClr val="E2E0D9"/>
            </a:solidFill>
            <a:prstDash val="solid"/>
          </a:ln>
        </p:spPr>
        <p:txBody>
          <a:bodyPr/>
          <a:lstStyle/>
          <a:p>
            <a:endParaRPr lang="en-US"/>
          </a:p>
        </p:txBody>
      </p:sp>
      <p:sp>
        <p:nvSpPr>
          <p:cNvPr id="46" name="Text 44"/>
          <p:cNvSpPr/>
          <p:nvPr/>
        </p:nvSpPr>
        <p:spPr>
          <a:xfrm>
            <a:off x="1097280" y="2852928"/>
            <a:ext cx="4572000" cy="182880"/>
          </a:xfrm>
          <a:prstGeom prst="rect">
            <a:avLst/>
          </a:prstGeom>
          <a:noFill/>
          <a:ln/>
        </p:spPr>
        <p:txBody>
          <a:bodyPr wrap="square" lIns="0" tIns="0" rIns="0" bIns="0" rtlCol="0" anchor="ctr"/>
          <a:lstStyle/>
          <a:p>
            <a:pPr marL="0" indent="0">
              <a:buNone/>
            </a:pPr>
            <a:r>
              <a:rPr lang="en-US" sz="900" b="1" kern="0" spc="50" dirty="0">
                <a:solidFill>
                  <a:srgbClr val="333333"/>
                </a:solidFill>
                <a:latin typeface="Montserrat" pitchFamily="34" charset="0"/>
                <a:ea typeface="Montserrat" pitchFamily="34" charset="-122"/>
                <a:cs typeface="Montserrat" pitchFamily="34" charset="-120"/>
              </a:rPr>
              <a:t>AGENT MESH — the Personalisation Assistant</a:t>
            </a:r>
            <a:endParaRPr lang="en-US" sz="900" dirty="0"/>
          </a:p>
        </p:txBody>
      </p:sp>
      <p:sp>
        <p:nvSpPr>
          <p:cNvPr id="47" name="Shape 45"/>
          <p:cNvSpPr/>
          <p:nvPr/>
        </p:nvSpPr>
        <p:spPr>
          <a:xfrm>
            <a:off x="1097280" y="3035808"/>
            <a:ext cx="2017166" cy="402336"/>
          </a:xfrm>
          <a:prstGeom prst="roundRect">
            <a:avLst>
              <a:gd name="adj" fmla="val 9091"/>
            </a:avLst>
          </a:prstGeom>
          <a:solidFill>
            <a:srgbClr val="FCEBEB"/>
          </a:solidFill>
          <a:ln w="9525">
            <a:solidFill>
              <a:srgbClr val="E24B4A"/>
            </a:solidFill>
            <a:prstDash val="solid"/>
          </a:ln>
        </p:spPr>
        <p:txBody>
          <a:bodyPr/>
          <a:lstStyle/>
          <a:p>
            <a:endParaRPr lang="en-US"/>
          </a:p>
        </p:txBody>
      </p:sp>
      <p:sp>
        <p:nvSpPr>
          <p:cNvPr id="48" name="Text 46"/>
          <p:cNvSpPr/>
          <p:nvPr/>
        </p:nvSpPr>
        <p:spPr>
          <a:xfrm>
            <a:off x="1133856" y="3081528"/>
            <a:ext cx="1944014" cy="182880"/>
          </a:xfrm>
          <a:prstGeom prst="rect">
            <a:avLst/>
          </a:prstGeom>
          <a:noFill/>
          <a:ln/>
        </p:spPr>
        <p:txBody>
          <a:bodyPr wrap="square" lIns="0" tIns="0" rIns="0" bIns="0" rtlCol="0" anchor="t"/>
          <a:lstStyle/>
          <a:p>
            <a:pPr marL="0" indent="0" algn="ctr">
              <a:lnSpc>
                <a:spcPct val="90000"/>
              </a:lnSpc>
              <a:buNone/>
            </a:pPr>
            <a:r>
              <a:rPr lang="en-US" sz="900" b="1" dirty="0">
                <a:solidFill>
                  <a:srgbClr val="E31837"/>
                </a:solidFill>
                <a:latin typeface="Montserrat" pitchFamily="34" charset="0"/>
                <a:ea typeface="Montserrat" pitchFamily="34" charset="-122"/>
                <a:cs typeface="Montserrat" pitchFamily="34" charset="-120"/>
              </a:rPr>
              <a:t>PERSONA</a:t>
            </a:r>
            <a:endParaRPr lang="en-US" sz="900" dirty="0"/>
          </a:p>
        </p:txBody>
      </p:sp>
      <p:sp>
        <p:nvSpPr>
          <p:cNvPr id="49" name="Text 47"/>
          <p:cNvSpPr/>
          <p:nvPr/>
        </p:nvSpPr>
        <p:spPr>
          <a:xfrm>
            <a:off x="1133856" y="3255264"/>
            <a:ext cx="1944014" cy="164592"/>
          </a:xfrm>
          <a:prstGeom prst="rect">
            <a:avLst/>
          </a:prstGeom>
          <a:noFill/>
          <a:ln/>
        </p:spPr>
        <p:txBody>
          <a:bodyPr wrap="square" lIns="0" tIns="0" rIns="0" bIns="0" rtlCol="0" anchor="t"/>
          <a:lstStyle/>
          <a:p>
            <a:pPr marL="0" indent="0" algn="ctr">
              <a:lnSpc>
                <a:spcPct val="90000"/>
              </a:lnSpc>
              <a:buNone/>
            </a:pPr>
            <a:r>
              <a:rPr lang="en-US" sz="630" dirty="0">
                <a:solidFill>
                  <a:srgbClr val="8A2732"/>
                </a:solidFill>
                <a:latin typeface="Lora" pitchFamily="34" charset="0"/>
                <a:ea typeface="Lora" pitchFamily="34" charset="-122"/>
                <a:cs typeface="Lora" pitchFamily="34" charset="-120"/>
              </a:rPr>
              <a:t>profiling</a:t>
            </a:r>
            <a:endParaRPr lang="en-US" sz="630" dirty="0"/>
          </a:p>
        </p:txBody>
      </p:sp>
      <p:sp>
        <p:nvSpPr>
          <p:cNvPr id="50" name="Shape 48"/>
          <p:cNvSpPr/>
          <p:nvPr/>
        </p:nvSpPr>
        <p:spPr>
          <a:xfrm>
            <a:off x="3242462" y="3035808"/>
            <a:ext cx="2017166" cy="402336"/>
          </a:xfrm>
          <a:prstGeom prst="roundRect">
            <a:avLst>
              <a:gd name="adj" fmla="val 9091"/>
            </a:avLst>
          </a:prstGeom>
          <a:solidFill>
            <a:srgbClr val="F5F4F1"/>
          </a:solidFill>
          <a:ln w="9525">
            <a:solidFill>
              <a:srgbClr val="A0A5AB"/>
            </a:solidFill>
            <a:prstDash val="solid"/>
          </a:ln>
        </p:spPr>
        <p:txBody>
          <a:bodyPr/>
          <a:lstStyle/>
          <a:p>
            <a:endParaRPr lang="en-US"/>
          </a:p>
        </p:txBody>
      </p:sp>
      <p:sp>
        <p:nvSpPr>
          <p:cNvPr id="51" name="Text 49"/>
          <p:cNvSpPr/>
          <p:nvPr/>
        </p:nvSpPr>
        <p:spPr>
          <a:xfrm>
            <a:off x="3279038" y="3081528"/>
            <a:ext cx="1944014" cy="182880"/>
          </a:xfrm>
          <a:prstGeom prst="rect">
            <a:avLst/>
          </a:prstGeom>
          <a:noFill/>
          <a:ln/>
        </p:spPr>
        <p:txBody>
          <a:bodyPr wrap="square" lIns="0" tIns="0" rIns="0" bIns="0" rtlCol="0" anchor="t"/>
          <a:lstStyle/>
          <a:p>
            <a:pPr marL="0" indent="0" algn="ctr">
              <a:lnSpc>
                <a:spcPct val="90000"/>
              </a:lnSpc>
              <a:buNone/>
            </a:pPr>
            <a:r>
              <a:rPr lang="en-US" sz="900" b="1" dirty="0">
                <a:solidFill>
                  <a:srgbClr val="333333"/>
                </a:solidFill>
                <a:latin typeface="Montserrat" pitchFamily="34" charset="0"/>
                <a:ea typeface="Montserrat" pitchFamily="34" charset="-122"/>
                <a:cs typeface="Montserrat" pitchFamily="34" charset="-120"/>
              </a:rPr>
              <a:t>MUSE</a:t>
            </a:r>
            <a:endParaRPr lang="en-US" sz="900" dirty="0"/>
          </a:p>
        </p:txBody>
      </p:sp>
      <p:sp>
        <p:nvSpPr>
          <p:cNvPr id="52" name="Text 50"/>
          <p:cNvSpPr/>
          <p:nvPr/>
        </p:nvSpPr>
        <p:spPr>
          <a:xfrm>
            <a:off x="3279038" y="3255264"/>
            <a:ext cx="1944014" cy="164592"/>
          </a:xfrm>
          <a:prstGeom prst="rect">
            <a:avLst/>
          </a:prstGeom>
          <a:noFill/>
          <a:ln/>
        </p:spPr>
        <p:txBody>
          <a:bodyPr wrap="square" lIns="0" tIns="0" rIns="0" bIns="0" rtlCol="0" anchor="t"/>
          <a:lstStyle/>
          <a:p>
            <a:pPr marL="0" indent="0" algn="ctr">
              <a:lnSpc>
                <a:spcPct val="90000"/>
              </a:lnSpc>
              <a:buNone/>
            </a:pPr>
            <a:r>
              <a:rPr lang="en-US" sz="630" dirty="0">
                <a:solidFill>
                  <a:srgbClr val="A0A5AB"/>
                </a:solidFill>
                <a:latin typeface="Lora" pitchFamily="34" charset="0"/>
                <a:ea typeface="Lora" pitchFamily="34" charset="-122"/>
                <a:cs typeface="Lora" pitchFamily="34" charset="-120"/>
              </a:rPr>
              <a:t>discovery</a:t>
            </a:r>
            <a:endParaRPr lang="en-US" sz="630" dirty="0"/>
          </a:p>
        </p:txBody>
      </p:sp>
      <p:sp>
        <p:nvSpPr>
          <p:cNvPr id="53" name="Shape 51"/>
          <p:cNvSpPr/>
          <p:nvPr/>
        </p:nvSpPr>
        <p:spPr>
          <a:xfrm>
            <a:off x="5387645" y="3035808"/>
            <a:ext cx="2017166" cy="402336"/>
          </a:xfrm>
          <a:prstGeom prst="roundRect">
            <a:avLst>
              <a:gd name="adj" fmla="val 9091"/>
            </a:avLst>
          </a:prstGeom>
          <a:solidFill>
            <a:srgbClr val="FCEBEB"/>
          </a:solidFill>
          <a:ln w="9525">
            <a:solidFill>
              <a:srgbClr val="E24B4A"/>
            </a:solidFill>
            <a:prstDash val="solid"/>
          </a:ln>
        </p:spPr>
        <p:txBody>
          <a:bodyPr/>
          <a:lstStyle/>
          <a:p>
            <a:endParaRPr lang="en-US"/>
          </a:p>
        </p:txBody>
      </p:sp>
      <p:sp>
        <p:nvSpPr>
          <p:cNvPr id="54" name="Text 52"/>
          <p:cNvSpPr/>
          <p:nvPr/>
        </p:nvSpPr>
        <p:spPr>
          <a:xfrm>
            <a:off x="5424221" y="3081528"/>
            <a:ext cx="1944014" cy="182880"/>
          </a:xfrm>
          <a:prstGeom prst="rect">
            <a:avLst/>
          </a:prstGeom>
          <a:noFill/>
          <a:ln/>
        </p:spPr>
        <p:txBody>
          <a:bodyPr wrap="square" lIns="0" tIns="0" rIns="0" bIns="0" rtlCol="0" anchor="t"/>
          <a:lstStyle/>
          <a:p>
            <a:pPr marL="0" indent="0" algn="ctr">
              <a:lnSpc>
                <a:spcPct val="90000"/>
              </a:lnSpc>
              <a:buNone/>
            </a:pPr>
            <a:r>
              <a:rPr lang="en-US" sz="900" b="1" dirty="0">
                <a:solidFill>
                  <a:srgbClr val="E31837"/>
                </a:solidFill>
                <a:latin typeface="Montserrat" pitchFamily="34" charset="0"/>
                <a:ea typeface="Montserrat" pitchFamily="34" charset="-122"/>
                <a:cs typeface="Montserrat" pitchFamily="34" charset="-120"/>
              </a:rPr>
              <a:t>TAILOR</a:t>
            </a:r>
            <a:endParaRPr lang="en-US" sz="900" dirty="0"/>
          </a:p>
        </p:txBody>
      </p:sp>
      <p:sp>
        <p:nvSpPr>
          <p:cNvPr id="55" name="Text 53"/>
          <p:cNvSpPr/>
          <p:nvPr/>
        </p:nvSpPr>
        <p:spPr>
          <a:xfrm>
            <a:off x="5424221" y="3255264"/>
            <a:ext cx="1944014" cy="164592"/>
          </a:xfrm>
          <a:prstGeom prst="rect">
            <a:avLst/>
          </a:prstGeom>
          <a:noFill/>
          <a:ln/>
        </p:spPr>
        <p:txBody>
          <a:bodyPr wrap="square" lIns="0" tIns="0" rIns="0" bIns="0" rtlCol="0" anchor="t"/>
          <a:lstStyle/>
          <a:p>
            <a:pPr marL="0" indent="0" algn="ctr">
              <a:lnSpc>
                <a:spcPct val="90000"/>
              </a:lnSpc>
              <a:buNone/>
            </a:pPr>
            <a:r>
              <a:rPr lang="en-US" sz="630" dirty="0">
                <a:solidFill>
                  <a:srgbClr val="8A2732"/>
                </a:solidFill>
                <a:latin typeface="Lora" pitchFamily="34" charset="0"/>
                <a:ea typeface="Lora" pitchFamily="34" charset="-122"/>
                <a:cs typeface="Lora" pitchFamily="34" charset="-120"/>
              </a:rPr>
              <a:t>size &amp; fit</a:t>
            </a:r>
            <a:endParaRPr lang="en-US" sz="630" dirty="0"/>
          </a:p>
        </p:txBody>
      </p:sp>
      <p:sp>
        <p:nvSpPr>
          <p:cNvPr id="56" name="Shape 54"/>
          <p:cNvSpPr/>
          <p:nvPr/>
        </p:nvSpPr>
        <p:spPr>
          <a:xfrm>
            <a:off x="7532827" y="3035808"/>
            <a:ext cx="2017166" cy="402336"/>
          </a:xfrm>
          <a:prstGeom prst="roundRect">
            <a:avLst>
              <a:gd name="adj" fmla="val 9091"/>
            </a:avLst>
          </a:prstGeom>
          <a:solidFill>
            <a:srgbClr val="FCEBEB"/>
          </a:solidFill>
          <a:ln w="9525">
            <a:solidFill>
              <a:srgbClr val="E24B4A"/>
            </a:solidFill>
            <a:prstDash val="solid"/>
          </a:ln>
        </p:spPr>
        <p:txBody>
          <a:bodyPr/>
          <a:lstStyle/>
          <a:p>
            <a:endParaRPr lang="en-US"/>
          </a:p>
        </p:txBody>
      </p:sp>
      <p:sp>
        <p:nvSpPr>
          <p:cNvPr id="57" name="Text 55"/>
          <p:cNvSpPr/>
          <p:nvPr/>
        </p:nvSpPr>
        <p:spPr>
          <a:xfrm>
            <a:off x="7569403" y="3081528"/>
            <a:ext cx="1944014" cy="182880"/>
          </a:xfrm>
          <a:prstGeom prst="rect">
            <a:avLst/>
          </a:prstGeom>
          <a:noFill/>
          <a:ln/>
        </p:spPr>
        <p:txBody>
          <a:bodyPr wrap="square" lIns="0" tIns="0" rIns="0" bIns="0" rtlCol="0" anchor="t"/>
          <a:lstStyle/>
          <a:p>
            <a:pPr marL="0" indent="0" algn="ctr">
              <a:lnSpc>
                <a:spcPct val="90000"/>
              </a:lnSpc>
              <a:buNone/>
            </a:pPr>
            <a:r>
              <a:rPr lang="en-US" sz="900" b="1" dirty="0">
                <a:solidFill>
                  <a:srgbClr val="E31837"/>
                </a:solidFill>
                <a:latin typeface="Montserrat" pitchFamily="34" charset="0"/>
                <a:ea typeface="Montserrat" pitchFamily="34" charset="-122"/>
                <a:cs typeface="Montserrat" pitchFamily="34" charset="-120"/>
              </a:rPr>
              <a:t>CONCIERGE</a:t>
            </a:r>
            <a:endParaRPr lang="en-US" sz="900" dirty="0"/>
          </a:p>
        </p:txBody>
      </p:sp>
      <p:sp>
        <p:nvSpPr>
          <p:cNvPr id="58" name="Text 56"/>
          <p:cNvSpPr/>
          <p:nvPr/>
        </p:nvSpPr>
        <p:spPr>
          <a:xfrm>
            <a:off x="7569403" y="3255264"/>
            <a:ext cx="1944014" cy="164592"/>
          </a:xfrm>
          <a:prstGeom prst="rect">
            <a:avLst/>
          </a:prstGeom>
          <a:noFill/>
          <a:ln/>
        </p:spPr>
        <p:txBody>
          <a:bodyPr wrap="square" lIns="0" tIns="0" rIns="0" bIns="0" rtlCol="0" anchor="t"/>
          <a:lstStyle/>
          <a:p>
            <a:pPr marL="0" indent="0" algn="ctr">
              <a:lnSpc>
                <a:spcPct val="90000"/>
              </a:lnSpc>
              <a:buNone/>
            </a:pPr>
            <a:r>
              <a:rPr lang="en-US" sz="630" dirty="0">
                <a:solidFill>
                  <a:srgbClr val="8A2732"/>
                </a:solidFill>
                <a:latin typeface="Lora" pitchFamily="34" charset="0"/>
                <a:ea typeface="Lora" pitchFamily="34" charset="-122"/>
                <a:cs typeface="Lora" pitchFamily="34" charset="-120"/>
              </a:rPr>
              <a:t>upsell</a:t>
            </a:r>
            <a:endParaRPr lang="en-US" sz="630" dirty="0"/>
          </a:p>
        </p:txBody>
      </p:sp>
      <p:sp>
        <p:nvSpPr>
          <p:cNvPr id="59" name="Shape 57"/>
          <p:cNvSpPr/>
          <p:nvPr/>
        </p:nvSpPr>
        <p:spPr>
          <a:xfrm>
            <a:off x="9678010" y="3035808"/>
            <a:ext cx="2017166" cy="402336"/>
          </a:xfrm>
          <a:prstGeom prst="roundRect">
            <a:avLst>
              <a:gd name="adj" fmla="val 9091"/>
            </a:avLst>
          </a:prstGeom>
          <a:solidFill>
            <a:srgbClr val="FCEBEB"/>
          </a:solidFill>
          <a:ln w="9525">
            <a:solidFill>
              <a:srgbClr val="E24B4A"/>
            </a:solidFill>
            <a:prstDash val="solid"/>
          </a:ln>
        </p:spPr>
        <p:txBody>
          <a:bodyPr/>
          <a:lstStyle/>
          <a:p>
            <a:endParaRPr lang="en-US"/>
          </a:p>
        </p:txBody>
      </p:sp>
      <p:sp>
        <p:nvSpPr>
          <p:cNvPr id="60" name="Text 58"/>
          <p:cNvSpPr/>
          <p:nvPr/>
        </p:nvSpPr>
        <p:spPr>
          <a:xfrm>
            <a:off x="9714586" y="3081528"/>
            <a:ext cx="1944014" cy="182880"/>
          </a:xfrm>
          <a:prstGeom prst="rect">
            <a:avLst/>
          </a:prstGeom>
          <a:noFill/>
          <a:ln/>
        </p:spPr>
        <p:txBody>
          <a:bodyPr wrap="square" lIns="0" tIns="0" rIns="0" bIns="0" rtlCol="0" anchor="t"/>
          <a:lstStyle/>
          <a:p>
            <a:pPr marL="0" indent="0" algn="ctr">
              <a:lnSpc>
                <a:spcPct val="90000"/>
              </a:lnSpc>
              <a:buNone/>
            </a:pPr>
            <a:r>
              <a:rPr lang="en-US" sz="900" b="1" dirty="0">
                <a:solidFill>
                  <a:srgbClr val="E31837"/>
                </a:solidFill>
                <a:latin typeface="Montserrat" pitchFamily="34" charset="0"/>
                <a:ea typeface="Montserrat" pitchFamily="34" charset="-122"/>
                <a:cs typeface="Montserrat" pitchFamily="34" charset="-120"/>
              </a:rPr>
              <a:t>TALLY</a:t>
            </a:r>
            <a:endParaRPr lang="en-US" sz="900" dirty="0"/>
          </a:p>
        </p:txBody>
      </p:sp>
      <p:sp>
        <p:nvSpPr>
          <p:cNvPr id="61" name="Text 59"/>
          <p:cNvSpPr/>
          <p:nvPr/>
        </p:nvSpPr>
        <p:spPr>
          <a:xfrm>
            <a:off x="9714586" y="3255264"/>
            <a:ext cx="1944014" cy="164592"/>
          </a:xfrm>
          <a:prstGeom prst="rect">
            <a:avLst/>
          </a:prstGeom>
          <a:noFill/>
          <a:ln/>
        </p:spPr>
        <p:txBody>
          <a:bodyPr wrap="square" lIns="0" tIns="0" rIns="0" bIns="0" rtlCol="0" anchor="t"/>
          <a:lstStyle/>
          <a:p>
            <a:pPr marL="0" indent="0" algn="ctr">
              <a:lnSpc>
                <a:spcPct val="90000"/>
              </a:lnSpc>
              <a:buNone/>
            </a:pPr>
            <a:r>
              <a:rPr lang="en-US" sz="630" dirty="0">
                <a:solidFill>
                  <a:srgbClr val="8A2732"/>
                </a:solidFill>
                <a:latin typeface="Lora" pitchFamily="34" charset="0"/>
                <a:ea typeface="Lora" pitchFamily="34" charset="-122"/>
                <a:cs typeface="Lora" pitchFamily="34" charset="-120"/>
              </a:rPr>
              <a:t>loyalty</a:t>
            </a:r>
            <a:endParaRPr lang="en-US" sz="630" dirty="0"/>
          </a:p>
        </p:txBody>
      </p:sp>
      <p:sp>
        <p:nvSpPr>
          <p:cNvPr id="62" name="Shape 60"/>
          <p:cNvSpPr/>
          <p:nvPr/>
        </p:nvSpPr>
        <p:spPr>
          <a:xfrm>
            <a:off x="1097280" y="3529584"/>
            <a:ext cx="2017166" cy="365760"/>
          </a:xfrm>
          <a:prstGeom prst="roundRect">
            <a:avLst>
              <a:gd name="adj" fmla="val 10000"/>
            </a:avLst>
          </a:prstGeom>
          <a:solidFill>
            <a:srgbClr val="F5F4F1"/>
          </a:solidFill>
          <a:ln w="9525">
            <a:solidFill>
              <a:srgbClr val="D8D6CE"/>
            </a:solidFill>
            <a:prstDash val="solid"/>
          </a:ln>
        </p:spPr>
        <p:txBody>
          <a:bodyPr/>
          <a:lstStyle/>
          <a:p>
            <a:endParaRPr lang="en-US"/>
          </a:p>
        </p:txBody>
      </p:sp>
      <p:sp>
        <p:nvSpPr>
          <p:cNvPr id="63" name="Text 61"/>
          <p:cNvSpPr/>
          <p:nvPr/>
        </p:nvSpPr>
        <p:spPr>
          <a:xfrm>
            <a:off x="1133856" y="3575304"/>
            <a:ext cx="1944014" cy="182880"/>
          </a:xfrm>
          <a:prstGeom prst="rect">
            <a:avLst/>
          </a:prstGeom>
          <a:noFill/>
          <a:ln/>
        </p:spPr>
        <p:txBody>
          <a:bodyPr wrap="square" lIns="0" tIns="0" rIns="0" bIns="0" rtlCol="0" anchor="t"/>
          <a:lstStyle/>
          <a:p>
            <a:pPr marL="0" indent="0" algn="ctr">
              <a:lnSpc>
                <a:spcPct val="90000"/>
              </a:lnSpc>
              <a:buNone/>
            </a:pPr>
            <a:r>
              <a:rPr lang="en-US" sz="800" b="1" dirty="0">
                <a:solidFill>
                  <a:srgbClr val="333333"/>
                </a:solidFill>
                <a:latin typeface="Montserrat" pitchFamily="34" charset="0"/>
                <a:ea typeface="Montserrat" pitchFamily="34" charset="-122"/>
                <a:cs typeface="Montserrat" pitchFamily="34" charset="-120"/>
              </a:rPr>
              <a:t>ONEBASKET</a:t>
            </a:r>
            <a:endParaRPr lang="en-US" sz="800" dirty="0"/>
          </a:p>
        </p:txBody>
      </p:sp>
      <p:sp>
        <p:nvSpPr>
          <p:cNvPr id="64" name="Text 62"/>
          <p:cNvSpPr/>
          <p:nvPr/>
        </p:nvSpPr>
        <p:spPr>
          <a:xfrm>
            <a:off x="1133856" y="3749040"/>
            <a:ext cx="1944014" cy="128016"/>
          </a:xfrm>
          <a:prstGeom prst="rect">
            <a:avLst/>
          </a:prstGeom>
          <a:noFill/>
          <a:ln/>
        </p:spPr>
        <p:txBody>
          <a:bodyPr wrap="square" lIns="0" tIns="0" rIns="0" bIns="0" rtlCol="0" anchor="t"/>
          <a:lstStyle/>
          <a:p>
            <a:pPr marL="0" indent="0" algn="ctr">
              <a:lnSpc>
                <a:spcPct val="90000"/>
              </a:lnSpc>
              <a:buNone/>
            </a:pPr>
            <a:r>
              <a:rPr lang="en-US" sz="630" dirty="0">
                <a:solidFill>
                  <a:srgbClr val="A0A5AB"/>
                </a:solidFill>
                <a:latin typeface="Lora" pitchFamily="34" charset="0"/>
                <a:ea typeface="Lora" pitchFamily="34" charset="-122"/>
                <a:cs typeface="Lora" pitchFamily="34" charset="-120"/>
              </a:rPr>
              <a:t>identity</a:t>
            </a:r>
            <a:endParaRPr lang="en-US" sz="630" dirty="0"/>
          </a:p>
        </p:txBody>
      </p:sp>
      <p:sp>
        <p:nvSpPr>
          <p:cNvPr id="65" name="Shape 63"/>
          <p:cNvSpPr/>
          <p:nvPr/>
        </p:nvSpPr>
        <p:spPr>
          <a:xfrm>
            <a:off x="3242462" y="3529584"/>
            <a:ext cx="2017166" cy="365760"/>
          </a:xfrm>
          <a:prstGeom prst="roundRect">
            <a:avLst>
              <a:gd name="adj" fmla="val 10000"/>
            </a:avLst>
          </a:prstGeom>
          <a:solidFill>
            <a:srgbClr val="F5F4F1"/>
          </a:solidFill>
          <a:ln w="9525">
            <a:solidFill>
              <a:srgbClr val="D8D6CE"/>
            </a:solidFill>
            <a:prstDash val="solid"/>
          </a:ln>
        </p:spPr>
        <p:txBody>
          <a:bodyPr/>
          <a:lstStyle/>
          <a:p>
            <a:endParaRPr lang="en-US"/>
          </a:p>
        </p:txBody>
      </p:sp>
      <p:sp>
        <p:nvSpPr>
          <p:cNvPr id="66" name="Text 64"/>
          <p:cNvSpPr/>
          <p:nvPr/>
        </p:nvSpPr>
        <p:spPr>
          <a:xfrm>
            <a:off x="3279038" y="3575304"/>
            <a:ext cx="1944014" cy="182880"/>
          </a:xfrm>
          <a:prstGeom prst="rect">
            <a:avLst/>
          </a:prstGeom>
          <a:noFill/>
          <a:ln/>
        </p:spPr>
        <p:txBody>
          <a:bodyPr wrap="square" lIns="0" tIns="0" rIns="0" bIns="0" rtlCol="0" anchor="t"/>
          <a:lstStyle/>
          <a:p>
            <a:pPr marL="0" indent="0" algn="ctr">
              <a:lnSpc>
                <a:spcPct val="90000"/>
              </a:lnSpc>
              <a:buNone/>
            </a:pPr>
            <a:r>
              <a:rPr lang="en-US" sz="800" b="1" dirty="0">
                <a:solidFill>
                  <a:srgbClr val="333333"/>
                </a:solidFill>
                <a:latin typeface="Montserrat" pitchFamily="34" charset="0"/>
                <a:ea typeface="Montserrat" pitchFamily="34" charset="-122"/>
                <a:cs typeface="Montserrat" pitchFamily="34" charset="-120"/>
              </a:rPr>
              <a:t>GRADE</a:t>
            </a:r>
            <a:endParaRPr lang="en-US" sz="800" dirty="0"/>
          </a:p>
        </p:txBody>
      </p:sp>
      <p:sp>
        <p:nvSpPr>
          <p:cNvPr id="67" name="Text 65"/>
          <p:cNvSpPr/>
          <p:nvPr/>
        </p:nvSpPr>
        <p:spPr>
          <a:xfrm>
            <a:off x="3279038" y="3749040"/>
            <a:ext cx="1944014" cy="128016"/>
          </a:xfrm>
          <a:prstGeom prst="rect">
            <a:avLst/>
          </a:prstGeom>
          <a:noFill/>
          <a:ln/>
        </p:spPr>
        <p:txBody>
          <a:bodyPr wrap="square" lIns="0" tIns="0" rIns="0" bIns="0" rtlCol="0" anchor="t"/>
          <a:lstStyle/>
          <a:p>
            <a:pPr marL="0" indent="0" algn="ctr">
              <a:lnSpc>
                <a:spcPct val="90000"/>
              </a:lnSpc>
              <a:buNone/>
            </a:pPr>
            <a:r>
              <a:rPr lang="en-US" sz="630" dirty="0">
                <a:solidFill>
                  <a:srgbClr val="A0A5AB"/>
                </a:solidFill>
                <a:latin typeface="Lora" pitchFamily="34" charset="0"/>
                <a:ea typeface="Lora" pitchFamily="34" charset="-122"/>
                <a:cs typeface="Lora" pitchFamily="34" charset="-120"/>
              </a:rPr>
              <a:t>returns</a:t>
            </a:r>
            <a:endParaRPr lang="en-US" sz="630" dirty="0"/>
          </a:p>
        </p:txBody>
      </p:sp>
      <p:sp>
        <p:nvSpPr>
          <p:cNvPr id="68" name="Shape 66"/>
          <p:cNvSpPr/>
          <p:nvPr/>
        </p:nvSpPr>
        <p:spPr>
          <a:xfrm>
            <a:off x="5387645" y="3529584"/>
            <a:ext cx="2017166" cy="365760"/>
          </a:xfrm>
          <a:prstGeom prst="roundRect">
            <a:avLst>
              <a:gd name="adj" fmla="val 10000"/>
            </a:avLst>
          </a:prstGeom>
          <a:solidFill>
            <a:srgbClr val="F5F4F1"/>
          </a:solidFill>
          <a:ln w="9525">
            <a:solidFill>
              <a:srgbClr val="D8D6CE"/>
            </a:solidFill>
            <a:prstDash val="solid"/>
          </a:ln>
        </p:spPr>
        <p:txBody>
          <a:bodyPr/>
          <a:lstStyle/>
          <a:p>
            <a:endParaRPr lang="en-US"/>
          </a:p>
        </p:txBody>
      </p:sp>
      <p:sp>
        <p:nvSpPr>
          <p:cNvPr id="69" name="Text 67"/>
          <p:cNvSpPr/>
          <p:nvPr/>
        </p:nvSpPr>
        <p:spPr>
          <a:xfrm>
            <a:off x="5424221" y="3575304"/>
            <a:ext cx="1944014" cy="182880"/>
          </a:xfrm>
          <a:prstGeom prst="rect">
            <a:avLst/>
          </a:prstGeom>
          <a:noFill/>
          <a:ln/>
        </p:spPr>
        <p:txBody>
          <a:bodyPr wrap="square" lIns="0" tIns="0" rIns="0" bIns="0" rtlCol="0" anchor="t"/>
          <a:lstStyle/>
          <a:p>
            <a:pPr marL="0" indent="0" algn="ctr">
              <a:lnSpc>
                <a:spcPct val="90000"/>
              </a:lnSpc>
              <a:buNone/>
            </a:pPr>
            <a:r>
              <a:rPr lang="en-US" sz="800" b="1" dirty="0">
                <a:solidFill>
                  <a:srgbClr val="333333"/>
                </a:solidFill>
                <a:latin typeface="Montserrat" pitchFamily="34" charset="0"/>
                <a:ea typeface="Montserrat" pitchFamily="34" charset="-122"/>
                <a:cs typeface="Montserrat" pitchFamily="34" charset="-120"/>
              </a:rPr>
              <a:t>CARE</a:t>
            </a:r>
            <a:endParaRPr lang="en-US" sz="800" dirty="0"/>
          </a:p>
        </p:txBody>
      </p:sp>
      <p:sp>
        <p:nvSpPr>
          <p:cNvPr id="70" name="Text 68"/>
          <p:cNvSpPr/>
          <p:nvPr/>
        </p:nvSpPr>
        <p:spPr>
          <a:xfrm>
            <a:off x="5424221" y="3749040"/>
            <a:ext cx="1944014" cy="128016"/>
          </a:xfrm>
          <a:prstGeom prst="rect">
            <a:avLst/>
          </a:prstGeom>
          <a:noFill/>
          <a:ln/>
        </p:spPr>
        <p:txBody>
          <a:bodyPr wrap="square" lIns="0" tIns="0" rIns="0" bIns="0" rtlCol="0" anchor="t"/>
          <a:lstStyle/>
          <a:p>
            <a:pPr marL="0" indent="0" algn="ctr">
              <a:lnSpc>
                <a:spcPct val="90000"/>
              </a:lnSpc>
              <a:buNone/>
            </a:pPr>
            <a:r>
              <a:rPr lang="en-US" sz="630" dirty="0">
                <a:solidFill>
                  <a:srgbClr val="A0A5AB"/>
                </a:solidFill>
                <a:latin typeface="Lora" pitchFamily="34" charset="0"/>
                <a:ea typeface="Lora" pitchFamily="34" charset="-122"/>
                <a:cs typeface="Lora" pitchFamily="34" charset="-120"/>
              </a:rPr>
              <a:t>service</a:t>
            </a:r>
            <a:endParaRPr lang="en-US" sz="630" dirty="0"/>
          </a:p>
        </p:txBody>
      </p:sp>
      <p:sp>
        <p:nvSpPr>
          <p:cNvPr id="71" name="Shape 69"/>
          <p:cNvSpPr/>
          <p:nvPr/>
        </p:nvSpPr>
        <p:spPr>
          <a:xfrm>
            <a:off x="7532827" y="3529584"/>
            <a:ext cx="2017166" cy="365760"/>
          </a:xfrm>
          <a:prstGeom prst="roundRect">
            <a:avLst>
              <a:gd name="adj" fmla="val 10000"/>
            </a:avLst>
          </a:prstGeom>
          <a:solidFill>
            <a:srgbClr val="F5F4F1"/>
          </a:solidFill>
          <a:ln w="9525">
            <a:solidFill>
              <a:srgbClr val="D8D6CE"/>
            </a:solidFill>
            <a:prstDash val="solid"/>
          </a:ln>
        </p:spPr>
        <p:txBody>
          <a:bodyPr/>
          <a:lstStyle/>
          <a:p>
            <a:endParaRPr lang="en-US"/>
          </a:p>
        </p:txBody>
      </p:sp>
      <p:sp>
        <p:nvSpPr>
          <p:cNvPr id="72" name="Text 70"/>
          <p:cNvSpPr/>
          <p:nvPr/>
        </p:nvSpPr>
        <p:spPr>
          <a:xfrm>
            <a:off x="7569403" y="3575304"/>
            <a:ext cx="1944014" cy="182880"/>
          </a:xfrm>
          <a:prstGeom prst="rect">
            <a:avLst/>
          </a:prstGeom>
          <a:noFill/>
          <a:ln/>
        </p:spPr>
        <p:txBody>
          <a:bodyPr wrap="square" lIns="0" tIns="0" rIns="0" bIns="0" rtlCol="0" anchor="t"/>
          <a:lstStyle/>
          <a:p>
            <a:pPr marL="0" indent="0" algn="ctr">
              <a:lnSpc>
                <a:spcPct val="90000"/>
              </a:lnSpc>
              <a:buNone/>
            </a:pPr>
            <a:r>
              <a:rPr lang="en-US" sz="800" b="1" dirty="0">
                <a:solidFill>
                  <a:srgbClr val="333333"/>
                </a:solidFill>
                <a:latin typeface="Montserrat" pitchFamily="34" charset="0"/>
                <a:ea typeface="Montserrat" pitchFamily="34" charset="-122"/>
                <a:cs typeface="Montserrat" pitchFamily="34" charset="-120"/>
              </a:rPr>
              <a:t>SENTRY</a:t>
            </a:r>
            <a:endParaRPr lang="en-US" sz="800" dirty="0"/>
          </a:p>
        </p:txBody>
      </p:sp>
      <p:sp>
        <p:nvSpPr>
          <p:cNvPr id="73" name="Text 71"/>
          <p:cNvSpPr/>
          <p:nvPr/>
        </p:nvSpPr>
        <p:spPr>
          <a:xfrm>
            <a:off x="7569403" y="3749040"/>
            <a:ext cx="1944014" cy="128016"/>
          </a:xfrm>
          <a:prstGeom prst="rect">
            <a:avLst/>
          </a:prstGeom>
          <a:noFill/>
          <a:ln/>
        </p:spPr>
        <p:txBody>
          <a:bodyPr wrap="square" lIns="0" tIns="0" rIns="0" bIns="0" rtlCol="0" anchor="t"/>
          <a:lstStyle/>
          <a:p>
            <a:pPr marL="0" indent="0" algn="ctr">
              <a:lnSpc>
                <a:spcPct val="90000"/>
              </a:lnSpc>
              <a:buNone/>
            </a:pPr>
            <a:r>
              <a:rPr lang="en-US" sz="630" dirty="0">
                <a:solidFill>
                  <a:srgbClr val="A0A5AB"/>
                </a:solidFill>
                <a:latin typeface="Lora" pitchFamily="34" charset="0"/>
                <a:ea typeface="Lora" pitchFamily="34" charset="-122"/>
                <a:cs typeface="Lora" pitchFamily="34" charset="-120"/>
              </a:rPr>
              <a:t>approval</a:t>
            </a:r>
            <a:endParaRPr lang="en-US" sz="630" dirty="0"/>
          </a:p>
        </p:txBody>
      </p:sp>
      <p:sp>
        <p:nvSpPr>
          <p:cNvPr id="74" name="Shape 72"/>
          <p:cNvSpPr/>
          <p:nvPr/>
        </p:nvSpPr>
        <p:spPr>
          <a:xfrm>
            <a:off x="9678010" y="3529584"/>
            <a:ext cx="2017166" cy="365760"/>
          </a:xfrm>
          <a:prstGeom prst="roundRect">
            <a:avLst>
              <a:gd name="adj" fmla="val 10000"/>
            </a:avLst>
          </a:prstGeom>
          <a:solidFill>
            <a:srgbClr val="F5F4F1"/>
          </a:solidFill>
          <a:ln w="9525">
            <a:solidFill>
              <a:srgbClr val="D8D6CE"/>
            </a:solidFill>
            <a:prstDash val="solid"/>
          </a:ln>
        </p:spPr>
        <p:txBody>
          <a:bodyPr/>
          <a:lstStyle/>
          <a:p>
            <a:endParaRPr lang="en-US"/>
          </a:p>
        </p:txBody>
      </p:sp>
      <p:sp>
        <p:nvSpPr>
          <p:cNvPr id="75" name="Text 73"/>
          <p:cNvSpPr/>
          <p:nvPr/>
        </p:nvSpPr>
        <p:spPr>
          <a:xfrm>
            <a:off x="9714586" y="3575304"/>
            <a:ext cx="1944014" cy="182880"/>
          </a:xfrm>
          <a:prstGeom prst="rect">
            <a:avLst/>
          </a:prstGeom>
          <a:noFill/>
          <a:ln/>
        </p:spPr>
        <p:txBody>
          <a:bodyPr wrap="square" lIns="0" tIns="0" rIns="0" bIns="0" rtlCol="0" anchor="t"/>
          <a:lstStyle/>
          <a:p>
            <a:pPr marL="0" indent="0" algn="ctr">
              <a:lnSpc>
                <a:spcPct val="90000"/>
              </a:lnSpc>
              <a:buNone/>
            </a:pPr>
            <a:r>
              <a:rPr lang="en-US" sz="800" b="1" dirty="0">
                <a:solidFill>
                  <a:srgbClr val="333333"/>
                </a:solidFill>
                <a:latin typeface="Montserrat" pitchFamily="34" charset="0"/>
                <a:ea typeface="Montserrat" pitchFamily="34" charset="-122"/>
                <a:cs typeface="Montserrat" pitchFamily="34" charset="-120"/>
              </a:rPr>
              <a:t>SCOUT·PACE</a:t>
            </a:r>
            <a:endParaRPr lang="en-US" sz="800" dirty="0"/>
          </a:p>
        </p:txBody>
      </p:sp>
      <p:sp>
        <p:nvSpPr>
          <p:cNvPr id="76" name="Text 74"/>
          <p:cNvSpPr/>
          <p:nvPr/>
        </p:nvSpPr>
        <p:spPr>
          <a:xfrm>
            <a:off x="9714586" y="3749040"/>
            <a:ext cx="1944014" cy="128016"/>
          </a:xfrm>
          <a:prstGeom prst="rect">
            <a:avLst/>
          </a:prstGeom>
          <a:noFill/>
          <a:ln/>
        </p:spPr>
        <p:txBody>
          <a:bodyPr wrap="square" lIns="0" tIns="0" rIns="0" bIns="0" rtlCol="0" anchor="t"/>
          <a:lstStyle/>
          <a:p>
            <a:pPr marL="0" indent="0" algn="ctr">
              <a:lnSpc>
                <a:spcPct val="90000"/>
              </a:lnSpc>
              <a:buNone/>
            </a:pPr>
            <a:r>
              <a:rPr lang="en-US" sz="630" dirty="0">
                <a:solidFill>
                  <a:srgbClr val="A0A5AB"/>
                </a:solidFill>
                <a:latin typeface="Lora" pitchFamily="34" charset="0"/>
                <a:ea typeface="Lora" pitchFamily="34" charset="-122"/>
                <a:cs typeface="Lora" pitchFamily="34" charset="-120"/>
              </a:rPr>
              <a:t>signals</a:t>
            </a:r>
            <a:endParaRPr lang="en-US" sz="630" dirty="0"/>
          </a:p>
        </p:txBody>
      </p:sp>
      <p:sp>
        <p:nvSpPr>
          <p:cNvPr id="77" name="Text 75"/>
          <p:cNvSpPr/>
          <p:nvPr/>
        </p:nvSpPr>
        <p:spPr>
          <a:xfrm>
            <a:off x="1097280" y="3904488"/>
            <a:ext cx="10597896" cy="164592"/>
          </a:xfrm>
          <a:prstGeom prst="rect">
            <a:avLst/>
          </a:prstGeom>
          <a:noFill/>
          <a:ln/>
        </p:spPr>
        <p:txBody>
          <a:bodyPr wrap="square" lIns="0" tIns="0" rIns="0" bIns="0" rtlCol="0" anchor="ctr"/>
          <a:lstStyle/>
          <a:p>
            <a:pPr marL="0" indent="0" algn="ctr">
              <a:buNone/>
            </a:pPr>
            <a:r>
              <a:rPr lang="en-US" sz="680" i="1" dirty="0">
                <a:solidFill>
                  <a:srgbClr val="7A7970"/>
                </a:solidFill>
                <a:latin typeface="Lora" pitchFamily="34" charset="0"/>
                <a:ea typeface="Lora" pitchFamily="34" charset="-122"/>
                <a:cs typeface="Lora" pitchFamily="34" charset="-120"/>
              </a:rPr>
              <a:t>processing: each agent reasons over its prompt + retrieved context, calls tools, returns a result to the orchestrator</a:t>
            </a:r>
            <a:endParaRPr lang="en-US" sz="680" dirty="0"/>
          </a:p>
        </p:txBody>
      </p:sp>
      <p:sp>
        <p:nvSpPr>
          <p:cNvPr id="78" name="Shape 76"/>
          <p:cNvSpPr/>
          <p:nvPr/>
        </p:nvSpPr>
        <p:spPr>
          <a:xfrm>
            <a:off x="969264" y="4206240"/>
            <a:ext cx="10853928" cy="621792"/>
          </a:xfrm>
          <a:prstGeom prst="roundRect">
            <a:avLst>
              <a:gd name="adj" fmla="val 7353"/>
            </a:avLst>
          </a:prstGeom>
          <a:solidFill>
            <a:srgbClr val="2E2A3A"/>
          </a:solidFill>
          <a:ln/>
        </p:spPr>
        <p:txBody>
          <a:bodyPr/>
          <a:lstStyle/>
          <a:p>
            <a:endParaRPr lang="en-US"/>
          </a:p>
        </p:txBody>
      </p:sp>
      <p:sp>
        <p:nvSpPr>
          <p:cNvPr id="79" name="Text 77"/>
          <p:cNvSpPr/>
          <p:nvPr/>
        </p:nvSpPr>
        <p:spPr>
          <a:xfrm>
            <a:off x="1097280" y="4242816"/>
            <a:ext cx="4572000" cy="182880"/>
          </a:xfrm>
          <a:prstGeom prst="rect">
            <a:avLst/>
          </a:prstGeom>
          <a:noFill/>
          <a:ln/>
        </p:spPr>
        <p:txBody>
          <a:bodyPr wrap="square" lIns="0" tIns="0" rIns="0" bIns="0" rtlCol="0" anchor="ctr"/>
          <a:lstStyle/>
          <a:p>
            <a:pPr marL="0" indent="0">
              <a:buNone/>
            </a:pPr>
            <a:r>
              <a:rPr lang="en-US" sz="900" b="1" kern="0" spc="50" dirty="0">
                <a:solidFill>
                  <a:srgbClr val="FDFDFD"/>
                </a:solidFill>
                <a:latin typeface="Montserrat" pitchFamily="34" charset="0"/>
                <a:ea typeface="Montserrat" pitchFamily="34" charset="-122"/>
                <a:cs typeface="Montserrat" pitchFamily="34" charset="-120"/>
              </a:rPr>
              <a:t>ENTERPRISE LLM &amp; AGENT PLATFORM</a:t>
            </a:r>
            <a:endParaRPr lang="en-US" sz="900" dirty="0"/>
          </a:p>
        </p:txBody>
      </p:sp>
      <p:sp>
        <p:nvSpPr>
          <p:cNvPr id="80" name="Shape 78"/>
          <p:cNvSpPr/>
          <p:nvPr/>
        </p:nvSpPr>
        <p:spPr>
          <a:xfrm>
            <a:off x="1097280" y="4389120"/>
            <a:ext cx="2553462" cy="365760"/>
          </a:xfrm>
          <a:prstGeom prst="roundRect">
            <a:avLst>
              <a:gd name="adj" fmla="val 10000"/>
            </a:avLst>
          </a:prstGeom>
          <a:solidFill>
            <a:srgbClr val="403A52"/>
          </a:solidFill>
          <a:ln/>
        </p:spPr>
        <p:txBody>
          <a:bodyPr/>
          <a:lstStyle/>
          <a:p>
            <a:endParaRPr lang="en-US"/>
          </a:p>
        </p:txBody>
      </p:sp>
      <p:sp>
        <p:nvSpPr>
          <p:cNvPr id="81" name="Text 79"/>
          <p:cNvSpPr/>
          <p:nvPr/>
        </p:nvSpPr>
        <p:spPr>
          <a:xfrm>
            <a:off x="1133856" y="4425696"/>
            <a:ext cx="2480310" cy="164592"/>
          </a:xfrm>
          <a:prstGeom prst="rect">
            <a:avLst/>
          </a:prstGeom>
          <a:noFill/>
          <a:ln/>
        </p:spPr>
        <p:txBody>
          <a:bodyPr wrap="square" lIns="0" tIns="0" rIns="0" bIns="0" rtlCol="0" anchor="ctr"/>
          <a:lstStyle/>
          <a:p>
            <a:pPr marL="0" indent="0" algn="ctr">
              <a:buNone/>
            </a:pPr>
            <a:r>
              <a:rPr lang="en-US" sz="800" b="1" dirty="0">
                <a:solidFill>
                  <a:srgbClr val="C9B8E8"/>
                </a:solidFill>
                <a:latin typeface="Montserrat" pitchFamily="34" charset="0"/>
                <a:ea typeface="Montserrat" pitchFamily="34" charset="-122"/>
                <a:cs typeface="Montserrat" pitchFamily="34" charset="-120"/>
              </a:rPr>
              <a:t>Model gateway</a:t>
            </a:r>
            <a:endParaRPr lang="en-US" sz="800" dirty="0"/>
          </a:p>
        </p:txBody>
      </p:sp>
      <p:sp>
        <p:nvSpPr>
          <p:cNvPr id="82" name="Text 80"/>
          <p:cNvSpPr/>
          <p:nvPr/>
        </p:nvSpPr>
        <p:spPr>
          <a:xfrm>
            <a:off x="1133856" y="4590288"/>
            <a:ext cx="2480310" cy="164592"/>
          </a:xfrm>
          <a:prstGeom prst="rect">
            <a:avLst/>
          </a:prstGeom>
          <a:noFill/>
          <a:ln/>
        </p:spPr>
        <p:txBody>
          <a:bodyPr wrap="square" lIns="0" tIns="0" rIns="0" bIns="0" rtlCol="0" anchor="ctr"/>
          <a:lstStyle/>
          <a:p>
            <a:pPr marL="0" indent="0" algn="ctr">
              <a:buNone/>
            </a:pPr>
            <a:r>
              <a:rPr lang="en-US" sz="620" dirty="0">
                <a:solidFill>
                  <a:srgbClr val="C9C9C7"/>
                </a:solidFill>
                <a:latin typeface="Lora" pitchFamily="34" charset="0"/>
                <a:ea typeface="Lora" pitchFamily="34" charset="-122"/>
                <a:cs typeface="Lora" pitchFamily="34" charset="-120"/>
              </a:rPr>
              <a:t>interoperability · routing · fallback</a:t>
            </a:r>
            <a:endParaRPr lang="en-US" sz="620" dirty="0"/>
          </a:p>
        </p:txBody>
      </p:sp>
      <p:sp>
        <p:nvSpPr>
          <p:cNvPr id="83" name="Shape 81"/>
          <p:cNvSpPr/>
          <p:nvPr/>
        </p:nvSpPr>
        <p:spPr>
          <a:xfrm>
            <a:off x="3778758" y="4389120"/>
            <a:ext cx="2553462" cy="365760"/>
          </a:xfrm>
          <a:prstGeom prst="roundRect">
            <a:avLst>
              <a:gd name="adj" fmla="val 10000"/>
            </a:avLst>
          </a:prstGeom>
          <a:solidFill>
            <a:srgbClr val="403A52"/>
          </a:solidFill>
          <a:ln/>
        </p:spPr>
        <p:txBody>
          <a:bodyPr/>
          <a:lstStyle/>
          <a:p>
            <a:endParaRPr lang="en-US"/>
          </a:p>
        </p:txBody>
      </p:sp>
      <p:sp>
        <p:nvSpPr>
          <p:cNvPr id="84" name="Text 82"/>
          <p:cNvSpPr/>
          <p:nvPr/>
        </p:nvSpPr>
        <p:spPr>
          <a:xfrm>
            <a:off x="3815334" y="4425696"/>
            <a:ext cx="2480310" cy="164592"/>
          </a:xfrm>
          <a:prstGeom prst="rect">
            <a:avLst/>
          </a:prstGeom>
          <a:noFill/>
          <a:ln/>
        </p:spPr>
        <p:txBody>
          <a:bodyPr wrap="square" lIns="0" tIns="0" rIns="0" bIns="0" rtlCol="0" anchor="ctr"/>
          <a:lstStyle/>
          <a:p>
            <a:pPr marL="0" indent="0" algn="ctr">
              <a:buNone/>
            </a:pPr>
            <a:r>
              <a:rPr lang="en-US" sz="800" b="1" dirty="0">
                <a:solidFill>
                  <a:srgbClr val="C9B8E8"/>
                </a:solidFill>
                <a:latin typeface="Montserrat" pitchFamily="34" charset="0"/>
                <a:ea typeface="Montserrat" pitchFamily="34" charset="-122"/>
                <a:cs typeface="Montserrat" pitchFamily="34" charset="-120"/>
              </a:rPr>
              <a:t>Prompt management</a:t>
            </a:r>
            <a:endParaRPr lang="en-US" sz="800" dirty="0"/>
          </a:p>
        </p:txBody>
      </p:sp>
      <p:sp>
        <p:nvSpPr>
          <p:cNvPr id="85" name="Text 83"/>
          <p:cNvSpPr/>
          <p:nvPr/>
        </p:nvSpPr>
        <p:spPr>
          <a:xfrm>
            <a:off x="3815334" y="4590288"/>
            <a:ext cx="2480310" cy="164592"/>
          </a:xfrm>
          <a:prstGeom prst="rect">
            <a:avLst/>
          </a:prstGeom>
          <a:noFill/>
          <a:ln/>
        </p:spPr>
        <p:txBody>
          <a:bodyPr wrap="square" lIns="0" tIns="0" rIns="0" bIns="0" rtlCol="0" anchor="ctr"/>
          <a:lstStyle/>
          <a:p>
            <a:pPr marL="0" indent="0" algn="ctr">
              <a:buNone/>
            </a:pPr>
            <a:r>
              <a:rPr lang="en-US" sz="620" dirty="0">
                <a:solidFill>
                  <a:srgbClr val="C9C9C7"/>
                </a:solidFill>
                <a:latin typeface="Lora" pitchFamily="34" charset="0"/>
                <a:ea typeface="Lora" pitchFamily="34" charset="-122"/>
                <a:cs typeface="Lora" pitchFamily="34" charset="-120"/>
              </a:rPr>
              <a:t>templates · versioning · guard prompts</a:t>
            </a:r>
            <a:endParaRPr lang="en-US" sz="620" dirty="0"/>
          </a:p>
        </p:txBody>
      </p:sp>
      <p:sp>
        <p:nvSpPr>
          <p:cNvPr id="86" name="Shape 84"/>
          <p:cNvSpPr/>
          <p:nvPr/>
        </p:nvSpPr>
        <p:spPr>
          <a:xfrm>
            <a:off x="6460236" y="4389120"/>
            <a:ext cx="2553462" cy="365760"/>
          </a:xfrm>
          <a:prstGeom prst="roundRect">
            <a:avLst>
              <a:gd name="adj" fmla="val 10000"/>
            </a:avLst>
          </a:prstGeom>
          <a:solidFill>
            <a:srgbClr val="403A52"/>
          </a:solidFill>
          <a:ln/>
        </p:spPr>
        <p:txBody>
          <a:bodyPr/>
          <a:lstStyle/>
          <a:p>
            <a:endParaRPr lang="en-US"/>
          </a:p>
        </p:txBody>
      </p:sp>
      <p:sp>
        <p:nvSpPr>
          <p:cNvPr id="87" name="Text 85"/>
          <p:cNvSpPr/>
          <p:nvPr/>
        </p:nvSpPr>
        <p:spPr>
          <a:xfrm>
            <a:off x="6496812" y="4425696"/>
            <a:ext cx="2480310" cy="164592"/>
          </a:xfrm>
          <a:prstGeom prst="rect">
            <a:avLst/>
          </a:prstGeom>
          <a:noFill/>
          <a:ln/>
        </p:spPr>
        <p:txBody>
          <a:bodyPr wrap="square" lIns="0" tIns="0" rIns="0" bIns="0" rtlCol="0" anchor="ctr"/>
          <a:lstStyle/>
          <a:p>
            <a:pPr marL="0" indent="0" algn="ctr">
              <a:buNone/>
            </a:pPr>
            <a:r>
              <a:rPr lang="en-US" sz="800" b="1" dirty="0">
                <a:solidFill>
                  <a:srgbClr val="C9B8E8"/>
                </a:solidFill>
                <a:latin typeface="Montserrat" pitchFamily="34" charset="0"/>
                <a:ea typeface="Montserrat" pitchFamily="34" charset="-122"/>
                <a:cs typeface="Montserrat" pitchFamily="34" charset="-120"/>
              </a:rPr>
              <a:t>Memory &amp; context</a:t>
            </a:r>
            <a:endParaRPr lang="en-US" sz="800" dirty="0"/>
          </a:p>
        </p:txBody>
      </p:sp>
      <p:sp>
        <p:nvSpPr>
          <p:cNvPr id="88" name="Text 86"/>
          <p:cNvSpPr/>
          <p:nvPr/>
        </p:nvSpPr>
        <p:spPr>
          <a:xfrm>
            <a:off x="6496812" y="4590288"/>
            <a:ext cx="2480310" cy="164592"/>
          </a:xfrm>
          <a:prstGeom prst="rect">
            <a:avLst/>
          </a:prstGeom>
          <a:noFill/>
          <a:ln/>
        </p:spPr>
        <p:txBody>
          <a:bodyPr wrap="square" lIns="0" tIns="0" rIns="0" bIns="0" rtlCol="0" anchor="ctr"/>
          <a:lstStyle/>
          <a:p>
            <a:pPr marL="0" indent="0" algn="ctr">
              <a:buNone/>
            </a:pPr>
            <a:r>
              <a:rPr lang="en-US" sz="620" dirty="0">
                <a:solidFill>
                  <a:srgbClr val="C9C9C7"/>
                </a:solidFill>
                <a:latin typeface="Lora" pitchFamily="34" charset="0"/>
                <a:ea typeface="Lora" pitchFamily="34" charset="-122"/>
                <a:cs typeface="Lora" pitchFamily="34" charset="-120"/>
              </a:rPr>
              <a:t>short + long-term · session state</a:t>
            </a:r>
            <a:endParaRPr lang="en-US" sz="620" dirty="0"/>
          </a:p>
        </p:txBody>
      </p:sp>
      <p:sp>
        <p:nvSpPr>
          <p:cNvPr id="89" name="Shape 87"/>
          <p:cNvSpPr/>
          <p:nvPr/>
        </p:nvSpPr>
        <p:spPr>
          <a:xfrm>
            <a:off x="9141714" y="4389120"/>
            <a:ext cx="2553462" cy="365760"/>
          </a:xfrm>
          <a:prstGeom prst="roundRect">
            <a:avLst>
              <a:gd name="adj" fmla="val 10000"/>
            </a:avLst>
          </a:prstGeom>
          <a:solidFill>
            <a:srgbClr val="403A52"/>
          </a:solidFill>
          <a:ln/>
        </p:spPr>
        <p:txBody>
          <a:bodyPr/>
          <a:lstStyle/>
          <a:p>
            <a:endParaRPr lang="en-US"/>
          </a:p>
        </p:txBody>
      </p:sp>
      <p:sp>
        <p:nvSpPr>
          <p:cNvPr id="90" name="Text 88"/>
          <p:cNvSpPr/>
          <p:nvPr/>
        </p:nvSpPr>
        <p:spPr>
          <a:xfrm>
            <a:off x="9178290" y="4425696"/>
            <a:ext cx="2480310" cy="164592"/>
          </a:xfrm>
          <a:prstGeom prst="rect">
            <a:avLst/>
          </a:prstGeom>
          <a:noFill/>
          <a:ln/>
        </p:spPr>
        <p:txBody>
          <a:bodyPr wrap="square" lIns="0" tIns="0" rIns="0" bIns="0" rtlCol="0" anchor="ctr"/>
          <a:lstStyle/>
          <a:p>
            <a:pPr marL="0" indent="0" algn="ctr">
              <a:buNone/>
            </a:pPr>
            <a:r>
              <a:rPr lang="en-US" sz="800" b="1" dirty="0">
                <a:solidFill>
                  <a:srgbClr val="C9B8E8"/>
                </a:solidFill>
                <a:latin typeface="Montserrat" pitchFamily="34" charset="0"/>
                <a:ea typeface="Montserrat" pitchFamily="34" charset="-122"/>
                <a:cs typeface="Montserrat" pitchFamily="34" charset="-120"/>
              </a:rPr>
              <a:t>Agent runtime</a:t>
            </a:r>
            <a:endParaRPr lang="en-US" sz="800" dirty="0"/>
          </a:p>
        </p:txBody>
      </p:sp>
      <p:sp>
        <p:nvSpPr>
          <p:cNvPr id="91" name="Text 89"/>
          <p:cNvSpPr/>
          <p:nvPr/>
        </p:nvSpPr>
        <p:spPr>
          <a:xfrm>
            <a:off x="9178290" y="4590288"/>
            <a:ext cx="2480310" cy="164592"/>
          </a:xfrm>
          <a:prstGeom prst="rect">
            <a:avLst/>
          </a:prstGeom>
          <a:noFill/>
          <a:ln/>
        </p:spPr>
        <p:txBody>
          <a:bodyPr wrap="square" lIns="0" tIns="0" rIns="0" bIns="0" rtlCol="0" anchor="ctr"/>
          <a:lstStyle/>
          <a:p>
            <a:pPr marL="0" indent="0" algn="ctr">
              <a:buNone/>
            </a:pPr>
            <a:r>
              <a:rPr lang="en-US" sz="620" dirty="0">
                <a:solidFill>
                  <a:srgbClr val="C9C9C7"/>
                </a:solidFill>
                <a:latin typeface="Lora" pitchFamily="34" charset="0"/>
                <a:ea typeface="Lora" pitchFamily="34" charset="-122"/>
                <a:cs typeface="Lora" pitchFamily="34" charset="-120"/>
              </a:rPr>
              <a:t>MCP · A2A · tool calling · evals</a:t>
            </a:r>
            <a:endParaRPr lang="en-US" sz="620" dirty="0"/>
          </a:p>
        </p:txBody>
      </p:sp>
      <p:sp>
        <p:nvSpPr>
          <p:cNvPr id="92" name="Shape 90"/>
          <p:cNvSpPr/>
          <p:nvPr/>
        </p:nvSpPr>
        <p:spPr>
          <a:xfrm>
            <a:off x="969264" y="4937760"/>
            <a:ext cx="10853928" cy="841248"/>
          </a:xfrm>
          <a:prstGeom prst="roundRect">
            <a:avLst>
              <a:gd name="adj" fmla="val 4098"/>
            </a:avLst>
          </a:prstGeom>
          <a:solidFill>
            <a:srgbClr val="F5F4F1"/>
          </a:solidFill>
          <a:ln/>
        </p:spPr>
        <p:txBody>
          <a:bodyPr/>
          <a:lstStyle/>
          <a:p>
            <a:endParaRPr lang="en-US" dirty="0"/>
          </a:p>
        </p:txBody>
      </p:sp>
      <p:sp>
        <p:nvSpPr>
          <p:cNvPr id="93" name="Text 91"/>
          <p:cNvSpPr/>
          <p:nvPr/>
        </p:nvSpPr>
        <p:spPr>
          <a:xfrm>
            <a:off x="1097280" y="4974336"/>
            <a:ext cx="4572000" cy="182880"/>
          </a:xfrm>
          <a:prstGeom prst="rect">
            <a:avLst/>
          </a:prstGeom>
          <a:noFill/>
          <a:ln/>
        </p:spPr>
        <p:txBody>
          <a:bodyPr wrap="square" lIns="0" tIns="0" rIns="0" bIns="0" rtlCol="0" anchor="ctr"/>
          <a:lstStyle/>
          <a:p>
            <a:pPr marL="0" indent="0">
              <a:buNone/>
            </a:pPr>
            <a:r>
              <a:rPr lang="en-US" sz="900" b="1" kern="0" spc="50" dirty="0">
                <a:solidFill>
                  <a:srgbClr val="333333"/>
                </a:solidFill>
                <a:latin typeface="Montserrat" pitchFamily="34" charset="0"/>
                <a:ea typeface="Montserrat" pitchFamily="34" charset="-122"/>
                <a:cs typeface="Montserrat" pitchFamily="34" charset="-120"/>
              </a:rPr>
              <a:t>DATA UNIVERSE</a:t>
            </a:r>
            <a:endParaRPr lang="en-US" sz="900" dirty="0"/>
          </a:p>
        </p:txBody>
      </p:sp>
      <p:sp>
        <p:nvSpPr>
          <p:cNvPr id="94" name="Text 92"/>
          <p:cNvSpPr/>
          <p:nvPr/>
        </p:nvSpPr>
        <p:spPr>
          <a:xfrm>
            <a:off x="2798064" y="4983480"/>
            <a:ext cx="5943600" cy="164592"/>
          </a:xfrm>
          <a:prstGeom prst="rect">
            <a:avLst/>
          </a:prstGeom>
          <a:noFill/>
          <a:ln/>
        </p:spPr>
        <p:txBody>
          <a:bodyPr wrap="square" lIns="0" tIns="0" rIns="0" bIns="0" rtlCol="0" anchor="ctr"/>
          <a:lstStyle/>
          <a:p>
            <a:pPr marL="0" indent="0">
              <a:buNone/>
            </a:pPr>
            <a:r>
              <a:rPr lang="en-US" sz="700" i="1" dirty="0">
                <a:solidFill>
                  <a:srgbClr val="A0A5AB"/>
                </a:solidFill>
                <a:latin typeface="Lora" pitchFamily="34" charset="0"/>
                <a:ea typeface="Lora" pitchFamily="34" charset="-122"/>
                <a:cs typeface="Lora" pitchFamily="34" charset="-120"/>
              </a:rPr>
              <a:t>accessed via feature serving · RAG / vector retrieval · events · APIs</a:t>
            </a:r>
            <a:endParaRPr lang="en-US" sz="700" dirty="0"/>
          </a:p>
        </p:txBody>
      </p:sp>
      <p:sp>
        <p:nvSpPr>
          <p:cNvPr id="95" name="Shape 93"/>
          <p:cNvSpPr/>
          <p:nvPr/>
        </p:nvSpPr>
        <p:spPr>
          <a:xfrm>
            <a:off x="1097280" y="5157216"/>
            <a:ext cx="1419933" cy="384048"/>
          </a:xfrm>
          <a:prstGeom prst="roundRect">
            <a:avLst>
              <a:gd name="adj" fmla="val 9524"/>
            </a:avLst>
          </a:prstGeom>
          <a:solidFill>
            <a:srgbClr val="FDFDFD"/>
          </a:solidFill>
          <a:ln w="9525">
            <a:solidFill>
              <a:srgbClr val="C9C7BF"/>
            </a:solidFill>
            <a:prstDash val="solid"/>
          </a:ln>
        </p:spPr>
        <p:txBody>
          <a:bodyPr/>
          <a:lstStyle/>
          <a:p>
            <a:endParaRPr lang="en-US"/>
          </a:p>
        </p:txBody>
      </p:sp>
      <p:sp>
        <p:nvSpPr>
          <p:cNvPr id="96" name="Text 94"/>
          <p:cNvSpPr/>
          <p:nvPr/>
        </p:nvSpPr>
        <p:spPr>
          <a:xfrm>
            <a:off x="1133856" y="5202936"/>
            <a:ext cx="1346781" cy="182880"/>
          </a:xfrm>
          <a:prstGeom prst="rect">
            <a:avLst/>
          </a:prstGeom>
          <a:noFill/>
          <a:ln/>
        </p:spPr>
        <p:txBody>
          <a:bodyPr wrap="square" lIns="0" tIns="0" rIns="0" bIns="0" rtlCol="0" anchor="t"/>
          <a:lstStyle/>
          <a:p>
            <a:pPr marL="0" indent="0" algn="ctr">
              <a:lnSpc>
                <a:spcPct val="90000"/>
              </a:lnSpc>
              <a:buNone/>
            </a:pPr>
            <a:r>
              <a:rPr lang="en-US" sz="780" b="1" dirty="0">
                <a:solidFill>
                  <a:srgbClr val="333333"/>
                </a:solidFill>
                <a:latin typeface="Montserrat" pitchFamily="34" charset="0"/>
                <a:ea typeface="Montserrat" pitchFamily="34" charset="-122"/>
                <a:cs typeface="Montserrat" pitchFamily="34" charset="-120"/>
              </a:rPr>
              <a:t>CRM</a:t>
            </a:r>
            <a:endParaRPr lang="en-US" sz="780" dirty="0"/>
          </a:p>
        </p:txBody>
      </p:sp>
      <p:sp>
        <p:nvSpPr>
          <p:cNvPr id="97" name="Text 95"/>
          <p:cNvSpPr/>
          <p:nvPr/>
        </p:nvSpPr>
        <p:spPr>
          <a:xfrm>
            <a:off x="1133856" y="5376672"/>
            <a:ext cx="1346781" cy="146304"/>
          </a:xfrm>
          <a:prstGeom prst="rect">
            <a:avLst/>
          </a:prstGeom>
          <a:noFill/>
          <a:ln/>
        </p:spPr>
        <p:txBody>
          <a:bodyPr wrap="square" lIns="0" tIns="0" rIns="0" bIns="0" rtlCol="0" anchor="t"/>
          <a:lstStyle/>
          <a:p>
            <a:pPr marL="0" indent="0" algn="ctr">
              <a:lnSpc>
                <a:spcPct val="90000"/>
              </a:lnSpc>
              <a:buNone/>
            </a:pPr>
            <a:r>
              <a:rPr lang="en-US" sz="630" dirty="0">
                <a:solidFill>
                  <a:srgbClr val="A0A5AB"/>
                </a:solidFill>
                <a:latin typeface="Lora" pitchFamily="34" charset="0"/>
                <a:ea typeface="Lora" pitchFamily="34" charset="-122"/>
                <a:cs typeface="Lora" pitchFamily="34" charset="-120"/>
              </a:rPr>
              <a:t>customer</a:t>
            </a:r>
            <a:endParaRPr lang="en-US" sz="630" dirty="0"/>
          </a:p>
        </p:txBody>
      </p:sp>
      <p:sp>
        <p:nvSpPr>
          <p:cNvPr id="98" name="Shape 96"/>
          <p:cNvSpPr/>
          <p:nvPr/>
        </p:nvSpPr>
        <p:spPr>
          <a:xfrm>
            <a:off x="2626941" y="5157216"/>
            <a:ext cx="1419933" cy="384048"/>
          </a:xfrm>
          <a:prstGeom prst="roundRect">
            <a:avLst>
              <a:gd name="adj" fmla="val 9524"/>
            </a:avLst>
          </a:prstGeom>
          <a:solidFill>
            <a:srgbClr val="FDFDFD"/>
          </a:solidFill>
          <a:ln w="9525">
            <a:solidFill>
              <a:srgbClr val="C9C7BF"/>
            </a:solidFill>
            <a:prstDash val="solid"/>
          </a:ln>
        </p:spPr>
        <p:txBody>
          <a:bodyPr/>
          <a:lstStyle/>
          <a:p>
            <a:endParaRPr lang="en-US"/>
          </a:p>
        </p:txBody>
      </p:sp>
      <p:sp>
        <p:nvSpPr>
          <p:cNvPr id="99" name="Text 97"/>
          <p:cNvSpPr/>
          <p:nvPr/>
        </p:nvSpPr>
        <p:spPr>
          <a:xfrm>
            <a:off x="2663517" y="5202936"/>
            <a:ext cx="1346781" cy="182880"/>
          </a:xfrm>
          <a:prstGeom prst="rect">
            <a:avLst/>
          </a:prstGeom>
          <a:noFill/>
          <a:ln/>
        </p:spPr>
        <p:txBody>
          <a:bodyPr wrap="square" lIns="0" tIns="0" rIns="0" bIns="0" rtlCol="0" anchor="t"/>
          <a:lstStyle/>
          <a:p>
            <a:pPr marL="0" indent="0" algn="ctr">
              <a:lnSpc>
                <a:spcPct val="90000"/>
              </a:lnSpc>
              <a:buNone/>
            </a:pPr>
            <a:r>
              <a:rPr lang="en-US" sz="780" b="1" dirty="0">
                <a:solidFill>
                  <a:srgbClr val="333333"/>
                </a:solidFill>
                <a:latin typeface="Montserrat" pitchFamily="34" charset="0"/>
                <a:ea typeface="Montserrat" pitchFamily="34" charset="-122"/>
                <a:cs typeface="Montserrat" pitchFamily="34" charset="-120"/>
              </a:rPr>
              <a:t>Loyalty</a:t>
            </a:r>
            <a:endParaRPr lang="en-US" sz="780" dirty="0"/>
          </a:p>
        </p:txBody>
      </p:sp>
      <p:sp>
        <p:nvSpPr>
          <p:cNvPr id="100" name="Text 98"/>
          <p:cNvSpPr/>
          <p:nvPr/>
        </p:nvSpPr>
        <p:spPr>
          <a:xfrm>
            <a:off x="2663517" y="5376672"/>
            <a:ext cx="1346781" cy="146304"/>
          </a:xfrm>
          <a:prstGeom prst="rect">
            <a:avLst/>
          </a:prstGeom>
          <a:noFill/>
          <a:ln/>
        </p:spPr>
        <p:txBody>
          <a:bodyPr wrap="square" lIns="0" tIns="0" rIns="0" bIns="0" rtlCol="0" anchor="t"/>
          <a:lstStyle/>
          <a:p>
            <a:pPr marL="0" indent="0" algn="ctr">
              <a:lnSpc>
                <a:spcPct val="90000"/>
              </a:lnSpc>
              <a:buNone/>
            </a:pPr>
            <a:r>
              <a:rPr lang="en-US" sz="630" dirty="0">
                <a:solidFill>
                  <a:srgbClr val="A0A5AB"/>
                </a:solidFill>
                <a:latin typeface="Lora" pitchFamily="34" charset="0"/>
                <a:ea typeface="Lora" pitchFamily="34" charset="-122"/>
                <a:cs typeface="Lora" pitchFamily="34" charset="-120"/>
              </a:rPr>
              <a:t>points · tiers</a:t>
            </a:r>
            <a:endParaRPr lang="en-US" sz="630" dirty="0"/>
          </a:p>
        </p:txBody>
      </p:sp>
      <p:sp>
        <p:nvSpPr>
          <p:cNvPr id="101" name="Shape 99"/>
          <p:cNvSpPr/>
          <p:nvPr/>
        </p:nvSpPr>
        <p:spPr>
          <a:xfrm>
            <a:off x="4156601" y="5157216"/>
            <a:ext cx="1419933" cy="384048"/>
          </a:xfrm>
          <a:prstGeom prst="roundRect">
            <a:avLst>
              <a:gd name="adj" fmla="val 9524"/>
            </a:avLst>
          </a:prstGeom>
          <a:solidFill>
            <a:srgbClr val="FDFDFD"/>
          </a:solidFill>
          <a:ln w="9525">
            <a:solidFill>
              <a:srgbClr val="C9C7BF"/>
            </a:solidFill>
            <a:prstDash val="solid"/>
          </a:ln>
        </p:spPr>
        <p:txBody>
          <a:bodyPr/>
          <a:lstStyle/>
          <a:p>
            <a:endParaRPr lang="en-US"/>
          </a:p>
        </p:txBody>
      </p:sp>
      <p:sp>
        <p:nvSpPr>
          <p:cNvPr id="102" name="Text 100"/>
          <p:cNvSpPr/>
          <p:nvPr/>
        </p:nvSpPr>
        <p:spPr>
          <a:xfrm>
            <a:off x="4193177" y="5202936"/>
            <a:ext cx="1346781" cy="182880"/>
          </a:xfrm>
          <a:prstGeom prst="rect">
            <a:avLst/>
          </a:prstGeom>
          <a:noFill/>
          <a:ln/>
        </p:spPr>
        <p:txBody>
          <a:bodyPr wrap="square" lIns="0" tIns="0" rIns="0" bIns="0" rtlCol="0" anchor="t"/>
          <a:lstStyle/>
          <a:p>
            <a:pPr marL="0" indent="0" algn="ctr">
              <a:lnSpc>
                <a:spcPct val="90000"/>
              </a:lnSpc>
              <a:buNone/>
            </a:pPr>
            <a:r>
              <a:rPr lang="en-US" sz="780" b="1" dirty="0">
                <a:solidFill>
                  <a:srgbClr val="333333"/>
                </a:solidFill>
                <a:latin typeface="Montserrat" pitchFamily="34" charset="0"/>
                <a:ea typeface="Montserrat" pitchFamily="34" charset="-122"/>
                <a:cs typeface="Montserrat" pitchFamily="34" charset="-120"/>
              </a:rPr>
              <a:t>Catalogue / PIM</a:t>
            </a:r>
            <a:endParaRPr lang="en-US" sz="780" dirty="0"/>
          </a:p>
        </p:txBody>
      </p:sp>
      <p:sp>
        <p:nvSpPr>
          <p:cNvPr id="103" name="Text 101"/>
          <p:cNvSpPr/>
          <p:nvPr/>
        </p:nvSpPr>
        <p:spPr>
          <a:xfrm>
            <a:off x="4193177" y="5376672"/>
            <a:ext cx="1346781" cy="146304"/>
          </a:xfrm>
          <a:prstGeom prst="rect">
            <a:avLst/>
          </a:prstGeom>
          <a:noFill/>
          <a:ln/>
        </p:spPr>
        <p:txBody>
          <a:bodyPr wrap="square" lIns="0" tIns="0" rIns="0" bIns="0" rtlCol="0" anchor="t"/>
          <a:lstStyle/>
          <a:p>
            <a:pPr marL="0" indent="0" algn="ctr">
              <a:lnSpc>
                <a:spcPct val="90000"/>
              </a:lnSpc>
              <a:buNone/>
            </a:pPr>
            <a:r>
              <a:rPr lang="en-US" sz="630" dirty="0">
                <a:solidFill>
                  <a:srgbClr val="A0A5AB"/>
                </a:solidFill>
                <a:latin typeface="Lora" pitchFamily="34" charset="0"/>
                <a:ea typeface="Lora" pitchFamily="34" charset="-122"/>
                <a:cs typeface="Lora" pitchFamily="34" charset="-120"/>
              </a:rPr>
              <a:t>product</a:t>
            </a:r>
            <a:endParaRPr lang="en-US" sz="630" dirty="0"/>
          </a:p>
        </p:txBody>
      </p:sp>
      <p:sp>
        <p:nvSpPr>
          <p:cNvPr id="104" name="Shape 102"/>
          <p:cNvSpPr/>
          <p:nvPr/>
        </p:nvSpPr>
        <p:spPr>
          <a:xfrm>
            <a:off x="5686262" y="5157216"/>
            <a:ext cx="1419933" cy="384048"/>
          </a:xfrm>
          <a:prstGeom prst="roundRect">
            <a:avLst>
              <a:gd name="adj" fmla="val 9524"/>
            </a:avLst>
          </a:prstGeom>
          <a:solidFill>
            <a:srgbClr val="FDFDFD"/>
          </a:solidFill>
          <a:ln w="9525">
            <a:solidFill>
              <a:srgbClr val="C9C7BF"/>
            </a:solidFill>
            <a:prstDash val="solid"/>
          </a:ln>
        </p:spPr>
        <p:txBody>
          <a:bodyPr/>
          <a:lstStyle/>
          <a:p>
            <a:endParaRPr lang="en-US"/>
          </a:p>
        </p:txBody>
      </p:sp>
      <p:sp>
        <p:nvSpPr>
          <p:cNvPr id="105" name="Text 103"/>
          <p:cNvSpPr/>
          <p:nvPr/>
        </p:nvSpPr>
        <p:spPr>
          <a:xfrm>
            <a:off x="5722838" y="5202936"/>
            <a:ext cx="1346781" cy="182880"/>
          </a:xfrm>
          <a:prstGeom prst="rect">
            <a:avLst/>
          </a:prstGeom>
          <a:noFill/>
          <a:ln/>
        </p:spPr>
        <p:txBody>
          <a:bodyPr wrap="square" lIns="0" tIns="0" rIns="0" bIns="0" rtlCol="0" anchor="t"/>
          <a:lstStyle/>
          <a:p>
            <a:pPr marL="0" indent="0" algn="ctr">
              <a:lnSpc>
                <a:spcPct val="90000"/>
              </a:lnSpc>
              <a:buNone/>
            </a:pPr>
            <a:r>
              <a:rPr lang="en-US" sz="780" b="1" dirty="0">
                <a:solidFill>
                  <a:srgbClr val="333333"/>
                </a:solidFill>
                <a:latin typeface="Montserrat" pitchFamily="34" charset="0"/>
                <a:ea typeface="Montserrat" pitchFamily="34" charset="-122"/>
                <a:cs typeface="Montserrat" pitchFamily="34" charset="-120"/>
              </a:rPr>
              <a:t>Inventory</a:t>
            </a:r>
            <a:endParaRPr lang="en-US" sz="780" dirty="0"/>
          </a:p>
        </p:txBody>
      </p:sp>
      <p:sp>
        <p:nvSpPr>
          <p:cNvPr id="106" name="Text 104"/>
          <p:cNvSpPr/>
          <p:nvPr/>
        </p:nvSpPr>
        <p:spPr>
          <a:xfrm>
            <a:off x="5722838" y="5376672"/>
            <a:ext cx="1346781" cy="146304"/>
          </a:xfrm>
          <a:prstGeom prst="rect">
            <a:avLst/>
          </a:prstGeom>
          <a:noFill/>
          <a:ln/>
        </p:spPr>
        <p:txBody>
          <a:bodyPr wrap="square" lIns="0" tIns="0" rIns="0" bIns="0" rtlCol="0" anchor="t"/>
          <a:lstStyle/>
          <a:p>
            <a:pPr marL="0" indent="0" algn="ctr">
              <a:lnSpc>
                <a:spcPct val="90000"/>
              </a:lnSpc>
              <a:buNone/>
            </a:pPr>
            <a:r>
              <a:rPr lang="en-US" sz="630" dirty="0">
                <a:solidFill>
                  <a:srgbClr val="A0A5AB"/>
                </a:solidFill>
                <a:latin typeface="Lora" pitchFamily="34" charset="0"/>
                <a:ea typeface="Lora" pitchFamily="34" charset="-122"/>
                <a:cs typeface="Lora" pitchFamily="34" charset="-120"/>
              </a:rPr>
              <a:t>stock · availability</a:t>
            </a:r>
            <a:endParaRPr lang="en-US" sz="630" dirty="0"/>
          </a:p>
        </p:txBody>
      </p:sp>
      <p:sp>
        <p:nvSpPr>
          <p:cNvPr id="107" name="Shape 105"/>
          <p:cNvSpPr/>
          <p:nvPr/>
        </p:nvSpPr>
        <p:spPr>
          <a:xfrm>
            <a:off x="7215922" y="5157216"/>
            <a:ext cx="1419933" cy="384048"/>
          </a:xfrm>
          <a:prstGeom prst="roundRect">
            <a:avLst>
              <a:gd name="adj" fmla="val 9524"/>
            </a:avLst>
          </a:prstGeom>
          <a:solidFill>
            <a:srgbClr val="FDFDFD"/>
          </a:solidFill>
          <a:ln w="9525">
            <a:solidFill>
              <a:srgbClr val="C9C7BF"/>
            </a:solidFill>
            <a:prstDash val="solid"/>
          </a:ln>
        </p:spPr>
        <p:txBody>
          <a:bodyPr/>
          <a:lstStyle/>
          <a:p>
            <a:endParaRPr lang="en-US"/>
          </a:p>
        </p:txBody>
      </p:sp>
      <p:sp>
        <p:nvSpPr>
          <p:cNvPr id="108" name="Text 106"/>
          <p:cNvSpPr/>
          <p:nvPr/>
        </p:nvSpPr>
        <p:spPr>
          <a:xfrm>
            <a:off x="7252498" y="5202936"/>
            <a:ext cx="1346781" cy="182880"/>
          </a:xfrm>
          <a:prstGeom prst="rect">
            <a:avLst/>
          </a:prstGeom>
          <a:noFill/>
          <a:ln/>
        </p:spPr>
        <p:txBody>
          <a:bodyPr wrap="square" lIns="0" tIns="0" rIns="0" bIns="0" rtlCol="0" anchor="t"/>
          <a:lstStyle/>
          <a:p>
            <a:pPr marL="0" indent="0" algn="ctr">
              <a:lnSpc>
                <a:spcPct val="90000"/>
              </a:lnSpc>
              <a:buNone/>
            </a:pPr>
            <a:r>
              <a:rPr lang="en-US" sz="780" b="1" dirty="0">
                <a:solidFill>
                  <a:srgbClr val="333333"/>
                </a:solidFill>
                <a:latin typeface="Montserrat" pitchFamily="34" charset="0"/>
                <a:ea typeface="Montserrat" pitchFamily="34" charset="-122"/>
                <a:cs typeface="Montserrat" pitchFamily="34" charset="-120"/>
              </a:rPr>
              <a:t>Returns</a:t>
            </a:r>
            <a:endParaRPr lang="en-US" sz="780" dirty="0"/>
          </a:p>
        </p:txBody>
      </p:sp>
      <p:sp>
        <p:nvSpPr>
          <p:cNvPr id="109" name="Text 107"/>
          <p:cNvSpPr/>
          <p:nvPr/>
        </p:nvSpPr>
        <p:spPr>
          <a:xfrm>
            <a:off x="7252498" y="5376672"/>
            <a:ext cx="1346781" cy="146304"/>
          </a:xfrm>
          <a:prstGeom prst="rect">
            <a:avLst/>
          </a:prstGeom>
          <a:noFill/>
          <a:ln/>
        </p:spPr>
        <p:txBody>
          <a:bodyPr wrap="square" lIns="0" tIns="0" rIns="0" bIns="0" rtlCol="0" anchor="t"/>
          <a:lstStyle/>
          <a:p>
            <a:pPr marL="0" indent="0" algn="ctr">
              <a:lnSpc>
                <a:spcPct val="90000"/>
              </a:lnSpc>
              <a:buNone/>
            </a:pPr>
            <a:r>
              <a:rPr lang="en-US" sz="630" dirty="0">
                <a:solidFill>
                  <a:srgbClr val="A0A5AB"/>
                </a:solidFill>
                <a:latin typeface="Lora" pitchFamily="34" charset="0"/>
                <a:ea typeface="Lora" pitchFamily="34" charset="-122"/>
                <a:cs typeface="Lora" pitchFamily="34" charset="-120"/>
              </a:rPr>
              <a:t>GRADE reasons</a:t>
            </a:r>
            <a:endParaRPr lang="en-US" sz="630" dirty="0"/>
          </a:p>
        </p:txBody>
      </p:sp>
      <p:sp>
        <p:nvSpPr>
          <p:cNvPr id="110" name="Shape 108"/>
          <p:cNvSpPr/>
          <p:nvPr/>
        </p:nvSpPr>
        <p:spPr>
          <a:xfrm>
            <a:off x="8745583" y="5157216"/>
            <a:ext cx="1419933" cy="384048"/>
          </a:xfrm>
          <a:prstGeom prst="roundRect">
            <a:avLst>
              <a:gd name="adj" fmla="val 9524"/>
            </a:avLst>
          </a:prstGeom>
          <a:solidFill>
            <a:srgbClr val="FDFDFD"/>
          </a:solidFill>
          <a:ln w="9525">
            <a:solidFill>
              <a:srgbClr val="C9C7BF"/>
            </a:solidFill>
            <a:prstDash val="solid"/>
          </a:ln>
        </p:spPr>
        <p:txBody>
          <a:bodyPr/>
          <a:lstStyle/>
          <a:p>
            <a:endParaRPr lang="en-US"/>
          </a:p>
        </p:txBody>
      </p:sp>
      <p:sp>
        <p:nvSpPr>
          <p:cNvPr id="111" name="Text 109"/>
          <p:cNvSpPr/>
          <p:nvPr/>
        </p:nvSpPr>
        <p:spPr>
          <a:xfrm>
            <a:off x="8782159" y="5202936"/>
            <a:ext cx="1346781" cy="182880"/>
          </a:xfrm>
          <a:prstGeom prst="rect">
            <a:avLst/>
          </a:prstGeom>
          <a:noFill/>
          <a:ln/>
        </p:spPr>
        <p:txBody>
          <a:bodyPr wrap="square" lIns="0" tIns="0" rIns="0" bIns="0" rtlCol="0" anchor="t"/>
          <a:lstStyle/>
          <a:p>
            <a:pPr marL="0" indent="0" algn="ctr">
              <a:lnSpc>
                <a:spcPct val="90000"/>
              </a:lnSpc>
              <a:buNone/>
            </a:pPr>
            <a:r>
              <a:rPr lang="en-US" sz="780" b="1" dirty="0">
                <a:solidFill>
                  <a:srgbClr val="333333"/>
                </a:solidFill>
                <a:latin typeface="Montserrat" pitchFamily="34" charset="0"/>
                <a:ea typeface="Montserrat" pitchFamily="34" charset="-122"/>
                <a:cs typeface="Montserrat" pitchFamily="34" charset="-120"/>
              </a:rPr>
              <a:t>Behavioural</a:t>
            </a:r>
            <a:endParaRPr lang="en-US" sz="780" dirty="0"/>
          </a:p>
        </p:txBody>
      </p:sp>
      <p:sp>
        <p:nvSpPr>
          <p:cNvPr id="112" name="Text 110"/>
          <p:cNvSpPr/>
          <p:nvPr/>
        </p:nvSpPr>
        <p:spPr>
          <a:xfrm>
            <a:off x="8782159" y="5376672"/>
            <a:ext cx="1346781" cy="146304"/>
          </a:xfrm>
          <a:prstGeom prst="rect">
            <a:avLst/>
          </a:prstGeom>
          <a:noFill/>
          <a:ln/>
        </p:spPr>
        <p:txBody>
          <a:bodyPr wrap="square" lIns="0" tIns="0" rIns="0" bIns="0" rtlCol="0" anchor="t"/>
          <a:lstStyle/>
          <a:p>
            <a:pPr marL="0" indent="0" algn="ctr">
              <a:lnSpc>
                <a:spcPct val="90000"/>
              </a:lnSpc>
              <a:buNone/>
            </a:pPr>
            <a:r>
              <a:rPr lang="en-US" sz="630" dirty="0">
                <a:solidFill>
                  <a:srgbClr val="A0A5AB"/>
                </a:solidFill>
                <a:latin typeface="Lora" pitchFamily="34" charset="0"/>
                <a:ea typeface="Lora" pitchFamily="34" charset="-122"/>
                <a:cs typeface="Lora" pitchFamily="34" charset="-120"/>
              </a:rPr>
              <a:t>clicks · sessions</a:t>
            </a:r>
            <a:endParaRPr lang="en-US" sz="630" dirty="0"/>
          </a:p>
        </p:txBody>
      </p:sp>
      <p:sp>
        <p:nvSpPr>
          <p:cNvPr id="113" name="Shape 111"/>
          <p:cNvSpPr/>
          <p:nvPr/>
        </p:nvSpPr>
        <p:spPr>
          <a:xfrm>
            <a:off x="10275243" y="5157216"/>
            <a:ext cx="1419933" cy="384048"/>
          </a:xfrm>
          <a:prstGeom prst="roundRect">
            <a:avLst>
              <a:gd name="adj" fmla="val 9524"/>
            </a:avLst>
          </a:prstGeom>
          <a:solidFill>
            <a:srgbClr val="FDFDFD"/>
          </a:solidFill>
          <a:ln w="9525">
            <a:solidFill>
              <a:srgbClr val="C9C7BF"/>
            </a:solidFill>
            <a:prstDash val="solid"/>
          </a:ln>
        </p:spPr>
        <p:txBody>
          <a:bodyPr/>
          <a:lstStyle/>
          <a:p>
            <a:endParaRPr lang="en-US"/>
          </a:p>
        </p:txBody>
      </p:sp>
      <p:sp>
        <p:nvSpPr>
          <p:cNvPr id="114" name="Text 112"/>
          <p:cNvSpPr/>
          <p:nvPr/>
        </p:nvSpPr>
        <p:spPr>
          <a:xfrm>
            <a:off x="10311819" y="5202936"/>
            <a:ext cx="1346781" cy="182880"/>
          </a:xfrm>
          <a:prstGeom prst="rect">
            <a:avLst/>
          </a:prstGeom>
          <a:noFill/>
          <a:ln/>
        </p:spPr>
        <p:txBody>
          <a:bodyPr wrap="square" lIns="0" tIns="0" rIns="0" bIns="0" rtlCol="0" anchor="t"/>
          <a:lstStyle/>
          <a:p>
            <a:pPr marL="0" indent="0" algn="ctr">
              <a:lnSpc>
                <a:spcPct val="90000"/>
              </a:lnSpc>
              <a:buNone/>
            </a:pPr>
            <a:r>
              <a:rPr lang="en-US" sz="780" b="1" dirty="0">
                <a:solidFill>
                  <a:srgbClr val="333333"/>
                </a:solidFill>
                <a:latin typeface="Montserrat" pitchFamily="34" charset="0"/>
                <a:ea typeface="Montserrat" pitchFamily="34" charset="-122"/>
                <a:cs typeface="Montserrat" pitchFamily="34" charset="-120"/>
              </a:rPr>
              <a:t>Transactional</a:t>
            </a:r>
            <a:endParaRPr lang="en-US" sz="780" dirty="0"/>
          </a:p>
        </p:txBody>
      </p:sp>
      <p:sp>
        <p:nvSpPr>
          <p:cNvPr id="115" name="Text 113"/>
          <p:cNvSpPr/>
          <p:nvPr/>
        </p:nvSpPr>
        <p:spPr>
          <a:xfrm>
            <a:off x="10311819" y="5376672"/>
            <a:ext cx="1346781" cy="146304"/>
          </a:xfrm>
          <a:prstGeom prst="rect">
            <a:avLst/>
          </a:prstGeom>
          <a:noFill/>
          <a:ln/>
        </p:spPr>
        <p:txBody>
          <a:bodyPr wrap="square" lIns="0" tIns="0" rIns="0" bIns="0" rtlCol="0" anchor="t"/>
          <a:lstStyle/>
          <a:p>
            <a:pPr marL="0" indent="0" algn="ctr">
              <a:lnSpc>
                <a:spcPct val="90000"/>
              </a:lnSpc>
              <a:buNone/>
            </a:pPr>
            <a:r>
              <a:rPr lang="en-US" sz="630" dirty="0">
                <a:solidFill>
                  <a:srgbClr val="A0A5AB"/>
                </a:solidFill>
                <a:latin typeface="Lora" pitchFamily="34" charset="0"/>
                <a:ea typeface="Lora" pitchFamily="34" charset="-122"/>
                <a:cs typeface="Lora" pitchFamily="34" charset="-120"/>
              </a:rPr>
              <a:t>orders · payments</a:t>
            </a:r>
            <a:endParaRPr lang="en-US" sz="630" dirty="0"/>
          </a:p>
        </p:txBody>
      </p:sp>
      <p:sp>
        <p:nvSpPr>
          <p:cNvPr id="116" name="Text 114"/>
          <p:cNvSpPr/>
          <p:nvPr/>
        </p:nvSpPr>
        <p:spPr>
          <a:xfrm>
            <a:off x="1097280" y="5582517"/>
            <a:ext cx="10597896" cy="182880"/>
          </a:xfrm>
          <a:prstGeom prst="rect">
            <a:avLst/>
          </a:prstGeom>
          <a:noFill/>
          <a:ln/>
        </p:spPr>
        <p:txBody>
          <a:bodyPr wrap="square" lIns="0" tIns="0" rIns="0" bIns="0" rtlCol="0" anchor="ctr"/>
          <a:lstStyle/>
          <a:p>
            <a:pPr marL="0" indent="0" algn="ctr">
              <a:buNone/>
            </a:pPr>
            <a:r>
              <a:rPr lang="en-US" sz="750" b="1" dirty="0">
                <a:solidFill>
                  <a:srgbClr val="E31837"/>
                </a:solidFill>
                <a:latin typeface="Lora" pitchFamily="34" charset="0"/>
                <a:ea typeface="Lora" pitchFamily="34" charset="-122"/>
                <a:cs typeface="Lora" pitchFamily="34" charset="-120"/>
              </a:rPr>
              <a:t>served through:  </a:t>
            </a:r>
            <a:r>
              <a:rPr lang="en-US" sz="750" i="1" dirty="0">
                <a:solidFill>
                  <a:srgbClr val="5F5E5A"/>
                </a:solidFill>
                <a:latin typeface="Lora" pitchFamily="34" charset="0"/>
                <a:ea typeface="Lora" pitchFamily="34" charset="-122"/>
                <a:cs typeface="Lora" pitchFamily="34" charset="-120"/>
              </a:rPr>
              <a:t>Real-time CDP · Vector DB · Data Lakehouse · Feature Store — data lives once, agents retrieve, never copy</a:t>
            </a:r>
            <a:endParaRPr lang="en-US" sz="750" dirty="0"/>
          </a:p>
        </p:txBody>
      </p:sp>
      <p:sp>
        <p:nvSpPr>
          <p:cNvPr id="117" name="Shape 115"/>
          <p:cNvSpPr/>
          <p:nvPr/>
        </p:nvSpPr>
        <p:spPr>
          <a:xfrm>
            <a:off x="6396228" y="1298448"/>
            <a:ext cx="0" cy="73152"/>
          </a:xfrm>
          <a:prstGeom prst="line">
            <a:avLst/>
          </a:prstGeom>
          <a:noFill/>
          <a:ln w="15875">
            <a:solidFill>
              <a:srgbClr val="A0A5AB"/>
            </a:solidFill>
            <a:prstDash val="solid"/>
            <a:tailEnd type="triangle"/>
          </a:ln>
        </p:spPr>
        <p:txBody>
          <a:bodyPr/>
          <a:lstStyle/>
          <a:p>
            <a:endParaRPr lang="en-US"/>
          </a:p>
        </p:txBody>
      </p:sp>
      <p:sp>
        <p:nvSpPr>
          <p:cNvPr id="118" name="Shape 116"/>
          <p:cNvSpPr/>
          <p:nvPr/>
        </p:nvSpPr>
        <p:spPr>
          <a:xfrm>
            <a:off x="6396228" y="1938528"/>
            <a:ext cx="0" cy="109728"/>
          </a:xfrm>
          <a:prstGeom prst="line">
            <a:avLst/>
          </a:prstGeom>
          <a:noFill/>
          <a:ln w="15875">
            <a:solidFill>
              <a:srgbClr val="A0A5AB"/>
            </a:solidFill>
            <a:prstDash val="solid"/>
            <a:tailEnd type="triangle"/>
          </a:ln>
        </p:spPr>
        <p:txBody>
          <a:bodyPr/>
          <a:lstStyle/>
          <a:p>
            <a:endParaRPr lang="en-US"/>
          </a:p>
        </p:txBody>
      </p:sp>
      <p:sp>
        <p:nvSpPr>
          <p:cNvPr id="119" name="Shape 117"/>
          <p:cNvSpPr/>
          <p:nvPr/>
        </p:nvSpPr>
        <p:spPr>
          <a:xfrm>
            <a:off x="6396228" y="2706624"/>
            <a:ext cx="0" cy="109728"/>
          </a:xfrm>
          <a:prstGeom prst="line">
            <a:avLst/>
          </a:prstGeom>
          <a:noFill/>
          <a:ln w="15875">
            <a:solidFill>
              <a:srgbClr val="A0A5AB"/>
            </a:solidFill>
            <a:prstDash val="solid"/>
            <a:tailEnd type="triangle"/>
          </a:ln>
        </p:spPr>
        <p:txBody>
          <a:bodyPr/>
          <a:lstStyle/>
          <a:p>
            <a:endParaRPr lang="en-US"/>
          </a:p>
        </p:txBody>
      </p:sp>
      <p:sp>
        <p:nvSpPr>
          <p:cNvPr id="123" name="Shape 5">
            <a:extLst>
              <a:ext uri="{FF2B5EF4-FFF2-40B4-BE49-F238E27FC236}">
                <a16:creationId xmlns:a16="http://schemas.microsoft.com/office/drawing/2014/main" id="{69FF4333-19DF-7D31-CE94-18A0A4585E1C}"/>
              </a:ext>
            </a:extLst>
          </p:cNvPr>
          <p:cNvSpPr/>
          <p:nvPr/>
        </p:nvSpPr>
        <p:spPr>
          <a:xfrm>
            <a:off x="158785" y="905469"/>
            <a:ext cx="19523" cy="4996983"/>
          </a:xfrm>
          <a:prstGeom prst="line">
            <a:avLst/>
          </a:prstGeom>
          <a:noFill/>
          <a:ln w="44450">
            <a:solidFill>
              <a:srgbClr val="E31837"/>
            </a:solidFill>
            <a:prstDash val="solid"/>
            <a:tailEnd type="triangle"/>
          </a:ln>
        </p:spPr>
        <p:txBody>
          <a:bodyPr/>
          <a:lstStyle/>
          <a:p>
            <a:endParaRPr lang="en-US"/>
          </a:p>
        </p:txBody>
      </p:sp>
      <p:sp>
        <p:nvSpPr>
          <p:cNvPr id="124" name="Text 6">
            <a:extLst>
              <a:ext uri="{FF2B5EF4-FFF2-40B4-BE49-F238E27FC236}">
                <a16:creationId xmlns:a16="http://schemas.microsoft.com/office/drawing/2014/main" id="{7FCC9BB0-4E48-674B-37D6-7B62910548EA}"/>
              </a:ext>
            </a:extLst>
          </p:cNvPr>
          <p:cNvSpPr/>
          <p:nvPr/>
        </p:nvSpPr>
        <p:spPr>
          <a:xfrm rot="16200000">
            <a:off x="-1232337" y="2733220"/>
            <a:ext cx="3017520" cy="237744"/>
          </a:xfrm>
          <a:prstGeom prst="rect">
            <a:avLst/>
          </a:prstGeom>
          <a:noFill/>
          <a:ln/>
        </p:spPr>
        <p:txBody>
          <a:bodyPr wrap="square" lIns="0" tIns="0" rIns="0" bIns="0" rtlCol="0" anchor="ctr"/>
          <a:lstStyle/>
          <a:p>
            <a:pPr marL="0" indent="0" algn="ctr">
              <a:buNone/>
            </a:pPr>
            <a:r>
              <a:rPr lang="en-US" sz="900" b="1" kern="0" spc="100" dirty="0">
                <a:solidFill>
                  <a:srgbClr val="E31837"/>
                </a:solidFill>
                <a:latin typeface="Montserrat" pitchFamily="34" charset="0"/>
                <a:ea typeface="Montserrat" pitchFamily="34" charset="-122"/>
                <a:cs typeface="Montserrat" pitchFamily="34" charset="-120"/>
              </a:rPr>
              <a:t>REQUEST ↓</a:t>
            </a:r>
            <a:endParaRPr lang="en-US" sz="900" dirty="0"/>
          </a:p>
        </p:txBody>
      </p:sp>
      <p:sp>
        <p:nvSpPr>
          <p:cNvPr id="125" name="Shape 28">
            <a:extLst>
              <a:ext uri="{FF2B5EF4-FFF2-40B4-BE49-F238E27FC236}">
                <a16:creationId xmlns:a16="http://schemas.microsoft.com/office/drawing/2014/main" id="{E43D7547-113F-4663-0698-09844ECE8BB6}"/>
              </a:ext>
            </a:extLst>
          </p:cNvPr>
          <p:cNvSpPr/>
          <p:nvPr/>
        </p:nvSpPr>
        <p:spPr>
          <a:xfrm flipV="1">
            <a:off x="139263" y="1101852"/>
            <a:ext cx="830001" cy="3736"/>
          </a:xfrm>
          <a:prstGeom prst="line">
            <a:avLst/>
          </a:prstGeom>
          <a:noFill/>
          <a:ln w="19050">
            <a:solidFill>
              <a:srgbClr val="E31837"/>
            </a:solidFill>
            <a:prstDash val="solid"/>
            <a:tailEnd type="triangle"/>
          </a:ln>
        </p:spPr>
        <p:txBody>
          <a:bodyPr/>
          <a:lstStyle/>
          <a:p>
            <a:endParaRPr lang="en-US"/>
          </a:p>
        </p:txBody>
      </p:sp>
      <p:sp>
        <p:nvSpPr>
          <p:cNvPr id="126" name="Shape 29">
            <a:extLst>
              <a:ext uri="{FF2B5EF4-FFF2-40B4-BE49-F238E27FC236}">
                <a16:creationId xmlns:a16="http://schemas.microsoft.com/office/drawing/2014/main" id="{DAC01FA9-D330-51C7-49DC-B0A37F4330A2}"/>
              </a:ext>
            </a:extLst>
          </p:cNvPr>
          <p:cNvSpPr/>
          <p:nvPr/>
        </p:nvSpPr>
        <p:spPr>
          <a:xfrm flipV="1">
            <a:off x="139263" y="1727798"/>
            <a:ext cx="830002" cy="8308"/>
          </a:xfrm>
          <a:prstGeom prst="line">
            <a:avLst/>
          </a:prstGeom>
          <a:noFill/>
          <a:ln w="19050">
            <a:solidFill>
              <a:srgbClr val="E31837"/>
            </a:solidFill>
            <a:prstDash val="solid"/>
            <a:tailEnd type="triangle"/>
          </a:ln>
        </p:spPr>
        <p:txBody>
          <a:bodyPr/>
          <a:lstStyle/>
          <a:p>
            <a:endParaRPr lang="en-US"/>
          </a:p>
        </p:txBody>
      </p:sp>
      <p:sp>
        <p:nvSpPr>
          <p:cNvPr id="127" name="Shape 30">
            <a:extLst>
              <a:ext uri="{FF2B5EF4-FFF2-40B4-BE49-F238E27FC236}">
                <a16:creationId xmlns:a16="http://schemas.microsoft.com/office/drawing/2014/main" id="{13DBBA5A-4A2C-B0F4-245B-ED7425D52EE7}"/>
              </a:ext>
            </a:extLst>
          </p:cNvPr>
          <p:cNvSpPr/>
          <p:nvPr/>
        </p:nvSpPr>
        <p:spPr>
          <a:xfrm flipV="1">
            <a:off x="139262" y="2359152"/>
            <a:ext cx="1584433" cy="1058"/>
          </a:xfrm>
          <a:prstGeom prst="line">
            <a:avLst/>
          </a:prstGeom>
          <a:noFill/>
          <a:ln w="19050">
            <a:solidFill>
              <a:srgbClr val="E31837"/>
            </a:solidFill>
            <a:prstDash val="solid"/>
            <a:tailEnd type="triangle"/>
          </a:ln>
        </p:spPr>
        <p:txBody>
          <a:bodyPr/>
          <a:lstStyle/>
          <a:p>
            <a:endParaRPr lang="en-US"/>
          </a:p>
        </p:txBody>
      </p:sp>
      <p:sp>
        <p:nvSpPr>
          <p:cNvPr id="128" name="Shape 45">
            <a:extLst>
              <a:ext uri="{FF2B5EF4-FFF2-40B4-BE49-F238E27FC236}">
                <a16:creationId xmlns:a16="http://schemas.microsoft.com/office/drawing/2014/main" id="{4E4D3BCD-A95D-1C63-573E-073D8600388E}"/>
              </a:ext>
            </a:extLst>
          </p:cNvPr>
          <p:cNvSpPr/>
          <p:nvPr/>
        </p:nvSpPr>
        <p:spPr>
          <a:xfrm>
            <a:off x="444067" y="3480499"/>
            <a:ext cx="548640" cy="0"/>
          </a:xfrm>
          <a:prstGeom prst="line">
            <a:avLst/>
          </a:prstGeom>
          <a:noFill/>
          <a:ln w="17780">
            <a:solidFill>
              <a:srgbClr val="A0A5AB"/>
            </a:solidFill>
            <a:prstDash val="dash"/>
            <a:tailEnd type="triangle"/>
          </a:ln>
        </p:spPr>
        <p:txBody>
          <a:bodyPr/>
          <a:lstStyle/>
          <a:p>
            <a:endParaRPr lang="en-US"/>
          </a:p>
        </p:txBody>
      </p:sp>
      <p:sp>
        <p:nvSpPr>
          <p:cNvPr id="129" name="Text 46">
            <a:extLst>
              <a:ext uri="{FF2B5EF4-FFF2-40B4-BE49-F238E27FC236}">
                <a16:creationId xmlns:a16="http://schemas.microsoft.com/office/drawing/2014/main" id="{47859B48-5401-6919-F771-F53D2F6EAD08}"/>
              </a:ext>
            </a:extLst>
          </p:cNvPr>
          <p:cNvSpPr/>
          <p:nvPr/>
        </p:nvSpPr>
        <p:spPr>
          <a:xfrm>
            <a:off x="-198644" y="3291840"/>
            <a:ext cx="914400" cy="274320"/>
          </a:xfrm>
          <a:prstGeom prst="rect">
            <a:avLst/>
          </a:prstGeom>
          <a:noFill/>
          <a:ln/>
        </p:spPr>
        <p:txBody>
          <a:bodyPr wrap="square" lIns="0" tIns="0" rIns="0" bIns="0" rtlCol="0" anchor="ctr"/>
          <a:lstStyle/>
          <a:p>
            <a:pPr marL="0" indent="0" algn="ctr">
              <a:buNone/>
            </a:pPr>
            <a:r>
              <a:rPr lang="en-US" sz="650" i="1" dirty="0">
                <a:solidFill>
                  <a:schemeClr val="tx1">
                    <a:lumMod val="85000"/>
                    <a:lumOff val="15000"/>
                  </a:schemeClr>
                </a:solidFill>
                <a:latin typeface="Lora" pitchFamily="34" charset="0"/>
                <a:ea typeface="Lora" pitchFamily="34" charset="-122"/>
                <a:cs typeface="Lora" pitchFamily="34" charset="-120"/>
              </a:rPr>
              <a:t>event trigger</a:t>
            </a:r>
            <a:endParaRPr lang="en-US" sz="650" dirty="0">
              <a:solidFill>
                <a:schemeClr val="tx1">
                  <a:lumMod val="85000"/>
                  <a:lumOff val="15000"/>
                </a:schemeClr>
              </a:solidFill>
            </a:endParaRPr>
          </a:p>
        </p:txBody>
      </p:sp>
      <p:sp>
        <p:nvSpPr>
          <p:cNvPr id="130" name="Shape 47">
            <a:extLst>
              <a:ext uri="{FF2B5EF4-FFF2-40B4-BE49-F238E27FC236}">
                <a16:creationId xmlns:a16="http://schemas.microsoft.com/office/drawing/2014/main" id="{36C6D2C5-0D49-ED19-3FFE-5FA3C8EF8181}"/>
              </a:ext>
            </a:extLst>
          </p:cNvPr>
          <p:cNvSpPr/>
          <p:nvPr/>
        </p:nvSpPr>
        <p:spPr>
          <a:xfrm>
            <a:off x="10945368" y="2706624"/>
            <a:ext cx="0" cy="1636776"/>
          </a:xfrm>
          <a:prstGeom prst="line">
            <a:avLst/>
          </a:prstGeom>
          <a:noFill/>
          <a:ln w="15240">
            <a:solidFill>
              <a:srgbClr val="2E7D52"/>
            </a:solidFill>
            <a:prstDash val="dash"/>
          </a:ln>
        </p:spPr>
        <p:txBody>
          <a:bodyPr/>
          <a:lstStyle/>
          <a:p>
            <a:endParaRPr lang="en-US"/>
          </a:p>
        </p:txBody>
      </p:sp>
      <p:sp>
        <p:nvSpPr>
          <p:cNvPr id="131" name="Text 48">
            <a:extLst>
              <a:ext uri="{FF2B5EF4-FFF2-40B4-BE49-F238E27FC236}">
                <a16:creationId xmlns:a16="http://schemas.microsoft.com/office/drawing/2014/main" id="{EF4A7968-56FF-A546-B6E1-7280B8A8D691}"/>
              </a:ext>
            </a:extLst>
          </p:cNvPr>
          <p:cNvSpPr/>
          <p:nvPr/>
        </p:nvSpPr>
        <p:spPr>
          <a:xfrm>
            <a:off x="11000232" y="3840480"/>
            <a:ext cx="1463040" cy="365760"/>
          </a:xfrm>
          <a:prstGeom prst="rect">
            <a:avLst/>
          </a:prstGeom>
          <a:noFill/>
          <a:ln/>
        </p:spPr>
        <p:txBody>
          <a:bodyPr wrap="square" lIns="0" tIns="0" rIns="0" bIns="0" rtlCol="0" anchor="ctr"/>
          <a:lstStyle/>
          <a:p>
            <a:pPr marL="0" indent="0">
              <a:lnSpc>
                <a:spcPct val="90000"/>
              </a:lnSpc>
              <a:buNone/>
            </a:pPr>
            <a:r>
              <a:rPr lang="en-US" sz="650" i="1" dirty="0">
                <a:solidFill>
                  <a:srgbClr val="2E7D52"/>
                </a:solidFill>
                <a:latin typeface="Lora" pitchFamily="34" charset="0"/>
                <a:ea typeface="Lora" pitchFamily="34" charset="-122"/>
                <a:cs typeface="Lora" pitchFamily="34" charset="-120"/>
              </a:rPr>
              <a:t>holds context</a:t>
            </a:r>
            <a:endParaRPr lang="en-US" sz="650" dirty="0"/>
          </a:p>
          <a:p>
            <a:pPr marL="0" indent="0">
              <a:lnSpc>
                <a:spcPct val="90000"/>
              </a:lnSpc>
              <a:buNone/>
            </a:pPr>
            <a:r>
              <a:rPr lang="en-US" sz="650" i="1" dirty="0">
                <a:solidFill>
                  <a:srgbClr val="2E7D52"/>
                </a:solidFill>
                <a:latin typeface="Lora" pitchFamily="34" charset="0"/>
                <a:ea typeface="Lora" pitchFamily="34" charset="-122"/>
                <a:cs typeface="Lora" pitchFamily="34" charset="-120"/>
              </a:rPr>
              <a:t>(session memory)</a:t>
            </a:r>
            <a:endParaRPr lang="en-US" sz="650" dirty="0"/>
          </a:p>
        </p:txBody>
      </p:sp>
      <p:sp>
        <p:nvSpPr>
          <p:cNvPr id="132" name="Shape 9">
            <a:extLst>
              <a:ext uri="{FF2B5EF4-FFF2-40B4-BE49-F238E27FC236}">
                <a16:creationId xmlns:a16="http://schemas.microsoft.com/office/drawing/2014/main" id="{F2F0E8E4-7A46-7471-AC0F-DD8EE9BC29AC}"/>
              </a:ext>
            </a:extLst>
          </p:cNvPr>
          <p:cNvSpPr/>
          <p:nvPr/>
        </p:nvSpPr>
        <p:spPr>
          <a:xfrm>
            <a:off x="198697" y="5868394"/>
            <a:ext cx="11772585" cy="24384"/>
          </a:xfrm>
          <a:prstGeom prst="line">
            <a:avLst/>
          </a:prstGeom>
          <a:noFill/>
          <a:ln w="19050">
            <a:solidFill>
              <a:srgbClr val="C9C7BF"/>
            </a:solidFill>
            <a:prstDash val="dash"/>
          </a:ln>
        </p:spPr>
        <p:txBody>
          <a:bodyPr/>
          <a:lstStyle/>
          <a:p>
            <a:endParaRPr lang="en-US"/>
          </a:p>
        </p:txBody>
      </p:sp>
      <p:sp>
        <p:nvSpPr>
          <p:cNvPr id="133" name="Text 8">
            <a:extLst>
              <a:ext uri="{FF2B5EF4-FFF2-40B4-BE49-F238E27FC236}">
                <a16:creationId xmlns:a16="http://schemas.microsoft.com/office/drawing/2014/main" id="{2C58AC38-0D22-5A51-4717-24BE207127CB}"/>
              </a:ext>
            </a:extLst>
          </p:cNvPr>
          <p:cNvSpPr/>
          <p:nvPr/>
        </p:nvSpPr>
        <p:spPr>
          <a:xfrm rot="5400000">
            <a:off x="10597844" y="2697480"/>
            <a:ext cx="3017520" cy="237744"/>
          </a:xfrm>
          <a:prstGeom prst="rect">
            <a:avLst/>
          </a:prstGeom>
          <a:noFill/>
          <a:ln/>
        </p:spPr>
        <p:txBody>
          <a:bodyPr wrap="square" lIns="0" tIns="0" rIns="0" bIns="0" rtlCol="0" anchor="ctr"/>
          <a:lstStyle/>
          <a:p>
            <a:pPr marL="0" indent="0" algn="ctr">
              <a:buNone/>
            </a:pPr>
            <a:r>
              <a:rPr lang="en-US" sz="900" b="1" kern="0" spc="100" dirty="0">
                <a:solidFill>
                  <a:srgbClr val="2E7D52"/>
                </a:solidFill>
                <a:latin typeface="Montserrat" pitchFamily="34" charset="0"/>
                <a:ea typeface="Montserrat" pitchFamily="34" charset="-122"/>
                <a:cs typeface="Montserrat" pitchFamily="34" charset="-120"/>
              </a:rPr>
              <a:t>RESPONSE ↑</a:t>
            </a:r>
            <a:endParaRPr lang="en-US" sz="900" dirty="0"/>
          </a:p>
        </p:txBody>
      </p:sp>
      <p:sp>
        <p:nvSpPr>
          <p:cNvPr id="134" name="Shape 31">
            <a:extLst>
              <a:ext uri="{FF2B5EF4-FFF2-40B4-BE49-F238E27FC236}">
                <a16:creationId xmlns:a16="http://schemas.microsoft.com/office/drawing/2014/main" id="{972C2C61-FA39-5D50-0C55-BE3926383317}"/>
              </a:ext>
            </a:extLst>
          </p:cNvPr>
          <p:cNvSpPr/>
          <p:nvPr/>
        </p:nvSpPr>
        <p:spPr>
          <a:xfrm flipV="1">
            <a:off x="11841479" y="1113518"/>
            <a:ext cx="180593" cy="2049"/>
          </a:xfrm>
          <a:prstGeom prst="line">
            <a:avLst/>
          </a:prstGeom>
          <a:noFill/>
          <a:ln w="19050">
            <a:solidFill>
              <a:srgbClr val="2E7D52"/>
            </a:solidFill>
            <a:prstDash val="solid"/>
            <a:tailEnd type="triangle"/>
          </a:ln>
        </p:spPr>
        <p:txBody>
          <a:bodyPr/>
          <a:lstStyle/>
          <a:p>
            <a:endParaRPr lang="en-US"/>
          </a:p>
        </p:txBody>
      </p:sp>
      <p:sp>
        <p:nvSpPr>
          <p:cNvPr id="135" name="Shape 32">
            <a:extLst>
              <a:ext uri="{FF2B5EF4-FFF2-40B4-BE49-F238E27FC236}">
                <a16:creationId xmlns:a16="http://schemas.microsoft.com/office/drawing/2014/main" id="{0858220E-7E26-2574-FCBA-5DDC689713CF}"/>
              </a:ext>
            </a:extLst>
          </p:cNvPr>
          <p:cNvSpPr/>
          <p:nvPr/>
        </p:nvSpPr>
        <p:spPr>
          <a:xfrm>
            <a:off x="11841479" y="1753599"/>
            <a:ext cx="180593" cy="0"/>
          </a:xfrm>
          <a:prstGeom prst="line">
            <a:avLst/>
          </a:prstGeom>
          <a:noFill/>
          <a:ln w="19050">
            <a:solidFill>
              <a:srgbClr val="2E7D52"/>
            </a:solidFill>
            <a:prstDash val="solid"/>
            <a:tailEnd type="triangle"/>
          </a:ln>
        </p:spPr>
        <p:txBody>
          <a:bodyPr/>
          <a:lstStyle/>
          <a:p>
            <a:endParaRPr lang="en-US"/>
          </a:p>
        </p:txBody>
      </p:sp>
      <p:sp>
        <p:nvSpPr>
          <p:cNvPr id="136" name="Shape 33">
            <a:extLst>
              <a:ext uri="{FF2B5EF4-FFF2-40B4-BE49-F238E27FC236}">
                <a16:creationId xmlns:a16="http://schemas.microsoft.com/office/drawing/2014/main" id="{159B7E1D-C8C6-837F-89F5-7E26F6F9E895}"/>
              </a:ext>
            </a:extLst>
          </p:cNvPr>
          <p:cNvSpPr/>
          <p:nvPr/>
        </p:nvSpPr>
        <p:spPr>
          <a:xfrm flipV="1">
            <a:off x="11094719" y="2430254"/>
            <a:ext cx="927354" cy="2049"/>
          </a:xfrm>
          <a:prstGeom prst="line">
            <a:avLst/>
          </a:prstGeom>
          <a:noFill/>
          <a:ln w="19050">
            <a:solidFill>
              <a:srgbClr val="2E7D52"/>
            </a:solidFill>
            <a:prstDash val="solid"/>
            <a:tailEnd type="triangle"/>
          </a:ln>
        </p:spPr>
        <p:txBody>
          <a:bodyPr/>
          <a:lstStyle/>
          <a:p>
            <a:endParaRPr lang="en-US"/>
          </a:p>
        </p:txBody>
      </p:sp>
      <p:sp>
        <p:nvSpPr>
          <p:cNvPr id="137" name="Shape 5">
            <a:extLst>
              <a:ext uri="{FF2B5EF4-FFF2-40B4-BE49-F238E27FC236}">
                <a16:creationId xmlns:a16="http://schemas.microsoft.com/office/drawing/2014/main" id="{AC6C1A89-BACE-146D-3CD2-5277365F91F4}"/>
              </a:ext>
            </a:extLst>
          </p:cNvPr>
          <p:cNvSpPr/>
          <p:nvPr/>
        </p:nvSpPr>
        <p:spPr>
          <a:xfrm flipV="1">
            <a:off x="11987732" y="839196"/>
            <a:ext cx="6908" cy="5063255"/>
          </a:xfrm>
          <a:prstGeom prst="line">
            <a:avLst/>
          </a:prstGeom>
          <a:noFill/>
          <a:ln w="44450">
            <a:solidFill>
              <a:srgbClr val="2F7D52"/>
            </a:solidFill>
            <a:prstDash val="solid"/>
            <a:tailEnd type="triangle"/>
          </a:ln>
        </p:spPr>
        <p:txBody>
          <a:bodyPr/>
          <a:lstStyle/>
          <a:p>
            <a:endParaRPr lang="en-US"/>
          </a:p>
        </p:txBody>
      </p:sp>
      <p:sp>
        <p:nvSpPr>
          <p:cNvPr id="138" name="Text 38">
            <a:extLst>
              <a:ext uri="{FF2B5EF4-FFF2-40B4-BE49-F238E27FC236}">
                <a16:creationId xmlns:a16="http://schemas.microsoft.com/office/drawing/2014/main" id="{B08A703A-B94D-71B1-CC50-8F2FFE76A923}"/>
              </a:ext>
            </a:extLst>
          </p:cNvPr>
          <p:cNvSpPr/>
          <p:nvPr/>
        </p:nvSpPr>
        <p:spPr>
          <a:xfrm>
            <a:off x="4251045" y="4073546"/>
            <a:ext cx="960120" cy="109728"/>
          </a:xfrm>
          <a:prstGeom prst="rect">
            <a:avLst/>
          </a:prstGeom>
          <a:noFill/>
          <a:ln/>
        </p:spPr>
        <p:txBody>
          <a:bodyPr wrap="square" lIns="0" tIns="0" rIns="0" bIns="0" rtlCol="0" anchor="ctr"/>
          <a:lstStyle/>
          <a:p>
            <a:pPr marL="0" indent="0" algn="r">
              <a:buNone/>
            </a:pPr>
            <a:r>
              <a:rPr lang="en-US" sz="700" i="1" dirty="0">
                <a:solidFill>
                  <a:srgbClr val="C00000"/>
                </a:solidFill>
                <a:latin typeface="Lora" pitchFamily="34" charset="0"/>
                <a:ea typeface="Lora" pitchFamily="34" charset="-122"/>
                <a:cs typeface="Lora" pitchFamily="34" charset="-120"/>
              </a:rPr>
              <a:t>reason</a:t>
            </a:r>
            <a:endParaRPr lang="en-US" sz="700" dirty="0">
              <a:solidFill>
                <a:srgbClr val="C00000"/>
              </a:solidFill>
            </a:endParaRPr>
          </a:p>
        </p:txBody>
      </p:sp>
      <p:sp>
        <p:nvSpPr>
          <p:cNvPr id="139" name="Text 40">
            <a:extLst>
              <a:ext uri="{FF2B5EF4-FFF2-40B4-BE49-F238E27FC236}">
                <a16:creationId xmlns:a16="http://schemas.microsoft.com/office/drawing/2014/main" id="{D76CB8E1-9A44-4FC6-4A4A-AA96BE808A24}"/>
              </a:ext>
            </a:extLst>
          </p:cNvPr>
          <p:cNvSpPr/>
          <p:nvPr/>
        </p:nvSpPr>
        <p:spPr>
          <a:xfrm>
            <a:off x="7155180" y="4096512"/>
            <a:ext cx="914400" cy="109728"/>
          </a:xfrm>
          <a:prstGeom prst="rect">
            <a:avLst/>
          </a:prstGeom>
          <a:noFill/>
          <a:ln/>
        </p:spPr>
        <p:txBody>
          <a:bodyPr wrap="square" lIns="0" tIns="0" rIns="0" bIns="0" rtlCol="0" anchor="ctr"/>
          <a:lstStyle/>
          <a:p>
            <a:pPr marL="0" indent="0">
              <a:buNone/>
            </a:pPr>
            <a:r>
              <a:rPr lang="en-US" sz="700" dirty="0">
                <a:solidFill>
                  <a:srgbClr val="2F7D52"/>
                </a:solidFill>
              </a:rPr>
              <a:t>result</a:t>
            </a:r>
          </a:p>
        </p:txBody>
      </p:sp>
      <p:sp>
        <p:nvSpPr>
          <p:cNvPr id="140" name="Shape 49">
            <a:extLst>
              <a:ext uri="{FF2B5EF4-FFF2-40B4-BE49-F238E27FC236}">
                <a16:creationId xmlns:a16="http://schemas.microsoft.com/office/drawing/2014/main" id="{43A2B3EC-679B-5E95-8A4D-399EE30B74DE}"/>
              </a:ext>
            </a:extLst>
          </p:cNvPr>
          <p:cNvSpPr/>
          <p:nvPr/>
        </p:nvSpPr>
        <p:spPr>
          <a:xfrm>
            <a:off x="616691" y="5968269"/>
            <a:ext cx="219456" cy="219456"/>
          </a:xfrm>
          <a:prstGeom prst="ellipse">
            <a:avLst/>
          </a:prstGeom>
          <a:solidFill>
            <a:srgbClr val="E31837"/>
          </a:solidFill>
          <a:ln/>
        </p:spPr>
        <p:txBody>
          <a:bodyPr/>
          <a:lstStyle/>
          <a:p>
            <a:endParaRPr lang="en-US"/>
          </a:p>
        </p:txBody>
      </p:sp>
      <p:sp>
        <p:nvSpPr>
          <p:cNvPr id="141" name="Text 50">
            <a:extLst>
              <a:ext uri="{FF2B5EF4-FFF2-40B4-BE49-F238E27FC236}">
                <a16:creationId xmlns:a16="http://schemas.microsoft.com/office/drawing/2014/main" id="{03C22D4C-8DD5-1B0B-5D68-495085C3C790}"/>
              </a:ext>
            </a:extLst>
          </p:cNvPr>
          <p:cNvSpPr/>
          <p:nvPr/>
        </p:nvSpPr>
        <p:spPr>
          <a:xfrm>
            <a:off x="616691" y="5968269"/>
            <a:ext cx="219456" cy="219456"/>
          </a:xfrm>
          <a:prstGeom prst="rect">
            <a:avLst/>
          </a:prstGeom>
          <a:noFill/>
          <a:ln/>
        </p:spPr>
        <p:txBody>
          <a:bodyPr wrap="square" lIns="0" tIns="0" rIns="0" bIns="0" rtlCol="0" anchor="ctr"/>
          <a:lstStyle/>
          <a:p>
            <a:pPr marL="0" indent="0" algn="ctr">
              <a:buNone/>
            </a:pPr>
            <a:r>
              <a:rPr lang="en-US" sz="900" b="1" dirty="0">
                <a:solidFill>
                  <a:srgbClr val="FDFDFD"/>
                </a:solidFill>
                <a:latin typeface="Montserrat" pitchFamily="34" charset="0"/>
                <a:ea typeface="Montserrat" pitchFamily="34" charset="-122"/>
                <a:cs typeface="Montserrat" pitchFamily="34" charset="-120"/>
              </a:rPr>
              <a:t>1</a:t>
            </a:r>
            <a:endParaRPr lang="en-US" sz="900" dirty="0"/>
          </a:p>
        </p:txBody>
      </p:sp>
      <p:sp>
        <p:nvSpPr>
          <p:cNvPr id="142" name="Text 51">
            <a:extLst>
              <a:ext uri="{FF2B5EF4-FFF2-40B4-BE49-F238E27FC236}">
                <a16:creationId xmlns:a16="http://schemas.microsoft.com/office/drawing/2014/main" id="{820658B5-69D9-53F0-21A8-7631408F5854}"/>
              </a:ext>
            </a:extLst>
          </p:cNvPr>
          <p:cNvSpPr/>
          <p:nvPr/>
        </p:nvSpPr>
        <p:spPr>
          <a:xfrm>
            <a:off x="909299" y="5949981"/>
            <a:ext cx="4204961" cy="256032"/>
          </a:xfrm>
          <a:prstGeom prst="rect">
            <a:avLst/>
          </a:prstGeom>
          <a:noFill/>
          <a:ln/>
        </p:spPr>
        <p:txBody>
          <a:bodyPr wrap="square" lIns="0" tIns="0" rIns="0" bIns="0" rtlCol="0" anchor="ctr"/>
          <a:lstStyle/>
          <a:p>
            <a:pPr marL="0" indent="0">
              <a:buNone/>
            </a:pPr>
            <a:r>
              <a:rPr lang="en-US" sz="850" b="1" dirty="0">
                <a:solidFill>
                  <a:srgbClr val="E31837"/>
                </a:solidFill>
                <a:latin typeface="Montserrat" pitchFamily="34" charset="0"/>
                <a:ea typeface="Montserrat" pitchFamily="34" charset="-122"/>
                <a:cs typeface="Montserrat" pitchFamily="34" charset="-120"/>
              </a:rPr>
              <a:t>TRIGGERS  </a:t>
            </a:r>
            <a:r>
              <a:rPr lang="en-US" sz="800" i="1" dirty="0">
                <a:solidFill>
                  <a:srgbClr val="5F5E5A"/>
                </a:solidFill>
                <a:latin typeface="Montserrat" pitchFamily="34" charset="0"/>
                <a:ea typeface="Montserrat" pitchFamily="34" charset="-122"/>
                <a:cs typeface="Montserrat" pitchFamily="34" charset="-120"/>
              </a:rPr>
              <a:t>channel request or system event starts the flow</a:t>
            </a:r>
            <a:endParaRPr lang="en-US" sz="850" dirty="0"/>
          </a:p>
        </p:txBody>
      </p:sp>
      <p:sp>
        <p:nvSpPr>
          <p:cNvPr id="143" name="Shape 52">
            <a:extLst>
              <a:ext uri="{FF2B5EF4-FFF2-40B4-BE49-F238E27FC236}">
                <a16:creationId xmlns:a16="http://schemas.microsoft.com/office/drawing/2014/main" id="{BC68387F-FC7A-3A48-343E-ABE1E2881D73}"/>
              </a:ext>
            </a:extLst>
          </p:cNvPr>
          <p:cNvSpPr/>
          <p:nvPr/>
        </p:nvSpPr>
        <p:spPr>
          <a:xfrm>
            <a:off x="616691" y="6260877"/>
            <a:ext cx="219456" cy="219456"/>
          </a:xfrm>
          <a:prstGeom prst="ellipse">
            <a:avLst/>
          </a:prstGeom>
          <a:solidFill>
            <a:srgbClr val="E31837"/>
          </a:solidFill>
          <a:ln/>
        </p:spPr>
        <p:txBody>
          <a:bodyPr/>
          <a:lstStyle/>
          <a:p>
            <a:endParaRPr lang="en-US"/>
          </a:p>
        </p:txBody>
      </p:sp>
      <p:sp>
        <p:nvSpPr>
          <p:cNvPr id="144" name="Text 53">
            <a:extLst>
              <a:ext uri="{FF2B5EF4-FFF2-40B4-BE49-F238E27FC236}">
                <a16:creationId xmlns:a16="http://schemas.microsoft.com/office/drawing/2014/main" id="{CD4E7711-0866-294C-155F-BA643B7A51B4}"/>
              </a:ext>
            </a:extLst>
          </p:cNvPr>
          <p:cNvSpPr/>
          <p:nvPr/>
        </p:nvSpPr>
        <p:spPr>
          <a:xfrm>
            <a:off x="616691" y="6260877"/>
            <a:ext cx="219456" cy="219456"/>
          </a:xfrm>
          <a:prstGeom prst="rect">
            <a:avLst/>
          </a:prstGeom>
          <a:noFill/>
          <a:ln/>
        </p:spPr>
        <p:txBody>
          <a:bodyPr wrap="square" lIns="0" tIns="0" rIns="0" bIns="0" rtlCol="0" anchor="ctr"/>
          <a:lstStyle/>
          <a:p>
            <a:pPr marL="0" indent="0" algn="ctr">
              <a:buNone/>
            </a:pPr>
            <a:r>
              <a:rPr lang="en-US" sz="900" b="1" dirty="0">
                <a:solidFill>
                  <a:srgbClr val="FDFDFD"/>
                </a:solidFill>
                <a:latin typeface="Montserrat" pitchFamily="34" charset="0"/>
                <a:ea typeface="Montserrat" pitchFamily="34" charset="-122"/>
                <a:cs typeface="Montserrat" pitchFamily="34" charset="-120"/>
              </a:rPr>
              <a:t>2</a:t>
            </a:r>
            <a:endParaRPr lang="en-US" sz="900" dirty="0"/>
          </a:p>
        </p:txBody>
      </p:sp>
      <p:sp>
        <p:nvSpPr>
          <p:cNvPr id="145" name="Text 54">
            <a:extLst>
              <a:ext uri="{FF2B5EF4-FFF2-40B4-BE49-F238E27FC236}">
                <a16:creationId xmlns:a16="http://schemas.microsoft.com/office/drawing/2014/main" id="{78F76424-8FCE-1D71-3166-86F69C965E4A}"/>
              </a:ext>
            </a:extLst>
          </p:cNvPr>
          <p:cNvSpPr/>
          <p:nvPr/>
        </p:nvSpPr>
        <p:spPr>
          <a:xfrm>
            <a:off x="909299" y="6242589"/>
            <a:ext cx="4313753" cy="256032"/>
          </a:xfrm>
          <a:prstGeom prst="rect">
            <a:avLst/>
          </a:prstGeom>
          <a:noFill/>
          <a:ln/>
        </p:spPr>
        <p:txBody>
          <a:bodyPr wrap="square" lIns="0" tIns="0" rIns="0" bIns="0" rtlCol="0" anchor="ctr"/>
          <a:lstStyle/>
          <a:p>
            <a:pPr marL="0" indent="0">
              <a:buNone/>
            </a:pPr>
            <a:r>
              <a:rPr lang="en-US" sz="850" b="1" dirty="0">
                <a:solidFill>
                  <a:srgbClr val="E31837"/>
                </a:solidFill>
                <a:latin typeface="Montserrat" pitchFamily="34" charset="0"/>
                <a:ea typeface="Montserrat" pitchFamily="34" charset="-122"/>
                <a:cs typeface="Montserrat" pitchFamily="34" charset="-120"/>
              </a:rPr>
              <a:t>INTENT DETECTION  </a:t>
            </a:r>
            <a:r>
              <a:rPr lang="en-US" sz="800" i="1" dirty="0">
                <a:solidFill>
                  <a:srgbClr val="5F5E5A"/>
                </a:solidFill>
                <a:latin typeface="Montserrat" pitchFamily="34" charset="0"/>
                <a:ea typeface="Montserrat" pitchFamily="34" charset="-122"/>
                <a:cs typeface="Montserrat" pitchFamily="34" charset="-120"/>
              </a:rPr>
              <a:t>classify what the ask is, to route it</a:t>
            </a:r>
            <a:endParaRPr lang="en-US" sz="850" dirty="0"/>
          </a:p>
        </p:txBody>
      </p:sp>
      <p:sp>
        <p:nvSpPr>
          <p:cNvPr id="146" name="Shape 55">
            <a:extLst>
              <a:ext uri="{FF2B5EF4-FFF2-40B4-BE49-F238E27FC236}">
                <a16:creationId xmlns:a16="http://schemas.microsoft.com/office/drawing/2014/main" id="{A7A864CC-3054-E2D9-D9BB-6ACB15B6358C}"/>
              </a:ext>
            </a:extLst>
          </p:cNvPr>
          <p:cNvSpPr/>
          <p:nvPr/>
        </p:nvSpPr>
        <p:spPr>
          <a:xfrm>
            <a:off x="616691" y="6553485"/>
            <a:ext cx="219456" cy="219456"/>
          </a:xfrm>
          <a:prstGeom prst="ellipse">
            <a:avLst/>
          </a:prstGeom>
          <a:solidFill>
            <a:srgbClr val="E31837"/>
          </a:solidFill>
          <a:ln/>
        </p:spPr>
        <p:txBody>
          <a:bodyPr/>
          <a:lstStyle/>
          <a:p>
            <a:endParaRPr lang="en-US"/>
          </a:p>
        </p:txBody>
      </p:sp>
      <p:sp>
        <p:nvSpPr>
          <p:cNvPr id="147" name="Text 56">
            <a:extLst>
              <a:ext uri="{FF2B5EF4-FFF2-40B4-BE49-F238E27FC236}">
                <a16:creationId xmlns:a16="http://schemas.microsoft.com/office/drawing/2014/main" id="{18C27F6A-1119-E15F-11A4-3C5A23D28649}"/>
              </a:ext>
            </a:extLst>
          </p:cNvPr>
          <p:cNvSpPr/>
          <p:nvPr/>
        </p:nvSpPr>
        <p:spPr>
          <a:xfrm>
            <a:off x="616691" y="6553485"/>
            <a:ext cx="219456" cy="219456"/>
          </a:xfrm>
          <a:prstGeom prst="rect">
            <a:avLst/>
          </a:prstGeom>
          <a:noFill/>
          <a:ln/>
        </p:spPr>
        <p:txBody>
          <a:bodyPr wrap="square" lIns="0" tIns="0" rIns="0" bIns="0" rtlCol="0" anchor="ctr"/>
          <a:lstStyle/>
          <a:p>
            <a:pPr marL="0" indent="0" algn="ctr">
              <a:buNone/>
            </a:pPr>
            <a:r>
              <a:rPr lang="en-US" sz="900" b="1" dirty="0">
                <a:solidFill>
                  <a:srgbClr val="FDFDFD"/>
                </a:solidFill>
                <a:latin typeface="Montserrat" pitchFamily="34" charset="0"/>
                <a:ea typeface="Montserrat" pitchFamily="34" charset="-122"/>
                <a:cs typeface="Montserrat" pitchFamily="34" charset="-120"/>
              </a:rPr>
              <a:t>3</a:t>
            </a:r>
            <a:endParaRPr lang="en-US" sz="900" dirty="0"/>
          </a:p>
        </p:txBody>
      </p:sp>
      <p:sp>
        <p:nvSpPr>
          <p:cNvPr id="148" name="Text 57">
            <a:extLst>
              <a:ext uri="{FF2B5EF4-FFF2-40B4-BE49-F238E27FC236}">
                <a16:creationId xmlns:a16="http://schemas.microsoft.com/office/drawing/2014/main" id="{46BDFD2A-4384-4C62-0F9D-7FEB9214F4EC}"/>
              </a:ext>
            </a:extLst>
          </p:cNvPr>
          <p:cNvSpPr/>
          <p:nvPr/>
        </p:nvSpPr>
        <p:spPr>
          <a:xfrm>
            <a:off x="909299" y="6535197"/>
            <a:ext cx="5120640" cy="256032"/>
          </a:xfrm>
          <a:prstGeom prst="rect">
            <a:avLst/>
          </a:prstGeom>
          <a:noFill/>
          <a:ln/>
        </p:spPr>
        <p:txBody>
          <a:bodyPr wrap="square" lIns="0" tIns="0" rIns="0" bIns="0" rtlCol="0" anchor="ctr"/>
          <a:lstStyle/>
          <a:p>
            <a:pPr marL="0" indent="0">
              <a:buNone/>
            </a:pPr>
            <a:r>
              <a:rPr lang="en-US" sz="850" b="1" dirty="0">
                <a:solidFill>
                  <a:srgbClr val="E31837"/>
                </a:solidFill>
                <a:latin typeface="Montserrat" pitchFamily="34" charset="0"/>
                <a:ea typeface="Montserrat" pitchFamily="34" charset="-122"/>
                <a:cs typeface="Montserrat" pitchFamily="34" charset="-120"/>
              </a:rPr>
              <a:t>ROUTING  </a:t>
            </a:r>
            <a:r>
              <a:rPr lang="en-US" sz="800" i="1" dirty="0">
                <a:solidFill>
                  <a:srgbClr val="5F5E5A"/>
                </a:solidFill>
                <a:latin typeface="Montserrat" pitchFamily="34" charset="0"/>
                <a:ea typeface="Montserrat" pitchFamily="34" charset="-122"/>
                <a:cs typeface="Montserrat" pitchFamily="34" charset="-120"/>
              </a:rPr>
              <a:t>orchestrator fans out to the owning agent(s)</a:t>
            </a:r>
            <a:endParaRPr lang="en-US" sz="850" dirty="0"/>
          </a:p>
        </p:txBody>
      </p:sp>
      <p:sp>
        <p:nvSpPr>
          <p:cNvPr id="149" name="Shape 58">
            <a:extLst>
              <a:ext uri="{FF2B5EF4-FFF2-40B4-BE49-F238E27FC236}">
                <a16:creationId xmlns:a16="http://schemas.microsoft.com/office/drawing/2014/main" id="{69D56F50-9F88-1F40-D1FF-675CA637330F}"/>
              </a:ext>
            </a:extLst>
          </p:cNvPr>
          <p:cNvSpPr/>
          <p:nvPr/>
        </p:nvSpPr>
        <p:spPr>
          <a:xfrm>
            <a:off x="6194531" y="5968269"/>
            <a:ext cx="219456" cy="219456"/>
          </a:xfrm>
          <a:prstGeom prst="ellipse">
            <a:avLst/>
          </a:prstGeom>
          <a:solidFill>
            <a:srgbClr val="E31837"/>
          </a:solidFill>
          <a:ln/>
        </p:spPr>
        <p:txBody>
          <a:bodyPr/>
          <a:lstStyle/>
          <a:p>
            <a:endParaRPr lang="en-US"/>
          </a:p>
        </p:txBody>
      </p:sp>
      <p:sp>
        <p:nvSpPr>
          <p:cNvPr id="150" name="Text 59">
            <a:extLst>
              <a:ext uri="{FF2B5EF4-FFF2-40B4-BE49-F238E27FC236}">
                <a16:creationId xmlns:a16="http://schemas.microsoft.com/office/drawing/2014/main" id="{3B22F73B-C130-5CF1-1E58-DD02757070DB}"/>
              </a:ext>
            </a:extLst>
          </p:cNvPr>
          <p:cNvSpPr/>
          <p:nvPr/>
        </p:nvSpPr>
        <p:spPr>
          <a:xfrm>
            <a:off x="6194531" y="5968269"/>
            <a:ext cx="219456" cy="219456"/>
          </a:xfrm>
          <a:prstGeom prst="rect">
            <a:avLst/>
          </a:prstGeom>
          <a:noFill/>
          <a:ln/>
        </p:spPr>
        <p:txBody>
          <a:bodyPr wrap="square" lIns="0" tIns="0" rIns="0" bIns="0" rtlCol="0" anchor="ctr"/>
          <a:lstStyle/>
          <a:p>
            <a:pPr marL="0" indent="0" algn="ctr">
              <a:buNone/>
            </a:pPr>
            <a:r>
              <a:rPr lang="en-US" sz="900" b="1" dirty="0">
                <a:solidFill>
                  <a:srgbClr val="FDFDFD"/>
                </a:solidFill>
                <a:latin typeface="Montserrat" pitchFamily="34" charset="0"/>
                <a:ea typeface="Montserrat" pitchFamily="34" charset="-122"/>
                <a:cs typeface="Montserrat" pitchFamily="34" charset="-120"/>
              </a:rPr>
              <a:t>4</a:t>
            </a:r>
            <a:endParaRPr lang="en-US" sz="900" dirty="0"/>
          </a:p>
        </p:txBody>
      </p:sp>
      <p:sp>
        <p:nvSpPr>
          <p:cNvPr id="151" name="Text 60">
            <a:extLst>
              <a:ext uri="{FF2B5EF4-FFF2-40B4-BE49-F238E27FC236}">
                <a16:creationId xmlns:a16="http://schemas.microsoft.com/office/drawing/2014/main" id="{FE7803F8-274B-5CF5-E160-81C272D0FF69}"/>
              </a:ext>
            </a:extLst>
          </p:cNvPr>
          <p:cNvSpPr/>
          <p:nvPr/>
        </p:nvSpPr>
        <p:spPr>
          <a:xfrm>
            <a:off x="6487139" y="5949981"/>
            <a:ext cx="5120640" cy="256032"/>
          </a:xfrm>
          <a:prstGeom prst="rect">
            <a:avLst/>
          </a:prstGeom>
          <a:noFill/>
          <a:ln/>
        </p:spPr>
        <p:txBody>
          <a:bodyPr wrap="square" lIns="0" tIns="0" rIns="0" bIns="0" rtlCol="0" anchor="ctr"/>
          <a:lstStyle/>
          <a:p>
            <a:pPr marL="0" indent="0">
              <a:buNone/>
            </a:pPr>
            <a:r>
              <a:rPr lang="en-US" sz="850" b="1" dirty="0">
                <a:solidFill>
                  <a:srgbClr val="E31837"/>
                </a:solidFill>
                <a:latin typeface="Montserrat" pitchFamily="34" charset="0"/>
                <a:ea typeface="Montserrat" pitchFamily="34" charset="-122"/>
                <a:cs typeface="Montserrat" pitchFamily="34" charset="-120"/>
              </a:rPr>
              <a:t>PROCESSING  </a:t>
            </a:r>
            <a:r>
              <a:rPr lang="en-US" sz="800" i="1" dirty="0">
                <a:solidFill>
                  <a:srgbClr val="5F5E5A"/>
                </a:solidFill>
                <a:latin typeface="Montserrat" pitchFamily="34" charset="0"/>
                <a:ea typeface="Montserrat" pitchFamily="34" charset="-122"/>
                <a:cs typeface="Montserrat" pitchFamily="34" charset="-120"/>
              </a:rPr>
              <a:t>agent reasons on the LLM platform, retrieves from data</a:t>
            </a:r>
            <a:endParaRPr lang="en-US" sz="850" dirty="0"/>
          </a:p>
        </p:txBody>
      </p:sp>
      <p:sp>
        <p:nvSpPr>
          <p:cNvPr id="152" name="Shape 61">
            <a:extLst>
              <a:ext uri="{FF2B5EF4-FFF2-40B4-BE49-F238E27FC236}">
                <a16:creationId xmlns:a16="http://schemas.microsoft.com/office/drawing/2014/main" id="{FC502B00-072B-EF4D-C397-40B02200F6BC}"/>
              </a:ext>
            </a:extLst>
          </p:cNvPr>
          <p:cNvSpPr/>
          <p:nvPr/>
        </p:nvSpPr>
        <p:spPr>
          <a:xfrm>
            <a:off x="6194531" y="6260877"/>
            <a:ext cx="219456" cy="219456"/>
          </a:xfrm>
          <a:prstGeom prst="ellipse">
            <a:avLst/>
          </a:prstGeom>
          <a:solidFill>
            <a:srgbClr val="2E7D52"/>
          </a:solidFill>
          <a:ln/>
        </p:spPr>
        <p:txBody>
          <a:bodyPr/>
          <a:lstStyle/>
          <a:p>
            <a:endParaRPr lang="en-US"/>
          </a:p>
        </p:txBody>
      </p:sp>
      <p:sp>
        <p:nvSpPr>
          <p:cNvPr id="153" name="Text 62">
            <a:extLst>
              <a:ext uri="{FF2B5EF4-FFF2-40B4-BE49-F238E27FC236}">
                <a16:creationId xmlns:a16="http://schemas.microsoft.com/office/drawing/2014/main" id="{6CAFDFE2-8179-60B7-C56B-B2E45E9964BF}"/>
              </a:ext>
            </a:extLst>
          </p:cNvPr>
          <p:cNvSpPr/>
          <p:nvPr/>
        </p:nvSpPr>
        <p:spPr>
          <a:xfrm>
            <a:off x="6194531" y="6260877"/>
            <a:ext cx="219456" cy="219456"/>
          </a:xfrm>
          <a:prstGeom prst="rect">
            <a:avLst/>
          </a:prstGeom>
          <a:noFill/>
          <a:ln/>
        </p:spPr>
        <p:txBody>
          <a:bodyPr wrap="square" lIns="0" tIns="0" rIns="0" bIns="0" rtlCol="0" anchor="ctr"/>
          <a:lstStyle/>
          <a:p>
            <a:pPr marL="0" indent="0" algn="ctr">
              <a:buNone/>
            </a:pPr>
            <a:r>
              <a:rPr lang="en-US" sz="900" b="1" dirty="0">
                <a:solidFill>
                  <a:srgbClr val="FDFDFD"/>
                </a:solidFill>
                <a:latin typeface="Montserrat" pitchFamily="34" charset="0"/>
                <a:ea typeface="Montserrat" pitchFamily="34" charset="-122"/>
                <a:cs typeface="Montserrat" pitchFamily="34" charset="-120"/>
              </a:rPr>
              <a:t>5</a:t>
            </a:r>
            <a:endParaRPr lang="en-US" sz="900" dirty="0"/>
          </a:p>
        </p:txBody>
      </p:sp>
      <p:sp>
        <p:nvSpPr>
          <p:cNvPr id="154" name="Text 63">
            <a:extLst>
              <a:ext uri="{FF2B5EF4-FFF2-40B4-BE49-F238E27FC236}">
                <a16:creationId xmlns:a16="http://schemas.microsoft.com/office/drawing/2014/main" id="{273AB016-5F17-3BC1-2BC2-821BD5C29C9D}"/>
              </a:ext>
            </a:extLst>
          </p:cNvPr>
          <p:cNvSpPr/>
          <p:nvPr/>
        </p:nvSpPr>
        <p:spPr>
          <a:xfrm>
            <a:off x="6487139" y="6242589"/>
            <a:ext cx="5120640" cy="256032"/>
          </a:xfrm>
          <a:prstGeom prst="rect">
            <a:avLst/>
          </a:prstGeom>
          <a:noFill/>
          <a:ln/>
        </p:spPr>
        <p:txBody>
          <a:bodyPr wrap="square" lIns="0" tIns="0" rIns="0" bIns="0" rtlCol="0" anchor="ctr"/>
          <a:lstStyle/>
          <a:p>
            <a:pPr marL="0" indent="0">
              <a:buNone/>
            </a:pPr>
            <a:r>
              <a:rPr lang="en-US" sz="850" b="1" dirty="0">
                <a:solidFill>
                  <a:srgbClr val="2E7D52"/>
                </a:solidFill>
                <a:latin typeface="Montserrat" pitchFamily="34" charset="0"/>
                <a:ea typeface="Montserrat" pitchFamily="34" charset="-122"/>
                <a:cs typeface="Montserrat" pitchFamily="34" charset="-120"/>
              </a:rPr>
              <a:t>CONTEXT MGMT  </a:t>
            </a:r>
            <a:r>
              <a:rPr lang="en-US" sz="800" i="1" dirty="0">
                <a:solidFill>
                  <a:srgbClr val="5F5E5A"/>
                </a:solidFill>
                <a:latin typeface="Montserrat" pitchFamily="34" charset="0"/>
                <a:ea typeface="Montserrat" pitchFamily="34" charset="-122"/>
                <a:cs typeface="Montserrat" pitchFamily="34" charset="-120"/>
              </a:rPr>
              <a:t>results assembled, session state held, threaded back up</a:t>
            </a:r>
            <a:endParaRPr lang="en-US" sz="850" dirty="0"/>
          </a:p>
        </p:txBody>
      </p:sp>
      <p:sp>
        <p:nvSpPr>
          <p:cNvPr id="155" name="Text 64">
            <a:extLst>
              <a:ext uri="{FF2B5EF4-FFF2-40B4-BE49-F238E27FC236}">
                <a16:creationId xmlns:a16="http://schemas.microsoft.com/office/drawing/2014/main" id="{51C68C8A-1767-0098-6D8A-B1A149DE39F3}"/>
              </a:ext>
            </a:extLst>
          </p:cNvPr>
          <p:cNvSpPr/>
          <p:nvPr/>
        </p:nvSpPr>
        <p:spPr>
          <a:xfrm>
            <a:off x="6194531" y="6553485"/>
            <a:ext cx="5669280" cy="256032"/>
          </a:xfrm>
          <a:prstGeom prst="rect">
            <a:avLst/>
          </a:prstGeom>
          <a:noFill/>
          <a:ln/>
        </p:spPr>
        <p:txBody>
          <a:bodyPr wrap="square" lIns="0" tIns="0" rIns="0" bIns="0" rtlCol="0" anchor="ctr"/>
          <a:lstStyle/>
          <a:p>
            <a:pPr marL="0" indent="0">
              <a:buNone/>
            </a:pPr>
            <a:r>
              <a:rPr lang="en-US" sz="800" b="1" dirty="0">
                <a:solidFill>
                  <a:srgbClr val="333333"/>
                </a:solidFill>
                <a:latin typeface="Lora" pitchFamily="34" charset="0"/>
                <a:ea typeface="Lora" pitchFamily="34" charset="-122"/>
                <a:cs typeface="Lora" pitchFamily="34" charset="-120"/>
              </a:rPr>
              <a:t>Note:  </a:t>
            </a:r>
            <a:r>
              <a:rPr lang="en-US" sz="800" i="1" dirty="0">
                <a:solidFill>
                  <a:srgbClr val="5F5E5A"/>
                </a:solidFill>
                <a:latin typeface="Lora" pitchFamily="34" charset="0"/>
                <a:ea typeface="Lora" pitchFamily="34" charset="-122"/>
                <a:cs typeface="Lora" pitchFamily="34" charset="-120"/>
              </a:rPr>
              <a:t>the LLM platform and the data universe are separate layers — the agent reasons on the platform, which serves retrieval from the data estate. Data lives once; agents retrieve, never copy.</a:t>
            </a:r>
            <a:endParaRPr lang="en-US" sz="800" dirty="0"/>
          </a:p>
        </p:txBody>
      </p:sp>
      <p:sp>
        <p:nvSpPr>
          <p:cNvPr id="156" name="Shape 49">
            <a:extLst>
              <a:ext uri="{FF2B5EF4-FFF2-40B4-BE49-F238E27FC236}">
                <a16:creationId xmlns:a16="http://schemas.microsoft.com/office/drawing/2014/main" id="{699B539A-1F36-7CFE-CB65-4E6E7E676169}"/>
              </a:ext>
            </a:extLst>
          </p:cNvPr>
          <p:cNvSpPr/>
          <p:nvPr/>
        </p:nvSpPr>
        <p:spPr>
          <a:xfrm>
            <a:off x="11347179" y="850392"/>
            <a:ext cx="219456" cy="219456"/>
          </a:xfrm>
          <a:prstGeom prst="ellipse">
            <a:avLst/>
          </a:prstGeom>
          <a:solidFill>
            <a:srgbClr val="E31837"/>
          </a:solidFill>
          <a:ln/>
        </p:spPr>
        <p:txBody>
          <a:bodyPr/>
          <a:lstStyle/>
          <a:p>
            <a:endParaRPr lang="en-US"/>
          </a:p>
        </p:txBody>
      </p:sp>
      <p:sp>
        <p:nvSpPr>
          <p:cNvPr id="157" name="Text 50">
            <a:extLst>
              <a:ext uri="{FF2B5EF4-FFF2-40B4-BE49-F238E27FC236}">
                <a16:creationId xmlns:a16="http://schemas.microsoft.com/office/drawing/2014/main" id="{689268F7-3DA2-C7E0-A9A7-2A06474BA9E3}"/>
              </a:ext>
            </a:extLst>
          </p:cNvPr>
          <p:cNvSpPr/>
          <p:nvPr/>
        </p:nvSpPr>
        <p:spPr>
          <a:xfrm>
            <a:off x="11347179" y="850392"/>
            <a:ext cx="219456" cy="219456"/>
          </a:xfrm>
          <a:prstGeom prst="rect">
            <a:avLst/>
          </a:prstGeom>
          <a:noFill/>
          <a:ln/>
        </p:spPr>
        <p:txBody>
          <a:bodyPr wrap="square" lIns="0" tIns="0" rIns="0" bIns="0" rtlCol="0" anchor="ctr"/>
          <a:lstStyle/>
          <a:p>
            <a:pPr marL="0" indent="0" algn="ctr">
              <a:buNone/>
            </a:pPr>
            <a:r>
              <a:rPr lang="en-US" sz="900" b="1" dirty="0">
                <a:solidFill>
                  <a:srgbClr val="FDFDFD"/>
                </a:solidFill>
                <a:latin typeface="Montserrat" pitchFamily="34" charset="0"/>
                <a:ea typeface="Montserrat" pitchFamily="34" charset="-122"/>
                <a:cs typeface="Montserrat" pitchFamily="34" charset="-120"/>
              </a:rPr>
              <a:t>1</a:t>
            </a:r>
            <a:endParaRPr lang="en-US" sz="900" dirty="0"/>
          </a:p>
        </p:txBody>
      </p:sp>
      <p:sp>
        <p:nvSpPr>
          <p:cNvPr id="158" name="Shape 52">
            <a:extLst>
              <a:ext uri="{FF2B5EF4-FFF2-40B4-BE49-F238E27FC236}">
                <a16:creationId xmlns:a16="http://schemas.microsoft.com/office/drawing/2014/main" id="{A88C2136-DB71-A7B4-DF2F-51F2C7AFCB1C}"/>
              </a:ext>
            </a:extLst>
          </p:cNvPr>
          <p:cNvSpPr/>
          <p:nvPr/>
        </p:nvSpPr>
        <p:spPr>
          <a:xfrm>
            <a:off x="11347179" y="1380744"/>
            <a:ext cx="219456" cy="219456"/>
          </a:xfrm>
          <a:prstGeom prst="ellipse">
            <a:avLst/>
          </a:prstGeom>
          <a:solidFill>
            <a:srgbClr val="E31837"/>
          </a:solidFill>
          <a:ln/>
        </p:spPr>
        <p:txBody>
          <a:bodyPr/>
          <a:lstStyle/>
          <a:p>
            <a:endParaRPr lang="en-US"/>
          </a:p>
        </p:txBody>
      </p:sp>
      <p:sp>
        <p:nvSpPr>
          <p:cNvPr id="159" name="Text 53">
            <a:extLst>
              <a:ext uri="{FF2B5EF4-FFF2-40B4-BE49-F238E27FC236}">
                <a16:creationId xmlns:a16="http://schemas.microsoft.com/office/drawing/2014/main" id="{D0EDFA02-F47C-3ACA-E4D7-4DFDC8A34F5E}"/>
              </a:ext>
            </a:extLst>
          </p:cNvPr>
          <p:cNvSpPr/>
          <p:nvPr/>
        </p:nvSpPr>
        <p:spPr>
          <a:xfrm>
            <a:off x="11347179" y="1366390"/>
            <a:ext cx="219456" cy="219456"/>
          </a:xfrm>
          <a:prstGeom prst="rect">
            <a:avLst/>
          </a:prstGeom>
          <a:noFill/>
          <a:ln/>
        </p:spPr>
        <p:txBody>
          <a:bodyPr wrap="square" lIns="0" tIns="0" rIns="0" bIns="0" rtlCol="0" anchor="ctr"/>
          <a:lstStyle/>
          <a:p>
            <a:pPr marL="0" indent="0" algn="ctr">
              <a:buNone/>
            </a:pPr>
            <a:r>
              <a:rPr lang="en-US" sz="900" b="1" dirty="0">
                <a:solidFill>
                  <a:srgbClr val="FDFDFD"/>
                </a:solidFill>
                <a:latin typeface="Montserrat" pitchFamily="34" charset="0"/>
                <a:ea typeface="Montserrat" pitchFamily="34" charset="-122"/>
                <a:cs typeface="Montserrat" pitchFamily="34" charset="-120"/>
              </a:rPr>
              <a:t>2</a:t>
            </a:r>
            <a:endParaRPr lang="en-US" sz="900" dirty="0"/>
          </a:p>
        </p:txBody>
      </p:sp>
      <p:sp>
        <p:nvSpPr>
          <p:cNvPr id="160" name="Shape 55">
            <a:extLst>
              <a:ext uri="{FF2B5EF4-FFF2-40B4-BE49-F238E27FC236}">
                <a16:creationId xmlns:a16="http://schemas.microsoft.com/office/drawing/2014/main" id="{7CD017FE-89FB-0639-E1D0-52A64C5E9E24}"/>
              </a:ext>
            </a:extLst>
          </p:cNvPr>
          <p:cNvSpPr/>
          <p:nvPr/>
        </p:nvSpPr>
        <p:spPr>
          <a:xfrm>
            <a:off x="10468304" y="2670048"/>
            <a:ext cx="219456" cy="219456"/>
          </a:xfrm>
          <a:prstGeom prst="ellipse">
            <a:avLst/>
          </a:prstGeom>
          <a:solidFill>
            <a:srgbClr val="E31837"/>
          </a:solidFill>
          <a:ln/>
        </p:spPr>
        <p:txBody>
          <a:bodyPr/>
          <a:lstStyle/>
          <a:p>
            <a:endParaRPr lang="en-US"/>
          </a:p>
        </p:txBody>
      </p:sp>
      <p:sp>
        <p:nvSpPr>
          <p:cNvPr id="161" name="Text 56">
            <a:extLst>
              <a:ext uri="{FF2B5EF4-FFF2-40B4-BE49-F238E27FC236}">
                <a16:creationId xmlns:a16="http://schemas.microsoft.com/office/drawing/2014/main" id="{CF736EB6-BF48-05F9-17A4-D207BB044EA3}"/>
              </a:ext>
            </a:extLst>
          </p:cNvPr>
          <p:cNvSpPr/>
          <p:nvPr/>
        </p:nvSpPr>
        <p:spPr>
          <a:xfrm>
            <a:off x="10468304" y="2670048"/>
            <a:ext cx="219456" cy="219456"/>
          </a:xfrm>
          <a:prstGeom prst="rect">
            <a:avLst/>
          </a:prstGeom>
          <a:noFill/>
          <a:ln/>
        </p:spPr>
        <p:txBody>
          <a:bodyPr wrap="square" lIns="0" tIns="0" rIns="0" bIns="0" rtlCol="0" anchor="ctr"/>
          <a:lstStyle/>
          <a:p>
            <a:pPr marL="0" indent="0" algn="ctr">
              <a:buNone/>
            </a:pPr>
            <a:r>
              <a:rPr lang="en-US" sz="900" b="1" dirty="0">
                <a:solidFill>
                  <a:srgbClr val="FDFDFD"/>
                </a:solidFill>
                <a:latin typeface="Montserrat" pitchFamily="34" charset="0"/>
                <a:ea typeface="Montserrat" pitchFamily="34" charset="-122"/>
                <a:cs typeface="Montserrat" pitchFamily="34" charset="-120"/>
              </a:rPr>
              <a:t>3</a:t>
            </a:r>
            <a:endParaRPr lang="en-US" sz="900" dirty="0"/>
          </a:p>
        </p:txBody>
      </p:sp>
      <p:sp>
        <p:nvSpPr>
          <p:cNvPr id="165" name="Shape 58">
            <a:extLst>
              <a:ext uri="{FF2B5EF4-FFF2-40B4-BE49-F238E27FC236}">
                <a16:creationId xmlns:a16="http://schemas.microsoft.com/office/drawing/2014/main" id="{86F67D44-6B90-1DFD-4ED1-1E2A0DBE48F3}"/>
              </a:ext>
            </a:extLst>
          </p:cNvPr>
          <p:cNvSpPr/>
          <p:nvPr/>
        </p:nvSpPr>
        <p:spPr>
          <a:xfrm>
            <a:off x="10570464" y="4050792"/>
            <a:ext cx="219456" cy="219456"/>
          </a:xfrm>
          <a:prstGeom prst="ellipse">
            <a:avLst/>
          </a:prstGeom>
          <a:solidFill>
            <a:srgbClr val="E31837"/>
          </a:solidFill>
          <a:ln/>
        </p:spPr>
        <p:txBody>
          <a:bodyPr/>
          <a:lstStyle/>
          <a:p>
            <a:endParaRPr lang="en-US"/>
          </a:p>
        </p:txBody>
      </p:sp>
      <p:sp>
        <p:nvSpPr>
          <p:cNvPr id="167" name="Text 59">
            <a:extLst>
              <a:ext uri="{FF2B5EF4-FFF2-40B4-BE49-F238E27FC236}">
                <a16:creationId xmlns:a16="http://schemas.microsoft.com/office/drawing/2014/main" id="{46D0B205-72E5-261F-543D-5F215AF66693}"/>
              </a:ext>
            </a:extLst>
          </p:cNvPr>
          <p:cNvSpPr/>
          <p:nvPr/>
        </p:nvSpPr>
        <p:spPr>
          <a:xfrm>
            <a:off x="10576865" y="4055469"/>
            <a:ext cx="219456" cy="219456"/>
          </a:xfrm>
          <a:prstGeom prst="rect">
            <a:avLst/>
          </a:prstGeom>
          <a:noFill/>
          <a:ln/>
        </p:spPr>
        <p:txBody>
          <a:bodyPr wrap="square" lIns="0" tIns="0" rIns="0" bIns="0" rtlCol="0" anchor="ctr"/>
          <a:lstStyle/>
          <a:p>
            <a:pPr marL="0" indent="0" algn="ctr">
              <a:buNone/>
            </a:pPr>
            <a:r>
              <a:rPr lang="en-US" sz="900" b="1" dirty="0">
                <a:solidFill>
                  <a:srgbClr val="FDFDFD"/>
                </a:solidFill>
                <a:latin typeface="Montserrat" pitchFamily="34" charset="0"/>
                <a:ea typeface="Montserrat" pitchFamily="34" charset="-122"/>
                <a:cs typeface="Montserrat" pitchFamily="34" charset="-120"/>
              </a:rPr>
              <a:t>4</a:t>
            </a:r>
            <a:endParaRPr lang="en-US" sz="900" dirty="0"/>
          </a:p>
        </p:txBody>
      </p:sp>
      <p:sp>
        <p:nvSpPr>
          <p:cNvPr id="168" name="Shape 61">
            <a:extLst>
              <a:ext uri="{FF2B5EF4-FFF2-40B4-BE49-F238E27FC236}">
                <a16:creationId xmlns:a16="http://schemas.microsoft.com/office/drawing/2014/main" id="{64E0B9CE-78F2-FD7E-6F63-27C8D7EE3278}"/>
              </a:ext>
            </a:extLst>
          </p:cNvPr>
          <p:cNvSpPr/>
          <p:nvPr/>
        </p:nvSpPr>
        <p:spPr>
          <a:xfrm>
            <a:off x="11989450" y="3738407"/>
            <a:ext cx="219456" cy="219456"/>
          </a:xfrm>
          <a:prstGeom prst="ellipse">
            <a:avLst/>
          </a:prstGeom>
          <a:solidFill>
            <a:srgbClr val="2E7D52"/>
          </a:solidFill>
          <a:ln/>
        </p:spPr>
        <p:txBody>
          <a:bodyPr/>
          <a:lstStyle/>
          <a:p>
            <a:endParaRPr lang="en-US"/>
          </a:p>
        </p:txBody>
      </p:sp>
      <p:sp>
        <p:nvSpPr>
          <p:cNvPr id="169" name="Text 62">
            <a:extLst>
              <a:ext uri="{FF2B5EF4-FFF2-40B4-BE49-F238E27FC236}">
                <a16:creationId xmlns:a16="http://schemas.microsoft.com/office/drawing/2014/main" id="{4B6B2C6E-0A2C-FC54-6BF0-BA1AF568C088}"/>
              </a:ext>
            </a:extLst>
          </p:cNvPr>
          <p:cNvSpPr/>
          <p:nvPr/>
        </p:nvSpPr>
        <p:spPr>
          <a:xfrm>
            <a:off x="11989450" y="3738407"/>
            <a:ext cx="219456" cy="219456"/>
          </a:xfrm>
          <a:prstGeom prst="rect">
            <a:avLst/>
          </a:prstGeom>
          <a:noFill/>
          <a:ln/>
        </p:spPr>
        <p:txBody>
          <a:bodyPr wrap="square" lIns="0" tIns="0" rIns="0" bIns="0" rtlCol="0" anchor="ctr"/>
          <a:lstStyle/>
          <a:p>
            <a:pPr marL="0" indent="0" algn="ctr">
              <a:buNone/>
            </a:pPr>
            <a:r>
              <a:rPr lang="en-US" sz="900" b="1" dirty="0">
                <a:solidFill>
                  <a:srgbClr val="FDFDFD"/>
                </a:solidFill>
                <a:latin typeface="Montserrat" pitchFamily="34" charset="0"/>
                <a:ea typeface="Montserrat" pitchFamily="34" charset="-122"/>
                <a:cs typeface="Montserrat" pitchFamily="34" charset="-120"/>
              </a:rPr>
              <a:t>5</a:t>
            </a:r>
            <a:endParaRPr lang="en-US" sz="900" dirty="0"/>
          </a:p>
        </p:txBody>
      </p:sp>
      <p:pic>
        <p:nvPicPr>
          <p:cNvPr id="170" name="Google Shape;126;p2" descr="preencoded.png">
            <a:extLst>
              <a:ext uri="{FF2B5EF4-FFF2-40B4-BE49-F238E27FC236}">
                <a16:creationId xmlns:a16="http://schemas.microsoft.com/office/drawing/2014/main" id="{D9872F02-12EA-009B-801A-88FC18466B5B}"/>
              </a:ext>
            </a:extLst>
          </p:cNvPr>
          <p:cNvPicPr preferRelativeResize="0"/>
          <p:nvPr/>
        </p:nvPicPr>
        <p:blipFill rotWithShape="1">
          <a:blip r:embed="rId3">
            <a:alphaModFix/>
          </a:blip>
          <a:srcRect/>
          <a:stretch/>
        </p:blipFill>
        <p:spPr>
          <a:xfrm>
            <a:off x="11196119" y="118872"/>
            <a:ext cx="669527" cy="671619"/>
          </a:xfrm>
          <a:prstGeom prst="rect">
            <a:avLst/>
          </a:prstGeom>
          <a:noFill/>
          <a:ln>
            <a:noFill/>
          </a:ln>
        </p:spPr>
      </p:pic>
      <p:sp>
        <p:nvSpPr>
          <p:cNvPr id="171" name="Shape 36">
            <a:extLst>
              <a:ext uri="{FF2B5EF4-FFF2-40B4-BE49-F238E27FC236}">
                <a16:creationId xmlns:a16="http://schemas.microsoft.com/office/drawing/2014/main" id="{DAD1BD4C-0E9B-685B-2B85-DA42E18397C3}"/>
              </a:ext>
            </a:extLst>
          </p:cNvPr>
          <p:cNvSpPr/>
          <p:nvPr/>
        </p:nvSpPr>
        <p:spPr>
          <a:xfrm>
            <a:off x="6396228" y="2711196"/>
            <a:ext cx="1051560" cy="109728"/>
          </a:xfrm>
          <a:prstGeom prst="line">
            <a:avLst/>
          </a:prstGeom>
          <a:noFill/>
          <a:ln w="19050">
            <a:solidFill>
              <a:srgbClr val="E31837"/>
            </a:solidFill>
            <a:prstDash val="solid"/>
            <a:tailEnd type="triangle"/>
          </a:ln>
        </p:spPr>
        <p:txBody>
          <a:bodyPr/>
          <a:lstStyle/>
          <a:p>
            <a:endParaRPr lang="en-US"/>
          </a:p>
        </p:txBody>
      </p:sp>
      <p:sp>
        <p:nvSpPr>
          <p:cNvPr id="173" name="Shape 41">
            <a:extLst>
              <a:ext uri="{FF2B5EF4-FFF2-40B4-BE49-F238E27FC236}">
                <a16:creationId xmlns:a16="http://schemas.microsoft.com/office/drawing/2014/main" id="{7CA52493-9391-5009-F82F-4E1EDCA45295}"/>
              </a:ext>
            </a:extLst>
          </p:cNvPr>
          <p:cNvSpPr/>
          <p:nvPr/>
        </p:nvSpPr>
        <p:spPr>
          <a:xfrm>
            <a:off x="5346052" y="4095448"/>
            <a:ext cx="0" cy="109728"/>
          </a:xfrm>
          <a:prstGeom prst="line">
            <a:avLst/>
          </a:prstGeom>
          <a:noFill/>
          <a:ln w="20320">
            <a:solidFill>
              <a:srgbClr val="E31837"/>
            </a:solidFill>
            <a:prstDash val="solid"/>
            <a:tailEnd type="triangle"/>
          </a:ln>
        </p:spPr>
        <p:txBody>
          <a:bodyPr/>
          <a:lstStyle/>
          <a:p>
            <a:endParaRPr lang="en-US"/>
          </a:p>
        </p:txBody>
      </p:sp>
      <p:sp>
        <p:nvSpPr>
          <p:cNvPr id="174" name="Shape 41">
            <a:extLst>
              <a:ext uri="{FF2B5EF4-FFF2-40B4-BE49-F238E27FC236}">
                <a16:creationId xmlns:a16="http://schemas.microsoft.com/office/drawing/2014/main" id="{A23C72FF-A25F-ABFF-8E11-81074254088D}"/>
              </a:ext>
            </a:extLst>
          </p:cNvPr>
          <p:cNvSpPr/>
          <p:nvPr/>
        </p:nvSpPr>
        <p:spPr>
          <a:xfrm>
            <a:off x="5360228" y="4822012"/>
            <a:ext cx="0" cy="109728"/>
          </a:xfrm>
          <a:prstGeom prst="line">
            <a:avLst/>
          </a:prstGeom>
          <a:noFill/>
          <a:ln w="20320">
            <a:solidFill>
              <a:srgbClr val="E31837"/>
            </a:solidFill>
            <a:prstDash val="solid"/>
            <a:tailEnd type="triangle"/>
          </a:ln>
        </p:spPr>
        <p:txBody>
          <a:bodyPr/>
          <a:lstStyle/>
          <a:p>
            <a:endParaRPr lang="en-US"/>
          </a:p>
        </p:txBody>
      </p:sp>
      <p:sp>
        <p:nvSpPr>
          <p:cNvPr id="175" name="Shape 41">
            <a:extLst>
              <a:ext uri="{FF2B5EF4-FFF2-40B4-BE49-F238E27FC236}">
                <a16:creationId xmlns:a16="http://schemas.microsoft.com/office/drawing/2014/main" id="{E5B1284F-1C12-00D9-E575-1992DB4F2C72}"/>
              </a:ext>
            </a:extLst>
          </p:cNvPr>
          <p:cNvSpPr/>
          <p:nvPr/>
        </p:nvSpPr>
        <p:spPr>
          <a:xfrm flipH="1" flipV="1">
            <a:off x="7091916" y="4067591"/>
            <a:ext cx="1" cy="146304"/>
          </a:xfrm>
          <a:prstGeom prst="line">
            <a:avLst/>
          </a:prstGeom>
          <a:noFill/>
          <a:ln w="20320">
            <a:solidFill>
              <a:srgbClr val="2F7D52"/>
            </a:solidFill>
            <a:prstDash val="solid"/>
            <a:tailEnd type="triangle"/>
          </a:ln>
        </p:spPr>
        <p:txBody>
          <a:bodyPr/>
          <a:lstStyle/>
          <a:p>
            <a:endParaRPr lang="en-US"/>
          </a:p>
        </p:txBody>
      </p:sp>
      <p:sp>
        <p:nvSpPr>
          <p:cNvPr id="176" name="Shape 41">
            <a:extLst>
              <a:ext uri="{FF2B5EF4-FFF2-40B4-BE49-F238E27FC236}">
                <a16:creationId xmlns:a16="http://schemas.microsoft.com/office/drawing/2014/main" id="{F508CB4B-BF20-94CA-C4B6-D300635F3672}"/>
              </a:ext>
            </a:extLst>
          </p:cNvPr>
          <p:cNvSpPr/>
          <p:nvPr/>
        </p:nvSpPr>
        <p:spPr>
          <a:xfrm flipH="1" flipV="1">
            <a:off x="7116726" y="4804779"/>
            <a:ext cx="1" cy="146304"/>
          </a:xfrm>
          <a:prstGeom prst="line">
            <a:avLst/>
          </a:prstGeom>
          <a:noFill/>
          <a:ln w="20320">
            <a:solidFill>
              <a:srgbClr val="2F7D52"/>
            </a:solidFill>
            <a:prstDash val="solid"/>
            <a:tailEnd type="triangle"/>
          </a:ln>
        </p:spPr>
        <p:txBody>
          <a:bodyPr/>
          <a:lstStyle/>
          <a:p>
            <a:endParaRPr lang="en-US"/>
          </a:p>
        </p:txBody>
      </p:sp>
      <p:sp>
        <p:nvSpPr>
          <p:cNvPr id="177" name="Text 38">
            <a:extLst>
              <a:ext uri="{FF2B5EF4-FFF2-40B4-BE49-F238E27FC236}">
                <a16:creationId xmlns:a16="http://schemas.microsoft.com/office/drawing/2014/main" id="{3CBF1295-D7BD-597D-0CC5-285097B7D68F}"/>
              </a:ext>
            </a:extLst>
          </p:cNvPr>
          <p:cNvSpPr/>
          <p:nvPr/>
        </p:nvSpPr>
        <p:spPr>
          <a:xfrm>
            <a:off x="4299508" y="4828032"/>
            <a:ext cx="960120" cy="109728"/>
          </a:xfrm>
          <a:prstGeom prst="rect">
            <a:avLst/>
          </a:prstGeom>
          <a:noFill/>
          <a:ln/>
        </p:spPr>
        <p:txBody>
          <a:bodyPr wrap="square" lIns="0" tIns="0" rIns="0" bIns="0" rtlCol="0" anchor="ctr"/>
          <a:lstStyle/>
          <a:p>
            <a:pPr marL="0" indent="0" algn="r">
              <a:buNone/>
            </a:pPr>
            <a:r>
              <a:rPr lang="en-US" sz="700" i="1" dirty="0">
                <a:solidFill>
                  <a:srgbClr val="C00000"/>
                </a:solidFill>
                <a:latin typeface="Lora" pitchFamily="34" charset="0"/>
                <a:ea typeface="Lora" pitchFamily="34" charset="-122"/>
                <a:cs typeface="Lora" pitchFamily="34" charset="-120"/>
              </a:rPr>
              <a:t>retrieve</a:t>
            </a:r>
            <a:endParaRPr lang="en-US" sz="700" dirty="0">
              <a:solidFill>
                <a:srgbClr val="C00000"/>
              </a:solidFill>
            </a:endParaRPr>
          </a:p>
        </p:txBody>
      </p:sp>
      <p:sp>
        <p:nvSpPr>
          <p:cNvPr id="178" name="Text 40">
            <a:extLst>
              <a:ext uri="{FF2B5EF4-FFF2-40B4-BE49-F238E27FC236}">
                <a16:creationId xmlns:a16="http://schemas.microsoft.com/office/drawing/2014/main" id="{A367F703-3092-BF87-DE82-3D91CD2470D7}"/>
              </a:ext>
            </a:extLst>
          </p:cNvPr>
          <p:cNvSpPr/>
          <p:nvPr/>
        </p:nvSpPr>
        <p:spPr>
          <a:xfrm>
            <a:off x="7188757" y="4846320"/>
            <a:ext cx="914400" cy="109728"/>
          </a:xfrm>
          <a:prstGeom prst="rect">
            <a:avLst/>
          </a:prstGeom>
          <a:noFill/>
          <a:ln/>
        </p:spPr>
        <p:txBody>
          <a:bodyPr wrap="square" lIns="0" tIns="0" rIns="0" bIns="0" rtlCol="0" anchor="ctr"/>
          <a:lstStyle/>
          <a:p>
            <a:r>
              <a:rPr lang="en-US" sz="700" i="1" dirty="0">
                <a:solidFill>
                  <a:srgbClr val="2F7D52"/>
                </a:solidFill>
                <a:latin typeface="Lora" pitchFamily="34" charset="0"/>
                <a:ea typeface="Lora" pitchFamily="34" charset="-122"/>
                <a:cs typeface="Lora" pitchFamily="34" charset="-120"/>
              </a:rPr>
              <a:t>Feature / RAG</a:t>
            </a:r>
            <a:endParaRPr lang="en-US" sz="700" dirty="0">
              <a:solidFill>
                <a:srgbClr val="2F7D52"/>
              </a:solidFill>
            </a:endParaRPr>
          </a:p>
        </p:txBody>
      </p:sp>
      <p:sp>
        <p:nvSpPr>
          <p:cNvPr id="179" name="Shape 36">
            <a:extLst>
              <a:ext uri="{FF2B5EF4-FFF2-40B4-BE49-F238E27FC236}">
                <a16:creationId xmlns:a16="http://schemas.microsoft.com/office/drawing/2014/main" id="{B23B7CC4-EAF4-9A02-1212-0EBFAD6F5C8F}"/>
              </a:ext>
            </a:extLst>
          </p:cNvPr>
          <p:cNvSpPr/>
          <p:nvPr/>
        </p:nvSpPr>
        <p:spPr>
          <a:xfrm flipH="1">
            <a:off x="5458968" y="2706624"/>
            <a:ext cx="937260" cy="118872"/>
          </a:xfrm>
          <a:prstGeom prst="line">
            <a:avLst/>
          </a:prstGeom>
          <a:noFill/>
          <a:ln w="19050">
            <a:solidFill>
              <a:srgbClr val="E31837"/>
            </a:solidFill>
            <a:prstDash val="solid"/>
            <a:tailEnd type="triangle"/>
          </a:ln>
        </p:spPr>
        <p:txBody>
          <a:bodyPr/>
          <a:lstStyle/>
          <a:p>
            <a:endParaRPr lang="en-US"/>
          </a:p>
        </p:txBody>
      </p:sp>
      <p:sp>
        <p:nvSpPr>
          <p:cNvPr id="180" name="Shape 41">
            <a:extLst>
              <a:ext uri="{FF2B5EF4-FFF2-40B4-BE49-F238E27FC236}">
                <a16:creationId xmlns:a16="http://schemas.microsoft.com/office/drawing/2014/main" id="{D5AE94BA-DCA9-DD68-DADF-16780FA18DAC}"/>
              </a:ext>
            </a:extLst>
          </p:cNvPr>
          <p:cNvSpPr/>
          <p:nvPr/>
        </p:nvSpPr>
        <p:spPr>
          <a:xfrm>
            <a:off x="6402221" y="2716764"/>
            <a:ext cx="0" cy="109728"/>
          </a:xfrm>
          <a:prstGeom prst="line">
            <a:avLst/>
          </a:prstGeom>
          <a:noFill/>
          <a:ln w="20320">
            <a:solidFill>
              <a:srgbClr val="E31837"/>
            </a:solidFill>
            <a:prstDash val="solid"/>
            <a:tailEnd type="triangle"/>
          </a:ln>
        </p:spPr>
        <p:txBody>
          <a:bodyPr/>
          <a:lstStyle/>
          <a:p>
            <a:endParaRPr lang="en-US"/>
          </a:p>
        </p:txBody>
      </p:sp>
      <p:sp>
        <p:nvSpPr>
          <p:cNvPr id="182" name="Shape 13">
            <a:extLst>
              <a:ext uri="{FF2B5EF4-FFF2-40B4-BE49-F238E27FC236}">
                <a16:creationId xmlns:a16="http://schemas.microsoft.com/office/drawing/2014/main" id="{C8580DD0-E610-C45C-6221-168B6715A368}"/>
              </a:ext>
            </a:extLst>
          </p:cNvPr>
          <p:cNvSpPr/>
          <p:nvPr/>
        </p:nvSpPr>
        <p:spPr>
          <a:xfrm>
            <a:off x="7974774" y="1069848"/>
            <a:ext cx="1787652" cy="214884"/>
          </a:xfrm>
          <a:prstGeom prst="roundRect">
            <a:avLst>
              <a:gd name="adj" fmla="val 16667"/>
            </a:avLst>
          </a:prstGeom>
          <a:solidFill>
            <a:srgbClr val="FDFDFD"/>
          </a:solidFill>
          <a:ln w="9525">
            <a:solidFill>
              <a:srgbClr val="D8D6CE"/>
            </a:solidFill>
            <a:prstDash val="solid"/>
          </a:ln>
        </p:spPr>
        <p:txBody>
          <a:bodyPr/>
          <a:lstStyle/>
          <a:p>
            <a:endParaRPr lang="en-US" dirty="0"/>
          </a:p>
        </p:txBody>
      </p:sp>
      <p:sp>
        <p:nvSpPr>
          <p:cNvPr id="181" name="Text 21">
            <a:extLst>
              <a:ext uri="{FF2B5EF4-FFF2-40B4-BE49-F238E27FC236}">
                <a16:creationId xmlns:a16="http://schemas.microsoft.com/office/drawing/2014/main" id="{CCD595EE-4F8C-B3A4-458A-B731DD397209}"/>
              </a:ext>
            </a:extLst>
          </p:cNvPr>
          <p:cNvSpPr/>
          <p:nvPr/>
        </p:nvSpPr>
        <p:spPr>
          <a:xfrm>
            <a:off x="8116092" y="1088136"/>
            <a:ext cx="1419933" cy="237744"/>
          </a:xfrm>
          <a:prstGeom prst="rect">
            <a:avLst/>
          </a:prstGeom>
          <a:noFill/>
          <a:ln/>
        </p:spPr>
        <p:txBody>
          <a:bodyPr wrap="square" lIns="0" tIns="0" rIns="0" bIns="0" rtlCol="0" anchor="ctr"/>
          <a:lstStyle/>
          <a:p>
            <a:pPr algn="ctr">
              <a:lnSpc>
                <a:spcPct val="90000"/>
              </a:lnSpc>
            </a:pPr>
            <a:r>
              <a:rPr lang="en-US" sz="750" b="1" dirty="0">
                <a:solidFill>
                  <a:srgbClr val="333333"/>
                </a:solidFill>
                <a:latin typeface="Montserrat" pitchFamily="34" charset="0"/>
              </a:rPr>
              <a:t>Email &amp; Comms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E31837"/>
          </a:solidFill>
          <a:ln/>
        </p:spPr>
        <p:txBody>
          <a:bodyPr/>
          <a:lstStyle/>
          <a:p>
            <a:endParaRPr lang="en-US"/>
          </a:p>
        </p:txBody>
      </p:sp>
      <p:sp>
        <p:nvSpPr>
          <p:cNvPr id="4" name="Text 2"/>
          <p:cNvSpPr/>
          <p:nvPr/>
        </p:nvSpPr>
        <p:spPr>
          <a:xfrm>
            <a:off x="365760" y="146304"/>
            <a:ext cx="8229600" cy="201168"/>
          </a:xfrm>
          <a:prstGeom prst="rect">
            <a:avLst/>
          </a:prstGeom>
          <a:noFill/>
          <a:ln/>
        </p:spPr>
        <p:txBody>
          <a:bodyPr wrap="square" lIns="0" tIns="0" rIns="0" bIns="0" rtlCol="0" anchor="ctr"/>
          <a:lstStyle/>
          <a:p>
            <a:pPr marL="0" indent="0">
              <a:buNone/>
            </a:pPr>
            <a:r>
              <a:rPr lang="en-US" sz="1000" b="1" kern="0" spc="200" dirty="0">
                <a:solidFill>
                  <a:srgbClr val="E31837"/>
                </a:solidFill>
                <a:latin typeface="Montserrat" pitchFamily="34" charset="0"/>
                <a:ea typeface="Montserrat" pitchFamily="34" charset="-122"/>
                <a:cs typeface="Montserrat" pitchFamily="34" charset="-120"/>
              </a:rPr>
              <a:t>OBJECTIVE 1 · SERVICE BLUEPRINT (2 of 2)</a:t>
            </a:r>
            <a:endParaRPr lang="en-US" sz="1000" dirty="0"/>
          </a:p>
        </p:txBody>
      </p:sp>
      <p:sp>
        <p:nvSpPr>
          <p:cNvPr id="5" name="Text 3"/>
          <p:cNvSpPr/>
          <p:nvPr/>
        </p:nvSpPr>
        <p:spPr>
          <a:xfrm>
            <a:off x="365760" y="365760"/>
            <a:ext cx="11430000" cy="310896"/>
          </a:xfrm>
          <a:prstGeom prst="rect">
            <a:avLst/>
          </a:prstGeom>
          <a:noFill/>
          <a:ln/>
        </p:spPr>
        <p:txBody>
          <a:bodyPr wrap="square" lIns="0" tIns="0" rIns="0" bIns="0" rtlCol="0" anchor="ctr"/>
          <a:lstStyle/>
          <a:p>
            <a:pPr marL="0" indent="0">
              <a:buNone/>
            </a:pPr>
            <a:r>
              <a:rPr lang="en-US" sz="1700" b="1" dirty="0">
                <a:solidFill>
                  <a:srgbClr val="333333"/>
                </a:solidFill>
                <a:latin typeface="Montserrat" pitchFamily="34" charset="0"/>
                <a:ea typeface="Montserrat" pitchFamily="34" charset="-122"/>
                <a:cs typeface="Montserrat" pitchFamily="34" charset="-120"/>
              </a:rPr>
              <a:t>The data universe — which agent touches which data, and by what means</a:t>
            </a:r>
            <a:endParaRPr lang="en-US" sz="1700" dirty="0"/>
          </a:p>
        </p:txBody>
      </p:sp>
      <p:sp>
        <p:nvSpPr>
          <p:cNvPr id="6" name="Text 4"/>
          <p:cNvSpPr/>
          <p:nvPr/>
        </p:nvSpPr>
        <p:spPr>
          <a:xfrm>
            <a:off x="365760" y="749808"/>
            <a:ext cx="11430000" cy="201168"/>
          </a:xfrm>
          <a:prstGeom prst="rect">
            <a:avLst/>
          </a:prstGeom>
          <a:noFill/>
          <a:ln/>
        </p:spPr>
        <p:txBody>
          <a:bodyPr wrap="square" lIns="0" tIns="0" rIns="0" bIns="0" rtlCol="0" anchor="ctr"/>
          <a:lstStyle/>
          <a:p>
            <a:pPr marL="0" indent="0">
              <a:buNone/>
            </a:pPr>
            <a:r>
              <a:rPr lang="en-US" sz="900" i="1" dirty="0">
                <a:solidFill>
                  <a:srgbClr val="5F5E5A"/>
                </a:solidFill>
                <a:latin typeface="Lora" pitchFamily="34" charset="0"/>
                <a:ea typeface="Lora" pitchFamily="34" charset="-122"/>
                <a:cs typeface="Lora" pitchFamily="34" charset="-120"/>
              </a:rPr>
              <a:t>Each cell shows access (R / W / R·W) + method. The same domain is reached different ways by different agents — semantic vs exact, real-time vs event.</a:t>
            </a:r>
            <a:endParaRPr lang="en-US" sz="900" dirty="0"/>
          </a:p>
        </p:txBody>
      </p:sp>
      <p:sp>
        <p:nvSpPr>
          <p:cNvPr id="7" name="Shape 5"/>
          <p:cNvSpPr/>
          <p:nvPr/>
        </p:nvSpPr>
        <p:spPr>
          <a:xfrm>
            <a:off x="365760" y="1042416"/>
            <a:ext cx="1371600" cy="402336"/>
          </a:xfrm>
          <a:prstGeom prst="rect">
            <a:avLst/>
          </a:prstGeom>
          <a:solidFill>
            <a:srgbClr val="333333"/>
          </a:solidFill>
          <a:ln/>
        </p:spPr>
        <p:txBody>
          <a:bodyPr/>
          <a:lstStyle/>
          <a:p>
            <a:endParaRPr lang="en-US"/>
          </a:p>
        </p:txBody>
      </p:sp>
      <p:sp>
        <p:nvSpPr>
          <p:cNvPr id="8" name="Text 6"/>
          <p:cNvSpPr/>
          <p:nvPr/>
        </p:nvSpPr>
        <p:spPr>
          <a:xfrm>
            <a:off x="420624" y="1042416"/>
            <a:ext cx="1261872" cy="402336"/>
          </a:xfrm>
          <a:prstGeom prst="rect">
            <a:avLst/>
          </a:prstGeom>
          <a:noFill/>
          <a:ln/>
        </p:spPr>
        <p:txBody>
          <a:bodyPr wrap="square" lIns="0" tIns="0" rIns="0" bIns="0" rtlCol="0" anchor="ctr"/>
          <a:lstStyle/>
          <a:p>
            <a:pPr marL="0" indent="0">
              <a:buNone/>
            </a:pPr>
            <a:r>
              <a:rPr lang="en-US" sz="750" b="1" dirty="0">
                <a:solidFill>
                  <a:srgbClr val="FDFDFD"/>
                </a:solidFill>
                <a:latin typeface="Montserrat" pitchFamily="34" charset="0"/>
                <a:ea typeface="Montserrat" pitchFamily="34" charset="-122"/>
                <a:cs typeface="Montserrat" pitchFamily="34" charset="-120"/>
              </a:rPr>
              <a:t>Agent ▽  Data ▷</a:t>
            </a:r>
            <a:endParaRPr lang="en-US" sz="750" dirty="0"/>
          </a:p>
        </p:txBody>
      </p:sp>
      <p:sp>
        <p:nvSpPr>
          <p:cNvPr id="9" name="Shape 7"/>
          <p:cNvSpPr/>
          <p:nvPr/>
        </p:nvSpPr>
        <p:spPr>
          <a:xfrm>
            <a:off x="1737360" y="1042416"/>
            <a:ext cx="1440833" cy="402336"/>
          </a:xfrm>
          <a:prstGeom prst="rect">
            <a:avLst/>
          </a:prstGeom>
          <a:solidFill>
            <a:srgbClr val="333333"/>
          </a:solidFill>
          <a:ln w="6350">
            <a:solidFill>
              <a:srgbClr val="FDFDFD"/>
            </a:solidFill>
            <a:prstDash val="solid"/>
          </a:ln>
        </p:spPr>
        <p:txBody>
          <a:bodyPr/>
          <a:lstStyle/>
          <a:p>
            <a:endParaRPr lang="en-US"/>
          </a:p>
        </p:txBody>
      </p:sp>
      <p:sp>
        <p:nvSpPr>
          <p:cNvPr id="10" name="Text 8"/>
          <p:cNvSpPr/>
          <p:nvPr/>
        </p:nvSpPr>
        <p:spPr>
          <a:xfrm>
            <a:off x="1755648" y="1042416"/>
            <a:ext cx="1404257" cy="402336"/>
          </a:xfrm>
          <a:prstGeom prst="rect">
            <a:avLst/>
          </a:prstGeom>
          <a:noFill/>
          <a:ln/>
        </p:spPr>
        <p:txBody>
          <a:bodyPr wrap="square" lIns="0" tIns="0" rIns="0" bIns="0" rtlCol="0" anchor="ctr"/>
          <a:lstStyle/>
          <a:p>
            <a:pPr marL="0" indent="0" algn="ctr">
              <a:buNone/>
            </a:pPr>
            <a:r>
              <a:rPr lang="en-US" sz="850" b="1" dirty="0">
                <a:solidFill>
                  <a:srgbClr val="FDFDFD"/>
                </a:solidFill>
                <a:latin typeface="Montserrat" pitchFamily="34" charset="0"/>
                <a:ea typeface="Montserrat" pitchFamily="34" charset="-122"/>
                <a:cs typeface="Montserrat" pitchFamily="34" charset="-120"/>
              </a:rPr>
              <a:t>CRM</a:t>
            </a:r>
            <a:endParaRPr lang="en-US" sz="850" dirty="0"/>
          </a:p>
        </p:txBody>
      </p:sp>
      <p:sp>
        <p:nvSpPr>
          <p:cNvPr id="11" name="Shape 9"/>
          <p:cNvSpPr/>
          <p:nvPr/>
        </p:nvSpPr>
        <p:spPr>
          <a:xfrm>
            <a:off x="3178193" y="1042416"/>
            <a:ext cx="1440833" cy="402336"/>
          </a:xfrm>
          <a:prstGeom prst="rect">
            <a:avLst/>
          </a:prstGeom>
          <a:solidFill>
            <a:srgbClr val="333333"/>
          </a:solidFill>
          <a:ln w="6350">
            <a:solidFill>
              <a:srgbClr val="FDFDFD"/>
            </a:solidFill>
            <a:prstDash val="solid"/>
          </a:ln>
        </p:spPr>
        <p:txBody>
          <a:bodyPr/>
          <a:lstStyle/>
          <a:p>
            <a:endParaRPr lang="en-US"/>
          </a:p>
        </p:txBody>
      </p:sp>
      <p:sp>
        <p:nvSpPr>
          <p:cNvPr id="12" name="Text 10"/>
          <p:cNvSpPr/>
          <p:nvPr/>
        </p:nvSpPr>
        <p:spPr>
          <a:xfrm>
            <a:off x="3196481" y="1042416"/>
            <a:ext cx="1404257" cy="402336"/>
          </a:xfrm>
          <a:prstGeom prst="rect">
            <a:avLst/>
          </a:prstGeom>
          <a:noFill/>
          <a:ln/>
        </p:spPr>
        <p:txBody>
          <a:bodyPr wrap="square" lIns="0" tIns="0" rIns="0" bIns="0" rtlCol="0" anchor="ctr"/>
          <a:lstStyle/>
          <a:p>
            <a:pPr marL="0" indent="0" algn="ctr">
              <a:buNone/>
            </a:pPr>
            <a:r>
              <a:rPr lang="en-US" sz="850" b="1" dirty="0">
                <a:solidFill>
                  <a:srgbClr val="FDFDFD"/>
                </a:solidFill>
                <a:latin typeface="Montserrat" pitchFamily="34" charset="0"/>
                <a:ea typeface="Montserrat" pitchFamily="34" charset="-122"/>
                <a:cs typeface="Montserrat" pitchFamily="34" charset="-120"/>
              </a:rPr>
              <a:t>Loyalty</a:t>
            </a:r>
            <a:endParaRPr lang="en-US" sz="850" dirty="0"/>
          </a:p>
        </p:txBody>
      </p:sp>
      <p:sp>
        <p:nvSpPr>
          <p:cNvPr id="13" name="Shape 11"/>
          <p:cNvSpPr/>
          <p:nvPr/>
        </p:nvSpPr>
        <p:spPr>
          <a:xfrm>
            <a:off x="4619026" y="1042416"/>
            <a:ext cx="1440833" cy="402336"/>
          </a:xfrm>
          <a:prstGeom prst="rect">
            <a:avLst/>
          </a:prstGeom>
          <a:solidFill>
            <a:srgbClr val="333333"/>
          </a:solidFill>
          <a:ln w="6350">
            <a:solidFill>
              <a:srgbClr val="FDFDFD"/>
            </a:solidFill>
            <a:prstDash val="solid"/>
          </a:ln>
        </p:spPr>
        <p:txBody>
          <a:bodyPr/>
          <a:lstStyle/>
          <a:p>
            <a:endParaRPr lang="en-US"/>
          </a:p>
        </p:txBody>
      </p:sp>
      <p:sp>
        <p:nvSpPr>
          <p:cNvPr id="14" name="Text 12"/>
          <p:cNvSpPr/>
          <p:nvPr/>
        </p:nvSpPr>
        <p:spPr>
          <a:xfrm>
            <a:off x="4637314" y="1042416"/>
            <a:ext cx="1404257" cy="402336"/>
          </a:xfrm>
          <a:prstGeom prst="rect">
            <a:avLst/>
          </a:prstGeom>
          <a:noFill/>
          <a:ln/>
        </p:spPr>
        <p:txBody>
          <a:bodyPr wrap="square" lIns="0" tIns="0" rIns="0" bIns="0" rtlCol="0" anchor="ctr"/>
          <a:lstStyle/>
          <a:p>
            <a:pPr marL="0" indent="0" algn="ctr">
              <a:buNone/>
            </a:pPr>
            <a:r>
              <a:rPr lang="en-US" sz="850" b="1" dirty="0">
                <a:solidFill>
                  <a:srgbClr val="FDFDFD"/>
                </a:solidFill>
                <a:latin typeface="Montserrat" pitchFamily="34" charset="0"/>
                <a:ea typeface="Montserrat" pitchFamily="34" charset="-122"/>
                <a:cs typeface="Montserrat" pitchFamily="34" charset="-120"/>
              </a:rPr>
              <a:t>Catalogue</a:t>
            </a:r>
            <a:endParaRPr lang="en-US" sz="850" dirty="0"/>
          </a:p>
        </p:txBody>
      </p:sp>
      <p:sp>
        <p:nvSpPr>
          <p:cNvPr id="15" name="Shape 13"/>
          <p:cNvSpPr/>
          <p:nvPr/>
        </p:nvSpPr>
        <p:spPr>
          <a:xfrm>
            <a:off x="6059859" y="1042416"/>
            <a:ext cx="1440833" cy="402336"/>
          </a:xfrm>
          <a:prstGeom prst="rect">
            <a:avLst/>
          </a:prstGeom>
          <a:solidFill>
            <a:srgbClr val="333333"/>
          </a:solidFill>
          <a:ln w="6350">
            <a:solidFill>
              <a:srgbClr val="FDFDFD"/>
            </a:solidFill>
            <a:prstDash val="solid"/>
          </a:ln>
        </p:spPr>
        <p:txBody>
          <a:bodyPr/>
          <a:lstStyle/>
          <a:p>
            <a:endParaRPr lang="en-US"/>
          </a:p>
        </p:txBody>
      </p:sp>
      <p:sp>
        <p:nvSpPr>
          <p:cNvPr id="16" name="Text 14"/>
          <p:cNvSpPr/>
          <p:nvPr/>
        </p:nvSpPr>
        <p:spPr>
          <a:xfrm>
            <a:off x="6078147" y="1042416"/>
            <a:ext cx="1404257" cy="402336"/>
          </a:xfrm>
          <a:prstGeom prst="rect">
            <a:avLst/>
          </a:prstGeom>
          <a:noFill/>
          <a:ln/>
        </p:spPr>
        <p:txBody>
          <a:bodyPr wrap="square" lIns="0" tIns="0" rIns="0" bIns="0" rtlCol="0" anchor="ctr"/>
          <a:lstStyle/>
          <a:p>
            <a:pPr marL="0" indent="0" algn="ctr">
              <a:buNone/>
            </a:pPr>
            <a:r>
              <a:rPr lang="en-US" sz="850" b="1" dirty="0">
                <a:solidFill>
                  <a:srgbClr val="FDFDFD"/>
                </a:solidFill>
                <a:latin typeface="Montserrat" pitchFamily="34" charset="0"/>
                <a:ea typeface="Montserrat" pitchFamily="34" charset="-122"/>
                <a:cs typeface="Montserrat" pitchFamily="34" charset="-120"/>
              </a:rPr>
              <a:t>Inventory</a:t>
            </a:r>
            <a:endParaRPr lang="en-US" sz="850" dirty="0"/>
          </a:p>
        </p:txBody>
      </p:sp>
      <p:sp>
        <p:nvSpPr>
          <p:cNvPr id="17" name="Shape 15"/>
          <p:cNvSpPr/>
          <p:nvPr/>
        </p:nvSpPr>
        <p:spPr>
          <a:xfrm>
            <a:off x="7500693" y="1042416"/>
            <a:ext cx="1440833" cy="402336"/>
          </a:xfrm>
          <a:prstGeom prst="rect">
            <a:avLst/>
          </a:prstGeom>
          <a:solidFill>
            <a:srgbClr val="333333"/>
          </a:solidFill>
          <a:ln w="6350">
            <a:solidFill>
              <a:srgbClr val="FDFDFD"/>
            </a:solidFill>
            <a:prstDash val="solid"/>
          </a:ln>
        </p:spPr>
        <p:txBody>
          <a:bodyPr/>
          <a:lstStyle/>
          <a:p>
            <a:endParaRPr lang="en-US"/>
          </a:p>
        </p:txBody>
      </p:sp>
      <p:sp>
        <p:nvSpPr>
          <p:cNvPr id="18" name="Text 16"/>
          <p:cNvSpPr/>
          <p:nvPr/>
        </p:nvSpPr>
        <p:spPr>
          <a:xfrm>
            <a:off x="7518981" y="1042416"/>
            <a:ext cx="1404257" cy="402336"/>
          </a:xfrm>
          <a:prstGeom prst="rect">
            <a:avLst/>
          </a:prstGeom>
          <a:noFill/>
          <a:ln/>
        </p:spPr>
        <p:txBody>
          <a:bodyPr wrap="square" lIns="0" tIns="0" rIns="0" bIns="0" rtlCol="0" anchor="ctr"/>
          <a:lstStyle/>
          <a:p>
            <a:pPr marL="0" indent="0" algn="ctr">
              <a:buNone/>
            </a:pPr>
            <a:r>
              <a:rPr lang="en-US" sz="850" b="1" dirty="0">
                <a:solidFill>
                  <a:srgbClr val="FDFDFD"/>
                </a:solidFill>
                <a:latin typeface="Montserrat" pitchFamily="34" charset="0"/>
                <a:ea typeface="Montserrat" pitchFamily="34" charset="-122"/>
                <a:cs typeface="Montserrat" pitchFamily="34" charset="-120"/>
              </a:rPr>
              <a:t>Returns</a:t>
            </a:r>
            <a:endParaRPr lang="en-US" sz="850" dirty="0"/>
          </a:p>
        </p:txBody>
      </p:sp>
      <p:sp>
        <p:nvSpPr>
          <p:cNvPr id="19" name="Shape 17"/>
          <p:cNvSpPr/>
          <p:nvPr/>
        </p:nvSpPr>
        <p:spPr>
          <a:xfrm>
            <a:off x="8941526" y="1042416"/>
            <a:ext cx="1440833" cy="402336"/>
          </a:xfrm>
          <a:prstGeom prst="rect">
            <a:avLst/>
          </a:prstGeom>
          <a:solidFill>
            <a:srgbClr val="333333"/>
          </a:solidFill>
          <a:ln w="6350">
            <a:solidFill>
              <a:srgbClr val="FDFDFD"/>
            </a:solidFill>
            <a:prstDash val="solid"/>
          </a:ln>
        </p:spPr>
        <p:txBody>
          <a:bodyPr/>
          <a:lstStyle/>
          <a:p>
            <a:endParaRPr lang="en-US"/>
          </a:p>
        </p:txBody>
      </p:sp>
      <p:sp>
        <p:nvSpPr>
          <p:cNvPr id="20" name="Text 18"/>
          <p:cNvSpPr/>
          <p:nvPr/>
        </p:nvSpPr>
        <p:spPr>
          <a:xfrm>
            <a:off x="8959814" y="1042416"/>
            <a:ext cx="1404257" cy="402336"/>
          </a:xfrm>
          <a:prstGeom prst="rect">
            <a:avLst/>
          </a:prstGeom>
          <a:noFill/>
          <a:ln/>
        </p:spPr>
        <p:txBody>
          <a:bodyPr wrap="square" lIns="0" tIns="0" rIns="0" bIns="0" rtlCol="0" anchor="ctr"/>
          <a:lstStyle/>
          <a:p>
            <a:pPr marL="0" indent="0" algn="ctr">
              <a:buNone/>
            </a:pPr>
            <a:r>
              <a:rPr lang="en-US" sz="850" b="1" dirty="0">
                <a:solidFill>
                  <a:srgbClr val="FDFDFD"/>
                </a:solidFill>
                <a:latin typeface="Montserrat" pitchFamily="34" charset="0"/>
                <a:ea typeface="Montserrat" pitchFamily="34" charset="-122"/>
                <a:cs typeface="Montserrat" pitchFamily="34" charset="-120"/>
              </a:rPr>
              <a:t>Behavioural</a:t>
            </a:r>
            <a:endParaRPr lang="en-US" sz="850" dirty="0"/>
          </a:p>
        </p:txBody>
      </p:sp>
      <p:sp>
        <p:nvSpPr>
          <p:cNvPr id="21" name="Shape 19"/>
          <p:cNvSpPr/>
          <p:nvPr/>
        </p:nvSpPr>
        <p:spPr>
          <a:xfrm>
            <a:off x="10382359" y="1042416"/>
            <a:ext cx="1440833" cy="402336"/>
          </a:xfrm>
          <a:prstGeom prst="rect">
            <a:avLst/>
          </a:prstGeom>
          <a:solidFill>
            <a:srgbClr val="333333"/>
          </a:solidFill>
          <a:ln w="6350">
            <a:solidFill>
              <a:srgbClr val="FDFDFD"/>
            </a:solidFill>
            <a:prstDash val="solid"/>
          </a:ln>
        </p:spPr>
        <p:txBody>
          <a:bodyPr/>
          <a:lstStyle/>
          <a:p>
            <a:endParaRPr lang="en-US"/>
          </a:p>
        </p:txBody>
      </p:sp>
      <p:sp>
        <p:nvSpPr>
          <p:cNvPr id="22" name="Text 20"/>
          <p:cNvSpPr/>
          <p:nvPr/>
        </p:nvSpPr>
        <p:spPr>
          <a:xfrm>
            <a:off x="10400647" y="1042416"/>
            <a:ext cx="1404257" cy="402336"/>
          </a:xfrm>
          <a:prstGeom prst="rect">
            <a:avLst/>
          </a:prstGeom>
          <a:noFill/>
          <a:ln/>
        </p:spPr>
        <p:txBody>
          <a:bodyPr wrap="square" lIns="0" tIns="0" rIns="0" bIns="0" rtlCol="0" anchor="ctr"/>
          <a:lstStyle/>
          <a:p>
            <a:pPr marL="0" indent="0" algn="ctr">
              <a:buNone/>
            </a:pPr>
            <a:r>
              <a:rPr lang="en-US" sz="850" b="1" dirty="0">
                <a:solidFill>
                  <a:srgbClr val="FDFDFD"/>
                </a:solidFill>
                <a:latin typeface="Montserrat" pitchFamily="34" charset="0"/>
                <a:ea typeface="Montserrat" pitchFamily="34" charset="-122"/>
                <a:cs typeface="Montserrat" pitchFamily="34" charset="-120"/>
              </a:rPr>
              <a:t>Transactional</a:t>
            </a:r>
            <a:endParaRPr lang="en-US" sz="850" dirty="0"/>
          </a:p>
        </p:txBody>
      </p:sp>
      <p:sp>
        <p:nvSpPr>
          <p:cNvPr id="23" name="Shape 21"/>
          <p:cNvSpPr/>
          <p:nvPr/>
        </p:nvSpPr>
        <p:spPr>
          <a:xfrm>
            <a:off x="365760" y="1444752"/>
            <a:ext cx="1371600" cy="384048"/>
          </a:xfrm>
          <a:prstGeom prst="rect">
            <a:avLst/>
          </a:prstGeom>
          <a:solidFill>
            <a:srgbClr val="FBE3E4"/>
          </a:solidFill>
          <a:ln w="6350">
            <a:solidFill>
              <a:srgbClr val="E2E0D9"/>
            </a:solidFill>
            <a:prstDash val="solid"/>
          </a:ln>
        </p:spPr>
        <p:txBody>
          <a:bodyPr/>
          <a:lstStyle/>
          <a:p>
            <a:endParaRPr lang="en-US"/>
          </a:p>
        </p:txBody>
      </p:sp>
      <p:sp>
        <p:nvSpPr>
          <p:cNvPr id="24" name="Text 22"/>
          <p:cNvSpPr/>
          <p:nvPr/>
        </p:nvSpPr>
        <p:spPr>
          <a:xfrm>
            <a:off x="438912" y="1444752"/>
            <a:ext cx="1261872" cy="384048"/>
          </a:xfrm>
          <a:prstGeom prst="rect">
            <a:avLst/>
          </a:prstGeom>
          <a:noFill/>
          <a:ln/>
        </p:spPr>
        <p:txBody>
          <a:bodyPr wrap="square" lIns="0" tIns="0" rIns="0" bIns="0" rtlCol="0" anchor="ctr"/>
          <a:lstStyle/>
          <a:p>
            <a:pPr marL="0" indent="0">
              <a:buNone/>
            </a:pPr>
            <a:r>
              <a:rPr lang="en-US" sz="850" b="1" dirty="0">
                <a:solidFill>
                  <a:srgbClr val="E31837"/>
                </a:solidFill>
                <a:latin typeface="Montserrat" pitchFamily="34" charset="0"/>
                <a:ea typeface="Montserrat" pitchFamily="34" charset="-122"/>
                <a:cs typeface="Montserrat" pitchFamily="34" charset="-120"/>
              </a:rPr>
              <a:t>PERSONA</a:t>
            </a:r>
            <a:r>
              <a:rPr lang="en-US" sz="600" dirty="0">
                <a:solidFill>
                  <a:srgbClr val="E31837"/>
                </a:solidFill>
                <a:latin typeface="Montserrat" pitchFamily="34" charset="0"/>
                <a:ea typeface="Montserrat" pitchFamily="34" charset="-122"/>
                <a:cs typeface="Montserrat" pitchFamily="34" charset="-120"/>
              </a:rPr>
              <a:t> ●</a:t>
            </a:r>
            <a:endParaRPr lang="en-US" sz="850" dirty="0"/>
          </a:p>
        </p:txBody>
      </p:sp>
      <p:sp>
        <p:nvSpPr>
          <p:cNvPr id="25" name="Shape 23"/>
          <p:cNvSpPr/>
          <p:nvPr/>
        </p:nvSpPr>
        <p:spPr>
          <a:xfrm>
            <a:off x="1737360" y="1444752"/>
            <a:ext cx="1440833" cy="384048"/>
          </a:xfrm>
          <a:prstGeom prst="rect">
            <a:avLst/>
          </a:prstGeom>
          <a:solidFill>
            <a:srgbClr val="FCEBEB"/>
          </a:solidFill>
          <a:ln w="6350">
            <a:solidFill>
              <a:srgbClr val="E8E6DF"/>
            </a:solidFill>
            <a:prstDash val="solid"/>
          </a:ln>
        </p:spPr>
        <p:txBody>
          <a:bodyPr/>
          <a:lstStyle/>
          <a:p>
            <a:endParaRPr lang="en-US"/>
          </a:p>
        </p:txBody>
      </p:sp>
      <p:sp>
        <p:nvSpPr>
          <p:cNvPr id="26" name="Text 24"/>
          <p:cNvSpPr/>
          <p:nvPr/>
        </p:nvSpPr>
        <p:spPr>
          <a:xfrm>
            <a:off x="1755648" y="1444752"/>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27" name="Shape 25"/>
          <p:cNvSpPr/>
          <p:nvPr/>
        </p:nvSpPr>
        <p:spPr>
          <a:xfrm>
            <a:off x="3178193" y="1444752"/>
            <a:ext cx="1440833" cy="384048"/>
          </a:xfrm>
          <a:prstGeom prst="rect">
            <a:avLst/>
          </a:prstGeom>
          <a:solidFill>
            <a:srgbClr val="FCEBEB"/>
          </a:solidFill>
          <a:ln w="6350">
            <a:solidFill>
              <a:srgbClr val="E8E6DF"/>
            </a:solidFill>
            <a:prstDash val="solid"/>
          </a:ln>
        </p:spPr>
        <p:txBody>
          <a:bodyPr/>
          <a:lstStyle/>
          <a:p>
            <a:endParaRPr lang="en-US"/>
          </a:p>
        </p:txBody>
      </p:sp>
      <p:sp>
        <p:nvSpPr>
          <p:cNvPr id="28" name="Text 26"/>
          <p:cNvSpPr/>
          <p:nvPr/>
        </p:nvSpPr>
        <p:spPr>
          <a:xfrm>
            <a:off x="3196481" y="1444752"/>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29" name="Shape 27"/>
          <p:cNvSpPr/>
          <p:nvPr/>
        </p:nvSpPr>
        <p:spPr>
          <a:xfrm>
            <a:off x="4619026" y="1444752"/>
            <a:ext cx="1440833" cy="384048"/>
          </a:xfrm>
          <a:prstGeom prst="rect">
            <a:avLst/>
          </a:prstGeom>
          <a:solidFill>
            <a:srgbClr val="FDFDFD"/>
          </a:solidFill>
          <a:ln w="6350">
            <a:solidFill>
              <a:srgbClr val="E8E6DF"/>
            </a:solidFill>
            <a:prstDash val="solid"/>
          </a:ln>
        </p:spPr>
        <p:txBody>
          <a:bodyPr/>
          <a:lstStyle/>
          <a:p>
            <a:endParaRPr lang="en-US"/>
          </a:p>
        </p:txBody>
      </p:sp>
      <p:sp>
        <p:nvSpPr>
          <p:cNvPr id="30" name="Shape 28"/>
          <p:cNvSpPr/>
          <p:nvPr/>
        </p:nvSpPr>
        <p:spPr>
          <a:xfrm>
            <a:off x="6059859" y="1444752"/>
            <a:ext cx="1440833" cy="384048"/>
          </a:xfrm>
          <a:prstGeom prst="rect">
            <a:avLst/>
          </a:prstGeom>
          <a:solidFill>
            <a:srgbClr val="FDFDFD"/>
          </a:solidFill>
          <a:ln w="6350">
            <a:solidFill>
              <a:srgbClr val="E8E6DF"/>
            </a:solidFill>
            <a:prstDash val="solid"/>
          </a:ln>
        </p:spPr>
        <p:txBody>
          <a:bodyPr/>
          <a:lstStyle/>
          <a:p>
            <a:endParaRPr lang="en-US"/>
          </a:p>
        </p:txBody>
      </p:sp>
      <p:sp>
        <p:nvSpPr>
          <p:cNvPr id="31" name="Shape 29"/>
          <p:cNvSpPr/>
          <p:nvPr/>
        </p:nvSpPr>
        <p:spPr>
          <a:xfrm>
            <a:off x="7500693" y="1444752"/>
            <a:ext cx="1440833" cy="384048"/>
          </a:xfrm>
          <a:prstGeom prst="rect">
            <a:avLst/>
          </a:prstGeom>
          <a:solidFill>
            <a:srgbClr val="FCEBEB"/>
          </a:solidFill>
          <a:ln w="6350">
            <a:solidFill>
              <a:srgbClr val="E8E6DF"/>
            </a:solidFill>
            <a:prstDash val="solid"/>
          </a:ln>
        </p:spPr>
        <p:txBody>
          <a:bodyPr/>
          <a:lstStyle/>
          <a:p>
            <a:endParaRPr lang="en-US"/>
          </a:p>
        </p:txBody>
      </p:sp>
      <p:sp>
        <p:nvSpPr>
          <p:cNvPr id="32" name="Text 30"/>
          <p:cNvSpPr/>
          <p:nvPr/>
        </p:nvSpPr>
        <p:spPr>
          <a:xfrm>
            <a:off x="7518981" y="1444752"/>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33" name="Shape 31"/>
          <p:cNvSpPr/>
          <p:nvPr/>
        </p:nvSpPr>
        <p:spPr>
          <a:xfrm>
            <a:off x="8941526" y="1444752"/>
            <a:ext cx="1440833" cy="384048"/>
          </a:xfrm>
          <a:prstGeom prst="rect">
            <a:avLst/>
          </a:prstGeom>
          <a:solidFill>
            <a:srgbClr val="FCEBEB"/>
          </a:solidFill>
          <a:ln w="6350">
            <a:solidFill>
              <a:srgbClr val="E8E6DF"/>
            </a:solidFill>
            <a:prstDash val="solid"/>
          </a:ln>
        </p:spPr>
        <p:txBody>
          <a:bodyPr/>
          <a:lstStyle/>
          <a:p>
            <a:endParaRPr lang="en-US"/>
          </a:p>
        </p:txBody>
      </p:sp>
      <p:sp>
        <p:nvSpPr>
          <p:cNvPr id="34" name="Text 32"/>
          <p:cNvSpPr/>
          <p:nvPr/>
        </p:nvSpPr>
        <p:spPr>
          <a:xfrm>
            <a:off x="8959814" y="1444752"/>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35" name="Shape 33"/>
          <p:cNvSpPr/>
          <p:nvPr/>
        </p:nvSpPr>
        <p:spPr>
          <a:xfrm>
            <a:off x="10382359" y="1444752"/>
            <a:ext cx="1440833" cy="384048"/>
          </a:xfrm>
          <a:prstGeom prst="rect">
            <a:avLst/>
          </a:prstGeom>
          <a:solidFill>
            <a:srgbClr val="FCEBEB"/>
          </a:solidFill>
          <a:ln w="6350">
            <a:solidFill>
              <a:srgbClr val="E8E6DF"/>
            </a:solidFill>
            <a:prstDash val="solid"/>
          </a:ln>
        </p:spPr>
        <p:txBody>
          <a:bodyPr/>
          <a:lstStyle/>
          <a:p>
            <a:endParaRPr lang="en-US"/>
          </a:p>
        </p:txBody>
      </p:sp>
      <p:sp>
        <p:nvSpPr>
          <p:cNvPr id="36" name="Text 34"/>
          <p:cNvSpPr/>
          <p:nvPr/>
        </p:nvSpPr>
        <p:spPr>
          <a:xfrm>
            <a:off x="10400647" y="1444752"/>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37" name="Shape 35"/>
          <p:cNvSpPr/>
          <p:nvPr/>
        </p:nvSpPr>
        <p:spPr>
          <a:xfrm>
            <a:off x="365760" y="1828800"/>
            <a:ext cx="1371600" cy="384048"/>
          </a:xfrm>
          <a:prstGeom prst="rect">
            <a:avLst/>
          </a:prstGeom>
          <a:solidFill>
            <a:srgbClr val="F5F4F1"/>
          </a:solidFill>
          <a:ln w="6350">
            <a:solidFill>
              <a:srgbClr val="E2E0D9"/>
            </a:solidFill>
            <a:prstDash val="solid"/>
          </a:ln>
        </p:spPr>
        <p:txBody>
          <a:bodyPr/>
          <a:lstStyle/>
          <a:p>
            <a:endParaRPr lang="en-US"/>
          </a:p>
        </p:txBody>
      </p:sp>
      <p:sp>
        <p:nvSpPr>
          <p:cNvPr id="38" name="Text 36"/>
          <p:cNvSpPr/>
          <p:nvPr/>
        </p:nvSpPr>
        <p:spPr>
          <a:xfrm>
            <a:off x="438912" y="1828800"/>
            <a:ext cx="1261872" cy="384048"/>
          </a:xfrm>
          <a:prstGeom prst="rect">
            <a:avLst/>
          </a:prstGeom>
          <a:noFill/>
          <a:ln/>
        </p:spPr>
        <p:txBody>
          <a:bodyPr wrap="square" lIns="0" tIns="0" rIns="0" bIns="0" rtlCol="0" anchor="ctr"/>
          <a:lstStyle/>
          <a:p>
            <a:pPr marL="0" indent="0">
              <a:buNone/>
            </a:pPr>
            <a:r>
              <a:rPr lang="en-US" sz="850" b="1" dirty="0">
                <a:solidFill>
                  <a:srgbClr val="333333"/>
                </a:solidFill>
                <a:latin typeface="Montserrat" pitchFamily="34" charset="0"/>
                <a:ea typeface="Montserrat" pitchFamily="34" charset="-122"/>
                <a:cs typeface="Montserrat" pitchFamily="34" charset="-120"/>
              </a:rPr>
              <a:t>MUSE</a:t>
            </a:r>
            <a:endParaRPr lang="en-US" sz="850" dirty="0"/>
          </a:p>
        </p:txBody>
      </p:sp>
      <p:sp>
        <p:nvSpPr>
          <p:cNvPr id="39" name="Shape 37"/>
          <p:cNvSpPr/>
          <p:nvPr/>
        </p:nvSpPr>
        <p:spPr>
          <a:xfrm>
            <a:off x="1737360" y="1828800"/>
            <a:ext cx="1440833" cy="384048"/>
          </a:xfrm>
          <a:prstGeom prst="rect">
            <a:avLst/>
          </a:prstGeom>
          <a:solidFill>
            <a:srgbClr val="FCEBEB"/>
          </a:solidFill>
          <a:ln w="6350">
            <a:solidFill>
              <a:srgbClr val="E8E6DF"/>
            </a:solidFill>
            <a:prstDash val="solid"/>
          </a:ln>
        </p:spPr>
        <p:txBody>
          <a:bodyPr/>
          <a:lstStyle/>
          <a:p>
            <a:endParaRPr lang="en-US"/>
          </a:p>
        </p:txBody>
      </p:sp>
      <p:sp>
        <p:nvSpPr>
          <p:cNvPr id="40" name="Text 38"/>
          <p:cNvSpPr/>
          <p:nvPr/>
        </p:nvSpPr>
        <p:spPr>
          <a:xfrm>
            <a:off x="1755648" y="1828800"/>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41" name="Shape 39"/>
          <p:cNvSpPr/>
          <p:nvPr/>
        </p:nvSpPr>
        <p:spPr>
          <a:xfrm>
            <a:off x="3178193" y="1828800"/>
            <a:ext cx="1440833" cy="384048"/>
          </a:xfrm>
          <a:prstGeom prst="rect">
            <a:avLst/>
          </a:prstGeom>
          <a:solidFill>
            <a:srgbClr val="FDFDFD"/>
          </a:solidFill>
          <a:ln w="6350">
            <a:solidFill>
              <a:srgbClr val="E8E6DF"/>
            </a:solidFill>
            <a:prstDash val="solid"/>
          </a:ln>
        </p:spPr>
        <p:txBody>
          <a:bodyPr/>
          <a:lstStyle/>
          <a:p>
            <a:endParaRPr lang="en-US"/>
          </a:p>
        </p:txBody>
      </p:sp>
      <p:sp>
        <p:nvSpPr>
          <p:cNvPr id="42" name="Shape 40"/>
          <p:cNvSpPr/>
          <p:nvPr/>
        </p:nvSpPr>
        <p:spPr>
          <a:xfrm>
            <a:off x="4619026" y="1828800"/>
            <a:ext cx="1440833" cy="384048"/>
          </a:xfrm>
          <a:prstGeom prst="rect">
            <a:avLst/>
          </a:prstGeom>
          <a:solidFill>
            <a:srgbClr val="FCEBEB"/>
          </a:solidFill>
          <a:ln w="6350">
            <a:solidFill>
              <a:srgbClr val="E8E6DF"/>
            </a:solidFill>
            <a:prstDash val="solid"/>
          </a:ln>
        </p:spPr>
        <p:txBody>
          <a:bodyPr/>
          <a:lstStyle/>
          <a:p>
            <a:endParaRPr lang="en-US"/>
          </a:p>
        </p:txBody>
      </p:sp>
      <p:sp>
        <p:nvSpPr>
          <p:cNvPr id="43" name="Text 41"/>
          <p:cNvSpPr/>
          <p:nvPr/>
        </p:nvSpPr>
        <p:spPr>
          <a:xfrm>
            <a:off x="4637314" y="1828800"/>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RAG</a:t>
            </a:r>
            <a:endParaRPr lang="en-US" sz="800" dirty="0"/>
          </a:p>
        </p:txBody>
      </p:sp>
      <p:sp>
        <p:nvSpPr>
          <p:cNvPr id="44" name="Shape 42"/>
          <p:cNvSpPr/>
          <p:nvPr/>
        </p:nvSpPr>
        <p:spPr>
          <a:xfrm>
            <a:off x="6059859" y="1828800"/>
            <a:ext cx="1440833" cy="384048"/>
          </a:xfrm>
          <a:prstGeom prst="rect">
            <a:avLst/>
          </a:prstGeom>
          <a:solidFill>
            <a:srgbClr val="FCEBEB"/>
          </a:solidFill>
          <a:ln w="6350">
            <a:solidFill>
              <a:srgbClr val="E8E6DF"/>
            </a:solidFill>
            <a:prstDash val="solid"/>
          </a:ln>
        </p:spPr>
        <p:txBody>
          <a:bodyPr/>
          <a:lstStyle/>
          <a:p>
            <a:endParaRPr lang="en-US"/>
          </a:p>
        </p:txBody>
      </p:sp>
      <p:sp>
        <p:nvSpPr>
          <p:cNvPr id="45" name="Text 43"/>
          <p:cNvSpPr/>
          <p:nvPr/>
        </p:nvSpPr>
        <p:spPr>
          <a:xfrm>
            <a:off x="6078147" y="1828800"/>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46" name="Shape 44"/>
          <p:cNvSpPr/>
          <p:nvPr/>
        </p:nvSpPr>
        <p:spPr>
          <a:xfrm>
            <a:off x="7500693" y="1828800"/>
            <a:ext cx="1440833" cy="384048"/>
          </a:xfrm>
          <a:prstGeom prst="rect">
            <a:avLst/>
          </a:prstGeom>
          <a:solidFill>
            <a:srgbClr val="FDFDFD"/>
          </a:solidFill>
          <a:ln w="6350">
            <a:solidFill>
              <a:srgbClr val="E8E6DF"/>
            </a:solidFill>
            <a:prstDash val="solid"/>
          </a:ln>
        </p:spPr>
        <p:txBody>
          <a:bodyPr/>
          <a:lstStyle/>
          <a:p>
            <a:endParaRPr lang="en-US"/>
          </a:p>
        </p:txBody>
      </p:sp>
      <p:sp>
        <p:nvSpPr>
          <p:cNvPr id="47" name="Shape 45"/>
          <p:cNvSpPr/>
          <p:nvPr/>
        </p:nvSpPr>
        <p:spPr>
          <a:xfrm>
            <a:off x="8941526" y="1828800"/>
            <a:ext cx="1440833" cy="384048"/>
          </a:xfrm>
          <a:prstGeom prst="rect">
            <a:avLst/>
          </a:prstGeom>
          <a:solidFill>
            <a:srgbClr val="FCEBEB"/>
          </a:solidFill>
          <a:ln w="6350">
            <a:solidFill>
              <a:srgbClr val="E8E6DF"/>
            </a:solidFill>
            <a:prstDash val="solid"/>
          </a:ln>
        </p:spPr>
        <p:txBody>
          <a:bodyPr/>
          <a:lstStyle/>
          <a:p>
            <a:endParaRPr lang="en-US"/>
          </a:p>
        </p:txBody>
      </p:sp>
      <p:sp>
        <p:nvSpPr>
          <p:cNvPr id="48" name="Text 46"/>
          <p:cNvSpPr/>
          <p:nvPr/>
        </p:nvSpPr>
        <p:spPr>
          <a:xfrm>
            <a:off x="8959814" y="1828800"/>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49" name="Shape 47"/>
          <p:cNvSpPr/>
          <p:nvPr/>
        </p:nvSpPr>
        <p:spPr>
          <a:xfrm>
            <a:off x="10382359" y="1828800"/>
            <a:ext cx="1440833" cy="384048"/>
          </a:xfrm>
          <a:prstGeom prst="rect">
            <a:avLst/>
          </a:prstGeom>
          <a:solidFill>
            <a:srgbClr val="FDFDFD"/>
          </a:solidFill>
          <a:ln w="6350">
            <a:solidFill>
              <a:srgbClr val="E8E6DF"/>
            </a:solidFill>
            <a:prstDash val="solid"/>
          </a:ln>
        </p:spPr>
        <p:txBody>
          <a:bodyPr/>
          <a:lstStyle/>
          <a:p>
            <a:endParaRPr lang="en-US"/>
          </a:p>
        </p:txBody>
      </p:sp>
      <p:sp>
        <p:nvSpPr>
          <p:cNvPr id="50" name="Shape 48"/>
          <p:cNvSpPr/>
          <p:nvPr/>
        </p:nvSpPr>
        <p:spPr>
          <a:xfrm>
            <a:off x="365760" y="2212848"/>
            <a:ext cx="1371600" cy="384048"/>
          </a:xfrm>
          <a:prstGeom prst="rect">
            <a:avLst/>
          </a:prstGeom>
          <a:solidFill>
            <a:srgbClr val="FBE3E4"/>
          </a:solidFill>
          <a:ln w="6350">
            <a:solidFill>
              <a:srgbClr val="E2E0D9"/>
            </a:solidFill>
            <a:prstDash val="solid"/>
          </a:ln>
        </p:spPr>
        <p:txBody>
          <a:bodyPr/>
          <a:lstStyle/>
          <a:p>
            <a:endParaRPr lang="en-US"/>
          </a:p>
        </p:txBody>
      </p:sp>
      <p:sp>
        <p:nvSpPr>
          <p:cNvPr id="51" name="Text 49"/>
          <p:cNvSpPr/>
          <p:nvPr/>
        </p:nvSpPr>
        <p:spPr>
          <a:xfrm>
            <a:off x="438912" y="2212848"/>
            <a:ext cx="1261872" cy="384048"/>
          </a:xfrm>
          <a:prstGeom prst="rect">
            <a:avLst/>
          </a:prstGeom>
          <a:noFill/>
          <a:ln/>
        </p:spPr>
        <p:txBody>
          <a:bodyPr wrap="square" lIns="0" tIns="0" rIns="0" bIns="0" rtlCol="0" anchor="ctr"/>
          <a:lstStyle/>
          <a:p>
            <a:pPr marL="0" indent="0">
              <a:buNone/>
            </a:pPr>
            <a:r>
              <a:rPr lang="en-US" sz="850" b="1" dirty="0">
                <a:solidFill>
                  <a:srgbClr val="E31837"/>
                </a:solidFill>
                <a:latin typeface="Montserrat" pitchFamily="34" charset="0"/>
                <a:ea typeface="Montserrat" pitchFamily="34" charset="-122"/>
                <a:cs typeface="Montserrat" pitchFamily="34" charset="-120"/>
              </a:rPr>
              <a:t>TAILOR</a:t>
            </a:r>
            <a:r>
              <a:rPr lang="en-US" sz="600" dirty="0">
                <a:solidFill>
                  <a:srgbClr val="E31837"/>
                </a:solidFill>
                <a:latin typeface="Montserrat" pitchFamily="34" charset="0"/>
                <a:ea typeface="Montserrat" pitchFamily="34" charset="-122"/>
                <a:cs typeface="Montserrat" pitchFamily="34" charset="-120"/>
              </a:rPr>
              <a:t> ●</a:t>
            </a:r>
            <a:endParaRPr lang="en-US" sz="850" dirty="0"/>
          </a:p>
        </p:txBody>
      </p:sp>
      <p:sp>
        <p:nvSpPr>
          <p:cNvPr id="52" name="Shape 50"/>
          <p:cNvSpPr/>
          <p:nvPr/>
        </p:nvSpPr>
        <p:spPr>
          <a:xfrm>
            <a:off x="1737360" y="2212848"/>
            <a:ext cx="1440833" cy="384048"/>
          </a:xfrm>
          <a:prstGeom prst="rect">
            <a:avLst/>
          </a:prstGeom>
          <a:solidFill>
            <a:srgbClr val="FDFDFD"/>
          </a:solidFill>
          <a:ln w="6350">
            <a:solidFill>
              <a:srgbClr val="E8E6DF"/>
            </a:solidFill>
            <a:prstDash val="solid"/>
          </a:ln>
        </p:spPr>
        <p:txBody>
          <a:bodyPr/>
          <a:lstStyle/>
          <a:p>
            <a:endParaRPr lang="en-US"/>
          </a:p>
        </p:txBody>
      </p:sp>
      <p:sp>
        <p:nvSpPr>
          <p:cNvPr id="53" name="Shape 51"/>
          <p:cNvSpPr/>
          <p:nvPr/>
        </p:nvSpPr>
        <p:spPr>
          <a:xfrm>
            <a:off x="3178193" y="2212848"/>
            <a:ext cx="1440833" cy="384048"/>
          </a:xfrm>
          <a:prstGeom prst="rect">
            <a:avLst/>
          </a:prstGeom>
          <a:solidFill>
            <a:srgbClr val="FDFDFD"/>
          </a:solidFill>
          <a:ln w="6350">
            <a:solidFill>
              <a:srgbClr val="E8E6DF"/>
            </a:solidFill>
            <a:prstDash val="solid"/>
          </a:ln>
        </p:spPr>
        <p:txBody>
          <a:bodyPr/>
          <a:lstStyle/>
          <a:p>
            <a:endParaRPr lang="en-US"/>
          </a:p>
        </p:txBody>
      </p:sp>
      <p:sp>
        <p:nvSpPr>
          <p:cNvPr id="54" name="Shape 52"/>
          <p:cNvSpPr/>
          <p:nvPr/>
        </p:nvSpPr>
        <p:spPr>
          <a:xfrm>
            <a:off x="4619026" y="2212848"/>
            <a:ext cx="1440833" cy="384048"/>
          </a:xfrm>
          <a:prstGeom prst="rect">
            <a:avLst/>
          </a:prstGeom>
          <a:solidFill>
            <a:srgbClr val="FCEBEB"/>
          </a:solidFill>
          <a:ln w="6350">
            <a:solidFill>
              <a:srgbClr val="E8E6DF"/>
            </a:solidFill>
            <a:prstDash val="solid"/>
          </a:ln>
        </p:spPr>
        <p:txBody>
          <a:bodyPr/>
          <a:lstStyle/>
          <a:p>
            <a:endParaRPr lang="en-US"/>
          </a:p>
        </p:txBody>
      </p:sp>
      <p:sp>
        <p:nvSpPr>
          <p:cNvPr id="55" name="Text 53"/>
          <p:cNvSpPr/>
          <p:nvPr/>
        </p:nvSpPr>
        <p:spPr>
          <a:xfrm>
            <a:off x="4637314" y="2212848"/>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RAG</a:t>
            </a:r>
            <a:endParaRPr lang="en-US" sz="800" dirty="0"/>
          </a:p>
        </p:txBody>
      </p:sp>
      <p:sp>
        <p:nvSpPr>
          <p:cNvPr id="56" name="Shape 54"/>
          <p:cNvSpPr/>
          <p:nvPr/>
        </p:nvSpPr>
        <p:spPr>
          <a:xfrm>
            <a:off x="6059859" y="2212848"/>
            <a:ext cx="1440833" cy="384048"/>
          </a:xfrm>
          <a:prstGeom prst="rect">
            <a:avLst/>
          </a:prstGeom>
          <a:solidFill>
            <a:srgbClr val="FDFDFD"/>
          </a:solidFill>
          <a:ln w="6350">
            <a:solidFill>
              <a:srgbClr val="E8E6DF"/>
            </a:solidFill>
            <a:prstDash val="solid"/>
          </a:ln>
        </p:spPr>
        <p:txBody>
          <a:bodyPr/>
          <a:lstStyle/>
          <a:p>
            <a:endParaRPr lang="en-US"/>
          </a:p>
        </p:txBody>
      </p:sp>
      <p:sp>
        <p:nvSpPr>
          <p:cNvPr id="57" name="Shape 55"/>
          <p:cNvSpPr/>
          <p:nvPr/>
        </p:nvSpPr>
        <p:spPr>
          <a:xfrm>
            <a:off x="7500693" y="2212848"/>
            <a:ext cx="1440833" cy="384048"/>
          </a:xfrm>
          <a:prstGeom prst="rect">
            <a:avLst/>
          </a:prstGeom>
          <a:solidFill>
            <a:srgbClr val="FCEBEB"/>
          </a:solidFill>
          <a:ln w="6350">
            <a:solidFill>
              <a:srgbClr val="E8E6DF"/>
            </a:solidFill>
            <a:prstDash val="solid"/>
          </a:ln>
        </p:spPr>
        <p:txBody>
          <a:bodyPr/>
          <a:lstStyle/>
          <a:p>
            <a:endParaRPr lang="en-US"/>
          </a:p>
        </p:txBody>
      </p:sp>
      <p:sp>
        <p:nvSpPr>
          <p:cNvPr id="58" name="Text 56"/>
          <p:cNvSpPr/>
          <p:nvPr/>
        </p:nvSpPr>
        <p:spPr>
          <a:xfrm>
            <a:off x="7518981" y="2212848"/>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59" name="Shape 57"/>
          <p:cNvSpPr/>
          <p:nvPr/>
        </p:nvSpPr>
        <p:spPr>
          <a:xfrm>
            <a:off x="8941526" y="2212848"/>
            <a:ext cx="1440833" cy="384048"/>
          </a:xfrm>
          <a:prstGeom prst="rect">
            <a:avLst/>
          </a:prstGeom>
          <a:solidFill>
            <a:srgbClr val="FCEBEB"/>
          </a:solidFill>
          <a:ln w="6350">
            <a:solidFill>
              <a:srgbClr val="E8E6DF"/>
            </a:solidFill>
            <a:prstDash val="solid"/>
          </a:ln>
        </p:spPr>
        <p:txBody>
          <a:bodyPr/>
          <a:lstStyle/>
          <a:p>
            <a:endParaRPr lang="en-US"/>
          </a:p>
        </p:txBody>
      </p:sp>
      <p:sp>
        <p:nvSpPr>
          <p:cNvPr id="60" name="Text 58"/>
          <p:cNvSpPr/>
          <p:nvPr/>
        </p:nvSpPr>
        <p:spPr>
          <a:xfrm>
            <a:off x="8959814" y="2212848"/>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61" name="Shape 59"/>
          <p:cNvSpPr/>
          <p:nvPr/>
        </p:nvSpPr>
        <p:spPr>
          <a:xfrm>
            <a:off x="10382359" y="2212848"/>
            <a:ext cx="1440833" cy="384048"/>
          </a:xfrm>
          <a:prstGeom prst="rect">
            <a:avLst/>
          </a:prstGeom>
          <a:solidFill>
            <a:srgbClr val="FDFDFD"/>
          </a:solidFill>
          <a:ln w="6350">
            <a:solidFill>
              <a:srgbClr val="E8E6DF"/>
            </a:solidFill>
            <a:prstDash val="solid"/>
          </a:ln>
        </p:spPr>
        <p:txBody>
          <a:bodyPr/>
          <a:lstStyle/>
          <a:p>
            <a:endParaRPr lang="en-US"/>
          </a:p>
        </p:txBody>
      </p:sp>
      <p:sp>
        <p:nvSpPr>
          <p:cNvPr id="62" name="Shape 60"/>
          <p:cNvSpPr/>
          <p:nvPr/>
        </p:nvSpPr>
        <p:spPr>
          <a:xfrm>
            <a:off x="365760" y="2596896"/>
            <a:ext cx="1371600" cy="384048"/>
          </a:xfrm>
          <a:prstGeom prst="rect">
            <a:avLst/>
          </a:prstGeom>
          <a:solidFill>
            <a:srgbClr val="FBE3E4"/>
          </a:solidFill>
          <a:ln w="6350">
            <a:solidFill>
              <a:srgbClr val="E2E0D9"/>
            </a:solidFill>
            <a:prstDash val="solid"/>
          </a:ln>
        </p:spPr>
        <p:txBody>
          <a:bodyPr/>
          <a:lstStyle/>
          <a:p>
            <a:endParaRPr lang="en-US"/>
          </a:p>
        </p:txBody>
      </p:sp>
      <p:sp>
        <p:nvSpPr>
          <p:cNvPr id="63" name="Text 61"/>
          <p:cNvSpPr/>
          <p:nvPr/>
        </p:nvSpPr>
        <p:spPr>
          <a:xfrm>
            <a:off x="438912" y="2596896"/>
            <a:ext cx="1261872" cy="384048"/>
          </a:xfrm>
          <a:prstGeom prst="rect">
            <a:avLst/>
          </a:prstGeom>
          <a:noFill/>
          <a:ln/>
        </p:spPr>
        <p:txBody>
          <a:bodyPr wrap="square" lIns="0" tIns="0" rIns="0" bIns="0" rtlCol="0" anchor="ctr"/>
          <a:lstStyle/>
          <a:p>
            <a:pPr marL="0" indent="0">
              <a:buNone/>
            </a:pPr>
            <a:r>
              <a:rPr lang="en-US" sz="850" b="1" dirty="0">
                <a:solidFill>
                  <a:srgbClr val="E31837"/>
                </a:solidFill>
                <a:latin typeface="Montserrat" pitchFamily="34" charset="0"/>
                <a:ea typeface="Montserrat" pitchFamily="34" charset="-122"/>
                <a:cs typeface="Montserrat" pitchFamily="34" charset="-120"/>
              </a:rPr>
              <a:t>CONCIERGE</a:t>
            </a:r>
            <a:r>
              <a:rPr lang="en-US" sz="600" dirty="0">
                <a:solidFill>
                  <a:srgbClr val="E31837"/>
                </a:solidFill>
                <a:latin typeface="Montserrat" pitchFamily="34" charset="0"/>
                <a:ea typeface="Montserrat" pitchFamily="34" charset="-122"/>
                <a:cs typeface="Montserrat" pitchFamily="34" charset="-120"/>
              </a:rPr>
              <a:t> ●</a:t>
            </a:r>
            <a:endParaRPr lang="en-US" sz="850" dirty="0"/>
          </a:p>
        </p:txBody>
      </p:sp>
      <p:sp>
        <p:nvSpPr>
          <p:cNvPr id="64" name="Shape 62"/>
          <p:cNvSpPr/>
          <p:nvPr/>
        </p:nvSpPr>
        <p:spPr>
          <a:xfrm>
            <a:off x="1737360" y="2596896"/>
            <a:ext cx="1440833" cy="384048"/>
          </a:xfrm>
          <a:prstGeom prst="rect">
            <a:avLst/>
          </a:prstGeom>
          <a:solidFill>
            <a:srgbClr val="FCEBEB"/>
          </a:solidFill>
          <a:ln w="6350">
            <a:solidFill>
              <a:srgbClr val="E8E6DF"/>
            </a:solidFill>
            <a:prstDash val="solid"/>
          </a:ln>
        </p:spPr>
        <p:txBody>
          <a:bodyPr/>
          <a:lstStyle/>
          <a:p>
            <a:endParaRPr lang="en-US"/>
          </a:p>
        </p:txBody>
      </p:sp>
      <p:sp>
        <p:nvSpPr>
          <p:cNvPr id="65" name="Text 63"/>
          <p:cNvSpPr/>
          <p:nvPr/>
        </p:nvSpPr>
        <p:spPr>
          <a:xfrm>
            <a:off x="1755648" y="2596896"/>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66" name="Shape 64"/>
          <p:cNvSpPr/>
          <p:nvPr/>
        </p:nvSpPr>
        <p:spPr>
          <a:xfrm>
            <a:off x="3178193" y="2596896"/>
            <a:ext cx="1440833" cy="384048"/>
          </a:xfrm>
          <a:prstGeom prst="rect">
            <a:avLst/>
          </a:prstGeom>
          <a:solidFill>
            <a:srgbClr val="FCEBEB"/>
          </a:solidFill>
          <a:ln w="6350">
            <a:solidFill>
              <a:srgbClr val="E8E6DF"/>
            </a:solidFill>
            <a:prstDash val="solid"/>
          </a:ln>
        </p:spPr>
        <p:txBody>
          <a:bodyPr/>
          <a:lstStyle/>
          <a:p>
            <a:endParaRPr lang="en-US"/>
          </a:p>
        </p:txBody>
      </p:sp>
      <p:sp>
        <p:nvSpPr>
          <p:cNvPr id="67" name="Text 65"/>
          <p:cNvSpPr/>
          <p:nvPr/>
        </p:nvSpPr>
        <p:spPr>
          <a:xfrm>
            <a:off x="3196481" y="2596896"/>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68" name="Shape 66"/>
          <p:cNvSpPr/>
          <p:nvPr/>
        </p:nvSpPr>
        <p:spPr>
          <a:xfrm>
            <a:off x="4619026" y="2596896"/>
            <a:ext cx="1440833" cy="384048"/>
          </a:xfrm>
          <a:prstGeom prst="rect">
            <a:avLst/>
          </a:prstGeom>
          <a:solidFill>
            <a:srgbClr val="FCEBEB"/>
          </a:solidFill>
          <a:ln w="6350">
            <a:solidFill>
              <a:srgbClr val="E8E6DF"/>
            </a:solidFill>
            <a:prstDash val="solid"/>
          </a:ln>
        </p:spPr>
        <p:txBody>
          <a:bodyPr/>
          <a:lstStyle/>
          <a:p>
            <a:endParaRPr lang="en-US"/>
          </a:p>
        </p:txBody>
      </p:sp>
      <p:sp>
        <p:nvSpPr>
          <p:cNvPr id="69" name="Text 67"/>
          <p:cNvSpPr/>
          <p:nvPr/>
        </p:nvSpPr>
        <p:spPr>
          <a:xfrm>
            <a:off x="4637314" y="2596896"/>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API</a:t>
            </a:r>
            <a:endParaRPr lang="en-US" sz="800" dirty="0"/>
          </a:p>
        </p:txBody>
      </p:sp>
      <p:sp>
        <p:nvSpPr>
          <p:cNvPr id="70" name="Shape 68"/>
          <p:cNvSpPr/>
          <p:nvPr/>
        </p:nvSpPr>
        <p:spPr>
          <a:xfrm>
            <a:off x="6059859" y="2596896"/>
            <a:ext cx="1440833" cy="384048"/>
          </a:xfrm>
          <a:prstGeom prst="rect">
            <a:avLst/>
          </a:prstGeom>
          <a:solidFill>
            <a:srgbClr val="FDFDFD"/>
          </a:solidFill>
          <a:ln w="6350">
            <a:solidFill>
              <a:srgbClr val="E8E6DF"/>
            </a:solidFill>
            <a:prstDash val="solid"/>
          </a:ln>
        </p:spPr>
        <p:txBody>
          <a:bodyPr/>
          <a:lstStyle/>
          <a:p>
            <a:endParaRPr lang="en-US"/>
          </a:p>
        </p:txBody>
      </p:sp>
      <p:sp>
        <p:nvSpPr>
          <p:cNvPr id="71" name="Shape 69"/>
          <p:cNvSpPr/>
          <p:nvPr/>
        </p:nvSpPr>
        <p:spPr>
          <a:xfrm>
            <a:off x="7500693" y="2596896"/>
            <a:ext cx="1440833" cy="384048"/>
          </a:xfrm>
          <a:prstGeom prst="rect">
            <a:avLst/>
          </a:prstGeom>
          <a:solidFill>
            <a:srgbClr val="FDFDFD"/>
          </a:solidFill>
          <a:ln w="6350">
            <a:solidFill>
              <a:srgbClr val="E8E6DF"/>
            </a:solidFill>
            <a:prstDash val="solid"/>
          </a:ln>
        </p:spPr>
        <p:txBody>
          <a:bodyPr/>
          <a:lstStyle/>
          <a:p>
            <a:endParaRPr lang="en-US"/>
          </a:p>
        </p:txBody>
      </p:sp>
      <p:sp>
        <p:nvSpPr>
          <p:cNvPr id="72" name="Shape 70"/>
          <p:cNvSpPr/>
          <p:nvPr/>
        </p:nvSpPr>
        <p:spPr>
          <a:xfrm>
            <a:off x="8941526" y="2596896"/>
            <a:ext cx="1440833" cy="384048"/>
          </a:xfrm>
          <a:prstGeom prst="rect">
            <a:avLst/>
          </a:prstGeom>
          <a:solidFill>
            <a:srgbClr val="FCEBEB"/>
          </a:solidFill>
          <a:ln w="6350">
            <a:solidFill>
              <a:srgbClr val="E8E6DF"/>
            </a:solidFill>
            <a:prstDash val="solid"/>
          </a:ln>
        </p:spPr>
        <p:txBody>
          <a:bodyPr/>
          <a:lstStyle/>
          <a:p>
            <a:endParaRPr lang="en-US"/>
          </a:p>
        </p:txBody>
      </p:sp>
      <p:sp>
        <p:nvSpPr>
          <p:cNvPr id="73" name="Text 71"/>
          <p:cNvSpPr/>
          <p:nvPr/>
        </p:nvSpPr>
        <p:spPr>
          <a:xfrm>
            <a:off x="8959814" y="2596896"/>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74" name="Shape 72"/>
          <p:cNvSpPr/>
          <p:nvPr/>
        </p:nvSpPr>
        <p:spPr>
          <a:xfrm>
            <a:off x="10382359" y="2596896"/>
            <a:ext cx="1440833" cy="384048"/>
          </a:xfrm>
          <a:prstGeom prst="rect">
            <a:avLst/>
          </a:prstGeom>
          <a:solidFill>
            <a:srgbClr val="FCEBEB"/>
          </a:solidFill>
          <a:ln w="6350">
            <a:solidFill>
              <a:srgbClr val="E8E6DF"/>
            </a:solidFill>
            <a:prstDash val="solid"/>
          </a:ln>
        </p:spPr>
        <p:txBody>
          <a:bodyPr/>
          <a:lstStyle/>
          <a:p>
            <a:endParaRPr lang="en-US"/>
          </a:p>
        </p:txBody>
      </p:sp>
      <p:sp>
        <p:nvSpPr>
          <p:cNvPr id="75" name="Text 73"/>
          <p:cNvSpPr/>
          <p:nvPr/>
        </p:nvSpPr>
        <p:spPr>
          <a:xfrm>
            <a:off x="10400647" y="2596896"/>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API</a:t>
            </a:r>
            <a:endParaRPr lang="en-US" sz="800" dirty="0"/>
          </a:p>
        </p:txBody>
      </p:sp>
      <p:sp>
        <p:nvSpPr>
          <p:cNvPr id="76" name="Shape 74"/>
          <p:cNvSpPr/>
          <p:nvPr/>
        </p:nvSpPr>
        <p:spPr>
          <a:xfrm>
            <a:off x="365760" y="2980944"/>
            <a:ext cx="1371600" cy="384048"/>
          </a:xfrm>
          <a:prstGeom prst="rect">
            <a:avLst/>
          </a:prstGeom>
          <a:solidFill>
            <a:srgbClr val="FBE3E4"/>
          </a:solidFill>
          <a:ln w="6350">
            <a:solidFill>
              <a:srgbClr val="E2E0D9"/>
            </a:solidFill>
            <a:prstDash val="solid"/>
          </a:ln>
        </p:spPr>
        <p:txBody>
          <a:bodyPr/>
          <a:lstStyle/>
          <a:p>
            <a:endParaRPr lang="en-US"/>
          </a:p>
        </p:txBody>
      </p:sp>
      <p:sp>
        <p:nvSpPr>
          <p:cNvPr id="77" name="Text 75"/>
          <p:cNvSpPr/>
          <p:nvPr/>
        </p:nvSpPr>
        <p:spPr>
          <a:xfrm>
            <a:off x="438912" y="2980944"/>
            <a:ext cx="1261872" cy="384048"/>
          </a:xfrm>
          <a:prstGeom prst="rect">
            <a:avLst/>
          </a:prstGeom>
          <a:noFill/>
          <a:ln/>
        </p:spPr>
        <p:txBody>
          <a:bodyPr wrap="square" lIns="0" tIns="0" rIns="0" bIns="0" rtlCol="0" anchor="ctr"/>
          <a:lstStyle/>
          <a:p>
            <a:pPr marL="0" indent="0">
              <a:buNone/>
            </a:pPr>
            <a:r>
              <a:rPr lang="en-US" sz="850" b="1" dirty="0">
                <a:solidFill>
                  <a:srgbClr val="E31837"/>
                </a:solidFill>
                <a:latin typeface="Montserrat" pitchFamily="34" charset="0"/>
                <a:ea typeface="Montserrat" pitchFamily="34" charset="-122"/>
                <a:cs typeface="Montserrat" pitchFamily="34" charset="-120"/>
              </a:rPr>
              <a:t>TALLY</a:t>
            </a:r>
            <a:r>
              <a:rPr lang="en-US" sz="600" dirty="0">
                <a:solidFill>
                  <a:srgbClr val="E31837"/>
                </a:solidFill>
                <a:latin typeface="Montserrat" pitchFamily="34" charset="0"/>
                <a:ea typeface="Montserrat" pitchFamily="34" charset="-122"/>
                <a:cs typeface="Montserrat" pitchFamily="34" charset="-120"/>
              </a:rPr>
              <a:t> ●</a:t>
            </a:r>
            <a:endParaRPr lang="en-US" sz="850" dirty="0"/>
          </a:p>
        </p:txBody>
      </p:sp>
      <p:sp>
        <p:nvSpPr>
          <p:cNvPr id="78" name="Shape 76"/>
          <p:cNvSpPr/>
          <p:nvPr/>
        </p:nvSpPr>
        <p:spPr>
          <a:xfrm>
            <a:off x="1737360" y="2980944"/>
            <a:ext cx="1440833" cy="384048"/>
          </a:xfrm>
          <a:prstGeom prst="rect">
            <a:avLst/>
          </a:prstGeom>
          <a:solidFill>
            <a:srgbClr val="FDFDFD"/>
          </a:solidFill>
          <a:ln w="6350">
            <a:solidFill>
              <a:srgbClr val="E8E6DF"/>
            </a:solidFill>
            <a:prstDash val="solid"/>
          </a:ln>
        </p:spPr>
        <p:txBody>
          <a:bodyPr/>
          <a:lstStyle/>
          <a:p>
            <a:endParaRPr lang="en-US"/>
          </a:p>
        </p:txBody>
      </p:sp>
      <p:sp>
        <p:nvSpPr>
          <p:cNvPr id="79" name="Shape 77"/>
          <p:cNvSpPr/>
          <p:nvPr/>
        </p:nvSpPr>
        <p:spPr>
          <a:xfrm>
            <a:off x="3178193" y="2980944"/>
            <a:ext cx="1440833" cy="384048"/>
          </a:xfrm>
          <a:prstGeom prst="rect">
            <a:avLst/>
          </a:prstGeom>
          <a:solidFill>
            <a:srgbClr val="E31837"/>
          </a:solidFill>
          <a:ln w="6350">
            <a:solidFill>
              <a:srgbClr val="E8E6DF"/>
            </a:solidFill>
            <a:prstDash val="solid"/>
          </a:ln>
        </p:spPr>
        <p:txBody>
          <a:bodyPr/>
          <a:lstStyle/>
          <a:p>
            <a:endParaRPr lang="en-US"/>
          </a:p>
        </p:txBody>
      </p:sp>
      <p:sp>
        <p:nvSpPr>
          <p:cNvPr id="80" name="Text 78"/>
          <p:cNvSpPr/>
          <p:nvPr/>
        </p:nvSpPr>
        <p:spPr>
          <a:xfrm>
            <a:off x="3196481" y="2980944"/>
            <a:ext cx="1404257" cy="384048"/>
          </a:xfrm>
          <a:prstGeom prst="rect">
            <a:avLst/>
          </a:prstGeom>
          <a:noFill/>
          <a:ln/>
        </p:spPr>
        <p:txBody>
          <a:bodyPr wrap="square" lIns="0" tIns="0" rIns="0" bIns="0" rtlCol="0" anchor="ctr"/>
          <a:lstStyle/>
          <a:p>
            <a:pPr marL="0" indent="0" algn="ctr">
              <a:buNone/>
            </a:pPr>
            <a:r>
              <a:rPr lang="en-US" sz="800" b="1" dirty="0">
                <a:solidFill>
                  <a:srgbClr val="FDFDFD"/>
                </a:solidFill>
                <a:latin typeface="Montserrat" pitchFamily="34" charset="0"/>
                <a:ea typeface="Montserrat" pitchFamily="34" charset="-122"/>
                <a:cs typeface="Montserrat" pitchFamily="34" charset="-120"/>
              </a:rPr>
              <a:t>R·W  </a:t>
            </a:r>
            <a:r>
              <a:rPr lang="en-US" sz="650" i="1" dirty="0">
                <a:solidFill>
                  <a:srgbClr val="FBD9DE"/>
                </a:solidFill>
                <a:latin typeface="Montserrat" pitchFamily="34" charset="0"/>
                <a:ea typeface="Montserrat" pitchFamily="34" charset="-122"/>
                <a:cs typeface="Montserrat" pitchFamily="34" charset="-120"/>
              </a:rPr>
              <a:t>API</a:t>
            </a:r>
            <a:endParaRPr lang="en-US" sz="800" dirty="0"/>
          </a:p>
        </p:txBody>
      </p:sp>
      <p:sp>
        <p:nvSpPr>
          <p:cNvPr id="81" name="Shape 79"/>
          <p:cNvSpPr/>
          <p:nvPr/>
        </p:nvSpPr>
        <p:spPr>
          <a:xfrm>
            <a:off x="4619026" y="2980944"/>
            <a:ext cx="1440833" cy="384048"/>
          </a:xfrm>
          <a:prstGeom prst="rect">
            <a:avLst/>
          </a:prstGeom>
          <a:solidFill>
            <a:srgbClr val="FDFDFD"/>
          </a:solidFill>
          <a:ln w="6350">
            <a:solidFill>
              <a:srgbClr val="E8E6DF"/>
            </a:solidFill>
            <a:prstDash val="solid"/>
          </a:ln>
        </p:spPr>
        <p:txBody>
          <a:bodyPr/>
          <a:lstStyle/>
          <a:p>
            <a:endParaRPr lang="en-US"/>
          </a:p>
        </p:txBody>
      </p:sp>
      <p:sp>
        <p:nvSpPr>
          <p:cNvPr id="82" name="Shape 80"/>
          <p:cNvSpPr/>
          <p:nvPr/>
        </p:nvSpPr>
        <p:spPr>
          <a:xfrm>
            <a:off x="6059859" y="2980944"/>
            <a:ext cx="1440833" cy="384048"/>
          </a:xfrm>
          <a:prstGeom prst="rect">
            <a:avLst/>
          </a:prstGeom>
          <a:solidFill>
            <a:srgbClr val="FDFDFD"/>
          </a:solidFill>
          <a:ln w="6350">
            <a:solidFill>
              <a:srgbClr val="E8E6DF"/>
            </a:solidFill>
            <a:prstDash val="solid"/>
          </a:ln>
        </p:spPr>
        <p:txBody>
          <a:bodyPr/>
          <a:lstStyle/>
          <a:p>
            <a:endParaRPr lang="en-US"/>
          </a:p>
        </p:txBody>
      </p:sp>
      <p:sp>
        <p:nvSpPr>
          <p:cNvPr id="83" name="Shape 81"/>
          <p:cNvSpPr/>
          <p:nvPr/>
        </p:nvSpPr>
        <p:spPr>
          <a:xfrm>
            <a:off x="7500693" y="2980944"/>
            <a:ext cx="1440833" cy="384048"/>
          </a:xfrm>
          <a:prstGeom prst="rect">
            <a:avLst/>
          </a:prstGeom>
          <a:solidFill>
            <a:srgbClr val="FDFDFD"/>
          </a:solidFill>
          <a:ln w="6350">
            <a:solidFill>
              <a:srgbClr val="E8E6DF"/>
            </a:solidFill>
            <a:prstDash val="solid"/>
          </a:ln>
        </p:spPr>
        <p:txBody>
          <a:bodyPr/>
          <a:lstStyle/>
          <a:p>
            <a:endParaRPr lang="en-US"/>
          </a:p>
        </p:txBody>
      </p:sp>
      <p:sp>
        <p:nvSpPr>
          <p:cNvPr id="84" name="Shape 82"/>
          <p:cNvSpPr/>
          <p:nvPr/>
        </p:nvSpPr>
        <p:spPr>
          <a:xfrm>
            <a:off x="8941526" y="2980944"/>
            <a:ext cx="1440833" cy="384048"/>
          </a:xfrm>
          <a:prstGeom prst="rect">
            <a:avLst/>
          </a:prstGeom>
          <a:solidFill>
            <a:srgbClr val="FCEBEB"/>
          </a:solidFill>
          <a:ln w="6350">
            <a:solidFill>
              <a:srgbClr val="E8E6DF"/>
            </a:solidFill>
            <a:prstDash val="solid"/>
          </a:ln>
        </p:spPr>
        <p:txBody>
          <a:bodyPr/>
          <a:lstStyle/>
          <a:p>
            <a:endParaRPr lang="en-US"/>
          </a:p>
        </p:txBody>
      </p:sp>
      <p:sp>
        <p:nvSpPr>
          <p:cNvPr id="85" name="Text 83"/>
          <p:cNvSpPr/>
          <p:nvPr/>
        </p:nvSpPr>
        <p:spPr>
          <a:xfrm>
            <a:off x="8959814" y="2980944"/>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EVT</a:t>
            </a:r>
            <a:endParaRPr lang="en-US" sz="800" dirty="0"/>
          </a:p>
        </p:txBody>
      </p:sp>
      <p:sp>
        <p:nvSpPr>
          <p:cNvPr id="86" name="Shape 84"/>
          <p:cNvSpPr/>
          <p:nvPr/>
        </p:nvSpPr>
        <p:spPr>
          <a:xfrm>
            <a:off x="10382359" y="2980944"/>
            <a:ext cx="1440833" cy="384048"/>
          </a:xfrm>
          <a:prstGeom prst="rect">
            <a:avLst/>
          </a:prstGeom>
          <a:solidFill>
            <a:srgbClr val="FCEBEB"/>
          </a:solidFill>
          <a:ln w="6350">
            <a:solidFill>
              <a:srgbClr val="E8E6DF"/>
            </a:solidFill>
            <a:prstDash val="solid"/>
          </a:ln>
        </p:spPr>
        <p:txBody>
          <a:bodyPr/>
          <a:lstStyle/>
          <a:p>
            <a:endParaRPr lang="en-US"/>
          </a:p>
        </p:txBody>
      </p:sp>
      <p:sp>
        <p:nvSpPr>
          <p:cNvPr id="87" name="Text 85"/>
          <p:cNvSpPr/>
          <p:nvPr/>
        </p:nvSpPr>
        <p:spPr>
          <a:xfrm>
            <a:off x="10400647" y="2980944"/>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API</a:t>
            </a:r>
            <a:endParaRPr lang="en-US" sz="800" dirty="0"/>
          </a:p>
        </p:txBody>
      </p:sp>
      <p:sp>
        <p:nvSpPr>
          <p:cNvPr id="88" name="Shape 86"/>
          <p:cNvSpPr/>
          <p:nvPr/>
        </p:nvSpPr>
        <p:spPr>
          <a:xfrm>
            <a:off x="365760" y="3364992"/>
            <a:ext cx="1371600" cy="384048"/>
          </a:xfrm>
          <a:prstGeom prst="rect">
            <a:avLst/>
          </a:prstGeom>
          <a:solidFill>
            <a:srgbClr val="F5F4F1"/>
          </a:solidFill>
          <a:ln w="6350">
            <a:solidFill>
              <a:srgbClr val="E2E0D9"/>
            </a:solidFill>
            <a:prstDash val="solid"/>
          </a:ln>
        </p:spPr>
        <p:txBody>
          <a:bodyPr/>
          <a:lstStyle/>
          <a:p>
            <a:endParaRPr lang="en-US"/>
          </a:p>
        </p:txBody>
      </p:sp>
      <p:sp>
        <p:nvSpPr>
          <p:cNvPr id="89" name="Text 87"/>
          <p:cNvSpPr/>
          <p:nvPr/>
        </p:nvSpPr>
        <p:spPr>
          <a:xfrm>
            <a:off x="438912" y="3364992"/>
            <a:ext cx="1261872" cy="384048"/>
          </a:xfrm>
          <a:prstGeom prst="rect">
            <a:avLst/>
          </a:prstGeom>
          <a:noFill/>
          <a:ln/>
        </p:spPr>
        <p:txBody>
          <a:bodyPr wrap="square" lIns="0" tIns="0" rIns="0" bIns="0" rtlCol="0" anchor="ctr"/>
          <a:lstStyle/>
          <a:p>
            <a:pPr marL="0" indent="0">
              <a:buNone/>
            </a:pPr>
            <a:r>
              <a:rPr lang="en-US" sz="850" b="1" dirty="0">
                <a:solidFill>
                  <a:srgbClr val="333333"/>
                </a:solidFill>
                <a:latin typeface="Montserrat" pitchFamily="34" charset="0"/>
                <a:ea typeface="Montserrat" pitchFamily="34" charset="-122"/>
                <a:cs typeface="Montserrat" pitchFamily="34" charset="-120"/>
              </a:rPr>
              <a:t>ONEBASKET</a:t>
            </a:r>
            <a:endParaRPr lang="en-US" sz="850" dirty="0"/>
          </a:p>
        </p:txBody>
      </p:sp>
      <p:sp>
        <p:nvSpPr>
          <p:cNvPr id="90" name="Shape 88"/>
          <p:cNvSpPr/>
          <p:nvPr/>
        </p:nvSpPr>
        <p:spPr>
          <a:xfrm>
            <a:off x="1737360" y="3364992"/>
            <a:ext cx="1440833" cy="384048"/>
          </a:xfrm>
          <a:prstGeom prst="rect">
            <a:avLst/>
          </a:prstGeom>
          <a:solidFill>
            <a:srgbClr val="FCEBEB"/>
          </a:solidFill>
          <a:ln w="6350">
            <a:solidFill>
              <a:srgbClr val="E8E6DF"/>
            </a:solidFill>
            <a:prstDash val="solid"/>
          </a:ln>
        </p:spPr>
        <p:txBody>
          <a:bodyPr/>
          <a:lstStyle/>
          <a:p>
            <a:endParaRPr lang="en-US"/>
          </a:p>
        </p:txBody>
      </p:sp>
      <p:sp>
        <p:nvSpPr>
          <p:cNvPr id="91" name="Text 89"/>
          <p:cNvSpPr/>
          <p:nvPr/>
        </p:nvSpPr>
        <p:spPr>
          <a:xfrm>
            <a:off x="1755648" y="3364992"/>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API</a:t>
            </a:r>
            <a:endParaRPr lang="en-US" sz="800" dirty="0"/>
          </a:p>
        </p:txBody>
      </p:sp>
      <p:sp>
        <p:nvSpPr>
          <p:cNvPr id="92" name="Shape 90"/>
          <p:cNvSpPr/>
          <p:nvPr/>
        </p:nvSpPr>
        <p:spPr>
          <a:xfrm>
            <a:off x="3178193" y="3364992"/>
            <a:ext cx="1440833" cy="384048"/>
          </a:xfrm>
          <a:prstGeom prst="rect">
            <a:avLst/>
          </a:prstGeom>
          <a:solidFill>
            <a:srgbClr val="FCEBEB"/>
          </a:solidFill>
          <a:ln w="6350">
            <a:solidFill>
              <a:srgbClr val="E8E6DF"/>
            </a:solidFill>
            <a:prstDash val="solid"/>
          </a:ln>
        </p:spPr>
        <p:txBody>
          <a:bodyPr/>
          <a:lstStyle/>
          <a:p>
            <a:endParaRPr lang="en-US"/>
          </a:p>
        </p:txBody>
      </p:sp>
      <p:sp>
        <p:nvSpPr>
          <p:cNvPr id="93" name="Text 91"/>
          <p:cNvSpPr/>
          <p:nvPr/>
        </p:nvSpPr>
        <p:spPr>
          <a:xfrm>
            <a:off x="3196481" y="3364992"/>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94" name="Shape 92"/>
          <p:cNvSpPr/>
          <p:nvPr/>
        </p:nvSpPr>
        <p:spPr>
          <a:xfrm>
            <a:off x="4619026" y="3364992"/>
            <a:ext cx="1440833" cy="384048"/>
          </a:xfrm>
          <a:prstGeom prst="rect">
            <a:avLst/>
          </a:prstGeom>
          <a:solidFill>
            <a:srgbClr val="FDFDFD"/>
          </a:solidFill>
          <a:ln w="6350">
            <a:solidFill>
              <a:srgbClr val="E8E6DF"/>
            </a:solidFill>
            <a:prstDash val="solid"/>
          </a:ln>
        </p:spPr>
        <p:txBody>
          <a:bodyPr/>
          <a:lstStyle/>
          <a:p>
            <a:endParaRPr lang="en-US"/>
          </a:p>
        </p:txBody>
      </p:sp>
      <p:sp>
        <p:nvSpPr>
          <p:cNvPr id="95" name="Shape 93"/>
          <p:cNvSpPr/>
          <p:nvPr/>
        </p:nvSpPr>
        <p:spPr>
          <a:xfrm>
            <a:off x="6059859" y="3364992"/>
            <a:ext cx="1440833" cy="384048"/>
          </a:xfrm>
          <a:prstGeom prst="rect">
            <a:avLst/>
          </a:prstGeom>
          <a:solidFill>
            <a:srgbClr val="FCEBEB"/>
          </a:solidFill>
          <a:ln w="6350">
            <a:solidFill>
              <a:srgbClr val="E8E6DF"/>
            </a:solidFill>
            <a:prstDash val="solid"/>
          </a:ln>
        </p:spPr>
        <p:txBody>
          <a:bodyPr/>
          <a:lstStyle/>
          <a:p>
            <a:endParaRPr lang="en-US"/>
          </a:p>
        </p:txBody>
      </p:sp>
      <p:sp>
        <p:nvSpPr>
          <p:cNvPr id="96" name="Text 94"/>
          <p:cNvSpPr/>
          <p:nvPr/>
        </p:nvSpPr>
        <p:spPr>
          <a:xfrm>
            <a:off x="6078147" y="3364992"/>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97" name="Shape 95"/>
          <p:cNvSpPr/>
          <p:nvPr/>
        </p:nvSpPr>
        <p:spPr>
          <a:xfrm>
            <a:off x="7500693" y="3364992"/>
            <a:ext cx="1440833" cy="384048"/>
          </a:xfrm>
          <a:prstGeom prst="rect">
            <a:avLst/>
          </a:prstGeom>
          <a:solidFill>
            <a:srgbClr val="FDFDFD"/>
          </a:solidFill>
          <a:ln w="6350">
            <a:solidFill>
              <a:srgbClr val="E8E6DF"/>
            </a:solidFill>
            <a:prstDash val="solid"/>
          </a:ln>
        </p:spPr>
        <p:txBody>
          <a:bodyPr/>
          <a:lstStyle/>
          <a:p>
            <a:endParaRPr lang="en-US"/>
          </a:p>
        </p:txBody>
      </p:sp>
      <p:sp>
        <p:nvSpPr>
          <p:cNvPr id="98" name="Shape 96"/>
          <p:cNvSpPr/>
          <p:nvPr/>
        </p:nvSpPr>
        <p:spPr>
          <a:xfrm>
            <a:off x="8941526" y="3364992"/>
            <a:ext cx="1440833" cy="384048"/>
          </a:xfrm>
          <a:prstGeom prst="rect">
            <a:avLst/>
          </a:prstGeom>
          <a:solidFill>
            <a:srgbClr val="FCEBEB"/>
          </a:solidFill>
          <a:ln w="6350">
            <a:solidFill>
              <a:srgbClr val="E8E6DF"/>
            </a:solidFill>
            <a:prstDash val="solid"/>
          </a:ln>
        </p:spPr>
        <p:txBody>
          <a:bodyPr/>
          <a:lstStyle/>
          <a:p>
            <a:endParaRPr lang="en-US"/>
          </a:p>
        </p:txBody>
      </p:sp>
      <p:sp>
        <p:nvSpPr>
          <p:cNvPr id="99" name="Text 97"/>
          <p:cNvSpPr/>
          <p:nvPr/>
        </p:nvSpPr>
        <p:spPr>
          <a:xfrm>
            <a:off x="8959814" y="3364992"/>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100" name="Shape 98"/>
          <p:cNvSpPr/>
          <p:nvPr/>
        </p:nvSpPr>
        <p:spPr>
          <a:xfrm>
            <a:off x="10382359" y="3364992"/>
            <a:ext cx="1440833" cy="384048"/>
          </a:xfrm>
          <a:prstGeom prst="rect">
            <a:avLst/>
          </a:prstGeom>
          <a:solidFill>
            <a:srgbClr val="FCEBEB"/>
          </a:solidFill>
          <a:ln w="6350">
            <a:solidFill>
              <a:srgbClr val="E8E6DF"/>
            </a:solidFill>
            <a:prstDash val="solid"/>
          </a:ln>
        </p:spPr>
        <p:txBody>
          <a:bodyPr/>
          <a:lstStyle/>
          <a:p>
            <a:endParaRPr lang="en-US"/>
          </a:p>
        </p:txBody>
      </p:sp>
      <p:sp>
        <p:nvSpPr>
          <p:cNvPr id="101" name="Text 99"/>
          <p:cNvSpPr/>
          <p:nvPr/>
        </p:nvSpPr>
        <p:spPr>
          <a:xfrm>
            <a:off x="10400647" y="3364992"/>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API</a:t>
            </a:r>
            <a:endParaRPr lang="en-US" sz="800" dirty="0"/>
          </a:p>
        </p:txBody>
      </p:sp>
      <p:sp>
        <p:nvSpPr>
          <p:cNvPr id="102" name="Shape 100"/>
          <p:cNvSpPr/>
          <p:nvPr/>
        </p:nvSpPr>
        <p:spPr>
          <a:xfrm>
            <a:off x="365760" y="3749040"/>
            <a:ext cx="1371600" cy="384048"/>
          </a:xfrm>
          <a:prstGeom prst="rect">
            <a:avLst/>
          </a:prstGeom>
          <a:solidFill>
            <a:srgbClr val="F5F4F1"/>
          </a:solidFill>
          <a:ln w="6350">
            <a:solidFill>
              <a:srgbClr val="E2E0D9"/>
            </a:solidFill>
            <a:prstDash val="solid"/>
          </a:ln>
        </p:spPr>
        <p:txBody>
          <a:bodyPr/>
          <a:lstStyle/>
          <a:p>
            <a:endParaRPr lang="en-US"/>
          </a:p>
        </p:txBody>
      </p:sp>
      <p:sp>
        <p:nvSpPr>
          <p:cNvPr id="103" name="Text 101"/>
          <p:cNvSpPr/>
          <p:nvPr/>
        </p:nvSpPr>
        <p:spPr>
          <a:xfrm>
            <a:off x="438912" y="3749040"/>
            <a:ext cx="1261872" cy="384048"/>
          </a:xfrm>
          <a:prstGeom prst="rect">
            <a:avLst/>
          </a:prstGeom>
          <a:noFill/>
          <a:ln/>
        </p:spPr>
        <p:txBody>
          <a:bodyPr wrap="square" lIns="0" tIns="0" rIns="0" bIns="0" rtlCol="0" anchor="ctr"/>
          <a:lstStyle/>
          <a:p>
            <a:pPr marL="0" indent="0">
              <a:buNone/>
            </a:pPr>
            <a:r>
              <a:rPr lang="en-US" sz="850" b="1" dirty="0">
                <a:solidFill>
                  <a:srgbClr val="333333"/>
                </a:solidFill>
                <a:latin typeface="Montserrat" pitchFamily="34" charset="0"/>
                <a:ea typeface="Montserrat" pitchFamily="34" charset="-122"/>
                <a:cs typeface="Montserrat" pitchFamily="34" charset="-120"/>
              </a:rPr>
              <a:t>GRADE</a:t>
            </a:r>
            <a:endParaRPr lang="en-US" sz="850" dirty="0"/>
          </a:p>
        </p:txBody>
      </p:sp>
      <p:sp>
        <p:nvSpPr>
          <p:cNvPr id="104" name="Shape 102"/>
          <p:cNvSpPr/>
          <p:nvPr/>
        </p:nvSpPr>
        <p:spPr>
          <a:xfrm>
            <a:off x="1737360" y="3749040"/>
            <a:ext cx="1440833" cy="384048"/>
          </a:xfrm>
          <a:prstGeom prst="rect">
            <a:avLst/>
          </a:prstGeom>
          <a:solidFill>
            <a:srgbClr val="FDFDFD"/>
          </a:solidFill>
          <a:ln w="6350">
            <a:solidFill>
              <a:srgbClr val="E8E6DF"/>
            </a:solidFill>
            <a:prstDash val="solid"/>
          </a:ln>
        </p:spPr>
        <p:txBody>
          <a:bodyPr/>
          <a:lstStyle/>
          <a:p>
            <a:endParaRPr lang="en-US"/>
          </a:p>
        </p:txBody>
      </p:sp>
      <p:sp>
        <p:nvSpPr>
          <p:cNvPr id="105" name="Shape 103"/>
          <p:cNvSpPr/>
          <p:nvPr/>
        </p:nvSpPr>
        <p:spPr>
          <a:xfrm>
            <a:off x="3178193" y="3749040"/>
            <a:ext cx="1440833" cy="384048"/>
          </a:xfrm>
          <a:prstGeom prst="rect">
            <a:avLst/>
          </a:prstGeom>
          <a:solidFill>
            <a:srgbClr val="FDFDFD"/>
          </a:solidFill>
          <a:ln w="6350">
            <a:solidFill>
              <a:srgbClr val="E8E6DF"/>
            </a:solidFill>
            <a:prstDash val="solid"/>
          </a:ln>
        </p:spPr>
        <p:txBody>
          <a:bodyPr/>
          <a:lstStyle/>
          <a:p>
            <a:endParaRPr lang="en-US"/>
          </a:p>
        </p:txBody>
      </p:sp>
      <p:sp>
        <p:nvSpPr>
          <p:cNvPr id="106" name="Shape 104"/>
          <p:cNvSpPr/>
          <p:nvPr/>
        </p:nvSpPr>
        <p:spPr>
          <a:xfrm>
            <a:off x="4619026" y="3749040"/>
            <a:ext cx="1440833" cy="384048"/>
          </a:xfrm>
          <a:prstGeom prst="rect">
            <a:avLst/>
          </a:prstGeom>
          <a:solidFill>
            <a:srgbClr val="FCEBEB"/>
          </a:solidFill>
          <a:ln w="6350">
            <a:solidFill>
              <a:srgbClr val="E8E6DF"/>
            </a:solidFill>
            <a:prstDash val="solid"/>
          </a:ln>
        </p:spPr>
        <p:txBody>
          <a:bodyPr/>
          <a:lstStyle/>
          <a:p>
            <a:endParaRPr lang="en-US"/>
          </a:p>
        </p:txBody>
      </p:sp>
      <p:sp>
        <p:nvSpPr>
          <p:cNvPr id="107" name="Text 105"/>
          <p:cNvSpPr/>
          <p:nvPr/>
        </p:nvSpPr>
        <p:spPr>
          <a:xfrm>
            <a:off x="4637314" y="3749040"/>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API</a:t>
            </a:r>
            <a:endParaRPr lang="en-US" sz="800" dirty="0"/>
          </a:p>
        </p:txBody>
      </p:sp>
      <p:sp>
        <p:nvSpPr>
          <p:cNvPr id="108" name="Shape 106"/>
          <p:cNvSpPr/>
          <p:nvPr/>
        </p:nvSpPr>
        <p:spPr>
          <a:xfrm>
            <a:off x="6059859" y="3749040"/>
            <a:ext cx="1440833" cy="384048"/>
          </a:xfrm>
          <a:prstGeom prst="rect">
            <a:avLst/>
          </a:prstGeom>
          <a:solidFill>
            <a:srgbClr val="F3B7BE"/>
          </a:solidFill>
          <a:ln w="6350">
            <a:solidFill>
              <a:srgbClr val="E8E6DF"/>
            </a:solidFill>
            <a:prstDash val="solid"/>
          </a:ln>
        </p:spPr>
        <p:txBody>
          <a:bodyPr/>
          <a:lstStyle/>
          <a:p>
            <a:endParaRPr lang="en-US"/>
          </a:p>
        </p:txBody>
      </p:sp>
      <p:sp>
        <p:nvSpPr>
          <p:cNvPr id="109" name="Text 107"/>
          <p:cNvSpPr/>
          <p:nvPr/>
        </p:nvSpPr>
        <p:spPr>
          <a:xfrm>
            <a:off x="6078147" y="3749040"/>
            <a:ext cx="1404257" cy="384048"/>
          </a:xfrm>
          <a:prstGeom prst="rect">
            <a:avLst/>
          </a:prstGeom>
          <a:noFill/>
          <a:ln/>
        </p:spPr>
        <p:txBody>
          <a:bodyPr wrap="square" lIns="0" tIns="0" rIns="0" bIns="0" rtlCol="0" anchor="ctr"/>
          <a:lstStyle/>
          <a:p>
            <a:pPr marL="0" indent="0" algn="ctr">
              <a:buNone/>
            </a:pPr>
            <a:r>
              <a:rPr lang="en-US" sz="800" b="1" dirty="0">
                <a:solidFill>
                  <a:srgbClr val="8A1F2C"/>
                </a:solidFill>
                <a:latin typeface="Montserrat" pitchFamily="34" charset="0"/>
                <a:ea typeface="Montserrat" pitchFamily="34" charset="-122"/>
                <a:cs typeface="Montserrat" pitchFamily="34" charset="-120"/>
              </a:rPr>
              <a:t>W  </a:t>
            </a:r>
            <a:r>
              <a:rPr lang="en-US" sz="650" i="1" dirty="0">
                <a:solidFill>
                  <a:srgbClr val="8A1F2C"/>
                </a:solidFill>
                <a:latin typeface="Montserrat" pitchFamily="34" charset="0"/>
                <a:ea typeface="Montserrat" pitchFamily="34" charset="-122"/>
                <a:cs typeface="Montserrat" pitchFamily="34" charset="-120"/>
              </a:rPr>
              <a:t>API</a:t>
            </a:r>
            <a:endParaRPr lang="en-US" sz="800" dirty="0"/>
          </a:p>
        </p:txBody>
      </p:sp>
      <p:sp>
        <p:nvSpPr>
          <p:cNvPr id="110" name="Shape 108"/>
          <p:cNvSpPr/>
          <p:nvPr/>
        </p:nvSpPr>
        <p:spPr>
          <a:xfrm>
            <a:off x="7500693" y="3749040"/>
            <a:ext cx="1440833" cy="384048"/>
          </a:xfrm>
          <a:prstGeom prst="rect">
            <a:avLst/>
          </a:prstGeom>
          <a:solidFill>
            <a:srgbClr val="F3B7BE"/>
          </a:solidFill>
          <a:ln w="6350">
            <a:solidFill>
              <a:srgbClr val="E8E6DF"/>
            </a:solidFill>
            <a:prstDash val="solid"/>
          </a:ln>
        </p:spPr>
        <p:txBody>
          <a:bodyPr/>
          <a:lstStyle/>
          <a:p>
            <a:endParaRPr lang="en-US"/>
          </a:p>
        </p:txBody>
      </p:sp>
      <p:sp>
        <p:nvSpPr>
          <p:cNvPr id="111" name="Text 109"/>
          <p:cNvSpPr/>
          <p:nvPr/>
        </p:nvSpPr>
        <p:spPr>
          <a:xfrm>
            <a:off x="7518981" y="3749040"/>
            <a:ext cx="1404257" cy="384048"/>
          </a:xfrm>
          <a:prstGeom prst="rect">
            <a:avLst/>
          </a:prstGeom>
          <a:noFill/>
          <a:ln/>
        </p:spPr>
        <p:txBody>
          <a:bodyPr wrap="square" lIns="0" tIns="0" rIns="0" bIns="0" rtlCol="0" anchor="ctr"/>
          <a:lstStyle/>
          <a:p>
            <a:pPr marL="0" indent="0" algn="ctr">
              <a:buNone/>
            </a:pPr>
            <a:r>
              <a:rPr lang="en-US" sz="800" b="1" dirty="0">
                <a:solidFill>
                  <a:srgbClr val="8A1F2C"/>
                </a:solidFill>
                <a:latin typeface="Montserrat" pitchFamily="34" charset="0"/>
                <a:ea typeface="Montserrat" pitchFamily="34" charset="-122"/>
                <a:cs typeface="Montserrat" pitchFamily="34" charset="-120"/>
              </a:rPr>
              <a:t>W  </a:t>
            </a:r>
            <a:r>
              <a:rPr lang="en-US" sz="650" i="1" dirty="0">
                <a:solidFill>
                  <a:srgbClr val="8A1F2C"/>
                </a:solidFill>
                <a:latin typeface="Montserrat" pitchFamily="34" charset="0"/>
                <a:ea typeface="Montserrat" pitchFamily="34" charset="-122"/>
                <a:cs typeface="Montserrat" pitchFamily="34" charset="-120"/>
              </a:rPr>
              <a:t>EVT</a:t>
            </a:r>
            <a:endParaRPr lang="en-US" sz="800" dirty="0"/>
          </a:p>
        </p:txBody>
      </p:sp>
      <p:sp>
        <p:nvSpPr>
          <p:cNvPr id="112" name="Shape 110"/>
          <p:cNvSpPr/>
          <p:nvPr/>
        </p:nvSpPr>
        <p:spPr>
          <a:xfrm>
            <a:off x="8941526" y="3749040"/>
            <a:ext cx="1440833" cy="384048"/>
          </a:xfrm>
          <a:prstGeom prst="rect">
            <a:avLst/>
          </a:prstGeom>
          <a:solidFill>
            <a:srgbClr val="FDFDFD"/>
          </a:solidFill>
          <a:ln w="6350">
            <a:solidFill>
              <a:srgbClr val="E8E6DF"/>
            </a:solidFill>
            <a:prstDash val="solid"/>
          </a:ln>
        </p:spPr>
        <p:txBody>
          <a:bodyPr/>
          <a:lstStyle/>
          <a:p>
            <a:endParaRPr lang="en-US"/>
          </a:p>
        </p:txBody>
      </p:sp>
      <p:sp>
        <p:nvSpPr>
          <p:cNvPr id="113" name="Shape 111"/>
          <p:cNvSpPr/>
          <p:nvPr/>
        </p:nvSpPr>
        <p:spPr>
          <a:xfrm>
            <a:off x="10382359" y="3749040"/>
            <a:ext cx="1440833" cy="384048"/>
          </a:xfrm>
          <a:prstGeom prst="rect">
            <a:avLst/>
          </a:prstGeom>
          <a:solidFill>
            <a:srgbClr val="FDFDFD"/>
          </a:solidFill>
          <a:ln w="6350">
            <a:solidFill>
              <a:srgbClr val="E8E6DF"/>
            </a:solidFill>
            <a:prstDash val="solid"/>
          </a:ln>
        </p:spPr>
        <p:txBody>
          <a:bodyPr/>
          <a:lstStyle/>
          <a:p>
            <a:endParaRPr lang="en-US"/>
          </a:p>
        </p:txBody>
      </p:sp>
      <p:sp>
        <p:nvSpPr>
          <p:cNvPr id="114" name="Shape 112"/>
          <p:cNvSpPr/>
          <p:nvPr/>
        </p:nvSpPr>
        <p:spPr>
          <a:xfrm>
            <a:off x="365760" y="4133088"/>
            <a:ext cx="1371600" cy="384048"/>
          </a:xfrm>
          <a:prstGeom prst="rect">
            <a:avLst/>
          </a:prstGeom>
          <a:solidFill>
            <a:srgbClr val="F5F4F1"/>
          </a:solidFill>
          <a:ln w="6350">
            <a:solidFill>
              <a:srgbClr val="E2E0D9"/>
            </a:solidFill>
            <a:prstDash val="solid"/>
          </a:ln>
        </p:spPr>
        <p:txBody>
          <a:bodyPr/>
          <a:lstStyle/>
          <a:p>
            <a:endParaRPr lang="en-US"/>
          </a:p>
        </p:txBody>
      </p:sp>
      <p:sp>
        <p:nvSpPr>
          <p:cNvPr id="115" name="Text 113"/>
          <p:cNvSpPr/>
          <p:nvPr/>
        </p:nvSpPr>
        <p:spPr>
          <a:xfrm>
            <a:off x="438912" y="4133088"/>
            <a:ext cx="1261872" cy="384048"/>
          </a:xfrm>
          <a:prstGeom prst="rect">
            <a:avLst/>
          </a:prstGeom>
          <a:noFill/>
          <a:ln/>
        </p:spPr>
        <p:txBody>
          <a:bodyPr wrap="square" lIns="0" tIns="0" rIns="0" bIns="0" rtlCol="0" anchor="ctr"/>
          <a:lstStyle/>
          <a:p>
            <a:pPr marL="0" indent="0">
              <a:buNone/>
            </a:pPr>
            <a:r>
              <a:rPr lang="en-US" sz="850" b="1" dirty="0">
                <a:solidFill>
                  <a:srgbClr val="333333"/>
                </a:solidFill>
                <a:latin typeface="Montserrat" pitchFamily="34" charset="0"/>
                <a:ea typeface="Montserrat" pitchFamily="34" charset="-122"/>
                <a:cs typeface="Montserrat" pitchFamily="34" charset="-120"/>
              </a:rPr>
              <a:t>CARE</a:t>
            </a:r>
            <a:endParaRPr lang="en-US" sz="850" dirty="0"/>
          </a:p>
        </p:txBody>
      </p:sp>
      <p:sp>
        <p:nvSpPr>
          <p:cNvPr id="116" name="Shape 114"/>
          <p:cNvSpPr/>
          <p:nvPr/>
        </p:nvSpPr>
        <p:spPr>
          <a:xfrm>
            <a:off x="1737360" y="4133088"/>
            <a:ext cx="1440833" cy="384048"/>
          </a:xfrm>
          <a:prstGeom prst="rect">
            <a:avLst/>
          </a:prstGeom>
          <a:solidFill>
            <a:srgbClr val="FCEBEB"/>
          </a:solidFill>
          <a:ln w="6350">
            <a:solidFill>
              <a:srgbClr val="E8E6DF"/>
            </a:solidFill>
            <a:prstDash val="solid"/>
          </a:ln>
        </p:spPr>
        <p:txBody>
          <a:bodyPr/>
          <a:lstStyle/>
          <a:p>
            <a:endParaRPr lang="en-US"/>
          </a:p>
        </p:txBody>
      </p:sp>
      <p:sp>
        <p:nvSpPr>
          <p:cNvPr id="117" name="Text 115"/>
          <p:cNvSpPr/>
          <p:nvPr/>
        </p:nvSpPr>
        <p:spPr>
          <a:xfrm>
            <a:off x="1755648" y="4133088"/>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API</a:t>
            </a:r>
            <a:endParaRPr lang="en-US" sz="800" dirty="0"/>
          </a:p>
        </p:txBody>
      </p:sp>
      <p:sp>
        <p:nvSpPr>
          <p:cNvPr id="118" name="Shape 116"/>
          <p:cNvSpPr/>
          <p:nvPr/>
        </p:nvSpPr>
        <p:spPr>
          <a:xfrm>
            <a:off x="3178193" y="4133088"/>
            <a:ext cx="1440833" cy="384048"/>
          </a:xfrm>
          <a:prstGeom prst="rect">
            <a:avLst/>
          </a:prstGeom>
          <a:solidFill>
            <a:srgbClr val="FCEBEB"/>
          </a:solidFill>
          <a:ln w="6350">
            <a:solidFill>
              <a:srgbClr val="E8E6DF"/>
            </a:solidFill>
            <a:prstDash val="solid"/>
          </a:ln>
        </p:spPr>
        <p:txBody>
          <a:bodyPr/>
          <a:lstStyle/>
          <a:p>
            <a:endParaRPr lang="en-US"/>
          </a:p>
        </p:txBody>
      </p:sp>
      <p:sp>
        <p:nvSpPr>
          <p:cNvPr id="119" name="Text 117"/>
          <p:cNvSpPr/>
          <p:nvPr/>
        </p:nvSpPr>
        <p:spPr>
          <a:xfrm>
            <a:off x="3196481" y="4133088"/>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API</a:t>
            </a:r>
            <a:endParaRPr lang="en-US" sz="800" dirty="0"/>
          </a:p>
        </p:txBody>
      </p:sp>
      <p:sp>
        <p:nvSpPr>
          <p:cNvPr id="120" name="Shape 118"/>
          <p:cNvSpPr/>
          <p:nvPr/>
        </p:nvSpPr>
        <p:spPr>
          <a:xfrm>
            <a:off x="4619026" y="4133088"/>
            <a:ext cx="1440833" cy="384048"/>
          </a:xfrm>
          <a:prstGeom prst="rect">
            <a:avLst/>
          </a:prstGeom>
          <a:solidFill>
            <a:srgbClr val="FCEBEB"/>
          </a:solidFill>
          <a:ln w="6350">
            <a:solidFill>
              <a:srgbClr val="E8E6DF"/>
            </a:solidFill>
            <a:prstDash val="solid"/>
          </a:ln>
        </p:spPr>
        <p:txBody>
          <a:bodyPr/>
          <a:lstStyle/>
          <a:p>
            <a:endParaRPr lang="en-US"/>
          </a:p>
        </p:txBody>
      </p:sp>
      <p:sp>
        <p:nvSpPr>
          <p:cNvPr id="121" name="Text 119"/>
          <p:cNvSpPr/>
          <p:nvPr/>
        </p:nvSpPr>
        <p:spPr>
          <a:xfrm>
            <a:off x="4637314" y="4133088"/>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API</a:t>
            </a:r>
            <a:endParaRPr lang="en-US" sz="800" dirty="0"/>
          </a:p>
        </p:txBody>
      </p:sp>
      <p:sp>
        <p:nvSpPr>
          <p:cNvPr id="122" name="Shape 120"/>
          <p:cNvSpPr/>
          <p:nvPr/>
        </p:nvSpPr>
        <p:spPr>
          <a:xfrm>
            <a:off x="6059859" y="4133088"/>
            <a:ext cx="1440833" cy="384048"/>
          </a:xfrm>
          <a:prstGeom prst="rect">
            <a:avLst/>
          </a:prstGeom>
          <a:solidFill>
            <a:srgbClr val="FCEBEB"/>
          </a:solidFill>
          <a:ln w="6350">
            <a:solidFill>
              <a:srgbClr val="E8E6DF"/>
            </a:solidFill>
            <a:prstDash val="solid"/>
          </a:ln>
        </p:spPr>
        <p:txBody>
          <a:bodyPr/>
          <a:lstStyle/>
          <a:p>
            <a:endParaRPr lang="en-US"/>
          </a:p>
        </p:txBody>
      </p:sp>
      <p:sp>
        <p:nvSpPr>
          <p:cNvPr id="123" name="Text 121"/>
          <p:cNvSpPr/>
          <p:nvPr/>
        </p:nvSpPr>
        <p:spPr>
          <a:xfrm>
            <a:off x="6078147" y="4133088"/>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API</a:t>
            </a:r>
            <a:endParaRPr lang="en-US" sz="800" dirty="0"/>
          </a:p>
        </p:txBody>
      </p:sp>
      <p:sp>
        <p:nvSpPr>
          <p:cNvPr id="124" name="Shape 122"/>
          <p:cNvSpPr/>
          <p:nvPr/>
        </p:nvSpPr>
        <p:spPr>
          <a:xfrm>
            <a:off x="7500693" y="4133088"/>
            <a:ext cx="1440833" cy="384048"/>
          </a:xfrm>
          <a:prstGeom prst="rect">
            <a:avLst/>
          </a:prstGeom>
          <a:solidFill>
            <a:srgbClr val="FCEBEB"/>
          </a:solidFill>
          <a:ln w="6350">
            <a:solidFill>
              <a:srgbClr val="E8E6DF"/>
            </a:solidFill>
            <a:prstDash val="solid"/>
          </a:ln>
        </p:spPr>
        <p:txBody>
          <a:bodyPr/>
          <a:lstStyle/>
          <a:p>
            <a:endParaRPr lang="en-US"/>
          </a:p>
        </p:txBody>
      </p:sp>
      <p:sp>
        <p:nvSpPr>
          <p:cNvPr id="125" name="Text 123"/>
          <p:cNvSpPr/>
          <p:nvPr/>
        </p:nvSpPr>
        <p:spPr>
          <a:xfrm>
            <a:off x="7518981" y="4133088"/>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API</a:t>
            </a:r>
            <a:endParaRPr lang="en-US" sz="800" dirty="0"/>
          </a:p>
        </p:txBody>
      </p:sp>
      <p:sp>
        <p:nvSpPr>
          <p:cNvPr id="126" name="Shape 124"/>
          <p:cNvSpPr/>
          <p:nvPr/>
        </p:nvSpPr>
        <p:spPr>
          <a:xfrm>
            <a:off x="8941526" y="4133088"/>
            <a:ext cx="1440833" cy="384048"/>
          </a:xfrm>
          <a:prstGeom prst="rect">
            <a:avLst/>
          </a:prstGeom>
          <a:solidFill>
            <a:srgbClr val="FDFDFD"/>
          </a:solidFill>
          <a:ln w="6350">
            <a:solidFill>
              <a:srgbClr val="E8E6DF"/>
            </a:solidFill>
            <a:prstDash val="solid"/>
          </a:ln>
        </p:spPr>
        <p:txBody>
          <a:bodyPr/>
          <a:lstStyle/>
          <a:p>
            <a:endParaRPr lang="en-US"/>
          </a:p>
        </p:txBody>
      </p:sp>
      <p:sp>
        <p:nvSpPr>
          <p:cNvPr id="127" name="Shape 125"/>
          <p:cNvSpPr/>
          <p:nvPr/>
        </p:nvSpPr>
        <p:spPr>
          <a:xfrm>
            <a:off x="10382359" y="4133088"/>
            <a:ext cx="1440833" cy="384048"/>
          </a:xfrm>
          <a:prstGeom prst="rect">
            <a:avLst/>
          </a:prstGeom>
          <a:solidFill>
            <a:srgbClr val="FCEBEB"/>
          </a:solidFill>
          <a:ln w="6350">
            <a:solidFill>
              <a:srgbClr val="E8E6DF"/>
            </a:solidFill>
            <a:prstDash val="solid"/>
          </a:ln>
        </p:spPr>
        <p:txBody>
          <a:bodyPr/>
          <a:lstStyle/>
          <a:p>
            <a:endParaRPr lang="en-US"/>
          </a:p>
        </p:txBody>
      </p:sp>
      <p:sp>
        <p:nvSpPr>
          <p:cNvPr id="128" name="Text 126"/>
          <p:cNvSpPr/>
          <p:nvPr/>
        </p:nvSpPr>
        <p:spPr>
          <a:xfrm>
            <a:off x="10400647" y="4133088"/>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API</a:t>
            </a:r>
            <a:endParaRPr lang="en-US" sz="800" dirty="0"/>
          </a:p>
        </p:txBody>
      </p:sp>
      <p:sp>
        <p:nvSpPr>
          <p:cNvPr id="129" name="Shape 127"/>
          <p:cNvSpPr/>
          <p:nvPr/>
        </p:nvSpPr>
        <p:spPr>
          <a:xfrm>
            <a:off x="365760" y="4517136"/>
            <a:ext cx="1371600" cy="384048"/>
          </a:xfrm>
          <a:prstGeom prst="rect">
            <a:avLst/>
          </a:prstGeom>
          <a:solidFill>
            <a:srgbClr val="F5F4F1"/>
          </a:solidFill>
          <a:ln w="6350">
            <a:solidFill>
              <a:srgbClr val="E2E0D9"/>
            </a:solidFill>
            <a:prstDash val="solid"/>
          </a:ln>
        </p:spPr>
        <p:txBody>
          <a:bodyPr/>
          <a:lstStyle/>
          <a:p>
            <a:endParaRPr lang="en-US"/>
          </a:p>
        </p:txBody>
      </p:sp>
      <p:sp>
        <p:nvSpPr>
          <p:cNvPr id="130" name="Text 128"/>
          <p:cNvSpPr/>
          <p:nvPr/>
        </p:nvSpPr>
        <p:spPr>
          <a:xfrm>
            <a:off x="438912" y="4517136"/>
            <a:ext cx="1261872" cy="384048"/>
          </a:xfrm>
          <a:prstGeom prst="rect">
            <a:avLst/>
          </a:prstGeom>
          <a:noFill/>
          <a:ln/>
        </p:spPr>
        <p:txBody>
          <a:bodyPr wrap="square" lIns="0" tIns="0" rIns="0" bIns="0" rtlCol="0" anchor="ctr"/>
          <a:lstStyle/>
          <a:p>
            <a:pPr marL="0" indent="0">
              <a:buNone/>
            </a:pPr>
            <a:r>
              <a:rPr lang="en-US" sz="850" b="1" dirty="0">
                <a:solidFill>
                  <a:srgbClr val="333333"/>
                </a:solidFill>
                <a:latin typeface="Montserrat" pitchFamily="34" charset="0"/>
                <a:ea typeface="Montserrat" pitchFamily="34" charset="-122"/>
                <a:cs typeface="Montserrat" pitchFamily="34" charset="-120"/>
              </a:rPr>
              <a:t>SENTRY</a:t>
            </a:r>
            <a:endParaRPr lang="en-US" sz="850" dirty="0"/>
          </a:p>
        </p:txBody>
      </p:sp>
      <p:sp>
        <p:nvSpPr>
          <p:cNvPr id="131" name="Shape 129"/>
          <p:cNvSpPr/>
          <p:nvPr/>
        </p:nvSpPr>
        <p:spPr>
          <a:xfrm>
            <a:off x="1737360" y="4517136"/>
            <a:ext cx="1440833" cy="384048"/>
          </a:xfrm>
          <a:prstGeom prst="rect">
            <a:avLst/>
          </a:prstGeom>
          <a:solidFill>
            <a:srgbClr val="FCEBEB"/>
          </a:solidFill>
          <a:ln w="6350">
            <a:solidFill>
              <a:srgbClr val="E8E6DF"/>
            </a:solidFill>
            <a:prstDash val="solid"/>
          </a:ln>
        </p:spPr>
        <p:txBody>
          <a:bodyPr/>
          <a:lstStyle/>
          <a:p>
            <a:endParaRPr lang="en-US"/>
          </a:p>
        </p:txBody>
      </p:sp>
      <p:sp>
        <p:nvSpPr>
          <p:cNvPr id="132" name="Text 130"/>
          <p:cNvSpPr/>
          <p:nvPr/>
        </p:nvSpPr>
        <p:spPr>
          <a:xfrm>
            <a:off x="1755648" y="4517136"/>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API</a:t>
            </a:r>
            <a:endParaRPr lang="en-US" sz="800" dirty="0"/>
          </a:p>
        </p:txBody>
      </p:sp>
      <p:sp>
        <p:nvSpPr>
          <p:cNvPr id="133" name="Shape 131"/>
          <p:cNvSpPr/>
          <p:nvPr/>
        </p:nvSpPr>
        <p:spPr>
          <a:xfrm>
            <a:off x="3178193" y="4517136"/>
            <a:ext cx="1440833" cy="384048"/>
          </a:xfrm>
          <a:prstGeom prst="rect">
            <a:avLst/>
          </a:prstGeom>
          <a:solidFill>
            <a:srgbClr val="FDFDFD"/>
          </a:solidFill>
          <a:ln w="6350">
            <a:solidFill>
              <a:srgbClr val="E8E6DF"/>
            </a:solidFill>
            <a:prstDash val="solid"/>
          </a:ln>
        </p:spPr>
        <p:txBody>
          <a:bodyPr/>
          <a:lstStyle/>
          <a:p>
            <a:endParaRPr lang="en-US"/>
          </a:p>
        </p:txBody>
      </p:sp>
      <p:sp>
        <p:nvSpPr>
          <p:cNvPr id="134" name="Shape 132"/>
          <p:cNvSpPr/>
          <p:nvPr/>
        </p:nvSpPr>
        <p:spPr>
          <a:xfrm>
            <a:off x="4619026" y="4517136"/>
            <a:ext cx="1440833" cy="384048"/>
          </a:xfrm>
          <a:prstGeom prst="rect">
            <a:avLst/>
          </a:prstGeom>
          <a:solidFill>
            <a:srgbClr val="FDFDFD"/>
          </a:solidFill>
          <a:ln w="6350">
            <a:solidFill>
              <a:srgbClr val="E8E6DF"/>
            </a:solidFill>
            <a:prstDash val="solid"/>
          </a:ln>
        </p:spPr>
        <p:txBody>
          <a:bodyPr/>
          <a:lstStyle/>
          <a:p>
            <a:endParaRPr lang="en-US"/>
          </a:p>
        </p:txBody>
      </p:sp>
      <p:sp>
        <p:nvSpPr>
          <p:cNvPr id="135" name="Shape 133"/>
          <p:cNvSpPr/>
          <p:nvPr/>
        </p:nvSpPr>
        <p:spPr>
          <a:xfrm>
            <a:off x="6059859" y="4517136"/>
            <a:ext cx="1440833" cy="384048"/>
          </a:xfrm>
          <a:prstGeom prst="rect">
            <a:avLst/>
          </a:prstGeom>
          <a:solidFill>
            <a:srgbClr val="FDFDFD"/>
          </a:solidFill>
          <a:ln w="6350">
            <a:solidFill>
              <a:srgbClr val="E8E6DF"/>
            </a:solidFill>
            <a:prstDash val="solid"/>
          </a:ln>
        </p:spPr>
        <p:txBody>
          <a:bodyPr/>
          <a:lstStyle/>
          <a:p>
            <a:endParaRPr lang="en-US"/>
          </a:p>
        </p:txBody>
      </p:sp>
      <p:sp>
        <p:nvSpPr>
          <p:cNvPr id="136" name="Shape 134"/>
          <p:cNvSpPr/>
          <p:nvPr/>
        </p:nvSpPr>
        <p:spPr>
          <a:xfrm>
            <a:off x="7500693" y="4517136"/>
            <a:ext cx="1440833" cy="384048"/>
          </a:xfrm>
          <a:prstGeom prst="rect">
            <a:avLst/>
          </a:prstGeom>
          <a:solidFill>
            <a:srgbClr val="FDFDFD"/>
          </a:solidFill>
          <a:ln w="6350">
            <a:solidFill>
              <a:srgbClr val="E8E6DF"/>
            </a:solidFill>
            <a:prstDash val="solid"/>
          </a:ln>
        </p:spPr>
        <p:txBody>
          <a:bodyPr/>
          <a:lstStyle/>
          <a:p>
            <a:endParaRPr lang="en-US"/>
          </a:p>
        </p:txBody>
      </p:sp>
      <p:sp>
        <p:nvSpPr>
          <p:cNvPr id="137" name="Shape 135"/>
          <p:cNvSpPr/>
          <p:nvPr/>
        </p:nvSpPr>
        <p:spPr>
          <a:xfrm>
            <a:off x="8941526" y="4517136"/>
            <a:ext cx="1440833" cy="384048"/>
          </a:xfrm>
          <a:prstGeom prst="rect">
            <a:avLst/>
          </a:prstGeom>
          <a:solidFill>
            <a:srgbClr val="FCEBEB"/>
          </a:solidFill>
          <a:ln w="6350">
            <a:solidFill>
              <a:srgbClr val="E8E6DF"/>
            </a:solidFill>
            <a:prstDash val="solid"/>
          </a:ln>
        </p:spPr>
        <p:txBody>
          <a:bodyPr/>
          <a:lstStyle/>
          <a:p>
            <a:endParaRPr lang="en-US"/>
          </a:p>
        </p:txBody>
      </p:sp>
      <p:sp>
        <p:nvSpPr>
          <p:cNvPr id="138" name="Text 136"/>
          <p:cNvSpPr/>
          <p:nvPr/>
        </p:nvSpPr>
        <p:spPr>
          <a:xfrm>
            <a:off x="8959814" y="4517136"/>
            <a:ext cx="1404257" cy="384048"/>
          </a:xfrm>
          <a:prstGeom prst="rect">
            <a:avLst/>
          </a:prstGeom>
          <a:noFill/>
          <a:ln/>
        </p:spPr>
        <p:txBody>
          <a:bodyPr wrap="square" lIns="0" tIns="0" rIns="0" bIns="0" rtlCol="0" anchor="ctr"/>
          <a:lstStyle/>
          <a:p>
            <a:pPr marL="0" indent="0" algn="ctr">
              <a:buNone/>
            </a:pPr>
            <a:r>
              <a:rPr lang="en-US" sz="800" b="1" dirty="0">
                <a:solidFill>
                  <a:srgbClr val="E31837"/>
                </a:solidFill>
                <a:latin typeface="Montserrat" pitchFamily="34" charset="0"/>
                <a:ea typeface="Montserrat" pitchFamily="34" charset="-122"/>
                <a:cs typeface="Montserrat" pitchFamily="34" charset="-120"/>
              </a:rPr>
              <a:t>R  </a:t>
            </a:r>
            <a:r>
              <a:rPr lang="en-US" sz="650" i="1" dirty="0">
                <a:solidFill>
                  <a:srgbClr val="9B4A52"/>
                </a:solidFill>
                <a:latin typeface="Montserrat" pitchFamily="34" charset="0"/>
                <a:ea typeface="Montserrat" pitchFamily="34" charset="-122"/>
                <a:cs typeface="Montserrat" pitchFamily="34" charset="-120"/>
              </a:rPr>
              <a:t>FS</a:t>
            </a:r>
            <a:endParaRPr lang="en-US" sz="800" dirty="0"/>
          </a:p>
        </p:txBody>
      </p:sp>
      <p:sp>
        <p:nvSpPr>
          <p:cNvPr id="139" name="Shape 137"/>
          <p:cNvSpPr/>
          <p:nvPr/>
        </p:nvSpPr>
        <p:spPr>
          <a:xfrm>
            <a:off x="10382359" y="4517136"/>
            <a:ext cx="1440833" cy="384048"/>
          </a:xfrm>
          <a:prstGeom prst="rect">
            <a:avLst/>
          </a:prstGeom>
          <a:solidFill>
            <a:srgbClr val="E31837"/>
          </a:solidFill>
          <a:ln w="6350">
            <a:solidFill>
              <a:srgbClr val="E8E6DF"/>
            </a:solidFill>
            <a:prstDash val="solid"/>
          </a:ln>
        </p:spPr>
        <p:txBody>
          <a:bodyPr/>
          <a:lstStyle/>
          <a:p>
            <a:endParaRPr lang="en-US"/>
          </a:p>
        </p:txBody>
      </p:sp>
      <p:sp>
        <p:nvSpPr>
          <p:cNvPr id="140" name="Text 138"/>
          <p:cNvSpPr/>
          <p:nvPr/>
        </p:nvSpPr>
        <p:spPr>
          <a:xfrm>
            <a:off x="10400647" y="4517136"/>
            <a:ext cx="1404257" cy="384048"/>
          </a:xfrm>
          <a:prstGeom prst="rect">
            <a:avLst/>
          </a:prstGeom>
          <a:noFill/>
          <a:ln/>
        </p:spPr>
        <p:txBody>
          <a:bodyPr wrap="square" lIns="0" tIns="0" rIns="0" bIns="0" rtlCol="0" anchor="ctr"/>
          <a:lstStyle/>
          <a:p>
            <a:pPr marL="0" indent="0" algn="ctr">
              <a:buNone/>
            </a:pPr>
            <a:r>
              <a:rPr lang="en-US" sz="800" b="1" dirty="0">
                <a:solidFill>
                  <a:srgbClr val="FDFDFD"/>
                </a:solidFill>
                <a:latin typeface="Montserrat" pitchFamily="34" charset="0"/>
                <a:ea typeface="Montserrat" pitchFamily="34" charset="-122"/>
                <a:cs typeface="Montserrat" pitchFamily="34" charset="-120"/>
              </a:rPr>
              <a:t>R·W  </a:t>
            </a:r>
            <a:r>
              <a:rPr lang="en-US" sz="650" i="1" dirty="0">
                <a:solidFill>
                  <a:srgbClr val="FBD9DE"/>
                </a:solidFill>
                <a:latin typeface="Montserrat" pitchFamily="34" charset="0"/>
                <a:ea typeface="Montserrat" pitchFamily="34" charset="-122"/>
                <a:cs typeface="Montserrat" pitchFamily="34" charset="-120"/>
              </a:rPr>
              <a:t>API</a:t>
            </a:r>
            <a:endParaRPr lang="en-US" sz="800" dirty="0"/>
          </a:p>
        </p:txBody>
      </p:sp>
      <p:sp>
        <p:nvSpPr>
          <p:cNvPr id="141" name="Text 139"/>
          <p:cNvSpPr/>
          <p:nvPr/>
        </p:nvSpPr>
        <p:spPr>
          <a:xfrm>
            <a:off x="365760" y="4992624"/>
            <a:ext cx="4937760" cy="201168"/>
          </a:xfrm>
          <a:prstGeom prst="rect">
            <a:avLst/>
          </a:prstGeom>
          <a:noFill/>
          <a:ln/>
        </p:spPr>
        <p:txBody>
          <a:bodyPr wrap="square" lIns="0" tIns="0" rIns="0" bIns="0" rtlCol="0" anchor="ctr"/>
          <a:lstStyle/>
          <a:p>
            <a:pPr marL="0" indent="0">
              <a:buNone/>
            </a:pPr>
            <a:r>
              <a:rPr lang="en-US" sz="800" b="1" dirty="0">
                <a:solidFill>
                  <a:srgbClr val="333333"/>
                </a:solidFill>
                <a:latin typeface="Montserrat" pitchFamily="34" charset="0"/>
                <a:ea typeface="Montserrat" pitchFamily="34" charset="-122"/>
                <a:cs typeface="Montserrat" pitchFamily="34" charset="-120"/>
              </a:rPr>
              <a:t>ACCESS   </a:t>
            </a:r>
            <a:r>
              <a:rPr lang="en-US" sz="850" b="1" dirty="0">
                <a:solidFill>
                  <a:srgbClr val="E31837"/>
                </a:solidFill>
                <a:latin typeface="Montserrat" pitchFamily="34" charset="0"/>
                <a:ea typeface="Montserrat" pitchFamily="34" charset="-122"/>
                <a:cs typeface="Montserrat" pitchFamily="34" charset="-120"/>
              </a:rPr>
              <a:t>R </a:t>
            </a:r>
            <a:r>
              <a:rPr lang="en-US" sz="800" dirty="0">
                <a:solidFill>
                  <a:srgbClr val="5F5E5A"/>
                </a:solidFill>
                <a:latin typeface="Montserrat" pitchFamily="34" charset="0"/>
                <a:ea typeface="Montserrat" pitchFamily="34" charset="-122"/>
                <a:cs typeface="Montserrat" pitchFamily="34" charset="-120"/>
              </a:rPr>
              <a:t>read   </a:t>
            </a:r>
            <a:r>
              <a:rPr lang="en-US" sz="850" b="1" dirty="0">
                <a:solidFill>
                  <a:srgbClr val="8A1F2C"/>
                </a:solidFill>
                <a:latin typeface="Montserrat" pitchFamily="34" charset="0"/>
                <a:ea typeface="Montserrat" pitchFamily="34" charset="-122"/>
                <a:cs typeface="Montserrat" pitchFamily="34" charset="-120"/>
              </a:rPr>
              <a:t>W </a:t>
            </a:r>
            <a:r>
              <a:rPr lang="en-US" sz="800" dirty="0">
                <a:solidFill>
                  <a:srgbClr val="5F5E5A"/>
                </a:solidFill>
                <a:latin typeface="Montserrat" pitchFamily="34" charset="0"/>
                <a:ea typeface="Montserrat" pitchFamily="34" charset="-122"/>
                <a:cs typeface="Montserrat" pitchFamily="34" charset="-120"/>
              </a:rPr>
              <a:t>write   </a:t>
            </a:r>
            <a:r>
              <a:rPr lang="en-US" sz="850" b="1" dirty="0">
                <a:solidFill>
                  <a:srgbClr val="E31837"/>
                </a:solidFill>
                <a:latin typeface="Montserrat" pitchFamily="34" charset="0"/>
                <a:ea typeface="Montserrat" pitchFamily="34" charset="-122"/>
                <a:cs typeface="Montserrat" pitchFamily="34" charset="-120"/>
              </a:rPr>
              <a:t>R·W </a:t>
            </a:r>
            <a:r>
              <a:rPr lang="en-US" sz="800" dirty="0">
                <a:solidFill>
                  <a:srgbClr val="5F5E5A"/>
                </a:solidFill>
                <a:latin typeface="Montserrat" pitchFamily="34" charset="0"/>
                <a:ea typeface="Montserrat" pitchFamily="34" charset="-122"/>
                <a:cs typeface="Montserrat" pitchFamily="34" charset="-120"/>
              </a:rPr>
              <a:t>both</a:t>
            </a:r>
            <a:endParaRPr lang="en-US" sz="800" dirty="0"/>
          </a:p>
        </p:txBody>
      </p:sp>
      <p:sp>
        <p:nvSpPr>
          <p:cNvPr id="142" name="Text 140"/>
          <p:cNvSpPr/>
          <p:nvPr/>
        </p:nvSpPr>
        <p:spPr>
          <a:xfrm>
            <a:off x="5394960" y="4992624"/>
            <a:ext cx="6766560" cy="201168"/>
          </a:xfrm>
          <a:prstGeom prst="rect">
            <a:avLst/>
          </a:prstGeom>
          <a:noFill/>
          <a:ln/>
        </p:spPr>
        <p:txBody>
          <a:bodyPr wrap="square" lIns="0" tIns="0" rIns="0" bIns="0" rtlCol="0" anchor="ctr"/>
          <a:lstStyle/>
          <a:p>
            <a:pPr marL="0" indent="0">
              <a:buNone/>
            </a:pPr>
            <a:r>
              <a:rPr lang="en-US" sz="800" b="1" dirty="0">
                <a:solidFill>
                  <a:srgbClr val="333333"/>
                </a:solidFill>
                <a:latin typeface="Montserrat" pitchFamily="34" charset="0"/>
                <a:ea typeface="Montserrat" pitchFamily="34" charset="-122"/>
                <a:cs typeface="Montserrat" pitchFamily="34" charset="-120"/>
              </a:rPr>
              <a:t>METHOD   API </a:t>
            </a:r>
            <a:r>
              <a:rPr lang="en-US" sz="800" i="1" dirty="0">
                <a:solidFill>
                  <a:srgbClr val="5F5E5A"/>
                </a:solidFill>
                <a:latin typeface="Montserrat" pitchFamily="34" charset="0"/>
                <a:ea typeface="Montserrat" pitchFamily="34" charset="-122"/>
                <a:cs typeface="Montserrat" pitchFamily="34" charset="-120"/>
              </a:rPr>
              <a:t>direct lookup   </a:t>
            </a:r>
            <a:r>
              <a:rPr lang="en-US" sz="800" b="1" dirty="0">
                <a:solidFill>
                  <a:srgbClr val="333333"/>
                </a:solidFill>
                <a:latin typeface="Montserrat" pitchFamily="34" charset="0"/>
                <a:ea typeface="Montserrat" pitchFamily="34" charset="-122"/>
                <a:cs typeface="Montserrat" pitchFamily="34" charset="-120"/>
              </a:rPr>
              <a:t>RAG </a:t>
            </a:r>
            <a:r>
              <a:rPr lang="en-US" sz="800" i="1" dirty="0">
                <a:solidFill>
                  <a:srgbClr val="5F5E5A"/>
                </a:solidFill>
                <a:latin typeface="Montserrat" pitchFamily="34" charset="0"/>
                <a:ea typeface="Montserrat" pitchFamily="34" charset="-122"/>
                <a:cs typeface="Montserrat" pitchFamily="34" charset="-120"/>
              </a:rPr>
              <a:t>vector / semantic   </a:t>
            </a:r>
            <a:r>
              <a:rPr lang="en-US" sz="800" b="1" dirty="0">
                <a:solidFill>
                  <a:srgbClr val="333333"/>
                </a:solidFill>
                <a:latin typeface="Montserrat" pitchFamily="34" charset="0"/>
                <a:ea typeface="Montserrat" pitchFamily="34" charset="-122"/>
                <a:cs typeface="Montserrat" pitchFamily="34" charset="-120"/>
              </a:rPr>
              <a:t>FS </a:t>
            </a:r>
            <a:r>
              <a:rPr lang="en-US" sz="800" i="1" dirty="0">
                <a:solidFill>
                  <a:srgbClr val="5F5E5A"/>
                </a:solidFill>
                <a:latin typeface="Montserrat" pitchFamily="34" charset="0"/>
                <a:ea typeface="Montserrat" pitchFamily="34" charset="-122"/>
                <a:cs typeface="Montserrat" pitchFamily="34" charset="-120"/>
              </a:rPr>
              <a:t>feature serving   </a:t>
            </a:r>
            <a:r>
              <a:rPr lang="en-US" sz="800" b="1" dirty="0">
                <a:solidFill>
                  <a:srgbClr val="333333"/>
                </a:solidFill>
                <a:latin typeface="Montserrat" pitchFamily="34" charset="0"/>
                <a:ea typeface="Montserrat" pitchFamily="34" charset="-122"/>
                <a:cs typeface="Montserrat" pitchFamily="34" charset="-120"/>
              </a:rPr>
              <a:t>EVT </a:t>
            </a:r>
            <a:r>
              <a:rPr lang="en-US" sz="800" i="1" dirty="0">
                <a:solidFill>
                  <a:srgbClr val="5F5E5A"/>
                </a:solidFill>
                <a:latin typeface="Montserrat" pitchFamily="34" charset="0"/>
                <a:ea typeface="Montserrat" pitchFamily="34" charset="-122"/>
                <a:cs typeface="Montserrat" pitchFamily="34" charset="-120"/>
              </a:rPr>
              <a:t>event stream</a:t>
            </a:r>
            <a:endParaRPr lang="en-US" sz="800" dirty="0"/>
          </a:p>
        </p:txBody>
      </p:sp>
      <p:sp>
        <p:nvSpPr>
          <p:cNvPr id="143" name="Shape 141"/>
          <p:cNvSpPr/>
          <p:nvPr/>
        </p:nvSpPr>
        <p:spPr>
          <a:xfrm>
            <a:off x="365760" y="5303520"/>
            <a:ext cx="3697224" cy="749808"/>
          </a:xfrm>
          <a:prstGeom prst="roundRect">
            <a:avLst>
              <a:gd name="adj" fmla="val 7317"/>
            </a:avLst>
          </a:prstGeom>
          <a:solidFill>
            <a:srgbClr val="F5F4F1"/>
          </a:solidFill>
          <a:ln/>
          <a:effectLst>
            <a:outerShdw blurRad="38100" dist="12700" dir="5400000" algn="bl" rotWithShape="0">
              <a:srgbClr val="000000">
                <a:alpha val="9000"/>
              </a:srgbClr>
            </a:outerShdw>
          </a:effectLst>
        </p:spPr>
        <p:txBody>
          <a:bodyPr/>
          <a:lstStyle/>
          <a:p>
            <a:endParaRPr lang="en-US"/>
          </a:p>
        </p:txBody>
      </p:sp>
      <p:sp>
        <p:nvSpPr>
          <p:cNvPr id="144" name="Shape 142"/>
          <p:cNvSpPr/>
          <p:nvPr/>
        </p:nvSpPr>
        <p:spPr>
          <a:xfrm>
            <a:off x="493776" y="5431536"/>
            <a:ext cx="36576" cy="493776"/>
          </a:xfrm>
          <a:prstGeom prst="rect">
            <a:avLst/>
          </a:prstGeom>
          <a:solidFill>
            <a:srgbClr val="E31837"/>
          </a:solidFill>
          <a:ln/>
        </p:spPr>
        <p:txBody>
          <a:bodyPr/>
          <a:lstStyle/>
          <a:p>
            <a:endParaRPr lang="en-US"/>
          </a:p>
        </p:txBody>
      </p:sp>
      <p:sp>
        <p:nvSpPr>
          <p:cNvPr id="145" name="Text 143"/>
          <p:cNvSpPr/>
          <p:nvPr/>
        </p:nvSpPr>
        <p:spPr>
          <a:xfrm>
            <a:off x="603504" y="5413248"/>
            <a:ext cx="3331464" cy="219456"/>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Same domain, different means</a:t>
            </a:r>
            <a:endParaRPr lang="en-US" sz="900" dirty="0"/>
          </a:p>
        </p:txBody>
      </p:sp>
      <p:sp>
        <p:nvSpPr>
          <p:cNvPr id="146" name="Text 144"/>
          <p:cNvSpPr/>
          <p:nvPr/>
        </p:nvSpPr>
        <p:spPr>
          <a:xfrm>
            <a:off x="603504" y="5632704"/>
            <a:ext cx="3331464" cy="347472"/>
          </a:xfrm>
          <a:prstGeom prst="rect">
            <a:avLst/>
          </a:prstGeom>
          <a:noFill/>
          <a:ln/>
        </p:spPr>
        <p:txBody>
          <a:bodyPr wrap="square" lIns="0" tIns="0" rIns="0" bIns="0" rtlCol="0" anchor="t"/>
          <a:lstStyle/>
          <a:p>
            <a:pPr marL="0" indent="0">
              <a:lnSpc>
                <a:spcPct val="98000"/>
              </a:lnSpc>
              <a:buNone/>
            </a:pPr>
            <a:r>
              <a:rPr lang="en-US" sz="760" dirty="0">
                <a:solidFill>
                  <a:srgbClr val="5F5E5A"/>
                </a:solidFill>
                <a:latin typeface="Lora" pitchFamily="34" charset="0"/>
                <a:ea typeface="Lora" pitchFamily="34" charset="-122"/>
                <a:cs typeface="Lora" pitchFamily="34" charset="-120"/>
              </a:rPr>
              <a:t>MUSE reads the catalogue by RAG (semantic find-similar); CARE reads it by API (exact SKU lookup). The method follows the job, not just the domain.</a:t>
            </a:r>
            <a:endParaRPr lang="en-US" sz="760" dirty="0"/>
          </a:p>
        </p:txBody>
      </p:sp>
      <p:sp>
        <p:nvSpPr>
          <p:cNvPr id="147" name="Shape 145"/>
          <p:cNvSpPr/>
          <p:nvPr/>
        </p:nvSpPr>
        <p:spPr>
          <a:xfrm>
            <a:off x="4245864" y="5303520"/>
            <a:ext cx="3697224" cy="749808"/>
          </a:xfrm>
          <a:prstGeom prst="roundRect">
            <a:avLst>
              <a:gd name="adj" fmla="val 7317"/>
            </a:avLst>
          </a:prstGeom>
          <a:solidFill>
            <a:srgbClr val="F5F4F1"/>
          </a:solidFill>
          <a:ln/>
          <a:effectLst>
            <a:outerShdw blurRad="38100" dist="12700" dir="5400000" algn="bl" rotWithShape="0">
              <a:srgbClr val="000000">
                <a:alpha val="9000"/>
              </a:srgbClr>
            </a:outerShdw>
          </a:effectLst>
        </p:spPr>
        <p:txBody>
          <a:bodyPr/>
          <a:lstStyle/>
          <a:p>
            <a:endParaRPr lang="en-US"/>
          </a:p>
        </p:txBody>
      </p:sp>
      <p:sp>
        <p:nvSpPr>
          <p:cNvPr id="148" name="Shape 146"/>
          <p:cNvSpPr/>
          <p:nvPr/>
        </p:nvSpPr>
        <p:spPr>
          <a:xfrm>
            <a:off x="4373880" y="5431536"/>
            <a:ext cx="36576" cy="493776"/>
          </a:xfrm>
          <a:prstGeom prst="rect">
            <a:avLst/>
          </a:prstGeom>
          <a:solidFill>
            <a:srgbClr val="E31837"/>
          </a:solidFill>
          <a:ln/>
        </p:spPr>
        <p:txBody>
          <a:bodyPr/>
          <a:lstStyle/>
          <a:p>
            <a:endParaRPr lang="en-US"/>
          </a:p>
        </p:txBody>
      </p:sp>
      <p:sp>
        <p:nvSpPr>
          <p:cNvPr id="149" name="Text 147"/>
          <p:cNvSpPr/>
          <p:nvPr/>
        </p:nvSpPr>
        <p:spPr>
          <a:xfrm>
            <a:off x="4483608" y="5413248"/>
            <a:ext cx="3331464" cy="219456"/>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Real-time features dominate reads</a:t>
            </a:r>
            <a:endParaRPr lang="en-US" sz="900" dirty="0"/>
          </a:p>
        </p:txBody>
      </p:sp>
      <p:sp>
        <p:nvSpPr>
          <p:cNvPr id="150" name="Text 148"/>
          <p:cNvSpPr/>
          <p:nvPr/>
        </p:nvSpPr>
        <p:spPr>
          <a:xfrm>
            <a:off x="4483608" y="5632704"/>
            <a:ext cx="3331464" cy="347472"/>
          </a:xfrm>
          <a:prstGeom prst="rect">
            <a:avLst/>
          </a:prstGeom>
          <a:noFill/>
          <a:ln/>
        </p:spPr>
        <p:txBody>
          <a:bodyPr wrap="square" lIns="0" tIns="0" rIns="0" bIns="0" rtlCol="0" anchor="t"/>
          <a:lstStyle/>
          <a:p>
            <a:pPr marL="0" indent="0">
              <a:lnSpc>
                <a:spcPct val="98000"/>
              </a:lnSpc>
              <a:buNone/>
            </a:pPr>
            <a:r>
              <a:rPr lang="en-US" sz="760" dirty="0">
                <a:solidFill>
                  <a:srgbClr val="5F5E5A"/>
                </a:solidFill>
                <a:latin typeface="Lora" pitchFamily="34" charset="0"/>
                <a:ea typeface="Lora" pitchFamily="34" charset="-122"/>
                <a:cs typeface="Lora" pitchFamily="34" charset="-120"/>
              </a:rPr>
              <a:t>CRM, loyalty &amp; behavioural are served through the feature store (FS) — low-latency, pre-computed — so personalisation stays real-time without hitting source systems.</a:t>
            </a:r>
            <a:endParaRPr lang="en-US" sz="760" dirty="0"/>
          </a:p>
        </p:txBody>
      </p:sp>
      <p:sp>
        <p:nvSpPr>
          <p:cNvPr id="151" name="Shape 149"/>
          <p:cNvSpPr/>
          <p:nvPr/>
        </p:nvSpPr>
        <p:spPr>
          <a:xfrm>
            <a:off x="8125968" y="5303520"/>
            <a:ext cx="3697224" cy="749808"/>
          </a:xfrm>
          <a:prstGeom prst="roundRect">
            <a:avLst>
              <a:gd name="adj" fmla="val 7317"/>
            </a:avLst>
          </a:prstGeom>
          <a:solidFill>
            <a:srgbClr val="22262A"/>
          </a:solidFill>
          <a:ln/>
          <a:effectLst>
            <a:outerShdw blurRad="38100" dist="12700" dir="5400000" algn="bl" rotWithShape="0">
              <a:srgbClr val="000000">
                <a:alpha val="9000"/>
              </a:srgbClr>
            </a:outerShdw>
          </a:effectLst>
        </p:spPr>
        <p:txBody>
          <a:bodyPr/>
          <a:lstStyle/>
          <a:p>
            <a:endParaRPr lang="en-US"/>
          </a:p>
        </p:txBody>
      </p:sp>
      <p:sp>
        <p:nvSpPr>
          <p:cNvPr id="152" name="Shape 150"/>
          <p:cNvSpPr/>
          <p:nvPr/>
        </p:nvSpPr>
        <p:spPr>
          <a:xfrm>
            <a:off x="8253984" y="5431536"/>
            <a:ext cx="36576" cy="493776"/>
          </a:xfrm>
          <a:prstGeom prst="rect">
            <a:avLst/>
          </a:prstGeom>
          <a:solidFill>
            <a:srgbClr val="E31837"/>
          </a:solidFill>
          <a:ln/>
        </p:spPr>
        <p:txBody>
          <a:bodyPr/>
          <a:lstStyle/>
          <a:p>
            <a:endParaRPr lang="en-US"/>
          </a:p>
        </p:txBody>
      </p:sp>
      <p:sp>
        <p:nvSpPr>
          <p:cNvPr id="153" name="Text 151"/>
          <p:cNvSpPr/>
          <p:nvPr/>
        </p:nvSpPr>
        <p:spPr>
          <a:xfrm>
            <a:off x="8363712" y="5413248"/>
            <a:ext cx="3331464" cy="219456"/>
          </a:xfrm>
          <a:prstGeom prst="rect">
            <a:avLst/>
          </a:prstGeom>
          <a:noFill/>
          <a:ln/>
        </p:spPr>
        <p:txBody>
          <a:bodyPr wrap="square" lIns="0" tIns="0" rIns="0" bIns="0" rtlCol="0" anchor="ctr"/>
          <a:lstStyle/>
          <a:p>
            <a:pPr marL="0" indent="0">
              <a:buNone/>
            </a:pPr>
            <a:r>
              <a:rPr lang="en-US" sz="900" b="1" dirty="0">
                <a:solidFill>
                  <a:srgbClr val="FDFDFD"/>
                </a:solidFill>
                <a:latin typeface="Montserrat" pitchFamily="34" charset="0"/>
                <a:ea typeface="Montserrat" pitchFamily="34" charset="-122"/>
                <a:cs typeface="Montserrat" pitchFamily="34" charset="-120"/>
              </a:rPr>
              <a:t>Writes are API or event, and gated</a:t>
            </a:r>
            <a:endParaRPr lang="en-US" sz="900" dirty="0"/>
          </a:p>
        </p:txBody>
      </p:sp>
      <p:sp>
        <p:nvSpPr>
          <p:cNvPr id="154" name="Text 152"/>
          <p:cNvSpPr/>
          <p:nvPr/>
        </p:nvSpPr>
        <p:spPr>
          <a:xfrm>
            <a:off x="8363712" y="5632704"/>
            <a:ext cx="3331464" cy="347472"/>
          </a:xfrm>
          <a:prstGeom prst="rect">
            <a:avLst/>
          </a:prstGeom>
          <a:noFill/>
          <a:ln/>
        </p:spPr>
        <p:txBody>
          <a:bodyPr wrap="square" lIns="0" tIns="0" rIns="0" bIns="0" rtlCol="0" anchor="t"/>
          <a:lstStyle/>
          <a:p>
            <a:pPr marL="0" indent="0">
              <a:lnSpc>
                <a:spcPct val="98000"/>
              </a:lnSpc>
              <a:buNone/>
            </a:pPr>
            <a:r>
              <a:rPr lang="en-US" sz="760" dirty="0">
                <a:solidFill>
                  <a:srgbClr val="D8D8D8"/>
                </a:solidFill>
                <a:latin typeface="Lora" pitchFamily="34" charset="0"/>
                <a:ea typeface="Lora" pitchFamily="34" charset="-122"/>
                <a:cs typeface="Lora" pitchFamily="34" charset="-120"/>
              </a:rPr>
              <a:t>GRADE writes return reasons as events (EVT); SENTRY &amp; TALLY write transactional via API behind the approval rail. Every write is policy-checked.</a:t>
            </a:r>
            <a:endParaRPr lang="en-US" sz="760" dirty="0"/>
          </a:p>
        </p:txBody>
      </p:sp>
      <p:pic>
        <p:nvPicPr>
          <p:cNvPr id="155" name="Google Shape;126;p2" descr="preencoded.png">
            <a:extLst>
              <a:ext uri="{FF2B5EF4-FFF2-40B4-BE49-F238E27FC236}">
                <a16:creationId xmlns:a16="http://schemas.microsoft.com/office/drawing/2014/main" id="{69AB86DB-60B1-933A-A7B5-AFC94063D26A}"/>
              </a:ext>
            </a:extLst>
          </p:cNvPr>
          <p:cNvPicPr preferRelativeResize="0"/>
          <p:nvPr/>
        </p:nvPicPr>
        <p:blipFill rotWithShape="1">
          <a:blip r:embed="rId3">
            <a:alphaModFix/>
          </a:blip>
          <a:srcRect/>
          <a:stretch/>
        </p:blipFill>
        <p:spPr>
          <a:xfrm>
            <a:off x="11153665" y="182880"/>
            <a:ext cx="669527" cy="67161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E31837"/>
          </a:solidFill>
          <a:ln/>
        </p:spPr>
        <p:txBody>
          <a:bodyPr/>
          <a:lstStyle/>
          <a:p>
            <a:endParaRPr lang="en-US"/>
          </a:p>
        </p:txBody>
      </p:sp>
      <p:sp>
        <p:nvSpPr>
          <p:cNvPr id="3" name="Text 1"/>
          <p:cNvSpPr/>
          <p:nvPr/>
        </p:nvSpPr>
        <p:spPr>
          <a:xfrm>
            <a:off x="10424160" y="128016"/>
            <a:ext cx="1417320" cy="274320"/>
          </a:xfrm>
          <a:prstGeom prst="rect">
            <a:avLst/>
          </a:prstGeom>
          <a:noFill/>
          <a:ln/>
        </p:spPr>
        <p:txBody>
          <a:bodyPr wrap="square" lIns="0" tIns="0" rIns="0" bIns="0" rtlCol="0" anchor="ctr"/>
          <a:lstStyle/>
          <a:p>
            <a:pPr marL="0" indent="0" algn="r">
              <a:buNone/>
            </a:pPr>
            <a:r>
              <a:rPr lang="en-US" sz="1300" b="1" dirty="0">
                <a:solidFill>
                  <a:srgbClr val="E31837"/>
                </a:solidFill>
                <a:latin typeface="Montserrat" pitchFamily="34" charset="0"/>
                <a:ea typeface="Montserrat" pitchFamily="34" charset="-122"/>
                <a:cs typeface="Montserrat" pitchFamily="34" charset="-120"/>
              </a:rPr>
              <a:t>Neu</a:t>
            </a:r>
            <a:r>
              <a:rPr lang="en-US" sz="1300" b="1" dirty="0">
                <a:solidFill>
                  <a:srgbClr val="333333"/>
                </a:solidFill>
                <a:latin typeface="Montserrat" pitchFamily="34" charset="0"/>
                <a:ea typeface="Montserrat" pitchFamily="34" charset="-122"/>
                <a:cs typeface="Montserrat" pitchFamily="34" charset="-120"/>
              </a:rPr>
              <a:t>.Tail</a:t>
            </a:r>
            <a:endParaRPr lang="en-US" sz="1300" dirty="0"/>
          </a:p>
        </p:txBody>
      </p:sp>
      <p:sp>
        <p:nvSpPr>
          <p:cNvPr id="4" name="Text 2"/>
          <p:cNvSpPr/>
          <p:nvPr/>
        </p:nvSpPr>
        <p:spPr>
          <a:xfrm>
            <a:off x="365760" y="146304"/>
            <a:ext cx="10058400" cy="201168"/>
          </a:xfrm>
          <a:prstGeom prst="rect">
            <a:avLst/>
          </a:prstGeom>
          <a:noFill/>
          <a:ln/>
        </p:spPr>
        <p:txBody>
          <a:bodyPr wrap="square" lIns="0" tIns="0" rIns="0" bIns="0" rtlCol="0" anchor="ctr"/>
          <a:lstStyle/>
          <a:p>
            <a:pPr marL="0" indent="0">
              <a:buNone/>
            </a:pPr>
            <a:r>
              <a:rPr lang="en-US" sz="1000" b="1" kern="0" spc="150" dirty="0">
                <a:solidFill>
                  <a:srgbClr val="E31837"/>
                </a:solidFill>
                <a:latin typeface="Montserrat" pitchFamily="34" charset="0"/>
                <a:ea typeface="Montserrat" pitchFamily="34" charset="-122"/>
                <a:cs typeface="Montserrat" pitchFamily="34" charset="-120"/>
              </a:rPr>
              <a:t>OBJECTIVE 1 · ENTERPRISE LLM &amp; AGENT PLATFORM</a:t>
            </a:r>
            <a:endParaRPr lang="en-US" sz="1000" dirty="0"/>
          </a:p>
        </p:txBody>
      </p:sp>
      <p:sp>
        <p:nvSpPr>
          <p:cNvPr id="5" name="Text 3"/>
          <p:cNvSpPr/>
          <p:nvPr/>
        </p:nvSpPr>
        <p:spPr>
          <a:xfrm>
            <a:off x="365760" y="365760"/>
            <a:ext cx="11430000" cy="310896"/>
          </a:xfrm>
          <a:prstGeom prst="rect">
            <a:avLst/>
          </a:prstGeom>
          <a:noFill/>
          <a:ln/>
        </p:spPr>
        <p:txBody>
          <a:bodyPr wrap="square" lIns="0" tIns="0" rIns="0" bIns="0" rtlCol="0" anchor="ctr"/>
          <a:lstStyle/>
          <a:p>
            <a:pPr marL="0" indent="0">
              <a:buNone/>
            </a:pPr>
            <a:r>
              <a:rPr lang="en-US" sz="1700" b="1" dirty="0">
                <a:solidFill>
                  <a:srgbClr val="333333"/>
                </a:solidFill>
                <a:latin typeface="Montserrat" pitchFamily="34" charset="0"/>
                <a:ea typeface="Montserrat" pitchFamily="34" charset="-122"/>
                <a:cs typeface="Montserrat" pitchFamily="34" charset="-120"/>
              </a:rPr>
              <a:t>The platform every agent runs on — interoperable, governed, with memory</a:t>
            </a:r>
            <a:endParaRPr lang="en-US" sz="1700" dirty="0"/>
          </a:p>
        </p:txBody>
      </p:sp>
      <p:sp>
        <p:nvSpPr>
          <p:cNvPr id="6" name="Text 4"/>
          <p:cNvSpPr/>
          <p:nvPr/>
        </p:nvSpPr>
        <p:spPr>
          <a:xfrm>
            <a:off x="365760" y="749808"/>
            <a:ext cx="11430000" cy="201168"/>
          </a:xfrm>
          <a:prstGeom prst="rect">
            <a:avLst/>
          </a:prstGeom>
          <a:noFill/>
          <a:ln/>
        </p:spPr>
        <p:txBody>
          <a:bodyPr wrap="square" lIns="0" tIns="0" rIns="0" bIns="0" rtlCol="0" anchor="ctr"/>
          <a:lstStyle/>
          <a:p>
            <a:pPr marL="0" indent="0">
              <a:buNone/>
            </a:pPr>
            <a:r>
              <a:rPr lang="en-US" sz="950" i="1" dirty="0">
                <a:solidFill>
                  <a:srgbClr val="5F5E5A"/>
                </a:solidFill>
                <a:latin typeface="Lora" pitchFamily="34" charset="0"/>
                <a:ea typeface="Lora" pitchFamily="34" charset="-122"/>
                <a:cs typeface="Lora" pitchFamily="34" charset="-120"/>
              </a:rPr>
              <a:t>No agent is hard-wired to one model or its own prompt. Four shared capabilities make the mesh interoperable, safe and stateful.</a:t>
            </a:r>
            <a:endParaRPr lang="en-US" sz="950" dirty="0"/>
          </a:p>
        </p:txBody>
      </p:sp>
      <p:sp>
        <p:nvSpPr>
          <p:cNvPr id="7" name="Shape 5"/>
          <p:cNvSpPr/>
          <p:nvPr/>
        </p:nvSpPr>
        <p:spPr>
          <a:xfrm>
            <a:off x="365760" y="1060704"/>
            <a:ext cx="365760" cy="4425696"/>
          </a:xfrm>
          <a:prstGeom prst="roundRect">
            <a:avLst>
              <a:gd name="adj" fmla="val 10000"/>
            </a:avLst>
          </a:prstGeom>
          <a:solidFill>
            <a:srgbClr val="333333"/>
          </a:solidFill>
          <a:ln/>
        </p:spPr>
        <p:txBody>
          <a:bodyPr/>
          <a:lstStyle/>
          <a:p>
            <a:endParaRPr lang="en-US"/>
          </a:p>
        </p:txBody>
      </p:sp>
      <p:sp>
        <p:nvSpPr>
          <p:cNvPr id="8" name="Text 6"/>
          <p:cNvSpPr/>
          <p:nvPr/>
        </p:nvSpPr>
        <p:spPr>
          <a:xfrm rot="16200000">
            <a:off x="-1463040" y="3154680"/>
            <a:ext cx="4023360" cy="237744"/>
          </a:xfrm>
          <a:prstGeom prst="rect">
            <a:avLst/>
          </a:prstGeom>
          <a:noFill/>
          <a:ln/>
        </p:spPr>
        <p:txBody>
          <a:bodyPr wrap="square" lIns="0" tIns="0" rIns="0" bIns="0" rtlCol="0" anchor="ctr"/>
          <a:lstStyle/>
          <a:p>
            <a:pPr marL="0" indent="0" algn="ctr">
              <a:buNone/>
            </a:pPr>
            <a:r>
              <a:rPr lang="en-US" sz="800" b="1" dirty="0">
                <a:solidFill>
                  <a:srgbClr val="FDFDFD"/>
                </a:solidFill>
                <a:latin typeface="Montserrat" pitchFamily="34" charset="0"/>
                <a:ea typeface="Montserrat" pitchFamily="34" charset="-122"/>
                <a:cs typeface="Montserrat" pitchFamily="34" charset="-120"/>
              </a:rPr>
              <a:t>SECURITY &amp; POLICY-AS-CODE</a:t>
            </a:r>
            <a:endParaRPr lang="en-US" sz="800" dirty="0"/>
          </a:p>
        </p:txBody>
      </p:sp>
      <p:sp>
        <p:nvSpPr>
          <p:cNvPr id="9" name="Shape 7"/>
          <p:cNvSpPr/>
          <p:nvPr/>
        </p:nvSpPr>
        <p:spPr>
          <a:xfrm>
            <a:off x="868680" y="1097280"/>
            <a:ext cx="5367528" cy="1938528"/>
          </a:xfrm>
          <a:prstGeom prst="roundRect">
            <a:avLst>
              <a:gd name="adj" fmla="val 3774"/>
            </a:avLst>
          </a:prstGeom>
          <a:solidFill>
            <a:srgbClr val="2E2A3A"/>
          </a:solidFill>
          <a:ln/>
          <a:effectLst>
            <a:outerShdw blurRad="38100" dist="12700" dir="5400000" algn="bl" rotWithShape="0">
              <a:srgbClr val="000000">
                <a:alpha val="9000"/>
              </a:srgbClr>
            </a:outerShdw>
          </a:effectLst>
        </p:spPr>
        <p:txBody>
          <a:bodyPr/>
          <a:lstStyle/>
          <a:p>
            <a:endParaRPr lang="en-US"/>
          </a:p>
        </p:txBody>
      </p:sp>
      <p:sp>
        <p:nvSpPr>
          <p:cNvPr id="10" name="Shape 8"/>
          <p:cNvSpPr/>
          <p:nvPr/>
        </p:nvSpPr>
        <p:spPr>
          <a:xfrm>
            <a:off x="1069848" y="1280160"/>
            <a:ext cx="4965192" cy="36576"/>
          </a:xfrm>
          <a:prstGeom prst="rect">
            <a:avLst/>
          </a:prstGeom>
          <a:solidFill>
            <a:srgbClr val="FF4D4D"/>
          </a:solidFill>
          <a:ln/>
        </p:spPr>
        <p:txBody>
          <a:bodyPr/>
          <a:lstStyle/>
          <a:p>
            <a:endParaRPr lang="en-US"/>
          </a:p>
        </p:txBody>
      </p:sp>
      <p:sp>
        <p:nvSpPr>
          <p:cNvPr id="11" name="Text 9"/>
          <p:cNvSpPr/>
          <p:nvPr/>
        </p:nvSpPr>
        <p:spPr>
          <a:xfrm>
            <a:off x="1069848" y="1353312"/>
            <a:ext cx="4965192" cy="182880"/>
          </a:xfrm>
          <a:prstGeom prst="rect">
            <a:avLst/>
          </a:prstGeom>
          <a:noFill/>
          <a:ln/>
        </p:spPr>
        <p:txBody>
          <a:bodyPr wrap="square" lIns="0" tIns="0" rIns="0" bIns="0" rtlCol="0" anchor="ctr"/>
          <a:lstStyle/>
          <a:p>
            <a:pPr marL="0" indent="0">
              <a:buNone/>
            </a:pPr>
            <a:r>
              <a:rPr lang="en-US" sz="850" b="1" kern="0" spc="100" dirty="0">
                <a:solidFill>
                  <a:srgbClr val="FF4D4D"/>
                </a:solidFill>
                <a:latin typeface="Montserrat" pitchFamily="34" charset="0"/>
                <a:ea typeface="Montserrat" pitchFamily="34" charset="-122"/>
                <a:cs typeface="Montserrat" pitchFamily="34" charset="-120"/>
              </a:rPr>
              <a:t>MODEL INTEROPERABILITY</a:t>
            </a:r>
            <a:endParaRPr lang="en-US" sz="850" dirty="0"/>
          </a:p>
        </p:txBody>
      </p:sp>
      <p:sp>
        <p:nvSpPr>
          <p:cNvPr id="12" name="Text 10"/>
          <p:cNvSpPr/>
          <p:nvPr/>
        </p:nvSpPr>
        <p:spPr>
          <a:xfrm>
            <a:off x="1069848" y="1536192"/>
            <a:ext cx="4965192" cy="274320"/>
          </a:xfrm>
          <a:prstGeom prst="rect">
            <a:avLst/>
          </a:prstGeom>
          <a:noFill/>
          <a:ln/>
        </p:spPr>
        <p:txBody>
          <a:bodyPr wrap="square" lIns="0" tIns="0" rIns="0" bIns="0" rtlCol="0" anchor="ctr"/>
          <a:lstStyle/>
          <a:p>
            <a:pPr marL="0" indent="0">
              <a:buNone/>
            </a:pPr>
            <a:r>
              <a:rPr lang="en-US" sz="1400" b="1" dirty="0">
                <a:solidFill>
                  <a:srgbClr val="FDFDFD"/>
                </a:solidFill>
                <a:latin typeface="Montserrat" pitchFamily="34" charset="0"/>
                <a:ea typeface="Montserrat" pitchFamily="34" charset="-122"/>
                <a:cs typeface="Montserrat" pitchFamily="34" charset="-120"/>
              </a:rPr>
              <a:t>Model gateway</a:t>
            </a:r>
            <a:endParaRPr lang="en-US" sz="1400" dirty="0"/>
          </a:p>
        </p:txBody>
      </p:sp>
      <p:sp>
        <p:nvSpPr>
          <p:cNvPr id="13" name="Text 11"/>
          <p:cNvSpPr/>
          <p:nvPr/>
        </p:nvSpPr>
        <p:spPr>
          <a:xfrm>
            <a:off x="1088136" y="1883664"/>
            <a:ext cx="146304" cy="164592"/>
          </a:xfrm>
          <a:prstGeom prst="rect">
            <a:avLst/>
          </a:prstGeom>
          <a:noFill/>
          <a:ln/>
        </p:spPr>
        <p:txBody>
          <a:bodyPr wrap="square" lIns="0" tIns="0" rIns="0" bIns="0" rtlCol="0" anchor="ctr"/>
          <a:lstStyle/>
          <a:p>
            <a:pPr marL="0" indent="0">
              <a:buNone/>
            </a:pPr>
            <a:r>
              <a:rPr lang="en-US" sz="800" dirty="0">
                <a:solidFill>
                  <a:srgbClr val="FF4D4D"/>
                </a:solidFill>
                <a:latin typeface="Montserrat" pitchFamily="34" charset="0"/>
                <a:ea typeface="Montserrat" pitchFamily="34" charset="-122"/>
                <a:cs typeface="Montserrat" pitchFamily="34" charset="-120"/>
              </a:rPr>
              <a:t>▪</a:t>
            </a:r>
            <a:endParaRPr lang="en-US" sz="800" dirty="0"/>
          </a:p>
        </p:txBody>
      </p:sp>
      <p:sp>
        <p:nvSpPr>
          <p:cNvPr id="14" name="Text 12"/>
          <p:cNvSpPr/>
          <p:nvPr/>
        </p:nvSpPr>
        <p:spPr>
          <a:xfrm>
            <a:off x="1252728" y="1883664"/>
            <a:ext cx="4764024" cy="292608"/>
          </a:xfrm>
          <a:prstGeom prst="rect">
            <a:avLst/>
          </a:prstGeom>
          <a:noFill/>
          <a:ln/>
        </p:spPr>
        <p:txBody>
          <a:bodyPr wrap="square" lIns="0" tIns="0" rIns="0" bIns="0" rtlCol="0" anchor="t"/>
          <a:lstStyle/>
          <a:p>
            <a:pPr marL="0" indent="0">
              <a:lnSpc>
                <a:spcPct val="92000"/>
              </a:lnSpc>
              <a:buNone/>
            </a:pPr>
            <a:r>
              <a:rPr lang="en-US" sz="870" b="1" dirty="0">
                <a:solidFill>
                  <a:srgbClr val="FDFDFD"/>
                </a:solidFill>
                <a:latin typeface="Montserrat" pitchFamily="34" charset="0"/>
                <a:ea typeface="Montserrat" pitchFamily="34" charset="-122"/>
                <a:cs typeface="Montserrat" pitchFamily="34" charset="-120"/>
              </a:rPr>
              <a:t>Right model per job  </a:t>
            </a:r>
            <a:r>
              <a:rPr lang="en-US" sz="800" dirty="0">
                <a:solidFill>
                  <a:srgbClr val="C9C9C7"/>
                </a:solidFill>
                <a:latin typeface="Montserrat" pitchFamily="34" charset="0"/>
                <a:ea typeface="Montserrat" pitchFamily="34" charset="-122"/>
                <a:cs typeface="Montserrat" pitchFamily="34" charset="-120"/>
              </a:rPr>
              <a:t>big reasoner · fast classifier · vision — routed per call</a:t>
            </a:r>
            <a:endParaRPr lang="en-US" sz="870" dirty="0"/>
          </a:p>
        </p:txBody>
      </p:sp>
      <p:sp>
        <p:nvSpPr>
          <p:cNvPr id="15" name="Text 13"/>
          <p:cNvSpPr/>
          <p:nvPr/>
        </p:nvSpPr>
        <p:spPr>
          <a:xfrm>
            <a:off x="1088136" y="2194560"/>
            <a:ext cx="146304" cy="164592"/>
          </a:xfrm>
          <a:prstGeom prst="rect">
            <a:avLst/>
          </a:prstGeom>
          <a:noFill/>
          <a:ln/>
        </p:spPr>
        <p:txBody>
          <a:bodyPr wrap="square" lIns="0" tIns="0" rIns="0" bIns="0" rtlCol="0" anchor="ctr"/>
          <a:lstStyle/>
          <a:p>
            <a:pPr marL="0" indent="0">
              <a:buNone/>
            </a:pPr>
            <a:r>
              <a:rPr lang="en-US" sz="800" dirty="0">
                <a:solidFill>
                  <a:srgbClr val="FF4D4D"/>
                </a:solidFill>
                <a:latin typeface="Montserrat" pitchFamily="34" charset="0"/>
                <a:ea typeface="Montserrat" pitchFamily="34" charset="-122"/>
                <a:cs typeface="Montserrat" pitchFamily="34" charset="-120"/>
              </a:rPr>
              <a:t>▪</a:t>
            </a:r>
            <a:endParaRPr lang="en-US" sz="800" dirty="0"/>
          </a:p>
        </p:txBody>
      </p:sp>
      <p:sp>
        <p:nvSpPr>
          <p:cNvPr id="16" name="Text 14"/>
          <p:cNvSpPr/>
          <p:nvPr/>
        </p:nvSpPr>
        <p:spPr>
          <a:xfrm>
            <a:off x="1252728" y="2194560"/>
            <a:ext cx="4764024" cy="292608"/>
          </a:xfrm>
          <a:prstGeom prst="rect">
            <a:avLst/>
          </a:prstGeom>
          <a:noFill/>
          <a:ln/>
        </p:spPr>
        <p:txBody>
          <a:bodyPr wrap="square" lIns="0" tIns="0" rIns="0" bIns="0" rtlCol="0" anchor="t"/>
          <a:lstStyle/>
          <a:p>
            <a:pPr marL="0" indent="0">
              <a:lnSpc>
                <a:spcPct val="92000"/>
              </a:lnSpc>
              <a:buNone/>
            </a:pPr>
            <a:r>
              <a:rPr lang="en-US" sz="870" b="1" dirty="0">
                <a:solidFill>
                  <a:srgbClr val="FDFDFD"/>
                </a:solidFill>
                <a:latin typeface="Montserrat" pitchFamily="34" charset="0"/>
                <a:ea typeface="Montserrat" pitchFamily="34" charset="-122"/>
                <a:cs typeface="Montserrat" pitchFamily="34" charset="-120"/>
              </a:rPr>
              <a:t>Vendor-neutral  </a:t>
            </a:r>
            <a:r>
              <a:rPr lang="en-US" sz="800" dirty="0">
                <a:solidFill>
                  <a:srgbClr val="C9C9C7"/>
                </a:solidFill>
                <a:latin typeface="Montserrat" pitchFamily="34" charset="0"/>
                <a:ea typeface="Montserrat" pitchFamily="34" charset="-122"/>
                <a:cs typeface="Montserrat" pitchFamily="34" charset="-120"/>
              </a:rPr>
              <a:t>no agent hard-wired to one provider · swap without rework</a:t>
            </a:r>
            <a:endParaRPr lang="en-US" sz="870" dirty="0"/>
          </a:p>
        </p:txBody>
      </p:sp>
      <p:sp>
        <p:nvSpPr>
          <p:cNvPr id="17" name="Text 15"/>
          <p:cNvSpPr/>
          <p:nvPr/>
        </p:nvSpPr>
        <p:spPr>
          <a:xfrm>
            <a:off x="1088136" y="2505456"/>
            <a:ext cx="146304" cy="164592"/>
          </a:xfrm>
          <a:prstGeom prst="rect">
            <a:avLst/>
          </a:prstGeom>
          <a:noFill/>
          <a:ln/>
        </p:spPr>
        <p:txBody>
          <a:bodyPr wrap="square" lIns="0" tIns="0" rIns="0" bIns="0" rtlCol="0" anchor="ctr"/>
          <a:lstStyle/>
          <a:p>
            <a:pPr marL="0" indent="0">
              <a:buNone/>
            </a:pPr>
            <a:r>
              <a:rPr lang="en-US" sz="800" dirty="0">
                <a:solidFill>
                  <a:srgbClr val="FF4D4D"/>
                </a:solidFill>
                <a:latin typeface="Montserrat" pitchFamily="34" charset="0"/>
                <a:ea typeface="Montserrat" pitchFamily="34" charset="-122"/>
                <a:cs typeface="Montserrat" pitchFamily="34" charset="-120"/>
              </a:rPr>
              <a:t>▪</a:t>
            </a:r>
            <a:endParaRPr lang="en-US" sz="800" dirty="0"/>
          </a:p>
        </p:txBody>
      </p:sp>
      <p:sp>
        <p:nvSpPr>
          <p:cNvPr id="18" name="Text 16"/>
          <p:cNvSpPr/>
          <p:nvPr/>
        </p:nvSpPr>
        <p:spPr>
          <a:xfrm>
            <a:off x="1252728" y="2505456"/>
            <a:ext cx="4764024" cy="292608"/>
          </a:xfrm>
          <a:prstGeom prst="rect">
            <a:avLst/>
          </a:prstGeom>
          <a:noFill/>
          <a:ln/>
        </p:spPr>
        <p:txBody>
          <a:bodyPr wrap="square" lIns="0" tIns="0" rIns="0" bIns="0" rtlCol="0" anchor="t"/>
          <a:lstStyle/>
          <a:p>
            <a:pPr marL="0" indent="0">
              <a:lnSpc>
                <a:spcPct val="92000"/>
              </a:lnSpc>
              <a:buNone/>
            </a:pPr>
            <a:r>
              <a:rPr lang="en-US" sz="870" b="1" dirty="0">
                <a:solidFill>
                  <a:srgbClr val="FDFDFD"/>
                </a:solidFill>
                <a:latin typeface="Montserrat" pitchFamily="34" charset="0"/>
                <a:ea typeface="Montserrat" pitchFamily="34" charset="-122"/>
                <a:cs typeface="Montserrat" pitchFamily="34" charset="-120"/>
              </a:rPr>
              <a:t>Fallback &amp; cost control  </a:t>
            </a:r>
            <a:r>
              <a:rPr lang="en-US" sz="800" dirty="0">
                <a:solidFill>
                  <a:srgbClr val="C9C9C7"/>
                </a:solidFill>
                <a:latin typeface="Montserrat" pitchFamily="34" charset="0"/>
                <a:ea typeface="Montserrat" pitchFamily="34" charset="-122"/>
                <a:cs typeface="Montserrat" pitchFamily="34" charset="-120"/>
              </a:rPr>
              <a:t>degrade gracefully · route to cheapest that meets SLA</a:t>
            </a:r>
            <a:endParaRPr lang="en-US" sz="870" dirty="0"/>
          </a:p>
        </p:txBody>
      </p:sp>
      <p:sp>
        <p:nvSpPr>
          <p:cNvPr id="19" name="Shape 17"/>
          <p:cNvSpPr/>
          <p:nvPr/>
        </p:nvSpPr>
        <p:spPr>
          <a:xfrm>
            <a:off x="1069848" y="2706624"/>
            <a:ext cx="4965192" cy="237744"/>
          </a:xfrm>
          <a:prstGeom prst="roundRect">
            <a:avLst>
              <a:gd name="adj" fmla="val 11538"/>
            </a:avLst>
          </a:prstGeom>
          <a:solidFill>
            <a:srgbClr val="403A52"/>
          </a:solidFill>
          <a:ln/>
        </p:spPr>
        <p:txBody>
          <a:bodyPr/>
          <a:lstStyle/>
          <a:p>
            <a:endParaRPr lang="en-US"/>
          </a:p>
        </p:txBody>
      </p:sp>
      <p:sp>
        <p:nvSpPr>
          <p:cNvPr id="20" name="Text 18"/>
          <p:cNvSpPr/>
          <p:nvPr/>
        </p:nvSpPr>
        <p:spPr>
          <a:xfrm>
            <a:off x="1179576" y="2706624"/>
            <a:ext cx="4818888" cy="237744"/>
          </a:xfrm>
          <a:prstGeom prst="rect">
            <a:avLst/>
          </a:prstGeom>
          <a:noFill/>
          <a:ln/>
        </p:spPr>
        <p:txBody>
          <a:bodyPr wrap="square" lIns="0" tIns="0" rIns="0" bIns="0" rtlCol="0" anchor="ctr"/>
          <a:lstStyle/>
          <a:p>
            <a:pPr marL="0" indent="0">
              <a:buNone/>
            </a:pPr>
            <a:r>
              <a:rPr lang="en-US" sz="680" b="1" dirty="0">
                <a:solidFill>
                  <a:srgbClr val="9B9A92"/>
                </a:solidFill>
                <a:latin typeface="Montserrat" pitchFamily="34" charset="0"/>
                <a:ea typeface="Montserrat" pitchFamily="34" charset="-122"/>
                <a:cs typeface="Montserrat" pitchFamily="34" charset="-120"/>
              </a:rPr>
              <a:t>IN PRACTICE  </a:t>
            </a:r>
            <a:r>
              <a:rPr lang="en-US" sz="760" i="1" dirty="0">
                <a:solidFill>
                  <a:srgbClr val="C9B8E8"/>
                </a:solidFill>
                <a:latin typeface="Montserrat" pitchFamily="34" charset="0"/>
                <a:ea typeface="Montserrat" pitchFamily="34" charset="-122"/>
                <a:cs typeface="Montserrat" pitchFamily="34" charset="-120"/>
              </a:rPr>
              <a:t>MUSE → reasoning model · PERSONA → fast classifier · GRADE → vision</a:t>
            </a:r>
            <a:endParaRPr lang="en-US" sz="680" dirty="0"/>
          </a:p>
        </p:txBody>
      </p:sp>
      <p:sp>
        <p:nvSpPr>
          <p:cNvPr id="21" name="Shape 19"/>
          <p:cNvSpPr/>
          <p:nvPr/>
        </p:nvSpPr>
        <p:spPr>
          <a:xfrm>
            <a:off x="6455664" y="1097280"/>
            <a:ext cx="5367528" cy="1938528"/>
          </a:xfrm>
          <a:prstGeom prst="roundRect">
            <a:avLst>
              <a:gd name="adj" fmla="val 3774"/>
            </a:avLst>
          </a:prstGeom>
          <a:solidFill>
            <a:srgbClr val="2E2A3A"/>
          </a:solidFill>
          <a:ln/>
          <a:effectLst>
            <a:outerShdw blurRad="38100" dist="12700" dir="5400000" algn="bl" rotWithShape="0">
              <a:srgbClr val="000000">
                <a:alpha val="9000"/>
              </a:srgbClr>
            </a:outerShdw>
          </a:effectLst>
        </p:spPr>
        <p:txBody>
          <a:bodyPr/>
          <a:lstStyle/>
          <a:p>
            <a:endParaRPr lang="en-US"/>
          </a:p>
        </p:txBody>
      </p:sp>
      <p:sp>
        <p:nvSpPr>
          <p:cNvPr id="22" name="Shape 20"/>
          <p:cNvSpPr/>
          <p:nvPr/>
        </p:nvSpPr>
        <p:spPr>
          <a:xfrm>
            <a:off x="6656832" y="1280160"/>
            <a:ext cx="4965192" cy="36576"/>
          </a:xfrm>
          <a:prstGeom prst="rect">
            <a:avLst/>
          </a:prstGeom>
          <a:solidFill>
            <a:srgbClr val="FF4D4D"/>
          </a:solidFill>
          <a:ln/>
        </p:spPr>
        <p:txBody>
          <a:bodyPr/>
          <a:lstStyle/>
          <a:p>
            <a:endParaRPr lang="en-US"/>
          </a:p>
        </p:txBody>
      </p:sp>
      <p:sp>
        <p:nvSpPr>
          <p:cNvPr id="23" name="Text 21"/>
          <p:cNvSpPr/>
          <p:nvPr/>
        </p:nvSpPr>
        <p:spPr>
          <a:xfrm>
            <a:off x="6656832" y="1353312"/>
            <a:ext cx="4965192" cy="182880"/>
          </a:xfrm>
          <a:prstGeom prst="rect">
            <a:avLst/>
          </a:prstGeom>
          <a:noFill/>
          <a:ln/>
        </p:spPr>
        <p:txBody>
          <a:bodyPr wrap="square" lIns="0" tIns="0" rIns="0" bIns="0" rtlCol="0" anchor="ctr"/>
          <a:lstStyle/>
          <a:p>
            <a:pPr marL="0" indent="0">
              <a:buNone/>
            </a:pPr>
            <a:r>
              <a:rPr lang="en-US" sz="850" b="1" kern="0" spc="100" dirty="0">
                <a:solidFill>
                  <a:srgbClr val="FF4D4D"/>
                </a:solidFill>
                <a:latin typeface="Montserrat" pitchFamily="34" charset="0"/>
                <a:ea typeface="Montserrat" pitchFamily="34" charset="-122"/>
                <a:cs typeface="Montserrat" pitchFamily="34" charset="-120"/>
              </a:rPr>
              <a:t>PROMPT MANAGEMENT</a:t>
            </a:r>
            <a:endParaRPr lang="en-US" sz="850" dirty="0"/>
          </a:p>
        </p:txBody>
      </p:sp>
      <p:sp>
        <p:nvSpPr>
          <p:cNvPr id="24" name="Text 22"/>
          <p:cNvSpPr/>
          <p:nvPr/>
        </p:nvSpPr>
        <p:spPr>
          <a:xfrm>
            <a:off x="6656832" y="1536192"/>
            <a:ext cx="4965192" cy="274320"/>
          </a:xfrm>
          <a:prstGeom prst="rect">
            <a:avLst/>
          </a:prstGeom>
          <a:noFill/>
          <a:ln/>
        </p:spPr>
        <p:txBody>
          <a:bodyPr wrap="square" lIns="0" tIns="0" rIns="0" bIns="0" rtlCol="0" anchor="ctr"/>
          <a:lstStyle/>
          <a:p>
            <a:pPr marL="0" indent="0">
              <a:buNone/>
            </a:pPr>
            <a:r>
              <a:rPr lang="en-US" sz="1400" b="1" dirty="0">
                <a:solidFill>
                  <a:srgbClr val="FDFDFD"/>
                </a:solidFill>
                <a:latin typeface="Montserrat" pitchFamily="34" charset="0"/>
                <a:ea typeface="Montserrat" pitchFamily="34" charset="-122"/>
                <a:cs typeface="Montserrat" pitchFamily="34" charset="-120"/>
              </a:rPr>
              <a:t>Governed prompts</a:t>
            </a:r>
            <a:endParaRPr lang="en-US" sz="1400" dirty="0"/>
          </a:p>
        </p:txBody>
      </p:sp>
      <p:sp>
        <p:nvSpPr>
          <p:cNvPr id="25" name="Text 23"/>
          <p:cNvSpPr/>
          <p:nvPr/>
        </p:nvSpPr>
        <p:spPr>
          <a:xfrm>
            <a:off x="6675120" y="1883664"/>
            <a:ext cx="146304" cy="164592"/>
          </a:xfrm>
          <a:prstGeom prst="rect">
            <a:avLst/>
          </a:prstGeom>
          <a:noFill/>
          <a:ln/>
        </p:spPr>
        <p:txBody>
          <a:bodyPr wrap="square" lIns="0" tIns="0" rIns="0" bIns="0" rtlCol="0" anchor="ctr"/>
          <a:lstStyle/>
          <a:p>
            <a:pPr marL="0" indent="0">
              <a:buNone/>
            </a:pPr>
            <a:r>
              <a:rPr lang="en-US" sz="800" dirty="0">
                <a:solidFill>
                  <a:srgbClr val="FF4D4D"/>
                </a:solidFill>
                <a:latin typeface="Montserrat" pitchFamily="34" charset="0"/>
                <a:ea typeface="Montserrat" pitchFamily="34" charset="-122"/>
                <a:cs typeface="Montserrat" pitchFamily="34" charset="-120"/>
              </a:rPr>
              <a:t>▪</a:t>
            </a:r>
            <a:endParaRPr lang="en-US" sz="800" dirty="0"/>
          </a:p>
        </p:txBody>
      </p:sp>
      <p:sp>
        <p:nvSpPr>
          <p:cNvPr id="26" name="Text 24"/>
          <p:cNvSpPr/>
          <p:nvPr/>
        </p:nvSpPr>
        <p:spPr>
          <a:xfrm>
            <a:off x="6839712" y="1883664"/>
            <a:ext cx="4764024" cy="292608"/>
          </a:xfrm>
          <a:prstGeom prst="rect">
            <a:avLst/>
          </a:prstGeom>
          <a:noFill/>
          <a:ln/>
        </p:spPr>
        <p:txBody>
          <a:bodyPr wrap="square" lIns="0" tIns="0" rIns="0" bIns="0" rtlCol="0" anchor="t"/>
          <a:lstStyle/>
          <a:p>
            <a:pPr marL="0" indent="0">
              <a:lnSpc>
                <a:spcPct val="92000"/>
              </a:lnSpc>
              <a:buNone/>
            </a:pPr>
            <a:r>
              <a:rPr lang="en-US" sz="870" b="1" dirty="0">
                <a:solidFill>
                  <a:srgbClr val="FDFDFD"/>
                </a:solidFill>
                <a:latin typeface="Montserrat" pitchFamily="34" charset="0"/>
                <a:ea typeface="Montserrat" pitchFamily="34" charset="-122"/>
                <a:cs typeface="Montserrat" pitchFamily="34" charset="-120"/>
              </a:rPr>
              <a:t>Versioned templates  </a:t>
            </a:r>
            <a:r>
              <a:rPr lang="en-US" sz="800" dirty="0">
                <a:solidFill>
                  <a:srgbClr val="C9C9C7"/>
                </a:solidFill>
                <a:latin typeface="Montserrat" pitchFamily="34" charset="0"/>
                <a:ea typeface="Montserrat" pitchFamily="34" charset="-122"/>
                <a:cs typeface="Montserrat" pitchFamily="34" charset="-120"/>
              </a:rPr>
              <a:t>one registry, per-agent · not hard-coded in the app</a:t>
            </a:r>
            <a:endParaRPr lang="en-US" sz="870" dirty="0"/>
          </a:p>
        </p:txBody>
      </p:sp>
      <p:sp>
        <p:nvSpPr>
          <p:cNvPr id="27" name="Text 25"/>
          <p:cNvSpPr/>
          <p:nvPr/>
        </p:nvSpPr>
        <p:spPr>
          <a:xfrm>
            <a:off x="6675120" y="2194560"/>
            <a:ext cx="146304" cy="164592"/>
          </a:xfrm>
          <a:prstGeom prst="rect">
            <a:avLst/>
          </a:prstGeom>
          <a:noFill/>
          <a:ln/>
        </p:spPr>
        <p:txBody>
          <a:bodyPr wrap="square" lIns="0" tIns="0" rIns="0" bIns="0" rtlCol="0" anchor="ctr"/>
          <a:lstStyle/>
          <a:p>
            <a:pPr marL="0" indent="0">
              <a:buNone/>
            </a:pPr>
            <a:r>
              <a:rPr lang="en-US" sz="800" dirty="0">
                <a:solidFill>
                  <a:srgbClr val="FF4D4D"/>
                </a:solidFill>
                <a:latin typeface="Montserrat" pitchFamily="34" charset="0"/>
                <a:ea typeface="Montserrat" pitchFamily="34" charset="-122"/>
                <a:cs typeface="Montserrat" pitchFamily="34" charset="-120"/>
              </a:rPr>
              <a:t>▪</a:t>
            </a:r>
            <a:endParaRPr lang="en-US" sz="800" dirty="0"/>
          </a:p>
        </p:txBody>
      </p:sp>
      <p:sp>
        <p:nvSpPr>
          <p:cNvPr id="28" name="Text 26"/>
          <p:cNvSpPr/>
          <p:nvPr/>
        </p:nvSpPr>
        <p:spPr>
          <a:xfrm>
            <a:off x="6839712" y="2194560"/>
            <a:ext cx="4764024" cy="292608"/>
          </a:xfrm>
          <a:prstGeom prst="rect">
            <a:avLst/>
          </a:prstGeom>
          <a:noFill/>
          <a:ln/>
        </p:spPr>
        <p:txBody>
          <a:bodyPr wrap="square" lIns="0" tIns="0" rIns="0" bIns="0" rtlCol="0" anchor="t"/>
          <a:lstStyle/>
          <a:p>
            <a:pPr marL="0" indent="0">
              <a:lnSpc>
                <a:spcPct val="92000"/>
              </a:lnSpc>
              <a:buNone/>
            </a:pPr>
            <a:r>
              <a:rPr lang="en-US" sz="870" b="1" dirty="0">
                <a:solidFill>
                  <a:srgbClr val="FDFDFD"/>
                </a:solidFill>
                <a:latin typeface="Montserrat" pitchFamily="34" charset="0"/>
                <a:ea typeface="Montserrat" pitchFamily="34" charset="-122"/>
                <a:cs typeface="Montserrat" pitchFamily="34" charset="-120"/>
              </a:rPr>
              <a:t>Guard prompts  </a:t>
            </a:r>
            <a:r>
              <a:rPr lang="en-US" sz="800" dirty="0">
                <a:solidFill>
                  <a:srgbClr val="C9C9C7"/>
                </a:solidFill>
                <a:latin typeface="Montserrat" pitchFamily="34" charset="0"/>
                <a:ea typeface="Montserrat" pitchFamily="34" charset="-122"/>
                <a:cs typeface="Montserrat" pitchFamily="34" charset="-120"/>
              </a:rPr>
              <a:t>policy &amp; safety injected at run time</a:t>
            </a:r>
            <a:endParaRPr lang="en-US" sz="870" dirty="0"/>
          </a:p>
        </p:txBody>
      </p:sp>
      <p:sp>
        <p:nvSpPr>
          <p:cNvPr id="29" name="Text 27"/>
          <p:cNvSpPr/>
          <p:nvPr/>
        </p:nvSpPr>
        <p:spPr>
          <a:xfrm>
            <a:off x="6675120" y="2505456"/>
            <a:ext cx="146304" cy="164592"/>
          </a:xfrm>
          <a:prstGeom prst="rect">
            <a:avLst/>
          </a:prstGeom>
          <a:noFill/>
          <a:ln/>
        </p:spPr>
        <p:txBody>
          <a:bodyPr wrap="square" lIns="0" tIns="0" rIns="0" bIns="0" rtlCol="0" anchor="ctr"/>
          <a:lstStyle/>
          <a:p>
            <a:pPr marL="0" indent="0">
              <a:buNone/>
            </a:pPr>
            <a:r>
              <a:rPr lang="en-US" sz="800" dirty="0">
                <a:solidFill>
                  <a:srgbClr val="FF4D4D"/>
                </a:solidFill>
                <a:latin typeface="Montserrat" pitchFamily="34" charset="0"/>
                <a:ea typeface="Montserrat" pitchFamily="34" charset="-122"/>
                <a:cs typeface="Montserrat" pitchFamily="34" charset="-120"/>
              </a:rPr>
              <a:t>▪</a:t>
            </a:r>
            <a:endParaRPr lang="en-US" sz="800" dirty="0"/>
          </a:p>
        </p:txBody>
      </p:sp>
      <p:sp>
        <p:nvSpPr>
          <p:cNvPr id="30" name="Text 28"/>
          <p:cNvSpPr/>
          <p:nvPr/>
        </p:nvSpPr>
        <p:spPr>
          <a:xfrm>
            <a:off x="6839712" y="2505456"/>
            <a:ext cx="4764024" cy="292608"/>
          </a:xfrm>
          <a:prstGeom prst="rect">
            <a:avLst/>
          </a:prstGeom>
          <a:noFill/>
          <a:ln/>
        </p:spPr>
        <p:txBody>
          <a:bodyPr wrap="square" lIns="0" tIns="0" rIns="0" bIns="0" rtlCol="0" anchor="t"/>
          <a:lstStyle/>
          <a:p>
            <a:pPr marL="0" indent="0">
              <a:lnSpc>
                <a:spcPct val="92000"/>
              </a:lnSpc>
              <a:buNone/>
            </a:pPr>
            <a:r>
              <a:rPr lang="en-US" sz="870" b="1" dirty="0">
                <a:solidFill>
                  <a:srgbClr val="FDFDFD"/>
                </a:solidFill>
                <a:latin typeface="Montserrat" pitchFamily="34" charset="0"/>
                <a:ea typeface="Montserrat" pitchFamily="34" charset="-122"/>
                <a:cs typeface="Montserrat" pitchFamily="34" charset="-120"/>
              </a:rPr>
              <a:t>Test &amp; roll back  </a:t>
            </a:r>
            <a:r>
              <a:rPr lang="en-US" sz="800" dirty="0">
                <a:solidFill>
                  <a:srgbClr val="C9C9C7"/>
                </a:solidFill>
                <a:latin typeface="Montserrat" pitchFamily="34" charset="0"/>
                <a:ea typeface="Montserrat" pitchFamily="34" charset="-122"/>
                <a:cs typeface="Montserrat" pitchFamily="34" charset="-120"/>
              </a:rPr>
              <a:t>evaluate a prompt change before it ships</a:t>
            </a:r>
            <a:endParaRPr lang="en-US" sz="870" dirty="0"/>
          </a:p>
        </p:txBody>
      </p:sp>
      <p:sp>
        <p:nvSpPr>
          <p:cNvPr id="31" name="Shape 29"/>
          <p:cNvSpPr/>
          <p:nvPr/>
        </p:nvSpPr>
        <p:spPr>
          <a:xfrm>
            <a:off x="6656832" y="2706624"/>
            <a:ext cx="4965192" cy="237744"/>
          </a:xfrm>
          <a:prstGeom prst="roundRect">
            <a:avLst>
              <a:gd name="adj" fmla="val 11538"/>
            </a:avLst>
          </a:prstGeom>
          <a:solidFill>
            <a:srgbClr val="403A52"/>
          </a:solidFill>
          <a:ln/>
        </p:spPr>
        <p:txBody>
          <a:bodyPr/>
          <a:lstStyle/>
          <a:p>
            <a:endParaRPr lang="en-US"/>
          </a:p>
        </p:txBody>
      </p:sp>
      <p:sp>
        <p:nvSpPr>
          <p:cNvPr id="32" name="Text 30"/>
          <p:cNvSpPr/>
          <p:nvPr/>
        </p:nvSpPr>
        <p:spPr>
          <a:xfrm>
            <a:off x="6766560" y="2706624"/>
            <a:ext cx="4818888" cy="237744"/>
          </a:xfrm>
          <a:prstGeom prst="rect">
            <a:avLst/>
          </a:prstGeom>
          <a:noFill/>
          <a:ln/>
        </p:spPr>
        <p:txBody>
          <a:bodyPr wrap="square" lIns="0" tIns="0" rIns="0" bIns="0" rtlCol="0" anchor="ctr"/>
          <a:lstStyle/>
          <a:p>
            <a:pPr marL="0" indent="0">
              <a:buNone/>
            </a:pPr>
            <a:r>
              <a:rPr lang="en-US" sz="680" b="1" dirty="0">
                <a:solidFill>
                  <a:srgbClr val="9B9A92"/>
                </a:solidFill>
                <a:latin typeface="Montserrat" pitchFamily="34" charset="0"/>
                <a:ea typeface="Montserrat" pitchFamily="34" charset="-122"/>
                <a:cs typeface="Montserrat" pitchFamily="34" charset="-120"/>
              </a:rPr>
              <a:t>IN PRACTICE  </a:t>
            </a:r>
            <a:r>
              <a:rPr lang="en-US" sz="760" i="1" dirty="0">
                <a:solidFill>
                  <a:srgbClr val="C9B8E8"/>
                </a:solidFill>
                <a:latin typeface="Montserrat" pitchFamily="34" charset="0"/>
                <a:ea typeface="Montserrat" pitchFamily="34" charset="-122"/>
                <a:cs typeface="Montserrat" pitchFamily="34" charset="-120"/>
              </a:rPr>
              <a:t>every agent's prompt is a governed, versioned artefact</a:t>
            </a:r>
            <a:endParaRPr lang="en-US" sz="680" dirty="0"/>
          </a:p>
        </p:txBody>
      </p:sp>
      <p:sp>
        <p:nvSpPr>
          <p:cNvPr id="33" name="Shape 31"/>
          <p:cNvSpPr/>
          <p:nvPr/>
        </p:nvSpPr>
        <p:spPr>
          <a:xfrm>
            <a:off x="868680" y="3236976"/>
            <a:ext cx="5367528" cy="1938528"/>
          </a:xfrm>
          <a:prstGeom prst="roundRect">
            <a:avLst>
              <a:gd name="adj" fmla="val 3774"/>
            </a:avLst>
          </a:prstGeom>
          <a:solidFill>
            <a:srgbClr val="2E2A3A"/>
          </a:solidFill>
          <a:ln/>
          <a:effectLst>
            <a:outerShdw blurRad="38100" dist="12700" dir="5400000" algn="bl" rotWithShape="0">
              <a:srgbClr val="000000">
                <a:alpha val="9000"/>
              </a:srgbClr>
            </a:outerShdw>
          </a:effectLst>
        </p:spPr>
        <p:txBody>
          <a:bodyPr/>
          <a:lstStyle/>
          <a:p>
            <a:endParaRPr lang="en-US"/>
          </a:p>
        </p:txBody>
      </p:sp>
      <p:sp>
        <p:nvSpPr>
          <p:cNvPr id="34" name="Shape 32"/>
          <p:cNvSpPr/>
          <p:nvPr/>
        </p:nvSpPr>
        <p:spPr>
          <a:xfrm>
            <a:off x="1069848" y="3419856"/>
            <a:ext cx="4965192" cy="36576"/>
          </a:xfrm>
          <a:prstGeom prst="rect">
            <a:avLst/>
          </a:prstGeom>
          <a:solidFill>
            <a:srgbClr val="FF4D4D"/>
          </a:solidFill>
          <a:ln/>
        </p:spPr>
        <p:txBody>
          <a:bodyPr/>
          <a:lstStyle/>
          <a:p>
            <a:endParaRPr lang="en-US"/>
          </a:p>
        </p:txBody>
      </p:sp>
      <p:sp>
        <p:nvSpPr>
          <p:cNvPr id="35" name="Text 33"/>
          <p:cNvSpPr/>
          <p:nvPr/>
        </p:nvSpPr>
        <p:spPr>
          <a:xfrm>
            <a:off x="1069848" y="3493008"/>
            <a:ext cx="4965192" cy="182880"/>
          </a:xfrm>
          <a:prstGeom prst="rect">
            <a:avLst/>
          </a:prstGeom>
          <a:noFill/>
          <a:ln/>
        </p:spPr>
        <p:txBody>
          <a:bodyPr wrap="square" lIns="0" tIns="0" rIns="0" bIns="0" rtlCol="0" anchor="ctr"/>
          <a:lstStyle/>
          <a:p>
            <a:pPr marL="0" indent="0">
              <a:buNone/>
            </a:pPr>
            <a:r>
              <a:rPr lang="en-US" sz="850" b="1" kern="0" spc="100" dirty="0">
                <a:solidFill>
                  <a:srgbClr val="FF4D4D"/>
                </a:solidFill>
                <a:latin typeface="Montserrat" pitchFamily="34" charset="0"/>
                <a:ea typeface="Montserrat" pitchFamily="34" charset="-122"/>
                <a:cs typeface="Montserrat" pitchFamily="34" charset="-120"/>
              </a:rPr>
              <a:t>MEMORY &amp; CONTEXT</a:t>
            </a:r>
            <a:endParaRPr lang="en-US" sz="850" dirty="0"/>
          </a:p>
        </p:txBody>
      </p:sp>
      <p:sp>
        <p:nvSpPr>
          <p:cNvPr id="36" name="Text 34"/>
          <p:cNvSpPr/>
          <p:nvPr/>
        </p:nvSpPr>
        <p:spPr>
          <a:xfrm>
            <a:off x="1069848" y="3675888"/>
            <a:ext cx="4965192" cy="274320"/>
          </a:xfrm>
          <a:prstGeom prst="rect">
            <a:avLst/>
          </a:prstGeom>
          <a:noFill/>
          <a:ln/>
        </p:spPr>
        <p:txBody>
          <a:bodyPr wrap="square" lIns="0" tIns="0" rIns="0" bIns="0" rtlCol="0" anchor="ctr"/>
          <a:lstStyle/>
          <a:p>
            <a:pPr marL="0" indent="0">
              <a:buNone/>
            </a:pPr>
            <a:r>
              <a:rPr lang="en-US" sz="1400" b="1" dirty="0">
                <a:solidFill>
                  <a:srgbClr val="FDFDFD"/>
                </a:solidFill>
                <a:latin typeface="Montserrat" pitchFamily="34" charset="0"/>
                <a:ea typeface="Montserrat" pitchFamily="34" charset="-122"/>
                <a:cs typeface="Montserrat" pitchFamily="34" charset="-120"/>
              </a:rPr>
              <a:t>Two-tier memory</a:t>
            </a:r>
            <a:endParaRPr lang="en-US" sz="1400" dirty="0"/>
          </a:p>
        </p:txBody>
      </p:sp>
      <p:sp>
        <p:nvSpPr>
          <p:cNvPr id="37" name="Text 35"/>
          <p:cNvSpPr/>
          <p:nvPr/>
        </p:nvSpPr>
        <p:spPr>
          <a:xfrm>
            <a:off x="1088136" y="4023360"/>
            <a:ext cx="146304" cy="164592"/>
          </a:xfrm>
          <a:prstGeom prst="rect">
            <a:avLst/>
          </a:prstGeom>
          <a:noFill/>
          <a:ln/>
        </p:spPr>
        <p:txBody>
          <a:bodyPr wrap="square" lIns="0" tIns="0" rIns="0" bIns="0" rtlCol="0" anchor="ctr"/>
          <a:lstStyle/>
          <a:p>
            <a:pPr marL="0" indent="0">
              <a:buNone/>
            </a:pPr>
            <a:r>
              <a:rPr lang="en-US" sz="800" dirty="0">
                <a:solidFill>
                  <a:srgbClr val="FF4D4D"/>
                </a:solidFill>
                <a:latin typeface="Montserrat" pitchFamily="34" charset="0"/>
                <a:ea typeface="Montserrat" pitchFamily="34" charset="-122"/>
                <a:cs typeface="Montserrat" pitchFamily="34" charset="-120"/>
              </a:rPr>
              <a:t>▪</a:t>
            </a:r>
            <a:endParaRPr lang="en-US" sz="800" dirty="0"/>
          </a:p>
        </p:txBody>
      </p:sp>
      <p:sp>
        <p:nvSpPr>
          <p:cNvPr id="38" name="Text 36"/>
          <p:cNvSpPr/>
          <p:nvPr/>
        </p:nvSpPr>
        <p:spPr>
          <a:xfrm>
            <a:off x="1252728" y="4023360"/>
            <a:ext cx="4764024" cy="292608"/>
          </a:xfrm>
          <a:prstGeom prst="rect">
            <a:avLst/>
          </a:prstGeom>
          <a:noFill/>
          <a:ln/>
        </p:spPr>
        <p:txBody>
          <a:bodyPr wrap="square" lIns="0" tIns="0" rIns="0" bIns="0" rtlCol="0" anchor="t"/>
          <a:lstStyle/>
          <a:p>
            <a:pPr marL="0" indent="0">
              <a:lnSpc>
                <a:spcPct val="92000"/>
              </a:lnSpc>
              <a:buNone/>
            </a:pPr>
            <a:r>
              <a:rPr lang="en-US" sz="870" b="1" dirty="0">
                <a:solidFill>
                  <a:srgbClr val="FDFDFD"/>
                </a:solidFill>
                <a:latin typeface="Montserrat" pitchFamily="34" charset="0"/>
                <a:ea typeface="Montserrat" pitchFamily="34" charset="-122"/>
                <a:cs typeface="Montserrat" pitchFamily="34" charset="-120"/>
              </a:rPr>
              <a:t>Short-term (working)  </a:t>
            </a:r>
            <a:r>
              <a:rPr lang="en-US" sz="800" dirty="0">
                <a:solidFill>
                  <a:srgbClr val="C9C9C7"/>
                </a:solidFill>
                <a:latin typeface="Montserrat" pitchFamily="34" charset="0"/>
                <a:ea typeface="Montserrat" pitchFamily="34" charset="-122"/>
                <a:cs typeface="Montserrat" pitchFamily="34" charset="-120"/>
              </a:rPr>
              <a:t>this session / journey — held by the orchestrator</a:t>
            </a:r>
            <a:endParaRPr lang="en-US" sz="870" dirty="0"/>
          </a:p>
        </p:txBody>
      </p:sp>
      <p:sp>
        <p:nvSpPr>
          <p:cNvPr id="39" name="Text 37"/>
          <p:cNvSpPr/>
          <p:nvPr/>
        </p:nvSpPr>
        <p:spPr>
          <a:xfrm>
            <a:off x="1088136" y="4334256"/>
            <a:ext cx="146304" cy="164592"/>
          </a:xfrm>
          <a:prstGeom prst="rect">
            <a:avLst/>
          </a:prstGeom>
          <a:noFill/>
          <a:ln/>
        </p:spPr>
        <p:txBody>
          <a:bodyPr wrap="square" lIns="0" tIns="0" rIns="0" bIns="0" rtlCol="0" anchor="ctr"/>
          <a:lstStyle/>
          <a:p>
            <a:pPr marL="0" indent="0">
              <a:buNone/>
            </a:pPr>
            <a:r>
              <a:rPr lang="en-US" sz="800" dirty="0">
                <a:solidFill>
                  <a:srgbClr val="FF4D4D"/>
                </a:solidFill>
                <a:latin typeface="Montserrat" pitchFamily="34" charset="0"/>
                <a:ea typeface="Montserrat" pitchFamily="34" charset="-122"/>
                <a:cs typeface="Montserrat" pitchFamily="34" charset="-120"/>
              </a:rPr>
              <a:t>▪</a:t>
            </a:r>
            <a:endParaRPr lang="en-US" sz="800" dirty="0"/>
          </a:p>
        </p:txBody>
      </p:sp>
      <p:sp>
        <p:nvSpPr>
          <p:cNvPr id="40" name="Text 38"/>
          <p:cNvSpPr/>
          <p:nvPr/>
        </p:nvSpPr>
        <p:spPr>
          <a:xfrm>
            <a:off x="1252728" y="4334256"/>
            <a:ext cx="4764024" cy="292608"/>
          </a:xfrm>
          <a:prstGeom prst="rect">
            <a:avLst/>
          </a:prstGeom>
          <a:noFill/>
          <a:ln/>
        </p:spPr>
        <p:txBody>
          <a:bodyPr wrap="square" lIns="0" tIns="0" rIns="0" bIns="0" rtlCol="0" anchor="t"/>
          <a:lstStyle/>
          <a:p>
            <a:pPr marL="0" indent="0">
              <a:lnSpc>
                <a:spcPct val="92000"/>
              </a:lnSpc>
              <a:buNone/>
            </a:pPr>
            <a:r>
              <a:rPr lang="en-US" sz="870" b="1" dirty="0">
                <a:solidFill>
                  <a:srgbClr val="FDFDFD"/>
                </a:solidFill>
                <a:latin typeface="Montserrat" pitchFamily="34" charset="0"/>
                <a:ea typeface="Montserrat" pitchFamily="34" charset="-122"/>
                <a:cs typeface="Montserrat" pitchFamily="34" charset="-120"/>
              </a:rPr>
              <a:t>Long-term (durable)  </a:t>
            </a:r>
            <a:r>
              <a:rPr lang="en-US" sz="800" dirty="0">
                <a:solidFill>
                  <a:srgbClr val="C9C9C7"/>
                </a:solidFill>
                <a:latin typeface="Montserrat" pitchFamily="34" charset="0"/>
                <a:ea typeface="Montserrat" pitchFamily="34" charset="-122"/>
                <a:cs typeface="Montserrat" pitchFamily="34" charset="-120"/>
              </a:rPr>
              <a:t>customer preferences &amp; history — persists across visits</a:t>
            </a:r>
            <a:endParaRPr lang="en-US" sz="870" dirty="0"/>
          </a:p>
        </p:txBody>
      </p:sp>
      <p:sp>
        <p:nvSpPr>
          <p:cNvPr id="41" name="Text 39"/>
          <p:cNvSpPr/>
          <p:nvPr/>
        </p:nvSpPr>
        <p:spPr>
          <a:xfrm>
            <a:off x="1088136" y="4645152"/>
            <a:ext cx="146304" cy="164592"/>
          </a:xfrm>
          <a:prstGeom prst="rect">
            <a:avLst/>
          </a:prstGeom>
          <a:noFill/>
          <a:ln/>
        </p:spPr>
        <p:txBody>
          <a:bodyPr wrap="square" lIns="0" tIns="0" rIns="0" bIns="0" rtlCol="0" anchor="ctr"/>
          <a:lstStyle/>
          <a:p>
            <a:pPr marL="0" indent="0">
              <a:buNone/>
            </a:pPr>
            <a:r>
              <a:rPr lang="en-US" sz="800" dirty="0">
                <a:solidFill>
                  <a:srgbClr val="FF4D4D"/>
                </a:solidFill>
                <a:latin typeface="Montserrat" pitchFamily="34" charset="0"/>
                <a:ea typeface="Montserrat" pitchFamily="34" charset="-122"/>
                <a:cs typeface="Montserrat" pitchFamily="34" charset="-120"/>
              </a:rPr>
              <a:t>▪</a:t>
            </a:r>
            <a:endParaRPr lang="en-US" sz="800" dirty="0"/>
          </a:p>
        </p:txBody>
      </p:sp>
      <p:sp>
        <p:nvSpPr>
          <p:cNvPr id="42" name="Text 40"/>
          <p:cNvSpPr/>
          <p:nvPr/>
        </p:nvSpPr>
        <p:spPr>
          <a:xfrm>
            <a:off x="1252728" y="4645152"/>
            <a:ext cx="4764024" cy="292608"/>
          </a:xfrm>
          <a:prstGeom prst="rect">
            <a:avLst/>
          </a:prstGeom>
          <a:noFill/>
          <a:ln/>
        </p:spPr>
        <p:txBody>
          <a:bodyPr wrap="square" lIns="0" tIns="0" rIns="0" bIns="0" rtlCol="0" anchor="t"/>
          <a:lstStyle/>
          <a:p>
            <a:pPr marL="0" indent="0">
              <a:lnSpc>
                <a:spcPct val="92000"/>
              </a:lnSpc>
              <a:buNone/>
            </a:pPr>
            <a:r>
              <a:rPr lang="en-US" sz="870" b="1" dirty="0">
                <a:solidFill>
                  <a:srgbClr val="FDFDFD"/>
                </a:solidFill>
                <a:latin typeface="Montserrat" pitchFamily="34" charset="0"/>
                <a:ea typeface="Montserrat" pitchFamily="34" charset="-122"/>
                <a:cs typeface="Montserrat" pitchFamily="34" charset="-120"/>
              </a:rPr>
              <a:t>Threaded between agents  </a:t>
            </a:r>
            <a:r>
              <a:rPr lang="en-US" sz="800" dirty="0">
                <a:solidFill>
                  <a:srgbClr val="C9C9C7"/>
                </a:solidFill>
                <a:latin typeface="Montserrat" pitchFamily="34" charset="0"/>
                <a:ea typeface="Montserrat" pitchFamily="34" charset="-122"/>
                <a:cs typeface="Montserrat" pitchFamily="34" charset="-120"/>
              </a:rPr>
              <a:t>one context object passed agent-to-agent</a:t>
            </a:r>
            <a:endParaRPr lang="en-US" sz="870" dirty="0"/>
          </a:p>
        </p:txBody>
      </p:sp>
      <p:sp>
        <p:nvSpPr>
          <p:cNvPr id="43" name="Shape 41"/>
          <p:cNvSpPr/>
          <p:nvPr/>
        </p:nvSpPr>
        <p:spPr>
          <a:xfrm>
            <a:off x="1069848" y="4846320"/>
            <a:ext cx="4965192" cy="237744"/>
          </a:xfrm>
          <a:prstGeom prst="roundRect">
            <a:avLst>
              <a:gd name="adj" fmla="val 11538"/>
            </a:avLst>
          </a:prstGeom>
          <a:solidFill>
            <a:srgbClr val="403A52"/>
          </a:solidFill>
          <a:ln/>
        </p:spPr>
        <p:txBody>
          <a:bodyPr/>
          <a:lstStyle/>
          <a:p>
            <a:endParaRPr lang="en-US"/>
          </a:p>
        </p:txBody>
      </p:sp>
      <p:sp>
        <p:nvSpPr>
          <p:cNvPr id="44" name="Text 42"/>
          <p:cNvSpPr/>
          <p:nvPr/>
        </p:nvSpPr>
        <p:spPr>
          <a:xfrm>
            <a:off x="1179576" y="4846320"/>
            <a:ext cx="4818888" cy="237744"/>
          </a:xfrm>
          <a:prstGeom prst="rect">
            <a:avLst/>
          </a:prstGeom>
          <a:noFill/>
          <a:ln/>
        </p:spPr>
        <p:txBody>
          <a:bodyPr wrap="square" lIns="0" tIns="0" rIns="0" bIns="0" rtlCol="0" anchor="ctr"/>
          <a:lstStyle/>
          <a:p>
            <a:pPr marL="0" indent="0">
              <a:buNone/>
            </a:pPr>
            <a:r>
              <a:rPr lang="en-US" sz="680" b="1" dirty="0">
                <a:solidFill>
                  <a:srgbClr val="9B9A92"/>
                </a:solidFill>
                <a:latin typeface="Montserrat" pitchFamily="34" charset="0"/>
                <a:ea typeface="Montserrat" pitchFamily="34" charset="-122"/>
                <a:cs typeface="Montserrat" pitchFamily="34" charset="-120"/>
              </a:rPr>
              <a:t>IN PRACTICE  </a:t>
            </a:r>
            <a:r>
              <a:rPr lang="en-US" sz="760" i="1" dirty="0">
                <a:solidFill>
                  <a:srgbClr val="C9B8E8"/>
                </a:solidFill>
                <a:latin typeface="Montserrat" pitchFamily="34" charset="0"/>
                <a:ea typeface="Montserrat" pitchFamily="34" charset="-122"/>
                <a:cs typeface="Montserrat" pitchFamily="34" charset="-120"/>
              </a:rPr>
              <a:t>the Assistant remembers you within a session and across visits</a:t>
            </a:r>
            <a:endParaRPr lang="en-US" sz="680" dirty="0"/>
          </a:p>
        </p:txBody>
      </p:sp>
      <p:sp>
        <p:nvSpPr>
          <p:cNvPr id="45" name="Shape 43"/>
          <p:cNvSpPr/>
          <p:nvPr/>
        </p:nvSpPr>
        <p:spPr>
          <a:xfrm>
            <a:off x="6455664" y="3236976"/>
            <a:ext cx="5367528" cy="1938528"/>
          </a:xfrm>
          <a:prstGeom prst="roundRect">
            <a:avLst>
              <a:gd name="adj" fmla="val 3774"/>
            </a:avLst>
          </a:prstGeom>
          <a:solidFill>
            <a:srgbClr val="2E2A3A"/>
          </a:solidFill>
          <a:ln/>
          <a:effectLst>
            <a:outerShdw blurRad="38100" dist="12700" dir="5400000" algn="bl" rotWithShape="0">
              <a:srgbClr val="000000">
                <a:alpha val="9000"/>
              </a:srgbClr>
            </a:outerShdw>
          </a:effectLst>
        </p:spPr>
        <p:txBody>
          <a:bodyPr/>
          <a:lstStyle/>
          <a:p>
            <a:endParaRPr lang="en-US"/>
          </a:p>
        </p:txBody>
      </p:sp>
      <p:sp>
        <p:nvSpPr>
          <p:cNvPr id="46" name="Shape 44"/>
          <p:cNvSpPr/>
          <p:nvPr/>
        </p:nvSpPr>
        <p:spPr>
          <a:xfrm>
            <a:off x="6656832" y="3419856"/>
            <a:ext cx="4965192" cy="36576"/>
          </a:xfrm>
          <a:prstGeom prst="rect">
            <a:avLst/>
          </a:prstGeom>
          <a:solidFill>
            <a:srgbClr val="FF4D4D"/>
          </a:solidFill>
          <a:ln/>
        </p:spPr>
        <p:txBody>
          <a:bodyPr/>
          <a:lstStyle/>
          <a:p>
            <a:endParaRPr lang="en-US"/>
          </a:p>
        </p:txBody>
      </p:sp>
      <p:sp>
        <p:nvSpPr>
          <p:cNvPr id="47" name="Text 45"/>
          <p:cNvSpPr/>
          <p:nvPr/>
        </p:nvSpPr>
        <p:spPr>
          <a:xfrm>
            <a:off x="6656832" y="3493008"/>
            <a:ext cx="4965192" cy="182880"/>
          </a:xfrm>
          <a:prstGeom prst="rect">
            <a:avLst/>
          </a:prstGeom>
          <a:noFill/>
          <a:ln/>
        </p:spPr>
        <p:txBody>
          <a:bodyPr wrap="square" lIns="0" tIns="0" rIns="0" bIns="0" rtlCol="0" anchor="ctr"/>
          <a:lstStyle/>
          <a:p>
            <a:pPr marL="0" indent="0">
              <a:buNone/>
            </a:pPr>
            <a:r>
              <a:rPr lang="en-US" sz="850" b="1" kern="0" spc="100" dirty="0">
                <a:solidFill>
                  <a:srgbClr val="FF4D4D"/>
                </a:solidFill>
                <a:latin typeface="Montserrat" pitchFamily="34" charset="0"/>
                <a:ea typeface="Montserrat" pitchFamily="34" charset="-122"/>
                <a:cs typeface="Montserrat" pitchFamily="34" charset="-120"/>
              </a:rPr>
              <a:t>AGENT RUNTIME</a:t>
            </a:r>
            <a:endParaRPr lang="en-US" sz="850" dirty="0"/>
          </a:p>
        </p:txBody>
      </p:sp>
      <p:sp>
        <p:nvSpPr>
          <p:cNvPr id="48" name="Text 46"/>
          <p:cNvSpPr/>
          <p:nvPr/>
        </p:nvSpPr>
        <p:spPr>
          <a:xfrm>
            <a:off x="6656832" y="3675888"/>
            <a:ext cx="4965192" cy="274320"/>
          </a:xfrm>
          <a:prstGeom prst="rect">
            <a:avLst/>
          </a:prstGeom>
          <a:noFill/>
          <a:ln/>
        </p:spPr>
        <p:txBody>
          <a:bodyPr wrap="square" lIns="0" tIns="0" rIns="0" bIns="0" rtlCol="0" anchor="ctr"/>
          <a:lstStyle/>
          <a:p>
            <a:pPr marL="0" indent="0">
              <a:buNone/>
            </a:pPr>
            <a:r>
              <a:rPr lang="en-US" sz="1400" b="1" dirty="0">
                <a:solidFill>
                  <a:srgbClr val="FDFDFD"/>
                </a:solidFill>
                <a:latin typeface="Montserrat" pitchFamily="34" charset="0"/>
                <a:ea typeface="Montserrat" pitchFamily="34" charset="-122"/>
                <a:cs typeface="Montserrat" pitchFamily="34" charset="-120"/>
              </a:rPr>
              <a:t>Execution &amp; assurance</a:t>
            </a:r>
            <a:endParaRPr lang="en-US" sz="1400" dirty="0"/>
          </a:p>
        </p:txBody>
      </p:sp>
      <p:sp>
        <p:nvSpPr>
          <p:cNvPr id="49" name="Text 47"/>
          <p:cNvSpPr/>
          <p:nvPr/>
        </p:nvSpPr>
        <p:spPr>
          <a:xfrm>
            <a:off x="6675120" y="4023360"/>
            <a:ext cx="146304" cy="164592"/>
          </a:xfrm>
          <a:prstGeom prst="rect">
            <a:avLst/>
          </a:prstGeom>
          <a:noFill/>
          <a:ln/>
        </p:spPr>
        <p:txBody>
          <a:bodyPr wrap="square" lIns="0" tIns="0" rIns="0" bIns="0" rtlCol="0" anchor="ctr"/>
          <a:lstStyle/>
          <a:p>
            <a:pPr marL="0" indent="0">
              <a:buNone/>
            </a:pPr>
            <a:r>
              <a:rPr lang="en-US" sz="800" dirty="0">
                <a:solidFill>
                  <a:srgbClr val="FF4D4D"/>
                </a:solidFill>
                <a:latin typeface="Montserrat" pitchFamily="34" charset="0"/>
                <a:ea typeface="Montserrat" pitchFamily="34" charset="-122"/>
                <a:cs typeface="Montserrat" pitchFamily="34" charset="-120"/>
              </a:rPr>
              <a:t>▪</a:t>
            </a:r>
            <a:endParaRPr lang="en-US" sz="800" dirty="0"/>
          </a:p>
        </p:txBody>
      </p:sp>
      <p:sp>
        <p:nvSpPr>
          <p:cNvPr id="50" name="Text 48"/>
          <p:cNvSpPr/>
          <p:nvPr/>
        </p:nvSpPr>
        <p:spPr>
          <a:xfrm>
            <a:off x="6839712" y="4023360"/>
            <a:ext cx="4764024" cy="292608"/>
          </a:xfrm>
          <a:prstGeom prst="rect">
            <a:avLst/>
          </a:prstGeom>
          <a:noFill/>
          <a:ln/>
        </p:spPr>
        <p:txBody>
          <a:bodyPr wrap="square" lIns="0" tIns="0" rIns="0" bIns="0" rtlCol="0" anchor="t"/>
          <a:lstStyle/>
          <a:p>
            <a:pPr marL="0" indent="0">
              <a:lnSpc>
                <a:spcPct val="92000"/>
              </a:lnSpc>
              <a:buNone/>
            </a:pPr>
            <a:r>
              <a:rPr lang="en-US" sz="870" b="1" dirty="0">
                <a:solidFill>
                  <a:srgbClr val="FDFDFD"/>
                </a:solidFill>
                <a:latin typeface="Montserrat" pitchFamily="34" charset="0"/>
                <a:ea typeface="Montserrat" pitchFamily="34" charset="-122"/>
                <a:cs typeface="Montserrat" pitchFamily="34" charset="-120"/>
              </a:rPr>
              <a:t>MCP  </a:t>
            </a:r>
            <a:r>
              <a:rPr lang="en-US" sz="800" dirty="0">
                <a:solidFill>
                  <a:srgbClr val="C9C9C7"/>
                </a:solidFill>
                <a:latin typeface="Montserrat" pitchFamily="34" charset="0"/>
                <a:ea typeface="Montserrat" pitchFamily="34" charset="-122"/>
                <a:cs typeface="Montserrat" pitchFamily="34" charset="-120"/>
              </a:rPr>
              <a:t>standard tool / data access for every agent</a:t>
            </a:r>
            <a:endParaRPr lang="en-US" sz="870" dirty="0"/>
          </a:p>
        </p:txBody>
      </p:sp>
      <p:sp>
        <p:nvSpPr>
          <p:cNvPr id="51" name="Text 49"/>
          <p:cNvSpPr/>
          <p:nvPr/>
        </p:nvSpPr>
        <p:spPr>
          <a:xfrm>
            <a:off x="6675120" y="4334256"/>
            <a:ext cx="146304" cy="164592"/>
          </a:xfrm>
          <a:prstGeom prst="rect">
            <a:avLst/>
          </a:prstGeom>
          <a:noFill/>
          <a:ln/>
        </p:spPr>
        <p:txBody>
          <a:bodyPr wrap="square" lIns="0" tIns="0" rIns="0" bIns="0" rtlCol="0" anchor="ctr"/>
          <a:lstStyle/>
          <a:p>
            <a:pPr marL="0" indent="0">
              <a:buNone/>
            </a:pPr>
            <a:r>
              <a:rPr lang="en-US" sz="800" dirty="0">
                <a:solidFill>
                  <a:srgbClr val="FF4D4D"/>
                </a:solidFill>
                <a:latin typeface="Montserrat" pitchFamily="34" charset="0"/>
                <a:ea typeface="Montserrat" pitchFamily="34" charset="-122"/>
                <a:cs typeface="Montserrat" pitchFamily="34" charset="-120"/>
              </a:rPr>
              <a:t>▪</a:t>
            </a:r>
            <a:endParaRPr lang="en-US" sz="800" dirty="0"/>
          </a:p>
        </p:txBody>
      </p:sp>
      <p:sp>
        <p:nvSpPr>
          <p:cNvPr id="52" name="Text 50"/>
          <p:cNvSpPr/>
          <p:nvPr/>
        </p:nvSpPr>
        <p:spPr>
          <a:xfrm>
            <a:off x="6839712" y="4334256"/>
            <a:ext cx="4764024" cy="292608"/>
          </a:xfrm>
          <a:prstGeom prst="rect">
            <a:avLst/>
          </a:prstGeom>
          <a:noFill/>
          <a:ln/>
        </p:spPr>
        <p:txBody>
          <a:bodyPr wrap="square" lIns="0" tIns="0" rIns="0" bIns="0" rtlCol="0" anchor="t"/>
          <a:lstStyle/>
          <a:p>
            <a:pPr marL="0" indent="0">
              <a:lnSpc>
                <a:spcPct val="92000"/>
              </a:lnSpc>
              <a:buNone/>
            </a:pPr>
            <a:r>
              <a:rPr lang="en-US" sz="870" b="1" dirty="0">
                <a:solidFill>
                  <a:srgbClr val="FDFDFD"/>
                </a:solidFill>
                <a:latin typeface="Montserrat" pitchFamily="34" charset="0"/>
                <a:ea typeface="Montserrat" pitchFamily="34" charset="-122"/>
                <a:cs typeface="Montserrat" pitchFamily="34" charset="-120"/>
              </a:rPr>
              <a:t>A2A  </a:t>
            </a:r>
            <a:r>
              <a:rPr lang="en-US" sz="800" dirty="0">
                <a:solidFill>
                  <a:srgbClr val="C9C9C7"/>
                </a:solidFill>
                <a:latin typeface="Montserrat" pitchFamily="34" charset="0"/>
                <a:ea typeface="Montserrat" pitchFamily="34" charset="-122"/>
                <a:cs typeface="Montserrat" pitchFamily="34" charset="-120"/>
              </a:rPr>
              <a:t>agent-to-agent calls (SCOUT→MUSE, GRADE→TAILOR)</a:t>
            </a:r>
            <a:endParaRPr lang="en-US" sz="870" dirty="0"/>
          </a:p>
        </p:txBody>
      </p:sp>
      <p:sp>
        <p:nvSpPr>
          <p:cNvPr id="53" name="Text 51"/>
          <p:cNvSpPr/>
          <p:nvPr/>
        </p:nvSpPr>
        <p:spPr>
          <a:xfrm>
            <a:off x="6675120" y="4645152"/>
            <a:ext cx="146304" cy="164592"/>
          </a:xfrm>
          <a:prstGeom prst="rect">
            <a:avLst/>
          </a:prstGeom>
          <a:noFill/>
          <a:ln/>
        </p:spPr>
        <p:txBody>
          <a:bodyPr wrap="square" lIns="0" tIns="0" rIns="0" bIns="0" rtlCol="0" anchor="ctr"/>
          <a:lstStyle/>
          <a:p>
            <a:pPr marL="0" indent="0">
              <a:buNone/>
            </a:pPr>
            <a:r>
              <a:rPr lang="en-US" sz="800" dirty="0">
                <a:solidFill>
                  <a:srgbClr val="FF4D4D"/>
                </a:solidFill>
                <a:latin typeface="Montserrat" pitchFamily="34" charset="0"/>
                <a:ea typeface="Montserrat" pitchFamily="34" charset="-122"/>
                <a:cs typeface="Montserrat" pitchFamily="34" charset="-120"/>
              </a:rPr>
              <a:t>▪</a:t>
            </a:r>
            <a:endParaRPr lang="en-US" sz="800" dirty="0"/>
          </a:p>
        </p:txBody>
      </p:sp>
      <p:sp>
        <p:nvSpPr>
          <p:cNvPr id="54" name="Text 52"/>
          <p:cNvSpPr/>
          <p:nvPr/>
        </p:nvSpPr>
        <p:spPr>
          <a:xfrm>
            <a:off x="6839712" y="4645152"/>
            <a:ext cx="4764024" cy="292608"/>
          </a:xfrm>
          <a:prstGeom prst="rect">
            <a:avLst/>
          </a:prstGeom>
          <a:noFill/>
          <a:ln/>
        </p:spPr>
        <p:txBody>
          <a:bodyPr wrap="square" lIns="0" tIns="0" rIns="0" bIns="0" rtlCol="0" anchor="t"/>
          <a:lstStyle/>
          <a:p>
            <a:pPr marL="0" indent="0">
              <a:lnSpc>
                <a:spcPct val="92000"/>
              </a:lnSpc>
              <a:buNone/>
            </a:pPr>
            <a:r>
              <a:rPr lang="en-US" sz="870" b="1" dirty="0">
                <a:solidFill>
                  <a:srgbClr val="FDFDFD"/>
                </a:solidFill>
                <a:latin typeface="Montserrat" pitchFamily="34" charset="0"/>
                <a:ea typeface="Montserrat" pitchFamily="34" charset="-122"/>
                <a:cs typeface="Montserrat" pitchFamily="34" charset="-120"/>
              </a:rPr>
              <a:t>Evals &amp; observability  </a:t>
            </a:r>
            <a:r>
              <a:rPr lang="en-US" sz="800" dirty="0">
                <a:solidFill>
                  <a:srgbClr val="C9C9C7"/>
                </a:solidFill>
                <a:latin typeface="Montserrat" pitchFamily="34" charset="0"/>
                <a:ea typeface="Montserrat" pitchFamily="34" charset="-122"/>
                <a:cs typeface="Montserrat" pitchFamily="34" charset="-120"/>
              </a:rPr>
              <a:t>quality, drift &amp; safety monitored continuously</a:t>
            </a:r>
            <a:endParaRPr lang="en-US" sz="870" dirty="0"/>
          </a:p>
        </p:txBody>
      </p:sp>
      <p:sp>
        <p:nvSpPr>
          <p:cNvPr id="55" name="Shape 53"/>
          <p:cNvSpPr/>
          <p:nvPr/>
        </p:nvSpPr>
        <p:spPr>
          <a:xfrm>
            <a:off x="6656832" y="4846320"/>
            <a:ext cx="4965192" cy="237744"/>
          </a:xfrm>
          <a:prstGeom prst="roundRect">
            <a:avLst>
              <a:gd name="adj" fmla="val 11538"/>
            </a:avLst>
          </a:prstGeom>
          <a:solidFill>
            <a:srgbClr val="403A52"/>
          </a:solidFill>
          <a:ln/>
        </p:spPr>
        <p:txBody>
          <a:bodyPr/>
          <a:lstStyle/>
          <a:p>
            <a:endParaRPr lang="en-US"/>
          </a:p>
        </p:txBody>
      </p:sp>
      <p:sp>
        <p:nvSpPr>
          <p:cNvPr id="56" name="Text 54"/>
          <p:cNvSpPr/>
          <p:nvPr/>
        </p:nvSpPr>
        <p:spPr>
          <a:xfrm>
            <a:off x="6766560" y="4846320"/>
            <a:ext cx="4818888" cy="237744"/>
          </a:xfrm>
          <a:prstGeom prst="rect">
            <a:avLst/>
          </a:prstGeom>
          <a:noFill/>
          <a:ln/>
        </p:spPr>
        <p:txBody>
          <a:bodyPr wrap="square" lIns="0" tIns="0" rIns="0" bIns="0" rtlCol="0" anchor="ctr"/>
          <a:lstStyle/>
          <a:p>
            <a:pPr marL="0" indent="0">
              <a:buNone/>
            </a:pPr>
            <a:r>
              <a:rPr lang="en-US" sz="680" b="1" dirty="0">
                <a:solidFill>
                  <a:srgbClr val="9B9A92"/>
                </a:solidFill>
                <a:latin typeface="Montserrat" pitchFamily="34" charset="0"/>
                <a:ea typeface="Montserrat" pitchFamily="34" charset="-122"/>
                <a:cs typeface="Montserrat" pitchFamily="34" charset="-120"/>
              </a:rPr>
              <a:t>IN PRACTICE  </a:t>
            </a:r>
            <a:r>
              <a:rPr lang="en-US" sz="760" i="1" dirty="0">
                <a:solidFill>
                  <a:srgbClr val="C9B8E8"/>
                </a:solidFill>
                <a:latin typeface="Montserrat" pitchFamily="34" charset="0"/>
                <a:ea typeface="Montserrat" pitchFamily="34" charset="-122"/>
                <a:cs typeface="Montserrat" pitchFamily="34" charset="-120"/>
              </a:rPr>
              <a:t>the harness that makes autonomous agents safe to run</a:t>
            </a:r>
            <a:endParaRPr lang="en-US" sz="680" dirty="0"/>
          </a:p>
        </p:txBody>
      </p:sp>
      <p:sp>
        <p:nvSpPr>
          <p:cNvPr id="57" name="Text 55"/>
          <p:cNvSpPr/>
          <p:nvPr/>
        </p:nvSpPr>
        <p:spPr>
          <a:xfrm>
            <a:off x="868680" y="5559552"/>
            <a:ext cx="10954512" cy="365760"/>
          </a:xfrm>
          <a:prstGeom prst="rect">
            <a:avLst/>
          </a:prstGeom>
          <a:noFill/>
          <a:ln/>
        </p:spPr>
        <p:txBody>
          <a:bodyPr wrap="square" lIns="0" tIns="0" rIns="0" bIns="0" rtlCol="0" anchor="t"/>
          <a:lstStyle/>
          <a:p>
            <a:pPr marL="0" indent="0">
              <a:lnSpc>
                <a:spcPct val="100000"/>
              </a:lnSpc>
              <a:buNone/>
            </a:pPr>
            <a:r>
              <a:rPr lang="en-US" sz="900" b="1" dirty="0">
                <a:solidFill>
                  <a:srgbClr val="E31837"/>
                </a:solidFill>
                <a:latin typeface="Lora" pitchFamily="34" charset="0"/>
                <a:ea typeface="Lora" pitchFamily="34" charset="-122"/>
                <a:cs typeface="Lora" pitchFamily="34" charset="-120"/>
              </a:rPr>
              <a:t>Why it matters:  </a:t>
            </a:r>
            <a:r>
              <a:rPr lang="en-US" sz="900" i="1" dirty="0">
                <a:solidFill>
                  <a:srgbClr val="5F5E5A"/>
                </a:solidFill>
                <a:latin typeface="Lora" pitchFamily="34" charset="0"/>
                <a:ea typeface="Lora" pitchFamily="34" charset="-122"/>
                <a:cs typeface="Lora" pitchFamily="34" charset="-120"/>
              </a:rPr>
              <a:t>these four are shared services, not per-agent code. Interoperability avoids vendor lock-in, prompt &amp; memory management make behaviour governable and stateful, and the runtime makes autonomy safe — the platform the whole 17-agent mesh depends 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E31837"/>
          </a:solidFill>
          <a:ln/>
        </p:spPr>
        <p:txBody>
          <a:bodyPr/>
          <a:lstStyle/>
          <a:p>
            <a:endParaRPr lang="en-US"/>
          </a:p>
        </p:txBody>
      </p:sp>
      <p:sp>
        <p:nvSpPr>
          <p:cNvPr id="3" name="Text 1"/>
          <p:cNvSpPr/>
          <p:nvPr/>
        </p:nvSpPr>
        <p:spPr>
          <a:xfrm>
            <a:off x="10424160" y="128016"/>
            <a:ext cx="1417320" cy="274320"/>
          </a:xfrm>
          <a:prstGeom prst="rect">
            <a:avLst/>
          </a:prstGeom>
          <a:noFill/>
          <a:ln/>
        </p:spPr>
        <p:txBody>
          <a:bodyPr wrap="square" lIns="0" tIns="0" rIns="0" bIns="0" rtlCol="0" anchor="ctr"/>
          <a:lstStyle/>
          <a:p>
            <a:pPr marL="0" indent="0" algn="r">
              <a:buNone/>
            </a:pPr>
            <a:r>
              <a:rPr lang="en-US" sz="1300" b="1" dirty="0">
                <a:solidFill>
                  <a:srgbClr val="E31837"/>
                </a:solidFill>
                <a:latin typeface="Montserrat" pitchFamily="34" charset="0"/>
                <a:ea typeface="Montserrat" pitchFamily="34" charset="-122"/>
                <a:cs typeface="Montserrat" pitchFamily="34" charset="-120"/>
              </a:rPr>
              <a:t>Neu</a:t>
            </a:r>
            <a:r>
              <a:rPr lang="en-US" sz="1300" b="1" dirty="0">
                <a:solidFill>
                  <a:srgbClr val="333333"/>
                </a:solidFill>
                <a:latin typeface="Montserrat" pitchFamily="34" charset="0"/>
                <a:ea typeface="Montserrat" pitchFamily="34" charset="-122"/>
                <a:cs typeface="Montserrat" pitchFamily="34" charset="-120"/>
              </a:rPr>
              <a:t>.Tail</a:t>
            </a:r>
            <a:endParaRPr lang="en-US" sz="1300" dirty="0"/>
          </a:p>
        </p:txBody>
      </p:sp>
      <p:sp>
        <p:nvSpPr>
          <p:cNvPr id="4" name="Text 2"/>
          <p:cNvSpPr/>
          <p:nvPr/>
        </p:nvSpPr>
        <p:spPr>
          <a:xfrm>
            <a:off x="365760" y="146304"/>
            <a:ext cx="10058400" cy="201168"/>
          </a:xfrm>
          <a:prstGeom prst="rect">
            <a:avLst/>
          </a:prstGeom>
          <a:noFill/>
          <a:ln/>
        </p:spPr>
        <p:txBody>
          <a:bodyPr wrap="square" lIns="0" tIns="0" rIns="0" bIns="0" rtlCol="0" anchor="ctr"/>
          <a:lstStyle/>
          <a:p>
            <a:pPr marL="0" indent="0">
              <a:buNone/>
            </a:pPr>
            <a:r>
              <a:rPr lang="en-US" sz="1000" b="1" kern="0" spc="150" dirty="0">
                <a:solidFill>
                  <a:srgbClr val="E31837"/>
                </a:solidFill>
                <a:latin typeface="Montserrat" pitchFamily="34" charset="0"/>
                <a:ea typeface="Montserrat" pitchFamily="34" charset="-122"/>
                <a:cs typeface="Montserrat" pitchFamily="34" charset="-120"/>
              </a:rPr>
              <a:t>OBJECTIVE 1 · LLM PLATFORM — TECHNICAL VIEW</a:t>
            </a:r>
            <a:endParaRPr lang="en-US" sz="1000" dirty="0"/>
          </a:p>
        </p:txBody>
      </p:sp>
      <p:sp>
        <p:nvSpPr>
          <p:cNvPr id="5" name="Text 3"/>
          <p:cNvSpPr/>
          <p:nvPr/>
        </p:nvSpPr>
        <p:spPr>
          <a:xfrm>
            <a:off x="365760" y="365760"/>
            <a:ext cx="11430000" cy="310896"/>
          </a:xfrm>
          <a:prstGeom prst="rect">
            <a:avLst/>
          </a:prstGeom>
          <a:noFill/>
          <a:ln/>
        </p:spPr>
        <p:txBody>
          <a:bodyPr wrap="square" lIns="0" tIns="0" rIns="0" bIns="0" rtlCol="0" anchor="ctr"/>
          <a:lstStyle/>
          <a:p>
            <a:r>
              <a:rPr lang="en-US" sz="1700" b="1" dirty="0">
                <a:solidFill>
                  <a:srgbClr val="333333"/>
                </a:solidFill>
                <a:latin typeface="Montserrat" pitchFamily="34" charset="0"/>
                <a:ea typeface="Montserrat" pitchFamily="34" charset="-122"/>
                <a:cs typeface="Montserrat" pitchFamily="34" charset="-120"/>
              </a:rPr>
              <a:t>LLM &amp; Agent Platform — Security architecture, guardrails, policy as code for the agents</a:t>
            </a:r>
            <a:endParaRPr lang="en-US" sz="1700" dirty="0"/>
          </a:p>
        </p:txBody>
      </p:sp>
      <p:sp>
        <p:nvSpPr>
          <p:cNvPr id="6" name="Text 4"/>
          <p:cNvSpPr/>
          <p:nvPr/>
        </p:nvSpPr>
        <p:spPr>
          <a:xfrm>
            <a:off x="365760" y="749808"/>
            <a:ext cx="11430000" cy="201168"/>
          </a:xfrm>
          <a:prstGeom prst="rect">
            <a:avLst/>
          </a:prstGeom>
          <a:noFill/>
          <a:ln/>
        </p:spPr>
        <p:txBody>
          <a:bodyPr wrap="square" lIns="0" tIns="0" rIns="0" bIns="0" rtlCol="0" anchor="ctr"/>
          <a:lstStyle/>
          <a:p>
            <a:pPr marL="0" indent="0">
              <a:buNone/>
            </a:pPr>
            <a:r>
              <a:rPr lang="en-US" sz="900" i="1" dirty="0">
                <a:solidFill>
                  <a:srgbClr val="5F5E5A"/>
                </a:solidFill>
                <a:latin typeface="Lora" pitchFamily="34" charset="0"/>
                <a:ea typeface="Lora" pitchFamily="34" charset="-122"/>
                <a:cs typeface="Lora" pitchFamily="34" charset="-120"/>
              </a:rPr>
              <a:t>A call resolves down the centre (agent → runtime → gateway → model); prompt &amp; memory serve it from the side; policy and evals are cross-cutting planes over everything.</a:t>
            </a:r>
            <a:endParaRPr lang="en-US" sz="900" dirty="0"/>
          </a:p>
        </p:txBody>
      </p:sp>
      <p:sp>
        <p:nvSpPr>
          <p:cNvPr id="7" name="Shape 5"/>
          <p:cNvSpPr/>
          <p:nvPr/>
        </p:nvSpPr>
        <p:spPr>
          <a:xfrm>
            <a:off x="365760" y="1225296"/>
            <a:ext cx="1417320" cy="603504"/>
          </a:xfrm>
          <a:prstGeom prst="roundRect">
            <a:avLst>
              <a:gd name="adj" fmla="val 7576"/>
            </a:avLst>
          </a:prstGeom>
          <a:solidFill>
            <a:srgbClr val="FBE3E4"/>
          </a:solidFill>
          <a:ln w="9525">
            <a:solidFill>
              <a:srgbClr val="E24B4A"/>
            </a:solidFill>
            <a:prstDash val="solid"/>
          </a:ln>
          <a:effectLst>
            <a:outerShdw blurRad="31750" dist="10160" dir="5400000" algn="bl" rotWithShape="0">
              <a:srgbClr val="000000">
                <a:alpha val="8000"/>
              </a:srgbClr>
            </a:outerShdw>
          </a:effectLst>
        </p:spPr>
        <p:txBody>
          <a:bodyPr/>
          <a:lstStyle/>
          <a:p>
            <a:endParaRPr lang="en-US"/>
          </a:p>
        </p:txBody>
      </p:sp>
      <p:sp>
        <p:nvSpPr>
          <p:cNvPr id="8" name="Text 6"/>
          <p:cNvSpPr/>
          <p:nvPr/>
        </p:nvSpPr>
        <p:spPr>
          <a:xfrm>
            <a:off x="457200" y="1280160"/>
            <a:ext cx="1234440" cy="201168"/>
          </a:xfrm>
          <a:prstGeom prst="rect">
            <a:avLst/>
          </a:prstGeom>
          <a:noFill/>
          <a:ln/>
        </p:spPr>
        <p:txBody>
          <a:bodyPr wrap="square" lIns="0" tIns="0" rIns="0" bIns="0" rtlCol="0" anchor="t"/>
          <a:lstStyle/>
          <a:p>
            <a:pPr marL="0" indent="0">
              <a:buNone/>
            </a:pPr>
            <a:r>
              <a:rPr lang="en-US" sz="900" b="1" dirty="0">
                <a:solidFill>
                  <a:srgbClr val="E31837"/>
                </a:solidFill>
                <a:latin typeface="Montserrat" pitchFamily="34" charset="0"/>
                <a:ea typeface="Montserrat" pitchFamily="34" charset="-122"/>
                <a:cs typeface="Montserrat" pitchFamily="34" charset="-120"/>
              </a:rPr>
              <a:t>Agent (mesh)</a:t>
            </a:r>
            <a:endParaRPr lang="en-US" sz="900" dirty="0"/>
          </a:p>
        </p:txBody>
      </p:sp>
      <p:sp>
        <p:nvSpPr>
          <p:cNvPr id="9" name="Text 7"/>
          <p:cNvSpPr/>
          <p:nvPr/>
        </p:nvSpPr>
        <p:spPr>
          <a:xfrm>
            <a:off x="457200" y="1481328"/>
            <a:ext cx="1234440" cy="310896"/>
          </a:xfrm>
          <a:prstGeom prst="rect">
            <a:avLst/>
          </a:prstGeom>
          <a:noFill/>
          <a:ln/>
        </p:spPr>
        <p:txBody>
          <a:bodyPr wrap="square" lIns="0" tIns="0" rIns="0" bIns="0" rtlCol="0" anchor="t"/>
          <a:lstStyle/>
          <a:p>
            <a:pPr marL="0" indent="0">
              <a:lnSpc>
                <a:spcPct val="102000"/>
              </a:lnSpc>
              <a:buNone/>
            </a:pPr>
            <a:r>
              <a:rPr lang="en-US" sz="700" dirty="0">
                <a:solidFill>
                  <a:srgbClr val="8A2732"/>
                </a:solidFill>
                <a:latin typeface="Lora" pitchFamily="34" charset="0"/>
                <a:ea typeface="Lora" pitchFamily="34" charset="-122"/>
                <a:cs typeface="Lora" pitchFamily="34" charset="-120"/>
              </a:rPr>
              <a:t>PERSONA · MUSE
TAILOR …</a:t>
            </a:r>
            <a:endParaRPr lang="en-US" sz="700" dirty="0"/>
          </a:p>
        </p:txBody>
      </p:sp>
      <p:sp>
        <p:nvSpPr>
          <p:cNvPr id="10" name="Shape 8"/>
          <p:cNvSpPr/>
          <p:nvPr/>
        </p:nvSpPr>
        <p:spPr>
          <a:xfrm>
            <a:off x="2148840" y="1170432"/>
            <a:ext cx="2331720" cy="658368"/>
          </a:xfrm>
          <a:prstGeom prst="roundRect">
            <a:avLst>
              <a:gd name="adj" fmla="val 6944"/>
            </a:avLst>
          </a:prstGeom>
          <a:solidFill>
            <a:srgbClr val="2E2A3A"/>
          </a:solidFill>
          <a:ln/>
          <a:effectLst>
            <a:outerShdw blurRad="31750" dist="10160" dir="5400000" algn="bl" rotWithShape="0">
              <a:srgbClr val="000000">
                <a:alpha val="8000"/>
              </a:srgbClr>
            </a:outerShdw>
          </a:effectLst>
        </p:spPr>
        <p:txBody>
          <a:bodyPr/>
          <a:lstStyle/>
          <a:p>
            <a:endParaRPr lang="en-US"/>
          </a:p>
        </p:txBody>
      </p:sp>
      <p:sp>
        <p:nvSpPr>
          <p:cNvPr id="11" name="Text 9"/>
          <p:cNvSpPr/>
          <p:nvPr/>
        </p:nvSpPr>
        <p:spPr>
          <a:xfrm>
            <a:off x="2240280" y="1225296"/>
            <a:ext cx="2148840" cy="201168"/>
          </a:xfrm>
          <a:prstGeom prst="rect">
            <a:avLst/>
          </a:prstGeom>
          <a:noFill/>
          <a:ln/>
        </p:spPr>
        <p:txBody>
          <a:bodyPr wrap="square" lIns="0" tIns="0" rIns="0" bIns="0" rtlCol="0" anchor="t"/>
          <a:lstStyle/>
          <a:p>
            <a:pPr marL="0" indent="0">
              <a:buNone/>
            </a:pPr>
            <a:r>
              <a:rPr lang="en-US" sz="950" b="1" dirty="0">
                <a:solidFill>
                  <a:srgbClr val="FDFDFD"/>
                </a:solidFill>
                <a:latin typeface="Montserrat" pitchFamily="34" charset="0"/>
                <a:ea typeface="Montserrat" pitchFamily="34" charset="-122"/>
                <a:cs typeface="Montserrat" pitchFamily="34" charset="-120"/>
              </a:rPr>
              <a:t>AGENT RUNTIME</a:t>
            </a:r>
            <a:endParaRPr lang="en-US" sz="950" dirty="0"/>
          </a:p>
        </p:txBody>
      </p:sp>
      <p:sp>
        <p:nvSpPr>
          <p:cNvPr id="12" name="Text 10"/>
          <p:cNvSpPr/>
          <p:nvPr/>
        </p:nvSpPr>
        <p:spPr>
          <a:xfrm>
            <a:off x="2240280" y="1426464"/>
            <a:ext cx="2148840" cy="365760"/>
          </a:xfrm>
          <a:prstGeom prst="rect">
            <a:avLst/>
          </a:prstGeom>
          <a:noFill/>
          <a:ln/>
        </p:spPr>
        <p:txBody>
          <a:bodyPr wrap="square" lIns="0" tIns="0" rIns="0" bIns="0" rtlCol="0" anchor="t"/>
          <a:lstStyle/>
          <a:p>
            <a:pPr marL="0" indent="0">
              <a:lnSpc>
                <a:spcPct val="102000"/>
              </a:lnSpc>
              <a:buNone/>
            </a:pPr>
            <a:r>
              <a:rPr lang="en-US" sz="700" dirty="0">
                <a:solidFill>
                  <a:srgbClr val="C9C9C7"/>
                </a:solidFill>
                <a:latin typeface="Lora" pitchFamily="34" charset="0"/>
                <a:ea typeface="Lora" pitchFamily="34" charset="-122"/>
                <a:cs typeface="Lora" pitchFamily="34" charset="-120"/>
              </a:rPr>
              <a:t>orchestrates tool + model calls
MCP client · A2A · retries</a:t>
            </a:r>
            <a:endParaRPr lang="en-US" sz="700" dirty="0"/>
          </a:p>
        </p:txBody>
      </p:sp>
      <p:sp>
        <p:nvSpPr>
          <p:cNvPr id="13" name="Shape 11"/>
          <p:cNvSpPr/>
          <p:nvPr/>
        </p:nvSpPr>
        <p:spPr>
          <a:xfrm>
            <a:off x="2148840" y="2029968"/>
            <a:ext cx="2331720" cy="658368"/>
          </a:xfrm>
          <a:prstGeom prst="roundRect">
            <a:avLst>
              <a:gd name="adj" fmla="val 6944"/>
            </a:avLst>
          </a:prstGeom>
          <a:solidFill>
            <a:srgbClr val="2E2A3A"/>
          </a:solidFill>
          <a:ln/>
          <a:effectLst>
            <a:outerShdw blurRad="31750" dist="10160" dir="5400000" algn="bl" rotWithShape="0">
              <a:srgbClr val="000000">
                <a:alpha val="8000"/>
              </a:srgbClr>
            </a:outerShdw>
          </a:effectLst>
        </p:spPr>
        <p:txBody>
          <a:bodyPr/>
          <a:lstStyle/>
          <a:p>
            <a:endParaRPr lang="en-US"/>
          </a:p>
        </p:txBody>
      </p:sp>
      <p:sp>
        <p:nvSpPr>
          <p:cNvPr id="14" name="Text 12"/>
          <p:cNvSpPr/>
          <p:nvPr/>
        </p:nvSpPr>
        <p:spPr>
          <a:xfrm>
            <a:off x="2240280" y="2084832"/>
            <a:ext cx="2148840" cy="201168"/>
          </a:xfrm>
          <a:prstGeom prst="rect">
            <a:avLst/>
          </a:prstGeom>
          <a:noFill/>
          <a:ln/>
        </p:spPr>
        <p:txBody>
          <a:bodyPr wrap="square" lIns="0" tIns="0" rIns="0" bIns="0" rtlCol="0" anchor="t"/>
          <a:lstStyle/>
          <a:p>
            <a:pPr marL="0" indent="0">
              <a:buNone/>
            </a:pPr>
            <a:r>
              <a:rPr lang="en-US" sz="950" b="1" dirty="0">
                <a:solidFill>
                  <a:srgbClr val="FDFDFD"/>
                </a:solidFill>
                <a:latin typeface="Montserrat" pitchFamily="34" charset="0"/>
                <a:ea typeface="Montserrat" pitchFamily="34" charset="-122"/>
                <a:cs typeface="Montserrat" pitchFamily="34" charset="-120"/>
              </a:rPr>
              <a:t>MODEL GATEWAY</a:t>
            </a:r>
            <a:endParaRPr lang="en-US" sz="950" dirty="0"/>
          </a:p>
        </p:txBody>
      </p:sp>
      <p:sp>
        <p:nvSpPr>
          <p:cNvPr id="15" name="Text 13"/>
          <p:cNvSpPr/>
          <p:nvPr/>
        </p:nvSpPr>
        <p:spPr>
          <a:xfrm>
            <a:off x="2240280" y="2286000"/>
            <a:ext cx="2148840" cy="365760"/>
          </a:xfrm>
          <a:prstGeom prst="rect">
            <a:avLst/>
          </a:prstGeom>
          <a:noFill/>
          <a:ln/>
        </p:spPr>
        <p:txBody>
          <a:bodyPr wrap="square" lIns="0" tIns="0" rIns="0" bIns="0" rtlCol="0" anchor="t"/>
          <a:lstStyle/>
          <a:p>
            <a:pPr marL="0" indent="0">
              <a:lnSpc>
                <a:spcPct val="102000"/>
              </a:lnSpc>
              <a:buNone/>
            </a:pPr>
            <a:r>
              <a:rPr lang="en-US" sz="700" dirty="0">
                <a:solidFill>
                  <a:srgbClr val="C9C9C7"/>
                </a:solidFill>
                <a:latin typeface="Lora" pitchFamily="34" charset="0"/>
                <a:ea typeface="Lora" pitchFamily="34" charset="-122"/>
                <a:cs typeface="Lora" pitchFamily="34" charset="-120"/>
              </a:rPr>
              <a:t>policy-based routing + fallback
cost / SLA / load routing</a:t>
            </a:r>
            <a:endParaRPr lang="en-US" sz="700" dirty="0"/>
          </a:p>
        </p:txBody>
      </p:sp>
      <p:sp>
        <p:nvSpPr>
          <p:cNvPr id="16" name="Shape 14"/>
          <p:cNvSpPr/>
          <p:nvPr/>
        </p:nvSpPr>
        <p:spPr>
          <a:xfrm>
            <a:off x="4800600" y="1170432"/>
            <a:ext cx="2743200" cy="1572768"/>
          </a:xfrm>
          <a:prstGeom prst="roundRect">
            <a:avLst>
              <a:gd name="adj" fmla="val 2907"/>
            </a:avLst>
          </a:prstGeom>
          <a:solidFill>
            <a:srgbClr val="F5F4F1"/>
          </a:solidFill>
          <a:ln w="9525">
            <a:solidFill>
              <a:srgbClr val="D8D6CE"/>
            </a:solidFill>
            <a:prstDash val="solid"/>
          </a:ln>
          <a:effectLst>
            <a:outerShdw blurRad="31750" dist="10160" dir="5400000" algn="bl" rotWithShape="0">
              <a:srgbClr val="000000">
                <a:alpha val="8000"/>
              </a:srgbClr>
            </a:outerShdw>
          </a:effectLst>
        </p:spPr>
        <p:txBody>
          <a:bodyPr/>
          <a:lstStyle/>
          <a:p>
            <a:endParaRPr lang="en-US"/>
          </a:p>
        </p:txBody>
      </p:sp>
      <p:sp>
        <p:nvSpPr>
          <p:cNvPr id="17" name="Text 15"/>
          <p:cNvSpPr/>
          <p:nvPr/>
        </p:nvSpPr>
        <p:spPr>
          <a:xfrm>
            <a:off x="4892040" y="1225296"/>
            <a:ext cx="2560320" cy="201168"/>
          </a:xfrm>
          <a:prstGeom prst="rect">
            <a:avLst/>
          </a:prstGeom>
          <a:noFill/>
          <a:ln/>
        </p:spPr>
        <p:txBody>
          <a:bodyPr wrap="square" lIns="0" tIns="0" rIns="0" bIns="0" rtlCol="0" anchor="t"/>
          <a:lstStyle/>
          <a:p>
            <a:pPr marL="0" indent="0">
              <a:buNone/>
            </a:pPr>
            <a:r>
              <a:rPr lang="en-US" sz="900" b="1" dirty="0">
                <a:solidFill>
                  <a:srgbClr val="333333"/>
                </a:solidFill>
                <a:latin typeface="Montserrat" pitchFamily="34" charset="0"/>
                <a:ea typeface="Montserrat" pitchFamily="34" charset="-122"/>
                <a:cs typeface="Montserrat" pitchFamily="34" charset="-120"/>
              </a:rPr>
              <a:t>MODEL POOL (interoperable)</a:t>
            </a:r>
            <a:endParaRPr lang="en-US" sz="900" dirty="0"/>
          </a:p>
        </p:txBody>
      </p:sp>
      <p:sp>
        <p:nvSpPr>
          <p:cNvPr id="18" name="Shape 16"/>
          <p:cNvSpPr/>
          <p:nvPr/>
        </p:nvSpPr>
        <p:spPr>
          <a:xfrm>
            <a:off x="4910328" y="1481328"/>
            <a:ext cx="2523744" cy="265176"/>
          </a:xfrm>
          <a:prstGeom prst="roundRect">
            <a:avLst>
              <a:gd name="adj" fmla="val 10345"/>
            </a:avLst>
          </a:prstGeom>
          <a:solidFill>
            <a:srgbClr val="FDFDFD"/>
          </a:solidFill>
          <a:ln w="6350">
            <a:solidFill>
              <a:srgbClr val="D8D6CE"/>
            </a:solidFill>
            <a:prstDash val="solid"/>
          </a:ln>
        </p:spPr>
        <p:txBody>
          <a:bodyPr/>
          <a:lstStyle/>
          <a:p>
            <a:endParaRPr lang="en-US"/>
          </a:p>
        </p:txBody>
      </p:sp>
      <p:sp>
        <p:nvSpPr>
          <p:cNvPr id="19" name="Text 17"/>
          <p:cNvSpPr/>
          <p:nvPr/>
        </p:nvSpPr>
        <p:spPr>
          <a:xfrm>
            <a:off x="4983480" y="1481328"/>
            <a:ext cx="1828800" cy="265176"/>
          </a:xfrm>
          <a:prstGeom prst="rect">
            <a:avLst/>
          </a:prstGeom>
          <a:noFill/>
          <a:ln/>
        </p:spPr>
        <p:txBody>
          <a:bodyPr wrap="square" lIns="0" tIns="0" rIns="0" bIns="0" rtlCol="0" anchor="ctr"/>
          <a:lstStyle/>
          <a:p>
            <a:pPr marL="0" indent="0">
              <a:buNone/>
            </a:pPr>
            <a:r>
              <a:rPr lang="en-US" sz="760" b="1" dirty="0">
                <a:solidFill>
                  <a:srgbClr val="333333"/>
                </a:solidFill>
                <a:latin typeface="Montserrat" pitchFamily="34" charset="0"/>
                <a:ea typeface="Montserrat" pitchFamily="34" charset="-122"/>
                <a:cs typeface="Montserrat" pitchFamily="34" charset="-120"/>
              </a:rPr>
              <a:t>Reasoning LLM  </a:t>
            </a:r>
            <a:r>
              <a:rPr lang="en-US" sz="660" i="1" dirty="0">
                <a:solidFill>
                  <a:srgbClr val="7A7970"/>
                </a:solidFill>
                <a:latin typeface="Montserrat" pitchFamily="34" charset="0"/>
                <a:ea typeface="Montserrat" pitchFamily="34" charset="-122"/>
                <a:cs typeface="Montserrat" pitchFamily="34" charset="-120"/>
              </a:rPr>
              <a:t>MUSE · CONCIERGE</a:t>
            </a:r>
            <a:endParaRPr lang="en-US" sz="760" dirty="0"/>
          </a:p>
        </p:txBody>
      </p:sp>
      <p:sp>
        <p:nvSpPr>
          <p:cNvPr id="20" name="Text 18"/>
          <p:cNvSpPr/>
          <p:nvPr/>
        </p:nvSpPr>
        <p:spPr>
          <a:xfrm>
            <a:off x="6629400" y="1481328"/>
            <a:ext cx="749808" cy="265176"/>
          </a:xfrm>
          <a:prstGeom prst="rect">
            <a:avLst/>
          </a:prstGeom>
          <a:noFill/>
          <a:ln/>
        </p:spPr>
        <p:txBody>
          <a:bodyPr wrap="square" lIns="0" tIns="0" rIns="0" bIns="0" rtlCol="0" anchor="ctr"/>
          <a:lstStyle/>
          <a:p>
            <a:pPr marL="0" indent="0" algn="r">
              <a:buNone/>
            </a:pPr>
            <a:r>
              <a:rPr lang="en-US" sz="630" dirty="0">
                <a:solidFill>
                  <a:srgbClr val="A0A5AB"/>
                </a:solidFill>
                <a:latin typeface="Lora" pitchFamily="34" charset="0"/>
                <a:ea typeface="Lora" pitchFamily="34" charset="-122"/>
                <a:cs typeface="Lora" pitchFamily="34" charset="-120"/>
              </a:rPr>
              <a:t>frontier</a:t>
            </a:r>
            <a:endParaRPr lang="en-US" sz="630" dirty="0"/>
          </a:p>
        </p:txBody>
      </p:sp>
      <p:sp>
        <p:nvSpPr>
          <p:cNvPr id="21" name="Shape 19"/>
          <p:cNvSpPr/>
          <p:nvPr/>
        </p:nvSpPr>
        <p:spPr>
          <a:xfrm>
            <a:off x="4910328" y="1783080"/>
            <a:ext cx="2523744" cy="265176"/>
          </a:xfrm>
          <a:prstGeom prst="roundRect">
            <a:avLst>
              <a:gd name="adj" fmla="val 10345"/>
            </a:avLst>
          </a:prstGeom>
          <a:solidFill>
            <a:srgbClr val="FDFDFD"/>
          </a:solidFill>
          <a:ln w="6350">
            <a:solidFill>
              <a:srgbClr val="D8D6CE"/>
            </a:solidFill>
            <a:prstDash val="solid"/>
          </a:ln>
        </p:spPr>
        <p:txBody>
          <a:bodyPr/>
          <a:lstStyle/>
          <a:p>
            <a:endParaRPr lang="en-US"/>
          </a:p>
        </p:txBody>
      </p:sp>
      <p:sp>
        <p:nvSpPr>
          <p:cNvPr id="22" name="Text 20"/>
          <p:cNvSpPr/>
          <p:nvPr/>
        </p:nvSpPr>
        <p:spPr>
          <a:xfrm>
            <a:off x="4983480" y="1783080"/>
            <a:ext cx="1828800" cy="265176"/>
          </a:xfrm>
          <a:prstGeom prst="rect">
            <a:avLst/>
          </a:prstGeom>
          <a:noFill/>
          <a:ln/>
        </p:spPr>
        <p:txBody>
          <a:bodyPr wrap="square" lIns="0" tIns="0" rIns="0" bIns="0" rtlCol="0" anchor="ctr"/>
          <a:lstStyle/>
          <a:p>
            <a:pPr marL="0" indent="0">
              <a:buNone/>
            </a:pPr>
            <a:r>
              <a:rPr lang="en-US" sz="760" b="1" dirty="0">
                <a:solidFill>
                  <a:srgbClr val="333333"/>
                </a:solidFill>
                <a:latin typeface="Montserrat" pitchFamily="34" charset="0"/>
                <a:ea typeface="Montserrat" pitchFamily="34" charset="-122"/>
                <a:cs typeface="Montserrat" pitchFamily="34" charset="-120"/>
              </a:rPr>
              <a:t>Fast / small LLM  </a:t>
            </a:r>
            <a:r>
              <a:rPr lang="en-US" sz="660" i="1" dirty="0">
                <a:solidFill>
                  <a:srgbClr val="7A7970"/>
                </a:solidFill>
                <a:latin typeface="Montserrat" pitchFamily="34" charset="0"/>
                <a:ea typeface="Montserrat" pitchFamily="34" charset="-122"/>
                <a:cs typeface="Montserrat" pitchFamily="34" charset="-120"/>
              </a:rPr>
              <a:t>PERSONA · SENTRY</a:t>
            </a:r>
            <a:endParaRPr lang="en-US" sz="760" dirty="0"/>
          </a:p>
        </p:txBody>
      </p:sp>
      <p:sp>
        <p:nvSpPr>
          <p:cNvPr id="23" name="Text 21"/>
          <p:cNvSpPr/>
          <p:nvPr/>
        </p:nvSpPr>
        <p:spPr>
          <a:xfrm>
            <a:off x="6629400" y="1783080"/>
            <a:ext cx="749808" cy="265176"/>
          </a:xfrm>
          <a:prstGeom prst="rect">
            <a:avLst/>
          </a:prstGeom>
          <a:noFill/>
          <a:ln/>
        </p:spPr>
        <p:txBody>
          <a:bodyPr wrap="square" lIns="0" tIns="0" rIns="0" bIns="0" rtlCol="0" anchor="ctr"/>
          <a:lstStyle/>
          <a:p>
            <a:pPr marL="0" indent="0" algn="r">
              <a:buNone/>
            </a:pPr>
            <a:r>
              <a:rPr lang="en-US" sz="630" dirty="0">
                <a:solidFill>
                  <a:srgbClr val="A0A5AB"/>
                </a:solidFill>
                <a:latin typeface="Lora" pitchFamily="34" charset="0"/>
                <a:ea typeface="Lora" pitchFamily="34" charset="-122"/>
                <a:cs typeface="Lora" pitchFamily="34" charset="-120"/>
              </a:rPr>
              <a:t>low-latency</a:t>
            </a:r>
            <a:endParaRPr lang="en-US" sz="630" dirty="0"/>
          </a:p>
        </p:txBody>
      </p:sp>
      <p:sp>
        <p:nvSpPr>
          <p:cNvPr id="24" name="Shape 22"/>
          <p:cNvSpPr/>
          <p:nvPr/>
        </p:nvSpPr>
        <p:spPr>
          <a:xfrm>
            <a:off x="4910328" y="2084832"/>
            <a:ext cx="2523744" cy="265176"/>
          </a:xfrm>
          <a:prstGeom prst="roundRect">
            <a:avLst>
              <a:gd name="adj" fmla="val 10345"/>
            </a:avLst>
          </a:prstGeom>
          <a:solidFill>
            <a:srgbClr val="FDFDFD"/>
          </a:solidFill>
          <a:ln w="6350">
            <a:solidFill>
              <a:srgbClr val="D8D6CE"/>
            </a:solidFill>
            <a:prstDash val="solid"/>
          </a:ln>
        </p:spPr>
        <p:txBody>
          <a:bodyPr/>
          <a:lstStyle/>
          <a:p>
            <a:endParaRPr lang="en-US"/>
          </a:p>
        </p:txBody>
      </p:sp>
      <p:sp>
        <p:nvSpPr>
          <p:cNvPr id="25" name="Text 23"/>
          <p:cNvSpPr/>
          <p:nvPr/>
        </p:nvSpPr>
        <p:spPr>
          <a:xfrm>
            <a:off x="4983480" y="2084832"/>
            <a:ext cx="1828800" cy="265176"/>
          </a:xfrm>
          <a:prstGeom prst="rect">
            <a:avLst/>
          </a:prstGeom>
          <a:noFill/>
          <a:ln/>
        </p:spPr>
        <p:txBody>
          <a:bodyPr wrap="square" lIns="0" tIns="0" rIns="0" bIns="0" rtlCol="0" anchor="ctr"/>
          <a:lstStyle/>
          <a:p>
            <a:pPr marL="0" indent="0">
              <a:buNone/>
            </a:pPr>
            <a:r>
              <a:rPr lang="en-US" sz="760" b="1" dirty="0">
                <a:solidFill>
                  <a:srgbClr val="333333"/>
                </a:solidFill>
                <a:latin typeface="Montserrat" pitchFamily="34" charset="0"/>
                <a:ea typeface="Montserrat" pitchFamily="34" charset="-122"/>
                <a:cs typeface="Montserrat" pitchFamily="34" charset="-120"/>
              </a:rPr>
              <a:t>Vision model  </a:t>
            </a:r>
            <a:r>
              <a:rPr lang="en-US" sz="660" i="1" dirty="0">
                <a:solidFill>
                  <a:srgbClr val="7A7970"/>
                </a:solidFill>
                <a:latin typeface="Montserrat" pitchFamily="34" charset="0"/>
                <a:ea typeface="Montserrat" pitchFamily="34" charset="-122"/>
                <a:cs typeface="Montserrat" pitchFamily="34" charset="-120"/>
              </a:rPr>
              <a:t>GRADE grading</a:t>
            </a:r>
            <a:endParaRPr lang="en-US" sz="760" dirty="0"/>
          </a:p>
        </p:txBody>
      </p:sp>
      <p:sp>
        <p:nvSpPr>
          <p:cNvPr id="26" name="Text 24"/>
          <p:cNvSpPr/>
          <p:nvPr/>
        </p:nvSpPr>
        <p:spPr>
          <a:xfrm>
            <a:off x="6629400" y="2084832"/>
            <a:ext cx="749808" cy="265176"/>
          </a:xfrm>
          <a:prstGeom prst="rect">
            <a:avLst/>
          </a:prstGeom>
          <a:noFill/>
          <a:ln/>
        </p:spPr>
        <p:txBody>
          <a:bodyPr wrap="square" lIns="0" tIns="0" rIns="0" bIns="0" rtlCol="0" anchor="ctr"/>
          <a:lstStyle/>
          <a:p>
            <a:pPr marL="0" indent="0" algn="r">
              <a:buNone/>
            </a:pPr>
            <a:r>
              <a:rPr lang="en-US" sz="630" dirty="0">
                <a:solidFill>
                  <a:srgbClr val="A0A5AB"/>
                </a:solidFill>
                <a:latin typeface="Lora" pitchFamily="34" charset="0"/>
                <a:ea typeface="Lora" pitchFamily="34" charset="-122"/>
                <a:cs typeface="Lora" pitchFamily="34" charset="-120"/>
              </a:rPr>
              <a:t>multimodal</a:t>
            </a:r>
            <a:endParaRPr lang="en-US" sz="630" dirty="0"/>
          </a:p>
        </p:txBody>
      </p:sp>
      <p:sp>
        <p:nvSpPr>
          <p:cNvPr id="27" name="Shape 25"/>
          <p:cNvSpPr/>
          <p:nvPr/>
        </p:nvSpPr>
        <p:spPr>
          <a:xfrm>
            <a:off x="4910328" y="2386584"/>
            <a:ext cx="2523744" cy="265176"/>
          </a:xfrm>
          <a:prstGeom prst="roundRect">
            <a:avLst>
              <a:gd name="adj" fmla="val 10345"/>
            </a:avLst>
          </a:prstGeom>
          <a:solidFill>
            <a:srgbClr val="FDFDFD"/>
          </a:solidFill>
          <a:ln w="6350">
            <a:solidFill>
              <a:srgbClr val="D8D6CE"/>
            </a:solidFill>
            <a:prstDash val="solid"/>
          </a:ln>
        </p:spPr>
        <p:txBody>
          <a:bodyPr/>
          <a:lstStyle/>
          <a:p>
            <a:endParaRPr lang="en-US"/>
          </a:p>
        </p:txBody>
      </p:sp>
      <p:sp>
        <p:nvSpPr>
          <p:cNvPr id="28" name="Text 26"/>
          <p:cNvSpPr/>
          <p:nvPr/>
        </p:nvSpPr>
        <p:spPr>
          <a:xfrm>
            <a:off x="4983480" y="2386584"/>
            <a:ext cx="1828800" cy="265176"/>
          </a:xfrm>
          <a:prstGeom prst="rect">
            <a:avLst/>
          </a:prstGeom>
          <a:noFill/>
          <a:ln/>
        </p:spPr>
        <p:txBody>
          <a:bodyPr wrap="square" lIns="0" tIns="0" rIns="0" bIns="0" rtlCol="0" anchor="ctr"/>
          <a:lstStyle/>
          <a:p>
            <a:pPr marL="0" indent="0">
              <a:buNone/>
            </a:pPr>
            <a:r>
              <a:rPr lang="en-US" sz="760" b="1" dirty="0">
                <a:solidFill>
                  <a:srgbClr val="333333"/>
                </a:solidFill>
                <a:latin typeface="Montserrat" pitchFamily="34" charset="0"/>
                <a:ea typeface="Montserrat" pitchFamily="34" charset="-122"/>
                <a:cs typeface="Montserrat" pitchFamily="34" charset="-120"/>
              </a:rPr>
              <a:t>Embedding model  </a:t>
            </a:r>
            <a:r>
              <a:rPr lang="en-US" sz="660" i="1" dirty="0">
                <a:solidFill>
                  <a:srgbClr val="7A7970"/>
                </a:solidFill>
                <a:latin typeface="Montserrat" pitchFamily="34" charset="0"/>
                <a:ea typeface="Montserrat" pitchFamily="34" charset="-122"/>
                <a:cs typeface="Montserrat" pitchFamily="34" charset="-120"/>
              </a:rPr>
              <a:t>RAG retrieval</a:t>
            </a:r>
            <a:endParaRPr lang="en-US" sz="760" dirty="0"/>
          </a:p>
        </p:txBody>
      </p:sp>
      <p:sp>
        <p:nvSpPr>
          <p:cNvPr id="29" name="Text 27"/>
          <p:cNvSpPr/>
          <p:nvPr/>
        </p:nvSpPr>
        <p:spPr>
          <a:xfrm>
            <a:off x="6629400" y="2386584"/>
            <a:ext cx="749808" cy="265176"/>
          </a:xfrm>
          <a:prstGeom prst="rect">
            <a:avLst/>
          </a:prstGeom>
          <a:noFill/>
          <a:ln/>
        </p:spPr>
        <p:txBody>
          <a:bodyPr wrap="square" lIns="0" tIns="0" rIns="0" bIns="0" rtlCol="0" anchor="ctr"/>
          <a:lstStyle/>
          <a:p>
            <a:pPr marL="0" indent="0" algn="r">
              <a:buNone/>
            </a:pPr>
            <a:r>
              <a:rPr lang="en-US" sz="630" dirty="0">
                <a:solidFill>
                  <a:srgbClr val="A0A5AB"/>
                </a:solidFill>
                <a:latin typeface="Lora" pitchFamily="34" charset="0"/>
                <a:ea typeface="Lora" pitchFamily="34" charset="-122"/>
                <a:cs typeface="Lora" pitchFamily="34" charset="-120"/>
              </a:rPr>
              <a:t>vectors</a:t>
            </a:r>
            <a:endParaRPr lang="en-US" sz="630" dirty="0"/>
          </a:p>
        </p:txBody>
      </p:sp>
      <p:sp>
        <p:nvSpPr>
          <p:cNvPr id="30" name="Shape 28"/>
          <p:cNvSpPr/>
          <p:nvPr/>
        </p:nvSpPr>
        <p:spPr>
          <a:xfrm>
            <a:off x="7863840" y="1170432"/>
            <a:ext cx="3959352" cy="731520"/>
          </a:xfrm>
          <a:prstGeom prst="roundRect">
            <a:avLst>
              <a:gd name="adj" fmla="val 6250"/>
            </a:avLst>
          </a:prstGeom>
          <a:solidFill>
            <a:srgbClr val="FDFDFD"/>
          </a:solidFill>
          <a:ln w="9525">
            <a:solidFill>
              <a:srgbClr val="5B7FA6"/>
            </a:solidFill>
            <a:prstDash val="solid"/>
          </a:ln>
          <a:effectLst>
            <a:outerShdw blurRad="31750" dist="10160" dir="5400000" algn="bl" rotWithShape="0">
              <a:srgbClr val="000000">
                <a:alpha val="8000"/>
              </a:srgbClr>
            </a:outerShdw>
          </a:effectLst>
        </p:spPr>
        <p:txBody>
          <a:bodyPr/>
          <a:lstStyle/>
          <a:p>
            <a:endParaRPr lang="en-US"/>
          </a:p>
        </p:txBody>
      </p:sp>
      <p:sp>
        <p:nvSpPr>
          <p:cNvPr id="31" name="Text 29"/>
          <p:cNvSpPr/>
          <p:nvPr/>
        </p:nvSpPr>
        <p:spPr>
          <a:xfrm>
            <a:off x="7955280" y="1225296"/>
            <a:ext cx="3776472" cy="201168"/>
          </a:xfrm>
          <a:prstGeom prst="rect">
            <a:avLst/>
          </a:prstGeom>
          <a:noFill/>
          <a:ln/>
        </p:spPr>
        <p:txBody>
          <a:bodyPr wrap="square" lIns="0" tIns="0" rIns="0" bIns="0" rtlCol="0" anchor="t"/>
          <a:lstStyle/>
          <a:p>
            <a:pPr marL="0" indent="0">
              <a:buNone/>
            </a:pPr>
            <a:r>
              <a:rPr lang="en-US" sz="900" b="1" dirty="0">
                <a:solidFill>
                  <a:srgbClr val="333333"/>
                </a:solidFill>
                <a:latin typeface="Montserrat" pitchFamily="34" charset="0"/>
                <a:ea typeface="Montserrat" pitchFamily="34" charset="-122"/>
                <a:cs typeface="Montserrat" pitchFamily="34" charset="-120"/>
              </a:rPr>
              <a:t>PROMPT SERVICE</a:t>
            </a:r>
            <a:endParaRPr lang="en-US" sz="900" dirty="0"/>
          </a:p>
        </p:txBody>
      </p:sp>
      <p:sp>
        <p:nvSpPr>
          <p:cNvPr id="32" name="Text 30"/>
          <p:cNvSpPr/>
          <p:nvPr/>
        </p:nvSpPr>
        <p:spPr>
          <a:xfrm>
            <a:off x="7955280" y="1426464"/>
            <a:ext cx="3776472" cy="438912"/>
          </a:xfrm>
          <a:prstGeom prst="rect">
            <a:avLst/>
          </a:prstGeom>
          <a:noFill/>
          <a:ln/>
        </p:spPr>
        <p:txBody>
          <a:bodyPr wrap="square" lIns="0" tIns="0" rIns="0" bIns="0" rtlCol="0" anchor="t"/>
          <a:lstStyle/>
          <a:p>
            <a:pPr marL="0" indent="0">
              <a:lnSpc>
                <a:spcPct val="102000"/>
              </a:lnSpc>
              <a:buNone/>
            </a:pPr>
            <a:r>
              <a:rPr lang="en-US" sz="700" dirty="0">
                <a:solidFill>
                  <a:srgbClr val="5F5E5A"/>
                </a:solidFill>
                <a:latin typeface="Lora" pitchFamily="34" charset="0"/>
                <a:ea typeface="Lora" pitchFamily="34" charset="-122"/>
                <a:cs typeface="Lora" pitchFamily="34" charset="-120"/>
              </a:rPr>
              <a:t>registry · versioned templates per agent
guard-prompt injection · A/B + rollback</a:t>
            </a:r>
            <a:endParaRPr lang="en-US" sz="700" dirty="0"/>
          </a:p>
        </p:txBody>
      </p:sp>
      <p:sp>
        <p:nvSpPr>
          <p:cNvPr id="33" name="Shape 31"/>
          <p:cNvSpPr/>
          <p:nvPr/>
        </p:nvSpPr>
        <p:spPr>
          <a:xfrm>
            <a:off x="7863840" y="2011680"/>
            <a:ext cx="3959352" cy="731520"/>
          </a:xfrm>
          <a:prstGeom prst="roundRect">
            <a:avLst>
              <a:gd name="adj" fmla="val 6250"/>
            </a:avLst>
          </a:prstGeom>
          <a:solidFill>
            <a:srgbClr val="FDFDFD"/>
          </a:solidFill>
          <a:ln w="9525">
            <a:solidFill>
              <a:srgbClr val="5B7FA6"/>
            </a:solidFill>
            <a:prstDash val="solid"/>
          </a:ln>
          <a:effectLst>
            <a:outerShdw blurRad="31750" dist="10160" dir="5400000" algn="bl" rotWithShape="0">
              <a:srgbClr val="000000">
                <a:alpha val="8000"/>
              </a:srgbClr>
            </a:outerShdw>
          </a:effectLst>
        </p:spPr>
        <p:txBody>
          <a:bodyPr/>
          <a:lstStyle/>
          <a:p>
            <a:endParaRPr lang="en-US"/>
          </a:p>
        </p:txBody>
      </p:sp>
      <p:sp>
        <p:nvSpPr>
          <p:cNvPr id="34" name="Text 32"/>
          <p:cNvSpPr/>
          <p:nvPr/>
        </p:nvSpPr>
        <p:spPr>
          <a:xfrm>
            <a:off x="7955280" y="2066544"/>
            <a:ext cx="3776472" cy="201168"/>
          </a:xfrm>
          <a:prstGeom prst="rect">
            <a:avLst/>
          </a:prstGeom>
          <a:noFill/>
          <a:ln/>
        </p:spPr>
        <p:txBody>
          <a:bodyPr wrap="square" lIns="0" tIns="0" rIns="0" bIns="0" rtlCol="0" anchor="t"/>
          <a:lstStyle/>
          <a:p>
            <a:pPr marL="0" indent="0">
              <a:buNone/>
            </a:pPr>
            <a:r>
              <a:rPr lang="en-US" sz="900" b="1" dirty="0">
                <a:solidFill>
                  <a:srgbClr val="333333"/>
                </a:solidFill>
                <a:latin typeface="Montserrat" pitchFamily="34" charset="0"/>
                <a:ea typeface="Montserrat" pitchFamily="34" charset="-122"/>
                <a:cs typeface="Montserrat" pitchFamily="34" charset="-120"/>
              </a:rPr>
              <a:t>MEMORY &amp; CONTEXT STORE</a:t>
            </a:r>
            <a:endParaRPr lang="en-US" sz="900" dirty="0"/>
          </a:p>
        </p:txBody>
      </p:sp>
      <p:sp>
        <p:nvSpPr>
          <p:cNvPr id="35" name="Text 33"/>
          <p:cNvSpPr/>
          <p:nvPr/>
        </p:nvSpPr>
        <p:spPr>
          <a:xfrm>
            <a:off x="7955280" y="2267712"/>
            <a:ext cx="3776472" cy="438912"/>
          </a:xfrm>
          <a:prstGeom prst="rect">
            <a:avLst/>
          </a:prstGeom>
          <a:noFill/>
          <a:ln/>
        </p:spPr>
        <p:txBody>
          <a:bodyPr wrap="square" lIns="0" tIns="0" rIns="0" bIns="0" rtlCol="0" anchor="t"/>
          <a:lstStyle/>
          <a:p>
            <a:pPr marL="0" indent="0">
              <a:lnSpc>
                <a:spcPct val="102000"/>
              </a:lnSpc>
              <a:buNone/>
            </a:pPr>
            <a:r>
              <a:rPr lang="en-US" sz="700" dirty="0">
                <a:solidFill>
                  <a:srgbClr val="5F5E5A"/>
                </a:solidFill>
                <a:latin typeface="Lora" pitchFamily="34" charset="0"/>
                <a:ea typeface="Lora" pitchFamily="34" charset="-122"/>
                <a:cs typeface="Lora" pitchFamily="34" charset="-120"/>
              </a:rPr>
              <a:t>short-term session state (Redis, TTL) + long-term customer memory (vector+KV)
context object threaded agent→agent</a:t>
            </a:r>
            <a:endParaRPr lang="en-US" sz="700" dirty="0"/>
          </a:p>
        </p:txBody>
      </p:sp>
      <p:sp>
        <p:nvSpPr>
          <p:cNvPr id="36" name="Shape 34"/>
          <p:cNvSpPr/>
          <p:nvPr/>
        </p:nvSpPr>
        <p:spPr>
          <a:xfrm>
            <a:off x="2148840" y="2907792"/>
            <a:ext cx="5394960" cy="603504"/>
          </a:xfrm>
          <a:prstGeom prst="roundRect">
            <a:avLst>
              <a:gd name="adj" fmla="val 7576"/>
            </a:avLst>
          </a:prstGeom>
          <a:solidFill>
            <a:srgbClr val="F5F4F1"/>
          </a:solidFill>
          <a:ln w="9525">
            <a:solidFill>
              <a:srgbClr val="D8D6CE"/>
            </a:solidFill>
            <a:prstDash val="solid"/>
          </a:ln>
          <a:effectLst>
            <a:outerShdw blurRad="31750" dist="10160" dir="5400000" algn="bl" rotWithShape="0">
              <a:srgbClr val="000000">
                <a:alpha val="8000"/>
              </a:srgbClr>
            </a:outerShdw>
          </a:effectLst>
        </p:spPr>
        <p:txBody>
          <a:bodyPr/>
          <a:lstStyle/>
          <a:p>
            <a:endParaRPr lang="en-US"/>
          </a:p>
        </p:txBody>
      </p:sp>
      <p:sp>
        <p:nvSpPr>
          <p:cNvPr id="37" name="Text 35"/>
          <p:cNvSpPr/>
          <p:nvPr/>
        </p:nvSpPr>
        <p:spPr>
          <a:xfrm>
            <a:off x="2240280" y="2962656"/>
            <a:ext cx="5212080" cy="201168"/>
          </a:xfrm>
          <a:prstGeom prst="rect">
            <a:avLst/>
          </a:prstGeom>
          <a:noFill/>
          <a:ln/>
        </p:spPr>
        <p:txBody>
          <a:bodyPr wrap="square" lIns="0" tIns="0" rIns="0" bIns="0" rtlCol="0" anchor="t"/>
          <a:lstStyle/>
          <a:p>
            <a:pPr marL="0" indent="0">
              <a:buNone/>
            </a:pPr>
            <a:r>
              <a:rPr lang="en-US" sz="900" b="1" dirty="0">
                <a:solidFill>
                  <a:srgbClr val="333333"/>
                </a:solidFill>
                <a:latin typeface="Montserrat" pitchFamily="34" charset="0"/>
                <a:ea typeface="Montserrat" pitchFamily="34" charset="-122"/>
                <a:cs typeface="Montserrat" pitchFamily="34" charset="-120"/>
              </a:rPr>
              <a:t>RETRIEVAL PLANE</a:t>
            </a:r>
            <a:endParaRPr lang="en-US" sz="900" dirty="0"/>
          </a:p>
        </p:txBody>
      </p:sp>
      <p:sp>
        <p:nvSpPr>
          <p:cNvPr id="38" name="Text 36"/>
          <p:cNvSpPr/>
          <p:nvPr/>
        </p:nvSpPr>
        <p:spPr>
          <a:xfrm>
            <a:off x="2240280" y="3163824"/>
            <a:ext cx="5212080" cy="310896"/>
          </a:xfrm>
          <a:prstGeom prst="rect">
            <a:avLst/>
          </a:prstGeom>
          <a:noFill/>
          <a:ln/>
        </p:spPr>
        <p:txBody>
          <a:bodyPr wrap="square" lIns="0" tIns="0" rIns="0" bIns="0" rtlCol="0" anchor="t"/>
          <a:lstStyle/>
          <a:p>
            <a:pPr marL="0" indent="0">
              <a:lnSpc>
                <a:spcPct val="102000"/>
              </a:lnSpc>
              <a:buNone/>
            </a:pPr>
            <a:r>
              <a:rPr lang="en-US" sz="700" dirty="0">
                <a:solidFill>
                  <a:srgbClr val="5F5E5A"/>
                </a:solidFill>
                <a:latin typeface="Lora" pitchFamily="34" charset="0"/>
                <a:ea typeface="Lora" pitchFamily="34" charset="-122"/>
                <a:cs typeface="Lora" pitchFamily="34" charset="-120"/>
              </a:rPr>
              <a:t>feature store · vector DB · lakehouse · event bus — data lives once</a:t>
            </a:r>
            <a:endParaRPr lang="en-US" sz="700" dirty="0"/>
          </a:p>
        </p:txBody>
      </p:sp>
      <p:sp>
        <p:nvSpPr>
          <p:cNvPr id="39" name="Shape 37"/>
          <p:cNvSpPr/>
          <p:nvPr/>
        </p:nvSpPr>
        <p:spPr>
          <a:xfrm>
            <a:off x="1783080" y="1508760"/>
            <a:ext cx="365760" cy="0"/>
          </a:xfrm>
          <a:prstGeom prst="line">
            <a:avLst/>
          </a:prstGeom>
          <a:noFill/>
          <a:ln w="17780">
            <a:solidFill>
              <a:srgbClr val="E31837"/>
            </a:solidFill>
            <a:prstDash val="solid"/>
            <a:tailEnd type="triangle"/>
          </a:ln>
        </p:spPr>
        <p:txBody>
          <a:bodyPr/>
          <a:lstStyle/>
          <a:p>
            <a:endParaRPr lang="en-US"/>
          </a:p>
        </p:txBody>
      </p:sp>
      <p:sp>
        <p:nvSpPr>
          <p:cNvPr id="40" name="Shape 38"/>
          <p:cNvSpPr/>
          <p:nvPr/>
        </p:nvSpPr>
        <p:spPr>
          <a:xfrm>
            <a:off x="3291840" y="1828800"/>
            <a:ext cx="0" cy="201168"/>
          </a:xfrm>
          <a:prstGeom prst="line">
            <a:avLst/>
          </a:prstGeom>
          <a:noFill/>
          <a:ln w="17780">
            <a:solidFill>
              <a:srgbClr val="333333"/>
            </a:solidFill>
            <a:prstDash val="solid"/>
            <a:tailEnd type="triangle"/>
          </a:ln>
        </p:spPr>
        <p:txBody>
          <a:bodyPr/>
          <a:lstStyle/>
          <a:p>
            <a:endParaRPr lang="en-US"/>
          </a:p>
        </p:txBody>
      </p:sp>
      <p:sp>
        <p:nvSpPr>
          <p:cNvPr id="41" name="Shape 39"/>
          <p:cNvSpPr/>
          <p:nvPr/>
        </p:nvSpPr>
        <p:spPr>
          <a:xfrm flipV="1">
            <a:off x="4480560" y="2148840"/>
            <a:ext cx="320040" cy="137160"/>
          </a:xfrm>
          <a:prstGeom prst="line">
            <a:avLst/>
          </a:prstGeom>
          <a:noFill/>
          <a:ln w="17780">
            <a:solidFill>
              <a:srgbClr val="333333"/>
            </a:solidFill>
            <a:prstDash val="solid"/>
            <a:tailEnd type="triangle"/>
          </a:ln>
        </p:spPr>
        <p:txBody>
          <a:bodyPr/>
          <a:lstStyle/>
          <a:p>
            <a:endParaRPr lang="en-US"/>
          </a:p>
        </p:txBody>
      </p:sp>
      <p:sp>
        <p:nvSpPr>
          <p:cNvPr id="42" name="Shape 40"/>
          <p:cNvSpPr/>
          <p:nvPr/>
        </p:nvSpPr>
        <p:spPr>
          <a:xfrm flipH="1">
            <a:off x="4480560" y="2395728"/>
            <a:ext cx="320040" cy="118872"/>
          </a:xfrm>
          <a:prstGeom prst="line">
            <a:avLst/>
          </a:prstGeom>
          <a:noFill/>
          <a:ln w="17780">
            <a:solidFill>
              <a:srgbClr val="2E7D52"/>
            </a:solidFill>
            <a:prstDash val="solid"/>
            <a:tailEnd type="triangle"/>
          </a:ln>
        </p:spPr>
        <p:txBody>
          <a:bodyPr/>
          <a:lstStyle/>
          <a:p>
            <a:endParaRPr lang="en-US"/>
          </a:p>
        </p:txBody>
      </p:sp>
      <p:sp>
        <p:nvSpPr>
          <p:cNvPr id="43" name="Shape 41"/>
          <p:cNvSpPr/>
          <p:nvPr/>
        </p:nvSpPr>
        <p:spPr>
          <a:xfrm>
            <a:off x="4480560" y="1417320"/>
            <a:ext cx="3383280" cy="0"/>
          </a:xfrm>
          <a:prstGeom prst="line">
            <a:avLst/>
          </a:prstGeom>
          <a:noFill/>
          <a:ln w="15875">
            <a:solidFill>
              <a:srgbClr val="A0A5AB"/>
            </a:solidFill>
            <a:prstDash val="dash"/>
            <a:tailEnd type="triangle"/>
          </a:ln>
        </p:spPr>
        <p:txBody>
          <a:bodyPr/>
          <a:lstStyle/>
          <a:p>
            <a:endParaRPr lang="en-US"/>
          </a:p>
        </p:txBody>
      </p:sp>
      <p:sp>
        <p:nvSpPr>
          <p:cNvPr id="44" name="Shape 42"/>
          <p:cNvSpPr/>
          <p:nvPr/>
        </p:nvSpPr>
        <p:spPr>
          <a:xfrm flipV="1">
            <a:off x="4480560" y="2395728"/>
            <a:ext cx="3383280" cy="36576"/>
          </a:xfrm>
          <a:prstGeom prst="line">
            <a:avLst/>
          </a:prstGeom>
          <a:noFill/>
          <a:ln w="15875">
            <a:solidFill>
              <a:srgbClr val="A0A5AB"/>
            </a:solidFill>
            <a:prstDash val="dash"/>
            <a:tailEnd type="triangle"/>
          </a:ln>
        </p:spPr>
        <p:txBody>
          <a:bodyPr/>
          <a:lstStyle/>
          <a:p>
            <a:endParaRPr lang="en-US"/>
          </a:p>
        </p:txBody>
      </p:sp>
      <p:sp>
        <p:nvSpPr>
          <p:cNvPr id="45" name="Shape 43"/>
          <p:cNvSpPr/>
          <p:nvPr/>
        </p:nvSpPr>
        <p:spPr>
          <a:xfrm>
            <a:off x="3246120" y="2688336"/>
            <a:ext cx="0" cy="219456"/>
          </a:xfrm>
          <a:prstGeom prst="line">
            <a:avLst/>
          </a:prstGeom>
          <a:noFill/>
          <a:ln w="15875">
            <a:solidFill>
              <a:srgbClr val="A0A5AB"/>
            </a:solidFill>
            <a:prstDash val="dash"/>
            <a:tailEnd type="triangle"/>
          </a:ln>
        </p:spPr>
        <p:txBody>
          <a:bodyPr/>
          <a:lstStyle/>
          <a:p>
            <a:endParaRPr lang="en-US"/>
          </a:p>
        </p:txBody>
      </p:sp>
      <p:sp>
        <p:nvSpPr>
          <p:cNvPr id="46" name="Text 44"/>
          <p:cNvSpPr/>
          <p:nvPr/>
        </p:nvSpPr>
        <p:spPr>
          <a:xfrm>
            <a:off x="365760" y="3657600"/>
            <a:ext cx="8229600" cy="182880"/>
          </a:xfrm>
          <a:prstGeom prst="rect">
            <a:avLst/>
          </a:prstGeom>
          <a:noFill/>
          <a:ln/>
        </p:spPr>
        <p:txBody>
          <a:bodyPr wrap="square" lIns="0" tIns="0" rIns="0" bIns="0" rtlCol="0" anchor="ctr"/>
          <a:lstStyle/>
          <a:p>
            <a:pPr marL="0" indent="0">
              <a:buNone/>
            </a:pPr>
            <a:r>
              <a:rPr lang="en-US" sz="800" dirty="0">
                <a:solidFill>
                  <a:srgbClr val="E31837"/>
                </a:solidFill>
                <a:latin typeface="Montserrat" pitchFamily="34" charset="0"/>
                <a:ea typeface="Montserrat" pitchFamily="34" charset="-122"/>
                <a:cs typeface="Montserrat" pitchFamily="34" charset="-120"/>
              </a:rPr>
              <a:t>▶ </a:t>
            </a:r>
            <a:r>
              <a:rPr lang="en-US" sz="800" dirty="0">
                <a:solidFill>
                  <a:srgbClr val="5F5E5A"/>
                </a:solidFill>
                <a:latin typeface="Montserrat" pitchFamily="34" charset="0"/>
                <a:ea typeface="Montserrat" pitchFamily="34" charset="-122"/>
                <a:cs typeface="Montserrat" pitchFamily="34" charset="-120"/>
              </a:rPr>
              <a:t>call   </a:t>
            </a:r>
            <a:r>
              <a:rPr lang="en-US" sz="800" dirty="0">
                <a:solidFill>
                  <a:srgbClr val="2E7D52"/>
                </a:solidFill>
                <a:latin typeface="Montserrat" pitchFamily="34" charset="0"/>
                <a:ea typeface="Montserrat" pitchFamily="34" charset="-122"/>
                <a:cs typeface="Montserrat" pitchFamily="34" charset="-120"/>
              </a:rPr>
              <a:t>▶ </a:t>
            </a:r>
            <a:r>
              <a:rPr lang="en-US" sz="800" dirty="0">
                <a:solidFill>
                  <a:srgbClr val="5F5E5A"/>
                </a:solidFill>
                <a:latin typeface="Montserrat" pitchFamily="34" charset="0"/>
                <a:ea typeface="Montserrat" pitchFamily="34" charset="-122"/>
                <a:cs typeface="Montserrat" pitchFamily="34" charset="-120"/>
              </a:rPr>
              <a:t>model return   </a:t>
            </a:r>
            <a:r>
              <a:rPr lang="en-US" sz="800" dirty="0">
                <a:solidFill>
                  <a:srgbClr val="A0A5AB"/>
                </a:solidFill>
                <a:latin typeface="Montserrat" pitchFamily="34" charset="0"/>
                <a:ea typeface="Montserrat" pitchFamily="34" charset="-122"/>
                <a:cs typeface="Montserrat" pitchFamily="34" charset="-120"/>
              </a:rPr>
              <a:t>▶ </a:t>
            </a:r>
            <a:r>
              <a:rPr lang="en-US" sz="800" dirty="0">
                <a:solidFill>
                  <a:srgbClr val="5F5E5A"/>
                </a:solidFill>
                <a:latin typeface="Montserrat" pitchFamily="34" charset="0"/>
                <a:ea typeface="Montserrat" pitchFamily="34" charset="-122"/>
                <a:cs typeface="Montserrat" pitchFamily="34" charset="-120"/>
              </a:rPr>
              <a:t>side-service   </a:t>
            </a:r>
            <a:r>
              <a:rPr lang="en-US" sz="800" dirty="0">
                <a:solidFill>
                  <a:srgbClr val="333333"/>
                </a:solidFill>
                <a:latin typeface="Montserrat" pitchFamily="34" charset="0"/>
                <a:ea typeface="Montserrat" pitchFamily="34" charset="-122"/>
                <a:cs typeface="Montserrat" pitchFamily="34" charset="-120"/>
              </a:rPr>
              <a:t>┆ </a:t>
            </a:r>
            <a:r>
              <a:rPr lang="en-US" sz="800" dirty="0">
                <a:solidFill>
                  <a:srgbClr val="5F5E5A"/>
                </a:solidFill>
                <a:latin typeface="Montserrat" pitchFamily="34" charset="0"/>
                <a:ea typeface="Montserrat" pitchFamily="34" charset="-122"/>
                <a:cs typeface="Montserrat" pitchFamily="34" charset="-120"/>
              </a:rPr>
              <a:t>cross-cutting tap (policy · evals observe all)</a:t>
            </a:r>
            <a:endParaRPr lang="en-US" sz="800" dirty="0"/>
          </a:p>
        </p:txBody>
      </p:sp>
      <p:sp>
        <p:nvSpPr>
          <p:cNvPr id="47" name="Shape 45"/>
          <p:cNvSpPr/>
          <p:nvPr/>
        </p:nvSpPr>
        <p:spPr>
          <a:xfrm>
            <a:off x="365760" y="3913632"/>
            <a:ext cx="11457432" cy="457200"/>
          </a:xfrm>
          <a:prstGeom prst="roundRect">
            <a:avLst>
              <a:gd name="adj" fmla="val 10000"/>
            </a:avLst>
          </a:prstGeom>
          <a:solidFill>
            <a:srgbClr val="333333"/>
          </a:solidFill>
          <a:ln/>
        </p:spPr>
        <p:txBody>
          <a:bodyPr/>
          <a:lstStyle/>
          <a:p>
            <a:endParaRPr lang="en-US"/>
          </a:p>
        </p:txBody>
      </p:sp>
      <p:sp>
        <p:nvSpPr>
          <p:cNvPr id="48" name="Text 46"/>
          <p:cNvSpPr/>
          <p:nvPr/>
        </p:nvSpPr>
        <p:spPr>
          <a:xfrm>
            <a:off x="548640" y="3913632"/>
            <a:ext cx="11091672" cy="457200"/>
          </a:xfrm>
          <a:prstGeom prst="rect">
            <a:avLst/>
          </a:prstGeom>
          <a:noFill/>
          <a:ln/>
        </p:spPr>
        <p:txBody>
          <a:bodyPr wrap="square" lIns="0" tIns="0" rIns="0" bIns="0" rtlCol="0" anchor="ctr"/>
          <a:lstStyle/>
          <a:p>
            <a:pPr marL="0" indent="0">
              <a:buNone/>
            </a:pPr>
            <a:r>
              <a:rPr lang="en-US" sz="900" b="1" dirty="0">
                <a:solidFill>
                  <a:srgbClr val="FDFDFD"/>
                </a:solidFill>
                <a:latin typeface="Montserrat" pitchFamily="34" charset="0"/>
                <a:ea typeface="Montserrat" pitchFamily="34" charset="-122"/>
                <a:cs typeface="Montserrat" pitchFamily="34" charset="-120"/>
              </a:rPr>
              <a:t>POLICY &amp; GUARDRAIL PLANE   </a:t>
            </a:r>
            <a:r>
              <a:rPr lang="en-US" sz="800" i="1" dirty="0">
                <a:solidFill>
                  <a:srgbClr val="C9C9C7"/>
                </a:solidFill>
                <a:latin typeface="Montserrat" pitchFamily="34" charset="0"/>
                <a:ea typeface="Montserrat" pitchFamily="34" charset="-122"/>
                <a:cs typeface="Montserrat" pitchFamily="34" charset="-120"/>
              </a:rPr>
              <a:t>policy-as-code · PII / consent · model-access rules · prompt-injection &amp; output filters · full audit  —  enforced on every call</a:t>
            </a:r>
            <a:endParaRPr lang="en-US" sz="900" dirty="0"/>
          </a:p>
        </p:txBody>
      </p:sp>
      <p:sp>
        <p:nvSpPr>
          <p:cNvPr id="49" name="Shape 47"/>
          <p:cNvSpPr/>
          <p:nvPr/>
        </p:nvSpPr>
        <p:spPr>
          <a:xfrm>
            <a:off x="365760" y="4517136"/>
            <a:ext cx="11457432" cy="457200"/>
          </a:xfrm>
          <a:prstGeom prst="roundRect">
            <a:avLst>
              <a:gd name="adj" fmla="val 10000"/>
            </a:avLst>
          </a:prstGeom>
          <a:solidFill>
            <a:srgbClr val="2E2A3A"/>
          </a:solidFill>
          <a:ln/>
        </p:spPr>
        <p:txBody>
          <a:bodyPr/>
          <a:lstStyle/>
          <a:p>
            <a:endParaRPr lang="en-US"/>
          </a:p>
        </p:txBody>
      </p:sp>
      <p:sp>
        <p:nvSpPr>
          <p:cNvPr id="50" name="Text 48"/>
          <p:cNvSpPr/>
          <p:nvPr/>
        </p:nvSpPr>
        <p:spPr>
          <a:xfrm>
            <a:off x="548640" y="4517136"/>
            <a:ext cx="11091672" cy="457200"/>
          </a:xfrm>
          <a:prstGeom prst="rect">
            <a:avLst/>
          </a:prstGeom>
          <a:noFill/>
          <a:ln/>
        </p:spPr>
        <p:txBody>
          <a:bodyPr wrap="square" lIns="0" tIns="0" rIns="0" bIns="0" rtlCol="0" anchor="ctr"/>
          <a:lstStyle/>
          <a:p>
            <a:pPr marL="0" indent="0">
              <a:buNone/>
            </a:pPr>
            <a:r>
              <a:rPr lang="en-US" sz="900" b="1" dirty="0">
                <a:solidFill>
                  <a:srgbClr val="FDFDFD"/>
                </a:solidFill>
                <a:latin typeface="Montserrat" pitchFamily="34" charset="0"/>
                <a:ea typeface="Montserrat" pitchFamily="34" charset="-122"/>
                <a:cs typeface="Montserrat" pitchFamily="34" charset="-120"/>
              </a:rPr>
              <a:t>EVALS &amp; OBSERVABILITY PLANE   </a:t>
            </a:r>
            <a:r>
              <a:rPr lang="en-US" sz="800" i="1" dirty="0">
                <a:solidFill>
                  <a:srgbClr val="C9B8E8"/>
                </a:solidFill>
                <a:latin typeface="Montserrat" pitchFamily="34" charset="0"/>
                <a:ea typeface="Montserrat" pitchFamily="34" charset="-122"/>
                <a:cs typeface="Montserrat" pitchFamily="34" charset="-120"/>
              </a:rPr>
              <a:t>quality · drift · safety · latency · cost  —  monitored continuously across the runtime, gateway, models, prompts &amp; memory</a:t>
            </a:r>
            <a:endParaRPr lang="en-US" sz="900" dirty="0"/>
          </a:p>
        </p:txBody>
      </p:sp>
      <p:sp>
        <p:nvSpPr>
          <p:cNvPr id="51" name="Shape 49"/>
          <p:cNvSpPr/>
          <p:nvPr/>
        </p:nvSpPr>
        <p:spPr>
          <a:xfrm>
            <a:off x="1069848" y="3529584"/>
            <a:ext cx="0" cy="1444752"/>
          </a:xfrm>
          <a:prstGeom prst="line">
            <a:avLst/>
          </a:prstGeom>
          <a:noFill/>
          <a:ln w="12700">
            <a:solidFill>
              <a:srgbClr val="9B9A92"/>
            </a:solidFill>
            <a:prstDash val="dash"/>
          </a:ln>
        </p:spPr>
        <p:txBody>
          <a:bodyPr/>
          <a:lstStyle/>
          <a:p>
            <a:endParaRPr lang="en-US"/>
          </a:p>
        </p:txBody>
      </p:sp>
      <p:sp>
        <p:nvSpPr>
          <p:cNvPr id="52" name="Shape 50"/>
          <p:cNvSpPr/>
          <p:nvPr/>
        </p:nvSpPr>
        <p:spPr>
          <a:xfrm>
            <a:off x="3291840" y="3529584"/>
            <a:ext cx="0" cy="1444752"/>
          </a:xfrm>
          <a:prstGeom prst="line">
            <a:avLst/>
          </a:prstGeom>
          <a:noFill/>
          <a:ln w="12700">
            <a:solidFill>
              <a:srgbClr val="9B9A92"/>
            </a:solidFill>
            <a:prstDash val="dash"/>
          </a:ln>
        </p:spPr>
        <p:txBody>
          <a:bodyPr/>
          <a:lstStyle/>
          <a:p>
            <a:endParaRPr lang="en-US"/>
          </a:p>
        </p:txBody>
      </p:sp>
      <p:sp>
        <p:nvSpPr>
          <p:cNvPr id="53" name="Shape 51"/>
          <p:cNvSpPr/>
          <p:nvPr/>
        </p:nvSpPr>
        <p:spPr>
          <a:xfrm>
            <a:off x="6172200" y="3529584"/>
            <a:ext cx="0" cy="1444752"/>
          </a:xfrm>
          <a:prstGeom prst="line">
            <a:avLst/>
          </a:prstGeom>
          <a:noFill/>
          <a:ln w="12700">
            <a:solidFill>
              <a:srgbClr val="9B9A92"/>
            </a:solidFill>
            <a:prstDash val="dash"/>
          </a:ln>
        </p:spPr>
        <p:txBody>
          <a:bodyPr/>
          <a:lstStyle/>
          <a:p>
            <a:endParaRPr lang="en-US"/>
          </a:p>
        </p:txBody>
      </p:sp>
      <p:sp>
        <p:nvSpPr>
          <p:cNvPr id="54" name="Shape 52"/>
          <p:cNvSpPr/>
          <p:nvPr/>
        </p:nvSpPr>
        <p:spPr>
          <a:xfrm>
            <a:off x="9829800" y="3529584"/>
            <a:ext cx="0" cy="1444752"/>
          </a:xfrm>
          <a:prstGeom prst="line">
            <a:avLst/>
          </a:prstGeom>
          <a:noFill/>
          <a:ln w="12700">
            <a:solidFill>
              <a:srgbClr val="9B9A92"/>
            </a:solidFill>
            <a:prstDash val="dash"/>
          </a:ln>
        </p:spPr>
        <p:txBody>
          <a:bodyPr/>
          <a:lstStyle/>
          <a:p>
            <a:endParaRPr lang="en-US"/>
          </a:p>
        </p:txBody>
      </p:sp>
      <p:sp>
        <p:nvSpPr>
          <p:cNvPr id="55" name="Shape 53"/>
          <p:cNvSpPr/>
          <p:nvPr/>
        </p:nvSpPr>
        <p:spPr>
          <a:xfrm>
            <a:off x="365760" y="5175504"/>
            <a:ext cx="3697224" cy="841248"/>
          </a:xfrm>
          <a:prstGeom prst="roundRect">
            <a:avLst>
              <a:gd name="adj" fmla="val 6522"/>
            </a:avLst>
          </a:prstGeom>
          <a:solidFill>
            <a:srgbClr val="F5F4F1"/>
          </a:solidFill>
          <a:ln/>
        </p:spPr>
        <p:txBody>
          <a:bodyPr/>
          <a:lstStyle/>
          <a:p>
            <a:endParaRPr lang="en-US"/>
          </a:p>
        </p:txBody>
      </p:sp>
      <p:sp>
        <p:nvSpPr>
          <p:cNvPr id="56" name="Shape 54"/>
          <p:cNvSpPr/>
          <p:nvPr/>
        </p:nvSpPr>
        <p:spPr>
          <a:xfrm>
            <a:off x="493776" y="5285232"/>
            <a:ext cx="36576" cy="621792"/>
          </a:xfrm>
          <a:prstGeom prst="rect">
            <a:avLst/>
          </a:prstGeom>
          <a:solidFill>
            <a:srgbClr val="E31837"/>
          </a:solidFill>
          <a:ln/>
        </p:spPr>
        <p:txBody>
          <a:bodyPr/>
          <a:lstStyle/>
          <a:p>
            <a:endParaRPr lang="en-US"/>
          </a:p>
        </p:txBody>
      </p:sp>
      <p:sp>
        <p:nvSpPr>
          <p:cNvPr id="57" name="Text 55"/>
          <p:cNvSpPr/>
          <p:nvPr/>
        </p:nvSpPr>
        <p:spPr>
          <a:xfrm>
            <a:off x="603504" y="5266944"/>
            <a:ext cx="3331464" cy="201168"/>
          </a:xfrm>
          <a:prstGeom prst="rect">
            <a:avLst/>
          </a:prstGeom>
          <a:noFill/>
          <a:ln/>
        </p:spPr>
        <p:txBody>
          <a:bodyPr wrap="square" lIns="0" tIns="0" rIns="0" bIns="0" rtlCol="0" anchor="ctr"/>
          <a:lstStyle/>
          <a:p>
            <a:pPr marL="0" indent="0">
              <a:buNone/>
            </a:pPr>
            <a:r>
              <a:rPr lang="en-US" sz="950" b="1" dirty="0">
                <a:solidFill>
                  <a:srgbClr val="333333"/>
                </a:solidFill>
                <a:latin typeface="Montserrat" pitchFamily="34" charset="0"/>
                <a:ea typeface="Montserrat" pitchFamily="34" charset="-122"/>
                <a:cs typeface="Montserrat" pitchFamily="34" charset="-120"/>
              </a:rPr>
              <a:t>Interoperability</a:t>
            </a:r>
            <a:endParaRPr lang="en-US" sz="950" dirty="0"/>
          </a:p>
        </p:txBody>
      </p:sp>
      <p:sp>
        <p:nvSpPr>
          <p:cNvPr id="58" name="Text 56"/>
          <p:cNvSpPr/>
          <p:nvPr/>
        </p:nvSpPr>
        <p:spPr>
          <a:xfrm>
            <a:off x="603504" y="5477256"/>
            <a:ext cx="3331464" cy="512064"/>
          </a:xfrm>
          <a:prstGeom prst="rect">
            <a:avLst/>
          </a:prstGeom>
          <a:noFill/>
          <a:ln/>
        </p:spPr>
        <p:txBody>
          <a:bodyPr wrap="square" lIns="0" tIns="0" rIns="0" bIns="0" rtlCol="0" anchor="t"/>
          <a:lstStyle/>
          <a:p>
            <a:pPr marL="0" indent="0">
              <a:lnSpc>
                <a:spcPct val="100000"/>
              </a:lnSpc>
              <a:buNone/>
            </a:pPr>
            <a:r>
              <a:rPr lang="en-US" sz="770" dirty="0">
                <a:solidFill>
                  <a:srgbClr val="5F5E5A"/>
                </a:solidFill>
                <a:latin typeface="Lora" pitchFamily="34" charset="0"/>
                <a:ea typeface="Lora" pitchFamily="34" charset="-122"/>
                <a:cs typeface="Lora" pitchFamily="34" charset="-120"/>
              </a:rPr>
              <a:t>Agents call capabilities, not vendors. The gateway maps a need (reason / classify / see) to a model; swapping a provider is a config change, zero agent rework.</a:t>
            </a:r>
            <a:endParaRPr lang="en-US" sz="770" dirty="0"/>
          </a:p>
        </p:txBody>
      </p:sp>
      <p:sp>
        <p:nvSpPr>
          <p:cNvPr id="59" name="Shape 57"/>
          <p:cNvSpPr/>
          <p:nvPr/>
        </p:nvSpPr>
        <p:spPr>
          <a:xfrm>
            <a:off x="4245864" y="5175504"/>
            <a:ext cx="3697224" cy="841248"/>
          </a:xfrm>
          <a:prstGeom prst="roundRect">
            <a:avLst>
              <a:gd name="adj" fmla="val 6522"/>
            </a:avLst>
          </a:prstGeom>
          <a:solidFill>
            <a:srgbClr val="22262A"/>
          </a:solidFill>
          <a:ln/>
        </p:spPr>
        <p:txBody>
          <a:bodyPr/>
          <a:lstStyle/>
          <a:p>
            <a:endParaRPr lang="en-US"/>
          </a:p>
        </p:txBody>
      </p:sp>
      <p:sp>
        <p:nvSpPr>
          <p:cNvPr id="60" name="Shape 58"/>
          <p:cNvSpPr/>
          <p:nvPr/>
        </p:nvSpPr>
        <p:spPr>
          <a:xfrm>
            <a:off x="4373880" y="5285232"/>
            <a:ext cx="36576" cy="621792"/>
          </a:xfrm>
          <a:prstGeom prst="rect">
            <a:avLst/>
          </a:prstGeom>
          <a:solidFill>
            <a:srgbClr val="E31837"/>
          </a:solidFill>
          <a:ln/>
        </p:spPr>
        <p:txBody>
          <a:bodyPr/>
          <a:lstStyle/>
          <a:p>
            <a:endParaRPr lang="en-US"/>
          </a:p>
        </p:txBody>
      </p:sp>
      <p:sp>
        <p:nvSpPr>
          <p:cNvPr id="61" name="Text 59"/>
          <p:cNvSpPr/>
          <p:nvPr/>
        </p:nvSpPr>
        <p:spPr>
          <a:xfrm>
            <a:off x="4483608" y="5266944"/>
            <a:ext cx="3331464" cy="201168"/>
          </a:xfrm>
          <a:prstGeom prst="rect">
            <a:avLst/>
          </a:prstGeom>
          <a:noFill/>
          <a:ln/>
        </p:spPr>
        <p:txBody>
          <a:bodyPr wrap="square" lIns="0" tIns="0" rIns="0" bIns="0" rtlCol="0" anchor="ctr"/>
          <a:lstStyle/>
          <a:p>
            <a:pPr marL="0" indent="0">
              <a:buNone/>
            </a:pPr>
            <a:r>
              <a:rPr lang="en-US" sz="950" b="1" dirty="0">
                <a:solidFill>
                  <a:srgbClr val="FDFDFD"/>
                </a:solidFill>
                <a:latin typeface="Montserrat" pitchFamily="34" charset="0"/>
                <a:ea typeface="Montserrat" pitchFamily="34" charset="-122"/>
                <a:cs typeface="Montserrat" pitchFamily="34" charset="-120"/>
              </a:rPr>
              <a:t>Two cross-cutting planes</a:t>
            </a:r>
            <a:endParaRPr lang="en-US" sz="950" dirty="0"/>
          </a:p>
        </p:txBody>
      </p:sp>
      <p:sp>
        <p:nvSpPr>
          <p:cNvPr id="62" name="Text 60"/>
          <p:cNvSpPr/>
          <p:nvPr/>
        </p:nvSpPr>
        <p:spPr>
          <a:xfrm>
            <a:off x="4483608" y="5477256"/>
            <a:ext cx="3331464" cy="512064"/>
          </a:xfrm>
          <a:prstGeom prst="rect">
            <a:avLst/>
          </a:prstGeom>
          <a:noFill/>
          <a:ln/>
        </p:spPr>
        <p:txBody>
          <a:bodyPr wrap="square" lIns="0" tIns="0" rIns="0" bIns="0" rtlCol="0" anchor="t"/>
          <a:lstStyle/>
          <a:p>
            <a:pPr marL="0" indent="0">
              <a:lnSpc>
                <a:spcPct val="100000"/>
              </a:lnSpc>
              <a:buNone/>
            </a:pPr>
            <a:r>
              <a:rPr lang="en-US" sz="770" dirty="0">
                <a:solidFill>
                  <a:srgbClr val="D8D8D8"/>
                </a:solidFill>
                <a:latin typeface="Lora" pitchFamily="34" charset="0"/>
                <a:ea typeface="Lora" pitchFamily="34" charset="-122"/>
                <a:cs typeface="Lora" pitchFamily="34" charset="-120"/>
              </a:rPr>
              <a:t>Policy and evals are not steps in the call — they span it. Every call is policy-enforced and observed, exactly like the security rail across the wider architecture.</a:t>
            </a:r>
            <a:endParaRPr lang="en-US" sz="770" dirty="0"/>
          </a:p>
        </p:txBody>
      </p:sp>
      <p:sp>
        <p:nvSpPr>
          <p:cNvPr id="63" name="Shape 61"/>
          <p:cNvSpPr/>
          <p:nvPr/>
        </p:nvSpPr>
        <p:spPr>
          <a:xfrm>
            <a:off x="8125968" y="5175504"/>
            <a:ext cx="3697224" cy="841248"/>
          </a:xfrm>
          <a:prstGeom prst="roundRect">
            <a:avLst>
              <a:gd name="adj" fmla="val 6522"/>
            </a:avLst>
          </a:prstGeom>
          <a:solidFill>
            <a:srgbClr val="F5F4F1"/>
          </a:solidFill>
          <a:ln/>
        </p:spPr>
        <p:txBody>
          <a:bodyPr/>
          <a:lstStyle/>
          <a:p>
            <a:endParaRPr lang="en-US"/>
          </a:p>
        </p:txBody>
      </p:sp>
      <p:sp>
        <p:nvSpPr>
          <p:cNvPr id="64" name="Shape 62"/>
          <p:cNvSpPr/>
          <p:nvPr/>
        </p:nvSpPr>
        <p:spPr>
          <a:xfrm>
            <a:off x="8253984" y="5285232"/>
            <a:ext cx="36576" cy="621792"/>
          </a:xfrm>
          <a:prstGeom prst="rect">
            <a:avLst/>
          </a:prstGeom>
          <a:solidFill>
            <a:srgbClr val="E31837"/>
          </a:solidFill>
          <a:ln/>
        </p:spPr>
        <p:txBody>
          <a:bodyPr/>
          <a:lstStyle/>
          <a:p>
            <a:endParaRPr lang="en-US"/>
          </a:p>
        </p:txBody>
      </p:sp>
      <p:sp>
        <p:nvSpPr>
          <p:cNvPr id="65" name="Text 63"/>
          <p:cNvSpPr/>
          <p:nvPr/>
        </p:nvSpPr>
        <p:spPr>
          <a:xfrm>
            <a:off x="8363712" y="5266944"/>
            <a:ext cx="3331464" cy="201168"/>
          </a:xfrm>
          <a:prstGeom prst="rect">
            <a:avLst/>
          </a:prstGeom>
          <a:noFill/>
          <a:ln/>
        </p:spPr>
        <p:txBody>
          <a:bodyPr wrap="square" lIns="0" tIns="0" rIns="0" bIns="0" rtlCol="0" anchor="ctr"/>
          <a:lstStyle/>
          <a:p>
            <a:pPr marL="0" indent="0">
              <a:buNone/>
            </a:pPr>
            <a:r>
              <a:rPr lang="en-US" sz="950" b="1" dirty="0">
                <a:solidFill>
                  <a:srgbClr val="333333"/>
                </a:solidFill>
                <a:latin typeface="Montserrat" pitchFamily="34" charset="0"/>
                <a:ea typeface="Montserrat" pitchFamily="34" charset="-122"/>
                <a:cs typeface="Montserrat" pitchFamily="34" charset="-120"/>
              </a:rPr>
              <a:t>Memory tiers</a:t>
            </a:r>
            <a:endParaRPr lang="en-US" sz="950" dirty="0"/>
          </a:p>
        </p:txBody>
      </p:sp>
      <p:sp>
        <p:nvSpPr>
          <p:cNvPr id="66" name="Text 64"/>
          <p:cNvSpPr/>
          <p:nvPr/>
        </p:nvSpPr>
        <p:spPr>
          <a:xfrm>
            <a:off x="8363712" y="5477256"/>
            <a:ext cx="3331464" cy="512064"/>
          </a:xfrm>
          <a:prstGeom prst="rect">
            <a:avLst/>
          </a:prstGeom>
          <a:noFill/>
          <a:ln/>
        </p:spPr>
        <p:txBody>
          <a:bodyPr wrap="square" lIns="0" tIns="0" rIns="0" bIns="0" rtlCol="0" anchor="t"/>
          <a:lstStyle/>
          <a:p>
            <a:pPr marL="0" indent="0">
              <a:lnSpc>
                <a:spcPct val="100000"/>
              </a:lnSpc>
              <a:buNone/>
            </a:pPr>
            <a:r>
              <a:rPr lang="en-US" sz="770" dirty="0">
                <a:solidFill>
                  <a:srgbClr val="5F5E5A"/>
                </a:solidFill>
                <a:latin typeface="Lora" pitchFamily="34" charset="0"/>
                <a:ea typeface="Lora" pitchFamily="34" charset="-122"/>
                <a:cs typeface="Lora" pitchFamily="34" charset="-120"/>
              </a:rPr>
              <a:t>Short-term working memory (minutes, session-scoped) keeps a journey coherent; long-term customer memory (durable, vector+KV) personalises across visits.</a:t>
            </a:r>
            <a:endParaRPr lang="en-US" sz="770" dirty="0"/>
          </a:p>
        </p:txBody>
      </p:sp>
      <p:sp>
        <p:nvSpPr>
          <p:cNvPr id="67" name="Text 65"/>
          <p:cNvSpPr/>
          <p:nvPr/>
        </p:nvSpPr>
        <p:spPr>
          <a:xfrm>
            <a:off x="365760" y="6071616"/>
            <a:ext cx="11430000" cy="182880"/>
          </a:xfrm>
          <a:prstGeom prst="rect">
            <a:avLst/>
          </a:prstGeom>
          <a:noFill/>
          <a:ln/>
        </p:spPr>
        <p:txBody>
          <a:bodyPr wrap="square" lIns="0" tIns="0" rIns="0" bIns="0" rtlCol="0" anchor="ctr"/>
          <a:lstStyle/>
          <a:p>
            <a:pPr marL="0" indent="0">
              <a:buNone/>
            </a:pPr>
            <a:r>
              <a:rPr lang="en-US" sz="750" b="1" dirty="0">
                <a:solidFill>
                  <a:srgbClr val="5F5E59"/>
                </a:solidFill>
                <a:latin typeface="Lora" pitchFamily="34" charset="0"/>
                <a:ea typeface="Lora" pitchFamily="34" charset="-122"/>
                <a:cs typeface="Lora" pitchFamily="34" charset="-120"/>
              </a:rPr>
              <a:t>Technical view · illustrative.  </a:t>
            </a:r>
            <a:r>
              <a:rPr lang="en-US" sz="750" i="1" dirty="0">
                <a:solidFill>
                  <a:srgbClr val="5F5E59"/>
                </a:solidFill>
                <a:latin typeface="Lora" pitchFamily="34" charset="0"/>
                <a:ea typeface="Lora" pitchFamily="34" charset="-122"/>
                <a:cs typeface="Lora" pitchFamily="34" charset="-120"/>
              </a:rPr>
              <a:t>Component names, model tiers &amp; stores are reference choices to be confirmed in detailed design.</a:t>
            </a:r>
            <a:endParaRPr lang="en-US" sz="750" dirty="0">
              <a:solidFill>
                <a:srgbClr val="5F5E5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3D187-B365-B87A-6021-950B3DED272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59880C0-A421-E54F-9456-FD0DD5E162C5}"/>
              </a:ext>
            </a:extLst>
          </p:cNvPr>
          <p:cNvSpPr/>
          <p:nvPr/>
        </p:nvSpPr>
        <p:spPr>
          <a:xfrm>
            <a:off x="0" y="0"/>
            <a:ext cx="12188952" cy="100584"/>
          </a:xfrm>
          <a:prstGeom prst="rect">
            <a:avLst/>
          </a:prstGeom>
          <a:solidFill>
            <a:srgbClr val="E31837"/>
          </a:solidFill>
          <a:ln/>
        </p:spPr>
        <p:txBody>
          <a:bodyPr/>
          <a:lstStyle/>
          <a:p>
            <a:endParaRPr lang="en-US"/>
          </a:p>
        </p:txBody>
      </p:sp>
      <p:sp>
        <p:nvSpPr>
          <p:cNvPr id="4" name="Text 2">
            <a:extLst>
              <a:ext uri="{FF2B5EF4-FFF2-40B4-BE49-F238E27FC236}">
                <a16:creationId xmlns:a16="http://schemas.microsoft.com/office/drawing/2014/main" id="{2FA7385A-8DBD-EAF4-7D41-E66134EB762E}"/>
              </a:ext>
            </a:extLst>
          </p:cNvPr>
          <p:cNvSpPr/>
          <p:nvPr/>
        </p:nvSpPr>
        <p:spPr>
          <a:xfrm>
            <a:off x="548640" y="365760"/>
            <a:ext cx="7315200" cy="237744"/>
          </a:xfrm>
          <a:prstGeom prst="rect">
            <a:avLst/>
          </a:prstGeom>
          <a:noFill/>
          <a:ln/>
        </p:spPr>
        <p:txBody>
          <a:bodyPr wrap="square" lIns="0" tIns="0" rIns="0" bIns="0" rtlCol="0" anchor="ctr"/>
          <a:lstStyle/>
          <a:p>
            <a:pPr marL="0" indent="0">
              <a:buNone/>
            </a:pPr>
            <a:r>
              <a:rPr lang="en-US" sz="1100" b="1" kern="0" spc="250" dirty="0">
                <a:solidFill>
                  <a:srgbClr val="E31837"/>
                </a:solidFill>
                <a:latin typeface="Montserrat" pitchFamily="34" charset="0"/>
                <a:ea typeface="Montserrat" pitchFamily="34" charset="-122"/>
                <a:cs typeface="Montserrat" pitchFamily="34" charset="-120"/>
              </a:rPr>
              <a:t>OBJECTIVE 1 · SEQUENCE DAIGRAM 1-3</a:t>
            </a:r>
            <a:endParaRPr lang="en-US" sz="1100" dirty="0"/>
          </a:p>
        </p:txBody>
      </p:sp>
      <p:sp>
        <p:nvSpPr>
          <p:cNvPr id="5" name="Text 3">
            <a:extLst>
              <a:ext uri="{FF2B5EF4-FFF2-40B4-BE49-F238E27FC236}">
                <a16:creationId xmlns:a16="http://schemas.microsoft.com/office/drawing/2014/main" id="{2D6689AE-879E-CEDE-58AC-627F3632D922}"/>
              </a:ext>
            </a:extLst>
          </p:cNvPr>
          <p:cNvSpPr/>
          <p:nvPr/>
        </p:nvSpPr>
        <p:spPr>
          <a:xfrm>
            <a:off x="539495" y="555654"/>
            <a:ext cx="10972800" cy="502920"/>
          </a:xfrm>
          <a:prstGeom prst="rect">
            <a:avLst/>
          </a:prstGeom>
          <a:noFill/>
          <a:ln/>
        </p:spPr>
        <p:txBody>
          <a:bodyPr wrap="square" lIns="0" tIns="0" rIns="0" bIns="0" rtlCol="0" anchor="ctr"/>
          <a:lstStyle/>
          <a:p>
            <a:r>
              <a:rPr lang="en-US" sz="1600" b="1" dirty="0">
                <a:solidFill>
                  <a:srgbClr val="333333"/>
                </a:solidFill>
                <a:latin typeface="Montserrat" pitchFamily="34" charset="0"/>
                <a:ea typeface="Montserrat" pitchFamily="34" charset="-122"/>
                <a:cs typeface="Montserrat" pitchFamily="34" charset="-120"/>
              </a:rPr>
              <a:t>DISCOVERY</a:t>
            </a:r>
            <a:endParaRPr lang="en-US" sz="1600" dirty="0"/>
          </a:p>
        </p:txBody>
      </p:sp>
      <p:sp>
        <p:nvSpPr>
          <p:cNvPr id="44" name="Shape 42">
            <a:extLst>
              <a:ext uri="{FF2B5EF4-FFF2-40B4-BE49-F238E27FC236}">
                <a16:creationId xmlns:a16="http://schemas.microsoft.com/office/drawing/2014/main" id="{8EEBAA1A-26E6-188A-6643-4774CD8088D9}"/>
              </a:ext>
            </a:extLst>
          </p:cNvPr>
          <p:cNvSpPr/>
          <p:nvPr/>
        </p:nvSpPr>
        <p:spPr>
          <a:xfrm>
            <a:off x="548640" y="6531799"/>
            <a:ext cx="11091672" cy="10973"/>
          </a:xfrm>
          <a:prstGeom prst="rect">
            <a:avLst/>
          </a:prstGeom>
          <a:solidFill>
            <a:srgbClr val="E2E0D9"/>
          </a:solidFill>
          <a:ln/>
        </p:spPr>
        <p:txBody>
          <a:bodyPr/>
          <a:lstStyle/>
          <a:p>
            <a:endParaRPr lang="en-US"/>
          </a:p>
        </p:txBody>
      </p:sp>
      <p:sp>
        <p:nvSpPr>
          <p:cNvPr id="45" name="Text 43">
            <a:extLst>
              <a:ext uri="{FF2B5EF4-FFF2-40B4-BE49-F238E27FC236}">
                <a16:creationId xmlns:a16="http://schemas.microsoft.com/office/drawing/2014/main" id="{AE241F92-05B4-0663-E495-C96F41413DE1}"/>
              </a:ext>
            </a:extLst>
          </p:cNvPr>
          <p:cNvSpPr/>
          <p:nvPr/>
        </p:nvSpPr>
        <p:spPr>
          <a:xfrm>
            <a:off x="548640" y="6623239"/>
            <a:ext cx="5486400" cy="237744"/>
          </a:xfrm>
          <a:prstGeom prst="rect">
            <a:avLst/>
          </a:prstGeom>
          <a:noFill/>
          <a:ln/>
        </p:spPr>
        <p:txBody>
          <a:bodyPr wrap="square" lIns="0" tIns="0" rIns="0" bIns="0" rtlCol="0" anchor="ctr"/>
          <a:lstStyle/>
          <a:p>
            <a:pPr marL="0" indent="0">
              <a:buNone/>
            </a:pPr>
            <a:r>
              <a:rPr lang="en-US" sz="900" dirty="0">
                <a:solidFill>
                  <a:srgbClr val="A0A5AB"/>
                </a:solidFill>
                <a:latin typeface="Montserrat" pitchFamily="34" charset="0"/>
                <a:ea typeface="Montserrat" pitchFamily="34" charset="-122"/>
                <a:cs typeface="Montserrat" pitchFamily="34" charset="-120"/>
              </a:rPr>
              <a:t>Mission #3 · Team 5 — Condor Galaxy</a:t>
            </a:r>
            <a:endParaRPr lang="en-US" sz="900" dirty="0"/>
          </a:p>
        </p:txBody>
      </p:sp>
      <p:sp>
        <p:nvSpPr>
          <p:cNvPr id="46" name="Text 44">
            <a:extLst>
              <a:ext uri="{FF2B5EF4-FFF2-40B4-BE49-F238E27FC236}">
                <a16:creationId xmlns:a16="http://schemas.microsoft.com/office/drawing/2014/main" id="{88C8293D-F222-3513-3669-1D5275F09F88}"/>
              </a:ext>
            </a:extLst>
          </p:cNvPr>
          <p:cNvSpPr/>
          <p:nvPr/>
        </p:nvSpPr>
        <p:spPr>
          <a:xfrm>
            <a:off x="6126480" y="6623239"/>
            <a:ext cx="5513832" cy="237744"/>
          </a:xfrm>
          <a:prstGeom prst="rect">
            <a:avLst/>
          </a:prstGeom>
          <a:noFill/>
          <a:ln/>
        </p:spPr>
        <p:txBody>
          <a:bodyPr wrap="square" lIns="0" tIns="0" rIns="0" bIns="0" rtlCol="0" anchor="ctr"/>
          <a:lstStyle/>
          <a:p>
            <a:pPr marL="0" indent="0" algn="r">
              <a:buNone/>
            </a:pPr>
            <a:r>
              <a:rPr lang="en-US" sz="900" i="1" dirty="0">
                <a:solidFill>
                  <a:srgbClr val="A0A5AB"/>
                </a:solidFill>
                <a:latin typeface="Lora" pitchFamily="34" charset="0"/>
                <a:ea typeface="Lora" pitchFamily="34" charset="-122"/>
                <a:cs typeface="Lora" pitchFamily="34" charset="-120"/>
              </a:rPr>
              <a:t>Smart retail. Real value.</a:t>
            </a:r>
            <a:endParaRPr lang="en-US" sz="900" dirty="0"/>
          </a:p>
        </p:txBody>
      </p:sp>
      <p:pic>
        <p:nvPicPr>
          <p:cNvPr id="53" name="Google Shape;126;p2" descr="preencoded.png">
            <a:extLst>
              <a:ext uri="{FF2B5EF4-FFF2-40B4-BE49-F238E27FC236}">
                <a16:creationId xmlns:a16="http://schemas.microsoft.com/office/drawing/2014/main" id="{21678D1F-5D7D-562A-3857-635A88C6E478}"/>
              </a:ext>
            </a:extLst>
          </p:cNvPr>
          <p:cNvPicPr preferRelativeResize="0"/>
          <p:nvPr/>
        </p:nvPicPr>
        <p:blipFill rotWithShape="1">
          <a:blip r:embed="rId3">
            <a:alphaModFix/>
          </a:blip>
          <a:srcRect/>
          <a:stretch/>
        </p:blipFill>
        <p:spPr>
          <a:xfrm>
            <a:off x="11177532" y="284003"/>
            <a:ext cx="669527" cy="671619"/>
          </a:xfrm>
          <a:prstGeom prst="rect">
            <a:avLst/>
          </a:prstGeom>
          <a:noFill/>
          <a:ln>
            <a:noFill/>
          </a:ln>
        </p:spPr>
      </p:pic>
      <p:pic>
        <p:nvPicPr>
          <p:cNvPr id="3" name="Picture 2">
            <a:extLst>
              <a:ext uri="{FF2B5EF4-FFF2-40B4-BE49-F238E27FC236}">
                <a16:creationId xmlns:a16="http://schemas.microsoft.com/office/drawing/2014/main" id="{8ABA8796-B30E-B50D-18BC-7F02B19C5D6B}"/>
              </a:ext>
            </a:extLst>
          </p:cNvPr>
          <p:cNvPicPr>
            <a:picLocks noChangeAspect="1"/>
          </p:cNvPicPr>
          <p:nvPr/>
        </p:nvPicPr>
        <p:blipFill>
          <a:blip r:embed="rId4"/>
          <a:stretch>
            <a:fillRect/>
          </a:stretch>
        </p:blipFill>
        <p:spPr>
          <a:xfrm>
            <a:off x="23947" y="1036089"/>
            <a:ext cx="12003895" cy="5506683"/>
          </a:xfrm>
          <a:prstGeom prst="rect">
            <a:avLst/>
          </a:prstGeom>
        </p:spPr>
      </p:pic>
    </p:spTree>
    <p:extLst>
      <p:ext uri="{BB962C8B-B14F-4D97-AF65-F5344CB8AC3E}">
        <p14:creationId xmlns:p14="http://schemas.microsoft.com/office/powerpoint/2010/main" val="301337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D1ABC-E33C-6647-813D-923AE2F41B4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073F772-5465-6F4E-A88F-212C93AA5EB5}"/>
              </a:ext>
            </a:extLst>
          </p:cNvPr>
          <p:cNvSpPr/>
          <p:nvPr/>
        </p:nvSpPr>
        <p:spPr>
          <a:xfrm>
            <a:off x="0" y="0"/>
            <a:ext cx="12188952" cy="100584"/>
          </a:xfrm>
          <a:prstGeom prst="rect">
            <a:avLst/>
          </a:prstGeom>
          <a:solidFill>
            <a:srgbClr val="E31837"/>
          </a:solidFill>
          <a:ln/>
        </p:spPr>
        <p:txBody>
          <a:bodyPr/>
          <a:lstStyle/>
          <a:p>
            <a:endParaRPr lang="en-US"/>
          </a:p>
        </p:txBody>
      </p:sp>
      <p:sp>
        <p:nvSpPr>
          <p:cNvPr id="4" name="Text 2">
            <a:extLst>
              <a:ext uri="{FF2B5EF4-FFF2-40B4-BE49-F238E27FC236}">
                <a16:creationId xmlns:a16="http://schemas.microsoft.com/office/drawing/2014/main" id="{83E81B01-FDA4-B714-1C0E-32D057EF5305}"/>
              </a:ext>
            </a:extLst>
          </p:cNvPr>
          <p:cNvSpPr/>
          <p:nvPr/>
        </p:nvSpPr>
        <p:spPr>
          <a:xfrm>
            <a:off x="548640" y="365760"/>
            <a:ext cx="7315200" cy="237744"/>
          </a:xfrm>
          <a:prstGeom prst="rect">
            <a:avLst/>
          </a:prstGeom>
          <a:noFill/>
          <a:ln/>
        </p:spPr>
        <p:txBody>
          <a:bodyPr wrap="square" lIns="0" tIns="0" rIns="0" bIns="0" rtlCol="0" anchor="ctr"/>
          <a:lstStyle/>
          <a:p>
            <a:r>
              <a:rPr lang="en-US" sz="1100" b="1" kern="0" spc="250" dirty="0">
                <a:solidFill>
                  <a:srgbClr val="E31837"/>
                </a:solidFill>
                <a:latin typeface="Montserrat" pitchFamily="34" charset="0"/>
                <a:ea typeface="Montserrat" pitchFamily="34" charset="-122"/>
                <a:cs typeface="Montserrat" pitchFamily="34" charset="-120"/>
              </a:rPr>
              <a:t>OBJECTIVE 1 · SEQUENCE DAIGRAM 2-3</a:t>
            </a:r>
            <a:endParaRPr lang="en-US" sz="1100" dirty="0"/>
          </a:p>
        </p:txBody>
      </p:sp>
      <p:sp>
        <p:nvSpPr>
          <p:cNvPr id="5" name="Text 3">
            <a:extLst>
              <a:ext uri="{FF2B5EF4-FFF2-40B4-BE49-F238E27FC236}">
                <a16:creationId xmlns:a16="http://schemas.microsoft.com/office/drawing/2014/main" id="{D48B196B-73C4-A74E-118E-050287EB185A}"/>
              </a:ext>
            </a:extLst>
          </p:cNvPr>
          <p:cNvSpPr/>
          <p:nvPr/>
        </p:nvSpPr>
        <p:spPr>
          <a:xfrm>
            <a:off x="548640" y="640080"/>
            <a:ext cx="10972800" cy="502920"/>
          </a:xfrm>
          <a:prstGeom prst="rect">
            <a:avLst/>
          </a:prstGeom>
          <a:noFill/>
          <a:ln/>
        </p:spPr>
        <p:txBody>
          <a:bodyPr wrap="square" lIns="0" tIns="0" rIns="0" bIns="0" rtlCol="0" anchor="ctr"/>
          <a:lstStyle/>
          <a:p>
            <a:r>
              <a:rPr lang="en-US" sz="1600" b="1" dirty="0">
                <a:solidFill>
                  <a:srgbClr val="333333"/>
                </a:solidFill>
                <a:latin typeface="Montserrat" pitchFamily="34" charset="0"/>
                <a:ea typeface="Montserrat" pitchFamily="34" charset="-122"/>
                <a:cs typeface="Montserrat" pitchFamily="34" charset="-120"/>
              </a:rPr>
              <a:t>UPSELL</a:t>
            </a:r>
            <a:endParaRPr lang="en-US" sz="1600" dirty="0"/>
          </a:p>
        </p:txBody>
      </p:sp>
      <p:sp>
        <p:nvSpPr>
          <p:cNvPr id="44" name="Shape 42">
            <a:extLst>
              <a:ext uri="{FF2B5EF4-FFF2-40B4-BE49-F238E27FC236}">
                <a16:creationId xmlns:a16="http://schemas.microsoft.com/office/drawing/2014/main" id="{A8BC03DD-C3E3-345E-8E59-1868173F342C}"/>
              </a:ext>
            </a:extLst>
          </p:cNvPr>
          <p:cNvSpPr/>
          <p:nvPr/>
        </p:nvSpPr>
        <p:spPr>
          <a:xfrm>
            <a:off x="548640" y="6542430"/>
            <a:ext cx="11091672" cy="10973"/>
          </a:xfrm>
          <a:prstGeom prst="rect">
            <a:avLst/>
          </a:prstGeom>
          <a:solidFill>
            <a:srgbClr val="E2E0D9"/>
          </a:solidFill>
          <a:ln/>
        </p:spPr>
        <p:txBody>
          <a:bodyPr/>
          <a:lstStyle/>
          <a:p>
            <a:endParaRPr lang="en-US"/>
          </a:p>
        </p:txBody>
      </p:sp>
      <p:sp>
        <p:nvSpPr>
          <p:cNvPr id="45" name="Text 43">
            <a:extLst>
              <a:ext uri="{FF2B5EF4-FFF2-40B4-BE49-F238E27FC236}">
                <a16:creationId xmlns:a16="http://schemas.microsoft.com/office/drawing/2014/main" id="{91E8C62D-C478-1A4B-27E4-39A355D21384}"/>
              </a:ext>
            </a:extLst>
          </p:cNvPr>
          <p:cNvSpPr/>
          <p:nvPr/>
        </p:nvSpPr>
        <p:spPr>
          <a:xfrm>
            <a:off x="548640" y="6633870"/>
            <a:ext cx="5486400" cy="237744"/>
          </a:xfrm>
          <a:prstGeom prst="rect">
            <a:avLst/>
          </a:prstGeom>
          <a:noFill/>
          <a:ln/>
        </p:spPr>
        <p:txBody>
          <a:bodyPr wrap="square" lIns="0" tIns="0" rIns="0" bIns="0" rtlCol="0" anchor="ctr"/>
          <a:lstStyle/>
          <a:p>
            <a:pPr marL="0" indent="0">
              <a:buNone/>
            </a:pPr>
            <a:r>
              <a:rPr lang="en-US" sz="900" dirty="0">
                <a:solidFill>
                  <a:srgbClr val="A0A5AB"/>
                </a:solidFill>
                <a:latin typeface="Montserrat" pitchFamily="34" charset="0"/>
                <a:ea typeface="Montserrat" pitchFamily="34" charset="-122"/>
                <a:cs typeface="Montserrat" pitchFamily="34" charset="-120"/>
              </a:rPr>
              <a:t>Mission #3 · Team 5 — Condor Galaxy</a:t>
            </a:r>
            <a:endParaRPr lang="en-US" sz="900" dirty="0"/>
          </a:p>
        </p:txBody>
      </p:sp>
      <p:sp>
        <p:nvSpPr>
          <p:cNvPr id="46" name="Text 44">
            <a:extLst>
              <a:ext uri="{FF2B5EF4-FFF2-40B4-BE49-F238E27FC236}">
                <a16:creationId xmlns:a16="http://schemas.microsoft.com/office/drawing/2014/main" id="{1B33DC79-A6D6-8F81-B9BD-2C494198456D}"/>
              </a:ext>
            </a:extLst>
          </p:cNvPr>
          <p:cNvSpPr/>
          <p:nvPr/>
        </p:nvSpPr>
        <p:spPr>
          <a:xfrm>
            <a:off x="6126480" y="6633870"/>
            <a:ext cx="5513832" cy="237744"/>
          </a:xfrm>
          <a:prstGeom prst="rect">
            <a:avLst/>
          </a:prstGeom>
          <a:noFill/>
          <a:ln/>
        </p:spPr>
        <p:txBody>
          <a:bodyPr wrap="square" lIns="0" tIns="0" rIns="0" bIns="0" rtlCol="0" anchor="ctr"/>
          <a:lstStyle/>
          <a:p>
            <a:pPr marL="0" indent="0" algn="r">
              <a:buNone/>
            </a:pPr>
            <a:r>
              <a:rPr lang="en-US" sz="900" i="1" dirty="0">
                <a:solidFill>
                  <a:srgbClr val="A0A5AB"/>
                </a:solidFill>
                <a:latin typeface="Lora" pitchFamily="34" charset="0"/>
                <a:ea typeface="Lora" pitchFamily="34" charset="-122"/>
                <a:cs typeface="Lora" pitchFamily="34" charset="-120"/>
              </a:rPr>
              <a:t>Smart retail. Real value.</a:t>
            </a:r>
            <a:endParaRPr lang="en-US" sz="900" dirty="0"/>
          </a:p>
        </p:txBody>
      </p:sp>
      <p:pic>
        <p:nvPicPr>
          <p:cNvPr id="53" name="Google Shape;126;p2" descr="preencoded.png">
            <a:extLst>
              <a:ext uri="{FF2B5EF4-FFF2-40B4-BE49-F238E27FC236}">
                <a16:creationId xmlns:a16="http://schemas.microsoft.com/office/drawing/2014/main" id="{7E6BD3FB-8471-ADEF-57F1-CFFD789E7BEF}"/>
              </a:ext>
            </a:extLst>
          </p:cNvPr>
          <p:cNvPicPr preferRelativeResize="0"/>
          <p:nvPr/>
        </p:nvPicPr>
        <p:blipFill rotWithShape="1">
          <a:blip r:embed="rId3">
            <a:alphaModFix/>
          </a:blip>
          <a:srcRect/>
          <a:stretch/>
        </p:blipFill>
        <p:spPr>
          <a:xfrm>
            <a:off x="11177532" y="284003"/>
            <a:ext cx="669527" cy="671619"/>
          </a:xfrm>
          <a:prstGeom prst="rect">
            <a:avLst/>
          </a:prstGeom>
          <a:noFill/>
          <a:ln>
            <a:noFill/>
          </a:ln>
        </p:spPr>
      </p:pic>
      <p:pic>
        <p:nvPicPr>
          <p:cNvPr id="3" name="Picture 2">
            <a:extLst>
              <a:ext uri="{FF2B5EF4-FFF2-40B4-BE49-F238E27FC236}">
                <a16:creationId xmlns:a16="http://schemas.microsoft.com/office/drawing/2014/main" id="{B28BE8ED-E085-E4C1-38D0-BB445157E7DA}"/>
              </a:ext>
            </a:extLst>
          </p:cNvPr>
          <p:cNvPicPr>
            <a:picLocks noChangeAspect="1"/>
          </p:cNvPicPr>
          <p:nvPr/>
        </p:nvPicPr>
        <p:blipFill>
          <a:blip r:embed="rId4"/>
          <a:stretch>
            <a:fillRect/>
          </a:stretch>
        </p:blipFill>
        <p:spPr>
          <a:xfrm>
            <a:off x="130629" y="1139041"/>
            <a:ext cx="11930742" cy="5353199"/>
          </a:xfrm>
          <a:prstGeom prst="rect">
            <a:avLst/>
          </a:prstGeom>
        </p:spPr>
      </p:pic>
    </p:spTree>
    <p:extLst>
      <p:ext uri="{BB962C8B-B14F-4D97-AF65-F5344CB8AC3E}">
        <p14:creationId xmlns:p14="http://schemas.microsoft.com/office/powerpoint/2010/main" val="2371417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5148-A434-A5D4-7ED6-7AB071D808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9F97762-0688-21CC-BD69-AA16E674E2AF}"/>
              </a:ext>
            </a:extLst>
          </p:cNvPr>
          <p:cNvSpPr/>
          <p:nvPr/>
        </p:nvSpPr>
        <p:spPr>
          <a:xfrm>
            <a:off x="0" y="0"/>
            <a:ext cx="12188952" cy="100584"/>
          </a:xfrm>
          <a:prstGeom prst="rect">
            <a:avLst/>
          </a:prstGeom>
          <a:solidFill>
            <a:srgbClr val="E31837"/>
          </a:solidFill>
          <a:ln/>
        </p:spPr>
        <p:txBody>
          <a:bodyPr/>
          <a:lstStyle/>
          <a:p>
            <a:endParaRPr lang="en-US"/>
          </a:p>
        </p:txBody>
      </p:sp>
      <p:sp>
        <p:nvSpPr>
          <p:cNvPr id="4" name="Text 2">
            <a:extLst>
              <a:ext uri="{FF2B5EF4-FFF2-40B4-BE49-F238E27FC236}">
                <a16:creationId xmlns:a16="http://schemas.microsoft.com/office/drawing/2014/main" id="{F26D1347-6878-D236-1EB2-5EDDA36883E7}"/>
              </a:ext>
            </a:extLst>
          </p:cNvPr>
          <p:cNvSpPr/>
          <p:nvPr/>
        </p:nvSpPr>
        <p:spPr>
          <a:xfrm>
            <a:off x="548640" y="264262"/>
            <a:ext cx="7315200" cy="237744"/>
          </a:xfrm>
          <a:prstGeom prst="rect">
            <a:avLst/>
          </a:prstGeom>
          <a:noFill/>
          <a:ln/>
        </p:spPr>
        <p:txBody>
          <a:bodyPr wrap="square" lIns="0" tIns="0" rIns="0" bIns="0" rtlCol="0" anchor="ctr"/>
          <a:lstStyle/>
          <a:p>
            <a:r>
              <a:rPr lang="en-US" sz="1100" b="1" kern="0" spc="250" dirty="0">
                <a:solidFill>
                  <a:srgbClr val="E31837"/>
                </a:solidFill>
                <a:latin typeface="Montserrat" pitchFamily="34" charset="0"/>
                <a:ea typeface="Montserrat" pitchFamily="34" charset="-122"/>
                <a:cs typeface="Montserrat" pitchFamily="34" charset="-120"/>
              </a:rPr>
              <a:t>OBJECTIVE 1 · SEQUENCE DAIGRAM 3-3</a:t>
            </a:r>
            <a:endParaRPr lang="en-US" sz="1100" dirty="0"/>
          </a:p>
        </p:txBody>
      </p:sp>
      <p:sp>
        <p:nvSpPr>
          <p:cNvPr id="5" name="Text 3">
            <a:extLst>
              <a:ext uri="{FF2B5EF4-FFF2-40B4-BE49-F238E27FC236}">
                <a16:creationId xmlns:a16="http://schemas.microsoft.com/office/drawing/2014/main" id="{666C7A5E-50AF-ECF4-BB5C-E4F29A44D9A8}"/>
              </a:ext>
            </a:extLst>
          </p:cNvPr>
          <p:cNvSpPr/>
          <p:nvPr/>
        </p:nvSpPr>
        <p:spPr>
          <a:xfrm>
            <a:off x="539495" y="433965"/>
            <a:ext cx="10972800" cy="502920"/>
          </a:xfrm>
          <a:prstGeom prst="rect">
            <a:avLst/>
          </a:prstGeom>
          <a:noFill/>
          <a:ln/>
        </p:spPr>
        <p:txBody>
          <a:bodyPr wrap="square" lIns="0" tIns="0" rIns="0" bIns="0" rtlCol="0" anchor="ctr"/>
          <a:lstStyle/>
          <a:p>
            <a:r>
              <a:rPr lang="en-US" sz="1600" b="1" dirty="0">
                <a:solidFill>
                  <a:srgbClr val="333333"/>
                </a:solidFill>
                <a:latin typeface="Montserrat" pitchFamily="34" charset="0"/>
                <a:ea typeface="Montserrat" pitchFamily="34" charset="-122"/>
                <a:cs typeface="Montserrat" pitchFamily="34" charset="-120"/>
              </a:rPr>
              <a:t>Sequence Diagram #3 - Size &amp; Fit</a:t>
            </a:r>
            <a:endParaRPr lang="en-US" sz="1600" dirty="0"/>
          </a:p>
        </p:txBody>
      </p:sp>
      <p:sp>
        <p:nvSpPr>
          <p:cNvPr id="44" name="Shape 42">
            <a:extLst>
              <a:ext uri="{FF2B5EF4-FFF2-40B4-BE49-F238E27FC236}">
                <a16:creationId xmlns:a16="http://schemas.microsoft.com/office/drawing/2014/main" id="{79574922-4635-4610-D7C6-5CA31B0B6707}"/>
              </a:ext>
            </a:extLst>
          </p:cNvPr>
          <p:cNvSpPr/>
          <p:nvPr/>
        </p:nvSpPr>
        <p:spPr>
          <a:xfrm>
            <a:off x="548640" y="6053328"/>
            <a:ext cx="11091672" cy="10973"/>
          </a:xfrm>
          <a:prstGeom prst="rect">
            <a:avLst/>
          </a:prstGeom>
          <a:solidFill>
            <a:srgbClr val="E2E0D9"/>
          </a:solidFill>
          <a:ln/>
        </p:spPr>
        <p:txBody>
          <a:bodyPr/>
          <a:lstStyle/>
          <a:p>
            <a:endParaRPr lang="en-US"/>
          </a:p>
        </p:txBody>
      </p:sp>
      <p:sp>
        <p:nvSpPr>
          <p:cNvPr id="45" name="Text 43">
            <a:extLst>
              <a:ext uri="{FF2B5EF4-FFF2-40B4-BE49-F238E27FC236}">
                <a16:creationId xmlns:a16="http://schemas.microsoft.com/office/drawing/2014/main" id="{E6969E36-4C7C-FD71-917F-900555DD7CE8}"/>
              </a:ext>
            </a:extLst>
          </p:cNvPr>
          <p:cNvSpPr/>
          <p:nvPr/>
        </p:nvSpPr>
        <p:spPr>
          <a:xfrm>
            <a:off x="548640" y="6144768"/>
            <a:ext cx="5486400" cy="237744"/>
          </a:xfrm>
          <a:prstGeom prst="rect">
            <a:avLst/>
          </a:prstGeom>
          <a:noFill/>
          <a:ln/>
        </p:spPr>
        <p:txBody>
          <a:bodyPr wrap="square" lIns="0" tIns="0" rIns="0" bIns="0" rtlCol="0" anchor="ctr"/>
          <a:lstStyle/>
          <a:p>
            <a:pPr marL="0" indent="0">
              <a:buNone/>
            </a:pPr>
            <a:r>
              <a:rPr lang="en-US" sz="900" dirty="0">
                <a:solidFill>
                  <a:srgbClr val="A0A5AB"/>
                </a:solidFill>
                <a:latin typeface="Montserrat" pitchFamily="34" charset="0"/>
                <a:ea typeface="Montserrat" pitchFamily="34" charset="-122"/>
                <a:cs typeface="Montserrat" pitchFamily="34" charset="-120"/>
              </a:rPr>
              <a:t>Mission #3 · Team 5 — Condor Galaxy</a:t>
            </a:r>
            <a:endParaRPr lang="en-US" sz="900" dirty="0"/>
          </a:p>
        </p:txBody>
      </p:sp>
      <p:sp>
        <p:nvSpPr>
          <p:cNvPr id="46" name="Text 44">
            <a:extLst>
              <a:ext uri="{FF2B5EF4-FFF2-40B4-BE49-F238E27FC236}">
                <a16:creationId xmlns:a16="http://schemas.microsoft.com/office/drawing/2014/main" id="{7EA68F3B-DF6E-F46F-87D9-BA7AE3B1D45A}"/>
              </a:ext>
            </a:extLst>
          </p:cNvPr>
          <p:cNvSpPr/>
          <p:nvPr/>
        </p:nvSpPr>
        <p:spPr>
          <a:xfrm>
            <a:off x="6126480" y="6144768"/>
            <a:ext cx="5513832" cy="237744"/>
          </a:xfrm>
          <a:prstGeom prst="rect">
            <a:avLst/>
          </a:prstGeom>
          <a:noFill/>
          <a:ln/>
        </p:spPr>
        <p:txBody>
          <a:bodyPr wrap="square" lIns="0" tIns="0" rIns="0" bIns="0" rtlCol="0" anchor="ctr"/>
          <a:lstStyle/>
          <a:p>
            <a:pPr marL="0" indent="0" algn="r">
              <a:buNone/>
            </a:pPr>
            <a:r>
              <a:rPr lang="en-US" sz="900" i="1" dirty="0">
                <a:solidFill>
                  <a:srgbClr val="A0A5AB"/>
                </a:solidFill>
                <a:latin typeface="Lora" pitchFamily="34" charset="0"/>
                <a:ea typeface="Lora" pitchFamily="34" charset="-122"/>
                <a:cs typeface="Lora" pitchFamily="34" charset="-120"/>
              </a:rPr>
              <a:t>Smart retail. Real value.</a:t>
            </a:r>
            <a:endParaRPr lang="en-US" sz="900" dirty="0"/>
          </a:p>
        </p:txBody>
      </p:sp>
      <p:pic>
        <p:nvPicPr>
          <p:cNvPr id="3" name="Picture 2">
            <a:extLst>
              <a:ext uri="{FF2B5EF4-FFF2-40B4-BE49-F238E27FC236}">
                <a16:creationId xmlns:a16="http://schemas.microsoft.com/office/drawing/2014/main" id="{71C00F63-54A5-A556-CFF9-906712887ECE}"/>
              </a:ext>
            </a:extLst>
          </p:cNvPr>
          <p:cNvPicPr>
            <a:picLocks noChangeAspect="1"/>
          </p:cNvPicPr>
          <p:nvPr/>
        </p:nvPicPr>
        <p:blipFill>
          <a:blip r:embed="rId3"/>
          <a:stretch>
            <a:fillRect/>
          </a:stretch>
        </p:blipFill>
        <p:spPr>
          <a:xfrm>
            <a:off x="117566" y="835387"/>
            <a:ext cx="11729493" cy="6193630"/>
          </a:xfrm>
          <a:prstGeom prst="rect">
            <a:avLst/>
          </a:prstGeom>
        </p:spPr>
      </p:pic>
      <p:pic>
        <p:nvPicPr>
          <p:cNvPr id="53" name="Google Shape;126;p2" descr="preencoded.png">
            <a:extLst>
              <a:ext uri="{FF2B5EF4-FFF2-40B4-BE49-F238E27FC236}">
                <a16:creationId xmlns:a16="http://schemas.microsoft.com/office/drawing/2014/main" id="{AB03C530-3A1E-8AC0-7D38-256047731C86}"/>
              </a:ext>
            </a:extLst>
          </p:cNvPr>
          <p:cNvPicPr preferRelativeResize="0"/>
          <p:nvPr/>
        </p:nvPicPr>
        <p:blipFill rotWithShape="1">
          <a:blip r:embed="rId4">
            <a:alphaModFix/>
          </a:blip>
          <a:srcRect/>
          <a:stretch/>
        </p:blipFill>
        <p:spPr>
          <a:xfrm>
            <a:off x="11177532" y="284003"/>
            <a:ext cx="669527" cy="671619"/>
          </a:xfrm>
          <a:prstGeom prst="rect">
            <a:avLst/>
          </a:prstGeom>
          <a:noFill/>
          <a:ln>
            <a:noFill/>
          </a:ln>
        </p:spPr>
      </p:pic>
      <p:pic>
        <p:nvPicPr>
          <p:cNvPr id="7" name="Picture 6">
            <a:extLst>
              <a:ext uri="{FF2B5EF4-FFF2-40B4-BE49-F238E27FC236}">
                <a16:creationId xmlns:a16="http://schemas.microsoft.com/office/drawing/2014/main" id="{AB4AA7B1-8A91-C733-B821-D692B93A4E47}"/>
              </a:ext>
            </a:extLst>
          </p:cNvPr>
          <p:cNvPicPr>
            <a:picLocks noChangeAspect="1"/>
          </p:cNvPicPr>
          <p:nvPr/>
        </p:nvPicPr>
        <p:blipFill>
          <a:blip r:embed="rId3"/>
          <a:stretch>
            <a:fillRect/>
          </a:stretch>
        </p:blipFill>
        <p:spPr>
          <a:xfrm>
            <a:off x="117566" y="793699"/>
            <a:ext cx="11729493" cy="6193630"/>
          </a:xfrm>
          <a:prstGeom prst="rect">
            <a:avLst/>
          </a:prstGeom>
        </p:spPr>
      </p:pic>
    </p:spTree>
    <p:extLst>
      <p:ext uri="{BB962C8B-B14F-4D97-AF65-F5344CB8AC3E}">
        <p14:creationId xmlns:p14="http://schemas.microsoft.com/office/powerpoint/2010/main" val="664044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D9741-6953-A8CA-7883-E9058692FE0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01AFCF1-54EB-E199-C102-1242980F7DC3}"/>
              </a:ext>
            </a:extLst>
          </p:cNvPr>
          <p:cNvSpPr/>
          <p:nvPr/>
        </p:nvSpPr>
        <p:spPr>
          <a:xfrm>
            <a:off x="0" y="0"/>
            <a:ext cx="12188952" cy="100584"/>
          </a:xfrm>
          <a:prstGeom prst="rect">
            <a:avLst/>
          </a:prstGeom>
          <a:solidFill>
            <a:srgbClr val="E31837"/>
          </a:solidFill>
          <a:ln/>
        </p:spPr>
        <p:txBody>
          <a:bodyPr/>
          <a:lstStyle/>
          <a:p>
            <a:endParaRPr lang="en-US"/>
          </a:p>
        </p:txBody>
      </p:sp>
      <p:sp>
        <p:nvSpPr>
          <p:cNvPr id="4" name="Text 2">
            <a:extLst>
              <a:ext uri="{FF2B5EF4-FFF2-40B4-BE49-F238E27FC236}">
                <a16:creationId xmlns:a16="http://schemas.microsoft.com/office/drawing/2014/main" id="{C79E6907-7A1E-336D-CA92-788935EB5FA4}"/>
              </a:ext>
            </a:extLst>
          </p:cNvPr>
          <p:cNvSpPr/>
          <p:nvPr/>
        </p:nvSpPr>
        <p:spPr>
          <a:xfrm>
            <a:off x="548640" y="264262"/>
            <a:ext cx="7315200" cy="237744"/>
          </a:xfrm>
          <a:prstGeom prst="rect">
            <a:avLst/>
          </a:prstGeom>
          <a:noFill/>
          <a:ln/>
        </p:spPr>
        <p:txBody>
          <a:bodyPr wrap="square" lIns="0" tIns="0" rIns="0" bIns="0" rtlCol="0" anchor="ctr"/>
          <a:lstStyle/>
          <a:p>
            <a:pPr marL="0" indent="0">
              <a:buNone/>
            </a:pPr>
            <a:r>
              <a:rPr lang="en-US" sz="1100" b="1" kern="0" spc="250" dirty="0">
                <a:solidFill>
                  <a:srgbClr val="E31837"/>
                </a:solidFill>
                <a:latin typeface="Montserrat" pitchFamily="34" charset="0"/>
                <a:ea typeface="Montserrat" pitchFamily="34" charset="-122"/>
                <a:cs typeface="Montserrat" pitchFamily="34" charset="-120"/>
              </a:rPr>
              <a:t>MISSION #3 · AGENDA</a:t>
            </a:r>
            <a:endParaRPr lang="en-US" sz="1100" dirty="0"/>
          </a:p>
        </p:txBody>
      </p:sp>
      <p:sp>
        <p:nvSpPr>
          <p:cNvPr id="5" name="Text 3">
            <a:extLst>
              <a:ext uri="{FF2B5EF4-FFF2-40B4-BE49-F238E27FC236}">
                <a16:creationId xmlns:a16="http://schemas.microsoft.com/office/drawing/2014/main" id="{0D16D4BD-D37A-7B44-2BE2-4DFFF3A05203}"/>
              </a:ext>
            </a:extLst>
          </p:cNvPr>
          <p:cNvSpPr/>
          <p:nvPr/>
        </p:nvSpPr>
        <p:spPr>
          <a:xfrm>
            <a:off x="539495" y="433965"/>
            <a:ext cx="10972800" cy="502920"/>
          </a:xfrm>
          <a:prstGeom prst="rect">
            <a:avLst/>
          </a:prstGeom>
          <a:noFill/>
          <a:ln/>
        </p:spPr>
        <p:txBody>
          <a:bodyPr wrap="square" lIns="0" tIns="0" rIns="0" bIns="0" rtlCol="0" anchor="ctr"/>
          <a:lstStyle/>
          <a:p>
            <a:r>
              <a:rPr lang="en-US" sz="1600" b="1" dirty="0">
                <a:solidFill>
                  <a:srgbClr val="333333"/>
                </a:solidFill>
                <a:latin typeface="Montserrat" pitchFamily="34" charset="0"/>
                <a:ea typeface="Montserrat" pitchFamily="34" charset="-122"/>
                <a:cs typeface="Montserrat" pitchFamily="34" charset="-120"/>
              </a:rPr>
              <a:t>Business Model &amp; Ecosystem Proposition. - POV </a:t>
            </a:r>
            <a:endParaRPr lang="en-US" sz="1600" dirty="0"/>
          </a:p>
        </p:txBody>
      </p:sp>
      <p:sp>
        <p:nvSpPr>
          <p:cNvPr id="44" name="Shape 42">
            <a:extLst>
              <a:ext uri="{FF2B5EF4-FFF2-40B4-BE49-F238E27FC236}">
                <a16:creationId xmlns:a16="http://schemas.microsoft.com/office/drawing/2014/main" id="{D8DF7E7F-65F9-9898-2237-2D19AE29AA1E}"/>
              </a:ext>
            </a:extLst>
          </p:cNvPr>
          <p:cNvSpPr/>
          <p:nvPr/>
        </p:nvSpPr>
        <p:spPr>
          <a:xfrm>
            <a:off x="548640" y="6053328"/>
            <a:ext cx="11091672" cy="10973"/>
          </a:xfrm>
          <a:prstGeom prst="rect">
            <a:avLst/>
          </a:prstGeom>
          <a:solidFill>
            <a:srgbClr val="E2E0D9"/>
          </a:solidFill>
          <a:ln/>
        </p:spPr>
        <p:txBody>
          <a:bodyPr/>
          <a:lstStyle/>
          <a:p>
            <a:endParaRPr lang="en-US"/>
          </a:p>
        </p:txBody>
      </p:sp>
      <p:sp>
        <p:nvSpPr>
          <p:cNvPr id="45" name="Text 43">
            <a:extLst>
              <a:ext uri="{FF2B5EF4-FFF2-40B4-BE49-F238E27FC236}">
                <a16:creationId xmlns:a16="http://schemas.microsoft.com/office/drawing/2014/main" id="{7ABF18FC-A7C0-B24B-05B6-1B2170C7CB06}"/>
              </a:ext>
            </a:extLst>
          </p:cNvPr>
          <p:cNvSpPr/>
          <p:nvPr/>
        </p:nvSpPr>
        <p:spPr>
          <a:xfrm>
            <a:off x="548640" y="6144768"/>
            <a:ext cx="5486400" cy="237744"/>
          </a:xfrm>
          <a:prstGeom prst="rect">
            <a:avLst/>
          </a:prstGeom>
          <a:noFill/>
          <a:ln/>
        </p:spPr>
        <p:txBody>
          <a:bodyPr wrap="square" lIns="0" tIns="0" rIns="0" bIns="0" rtlCol="0" anchor="ctr"/>
          <a:lstStyle/>
          <a:p>
            <a:pPr marL="0" indent="0">
              <a:buNone/>
            </a:pPr>
            <a:r>
              <a:rPr lang="en-US" sz="900" dirty="0">
                <a:solidFill>
                  <a:srgbClr val="A0A5AB"/>
                </a:solidFill>
                <a:latin typeface="Montserrat" pitchFamily="34" charset="0"/>
                <a:ea typeface="Montserrat" pitchFamily="34" charset="-122"/>
                <a:cs typeface="Montserrat" pitchFamily="34" charset="-120"/>
              </a:rPr>
              <a:t>Mission #3 · Team 5 — Condor Galaxy</a:t>
            </a:r>
            <a:endParaRPr lang="en-US" sz="900" dirty="0"/>
          </a:p>
        </p:txBody>
      </p:sp>
      <p:sp>
        <p:nvSpPr>
          <p:cNvPr id="46" name="Text 44">
            <a:extLst>
              <a:ext uri="{FF2B5EF4-FFF2-40B4-BE49-F238E27FC236}">
                <a16:creationId xmlns:a16="http://schemas.microsoft.com/office/drawing/2014/main" id="{BD650C90-E3A0-4047-F036-C5F61E99382F}"/>
              </a:ext>
            </a:extLst>
          </p:cNvPr>
          <p:cNvSpPr/>
          <p:nvPr/>
        </p:nvSpPr>
        <p:spPr>
          <a:xfrm>
            <a:off x="6126480" y="6144768"/>
            <a:ext cx="5513832" cy="237744"/>
          </a:xfrm>
          <a:prstGeom prst="rect">
            <a:avLst/>
          </a:prstGeom>
          <a:noFill/>
          <a:ln/>
        </p:spPr>
        <p:txBody>
          <a:bodyPr wrap="square" lIns="0" tIns="0" rIns="0" bIns="0" rtlCol="0" anchor="ctr"/>
          <a:lstStyle/>
          <a:p>
            <a:pPr marL="0" indent="0" algn="r">
              <a:buNone/>
            </a:pPr>
            <a:r>
              <a:rPr lang="en-US" sz="900" i="1" dirty="0">
                <a:solidFill>
                  <a:srgbClr val="A0A5AB"/>
                </a:solidFill>
                <a:latin typeface="Lora" pitchFamily="34" charset="0"/>
                <a:ea typeface="Lora" pitchFamily="34" charset="-122"/>
                <a:cs typeface="Lora" pitchFamily="34" charset="-120"/>
              </a:rPr>
              <a:t>Smart retail. Real value.</a:t>
            </a:r>
            <a:endParaRPr lang="en-US" sz="900" dirty="0"/>
          </a:p>
        </p:txBody>
      </p:sp>
      <p:pic>
        <p:nvPicPr>
          <p:cNvPr id="53" name="Google Shape;126;p2" descr="preencoded.png">
            <a:extLst>
              <a:ext uri="{FF2B5EF4-FFF2-40B4-BE49-F238E27FC236}">
                <a16:creationId xmlns:a16="http://schemas.microsoft.com/office/drawing/2014/main" id="{D51AF998-8206-FB89-D997-74B3E59091DA}"/>
              </a:ext>
            </a:extLst>
          </p:cNvPr>
          <p:cNvPicPr preferRelativeResize="0"/>
          <p:nvPr/>
        </p:nvPicPr>
        <p:blipFill rotWithShape="1">
          <a:blip r:embed="rId3">
            <a:alphaModFix/>
          </a:blip>
          <a:srcRect/>
          <a:stretch/>
        </p:blipFill>
        <p:spPr>
          <a:xfrm>
            <a:off x="11177532" y="284003"/>
            <a:ext cx="669527" cy="671619"/>
          </a:xfrm>
          <a:prstGeom prst="rect">
            <a:avLst/>
          </a:prstGeom>
          <a:noFill/>
          <a:ln>
            <a:noFill/>
          </a:ln>
        </p:spPr>
      </p:pic>
      <p:sp>
        <p:nvSpPr>
          <p:cNvPr id="8" name="TextBox 7">
            <a:extLst>
              <a:ext uri="{FF2B5EF4-FFF2-40B4-BE49-F238E27FC236}">
                <a16:creationId xmlns:a16="http://schemas.microsoft.com/office/drawing/2014/main" id="{D6EDBA39-96C4-7CBA-7AC2-325939AC1F8C}"/>
              </a:ext>
            </a:extLst>
          </p:cNvPr>
          <p:cNvSpPr txBox="1"/>
          <p:nvPr/>
        </p:nvSpPr>
        <p:spPr>
          <a:xfrm>
            <a:off x="3219008" y="3771181"/>
            <a:ext cx="6097772" cy="1477328"/>
          </a:xfrm>
          <a:prstGeom prst="rect">
            <a:avLst/>
          </a:prstGeom>
          <a:noFill/>
        </p:spPr>
        <p:txBody>
          <a:bodyPr wrap="square">
            <a:spAutoFit/>
          </a:bodyPr>
          <a:lstStyle/>
          <a:p>
            <a:pPr rtl="0">
              <a:buNone/>
            </a:pPr>
            <a:r>
              <a:rPr lang="en-US" i="1" dirty="0"/>
              <a:t>"</a:t>
            </a:r>
            <a:r>
              <a:rPr lang="en-US" i="1" dirty="0" err="1"/>
              <a:t>Neu.Tail's</a:t>
            </a:r>
            <a:r>
              <a:rPr lang="en-US" i="1" dirty="0"/>
              <a:t> </a:t>
            </a:r>
            <a:r>
              <a:rPr lang="en-US" i="1" dirty="0" err="1"/>
              <a:t>Personalisation</a:t>
            </a:r>
            <a:r>
              <a:rPr lang="en-US" i="1" dirty="0"/>
              <a:t> Assistant is one capability, built once on 17 agents and a unified data spine, that </a:t>
            </a:r>
            <a:r>
              <a:rPr lang="en-US" i="1" dirty="0" err="1"/>
              <a:t>monetises</a:t>
            </a:r>
            <a:r>
              <a:rPr lang="en-US" i="1" dirty="0"/>
              <a:t> in concentric rings — starting with our own customers and widening to the whole retail market — with an outcome-based moat no pure-software competitor can copy."</a:t>
            </a:r>
            <a:endParaRPr lang="en-US" dirty="0"/>
          </a:p>
        </p:txBody>
      </p:sp>
      <p:sp>
        <p:nvSpPr>
          <p:cNvPr id="10" name="Google Shape;807;p14">
            <a:extLst>
              <a:ext uri="{FF2B5EF4-FFF2-40B4-BE49-F238E27FC236}">
                <a16:creationId xmlns:a16="http://schemas.microsoft.com/office/drawing/2014/main" id="{312BCB40-5BD2-7AE5-8653-47132839EB43}"/>
              </a:ext>
            </a:extLst>
          </p:cNvPr>
          <p:cNvSpPr/>
          <p:nvPr/>
        </p:nvSpPr>
        <p:spPr>
          <a:xfrm>
            <a:off x="3250906" y="2300358"/>
            <a:ext cx="5935625" cy="1062990"/>
          </a:xfrm>
          <a:prstGeom prst="roundRect">
            <a:avLst>
              <a:gd name="adj" fmla="val 4516"/>
            </a:avLst>
          </a:prstGeom>
          <a:solidFill>
            <a:srgbClr val="1C1C1A"/>
          </a:solidFill>
          <a:ln w="19050" cap="flat" cmpd="sng">
            <a:solidFill>
              <a:srgbClr val="8C1336"/>
            </a:solidFill>
            <a:prstDash val="solid"/>
            <a:round/>
            <a:headEnd type="none" w="sm" len="sm"/>
            <a:tailEnd type="none" w="sm" len="sm"/>
          </a:ln>
          <a:effectLst>
            <a:outerShdw blurRad="101600" dist="25400" dir="54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2" name="Google Shape;809;p14">
            <a:extLst>
              <a:ext uri="{FF2B5EF4-FFF2-40B4-BE49-F238E27FC236}">
                <a16:creationId xmlns:a16="http://schemas.microsoft.com/office/drawing/2014/main" id="{AFE4EF1B-1FF5-AEFB-383A-A845A7387EC7}"/>
              </a:ext>
            </a:extLst>
          </p:cNvPr>
          <p:cNvSpPr/>
          <p:nvPr/>
        </p:nvSpPr>
        <p:spPr>
          <a:xfrm>
            <a:off x="3593805" y="2474476"/>
            <a:ext cx="3703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b="1" dirty="0">
                <a:solidFill>
                  <a:srgbClr val="FFFFFF"/>
                </a:solidFill>
                <a:latin typeface="Montserrat"/>
                <a:ea typeface="Montserrat"/>
                <a:cs typeface="Montserrat"/>
                <a:sym typeface="Montserrat"/>
              </a:rPr>
              <a:t>A digital platform with stores</a:t>
            </a:r>
            <a:endParaRPr sz="1600" dirty="0">
              <a:solidFill>
                <a:schemeClr val="dk1"/>
              </a:solidFill>
              <a:latin typeface="Calibri"/>
              <a:ea typeface="Calibri"/>
              <a:cs typeface="Calibri"/>
              <a:sym typeface="Calibri"/>
            </a:endParaRPr>
          </a:p>
        </p:txBody>
      </p:sp>
      <p:sp>
        <p:nvSpPr>
          <p:cNvPr id="13" name="Google Shape;810;p14">
            <a:extLst>
              <a:ext uri="{FF2B5EF4-FFF2-40B4-BE49-F238E27FC236}">
                <a16:creationId xmlns:a16="http://schemas.microsoft.com/office/drawing/2014/main" id="{78533C21-123A-1C31-03E8-4462485E838F}"/>
              </a:ext>
            </a:extLst>
          </p:cNvPr>
          <p:cNvSpPr/>
          <p:nvPr/>
        </p:nvSpPr>
        <p:spPr>
          <a:xfrm>
            <a:off x="3593805" y="2890146"/>
            <a:ext cx="5146158"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dirty="0">
                <a:solidFill>
                  <a:srgbClr val="E2DEDA"/>
                </a:solidFill>
                <a:latin typeface="Lora"/>
                <a:ea typeface="Lora"/>
                <a:cs typeface="Lora"/>
                <a:sym typeface="Lora"/>
              </a:rPr>
              <a:t>One customer, one platform, intelligent by default — with 38 stores as fulfilment, experience and trust nodes inside the platform.</a:t>
            </a:r>
            <a:endParaRPr sz="1000" dirty="0">
              <a:solidFill>
                <a:schemeClr val="dk1"/>
              </a:solidFill>
              <a:latin typeface="Calibri"/>
              <a:ea typeface="Calibri"/>
              <a:cs typeface="Calibri"/>
              <a:sym typeface="Calibri"/>
            </a:endParaRPr>
          </a:p>
        </p:txBody>
      </p:sp>
      <p:sp>
        <p:nvSpPr>
          <p:cNvPr id="15" name="Google Shape;811;p14">
            <a:extLst>
              <a:ext uri="{FF2B5EF4-FFF2-40B4-BE49-F238E27FC236}">
                <a16:creationId xmlns:a16="http://schemas.microsoft.com/office/drawing/2014/main" id="{92764A66-F97B-CDF7-929B-0FB8CE912054}"/>
              </a:ext>
            </a:extLst>
          </p:cNvPr>
          <p:cNvSpPr/>
          <p:nvPr/>
        </p:nvSpPr>
        <p:spPr>
          <a:xfrm>
            <a:off x="8045019" y="2374466"/>
            <a:ext cx="891540" cy="233172"/>
          </a:xfrm>
          <a:prstGeom prst="roundRect">
            <a:avLst>
              <a:gd name="adj" fmla="val 50000"/>
            </a:avLst>
          </a:prstGeom>
          <a:solidFill>
            <a:srgbClr val="E3183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4" name="Google Shape;812;p14">
            <a:extLst>
              <a:ext uri="{FF2B5EF4-FFF2-40B4-BE49-F238E27FC236}">
                <a16:creationId xmlns:a16="http://schemas.microsoft.com/office/drawing/2014/main" id="{58D0588D-50F4-C438-77AE-54B194BDFCCD}"/>
              </a:ext>
            </a:extLst>
          </p:cNvPr>
          <p:cNvSpPr/>
          <p:nvPr/>
        </p:nvSpPr>
        <p:spPr>
          <a:xfrm>
            <a:off x="8045019" y="2374466"/>
            <a:ext cx="891540" cy="2331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713" b="1" dirty="0">
                <a:solidFill>
                  <a:srgbClr val="FFFFFF"/>
                </a:solidFill>
                <a:latin typeface="Montserrat"/>
                <a:ea typeface="Montserrat"/>
                <a:cs typeface="Montserrat"/>
                <a:sym typeface="Montserrat"/>
              </a:rPr>
              <a:t>OUR CHOICE</a:t>
            </a:r>
            <a:endParaRPr sz="713" dirty="0">
              <a:solidFill>
                <a:schemeClr val="dk1"/>
              </a:solidFill>
              <a:latin typeface="Calibri"/>
              <a:ea typeface="Calibri"/>
              <a:cs typeface="Calibri"/>
              <a:sym typeface="Calibri"/>
            </a:endParaRPr>
          </a:p>
        </p:txBody>
      </p:sp>
      <p:sp>
        <p:nvSpPr>
          <p:cNvPr id="16" name="TextBox 15">
            <a:extLst>
              <a:ext uri="{FF2B5EF4-FFF2-40B4-BE49-F238E27FC236}">
                <a16:creationId xmlns:a16="http://schemas.microsoft.com/office/drawing/2014/main" id="{03A57EE4-D1FE-3B25-6158-5A0F7B3B711D}"/>
              </a:ext>
            </a:extLst>
          </p:cNvPr>
          <p:cNvSpPr txBox="1"/>
          <p:nvPr/>
        </p:nvSpPr>
        <p:spPr>
          <a:xfrm>
            <a:off x="2261191" y="1295456"/>
            <a:ext cx="8597225" cy="646331"/>
          </a:xfrm>
          <a:prstGeom prst="rect">
            <a:avLst/>
          </a:prstGeom>
          <a:noFill/>
        </p:spPr>
        <p:txBody>
          <a:bodyPr wrap="none" rtlCol="0">
            <a:spAutoFit/>
          </a:bodyPr>
          <a:lstStyle/>
          <a:p>
            <a:r>
              <a:rPr lang="en-US" b="1" dirty="0">
                <a:solidFill>
                  <a:srgbClr val="1C1C1A"/>
                </a:solidFill>
                <a:latin typeface="Montserrat"/>
                <a:ea typeface="Montserrat"/>
                <a:cs typeface="Montserrat"/>
                <a:sym typeface="Montserrat"/>
              </a:rPr>
              <a:t>Mission: 1 Physical retailer with a website — or a platform with stores?</a:t>
            </a:r>
            <a:endParaRPr lang="en-US" dirty="0">
              <a:solidFill>
                <a:schemeClr val="dk1"/>
              </a:solidFill>
              <a:ea typeface="Calibri"/>
              <a:cs typeface="Calibri"/>
              <a:sym typeface="Calibri"/>
            </a:endParaRPr>
          </a:p>
          <a:p>
            <a:endParaRPr lang="en-US" dirty="0"/>
          </a:p>
        </p:txBody>
      </p:sp>
    </p:spTree>
    <p:extLst>
      <p:ext uri="{BB962C8B-B14F-4D97-AF65-F5344CB8AC3E}">
        <p14:creationId xmlns:p14="http://schemas.microsoft.com/office/powerpoint/2010/main" val="3524338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E31837"/>
          </a:solidFill>
          <a:ln/>
        </p:spPr>
        <p:txBody>
          <a:bodyPr/>
          <a:lstStyle/>
          <a:p>
            <a:endParaRPr lang="en-US"/>
          </a:p>
        </p:txBody>
      </p:sp>
      <p:sp>
        <p:nvSpPr>
          <p:cNvPr id="4" name="Text 2"/>
          <p:cNvSpPr/>
          <p:nvPr/>
        </p:nvSpPr>
        <p:spPr>
          <a:xfrm>
            <a:off x="365760" y="146304"/>
            <a:ext cx="10058400" cy="201168"/>
          </a:xfrm>
          <a:prstGeom prst="rect">
            <a:avLst/>
          </a:prstGeom>
          <a:noFill/>
          <a:ln/>
        </p:spPr>
        <p:txBody>
          <a:bodyPr wrap="square" lIns="0" tIns="0" rIns="0" bIns="0" rtlCol="0" anchor="ctr"/>
          <a:lstStyle/>
          <a:p>
            <a:pPr marL="0" indent="0">
              <a:buNone/>
            </a:pPr>
            <a:r>
              <a:rPr lang="en-US" sz="1000" b="1" kern="0" spc="150" dirty="0">
                <a:solidFill>
                  <a:srgbClr val="E31837"/>
                </a:solidFill>
                <a:latin typeface="Montserrat" pitchFamily="34" charset="0"/>
                <a:ea typeface="Montserrat" pitchFamily="34" charset="-122"/>
                <a:cs typeface="Montserrat" pitchFamily="34" charset="-120"/>
              </a:rPr>
              <a:t>OBJECTIVE 2 · BUSINESS MODEL &amp; ECOSYSTEM PROPOSITION</a:t>
            </a:r>
            <a:endParaRPr lang="en-US" sz="1000" dirty="0"/>
          </a:p>
        </p:txBody>
      </p:sp>
      <p:sp>
        <p:nvSpPr>
          <p:cNvPr id="5" name="Text 3"/>
          <p:cNvSpPr/>
          <p:nvPr/>
        </p:nvSpPr>
        <p:spPr>
          <a:xfrm>
            <a:off x="365760" y="365760"/>
            <a:ext cx="11430000" cy="310896"/>
          </a:xfrm>
          <a:prstGeom prst="rect">
            <a:avLst/>
          </a:prstGeom>
          <a:noFill/>
          <a:ln/>
        </p:spPr>
        <p:txBody>
          <a:bodyPr wrap="square" lIns="0" tIns="0" rIns="0" bIns="0" rtlCol="0" anchor="ctr"/>
          <a:lstStyle/>
          <a:p>
            <a:pPr marL="0" indent="0">
              <a:buNone/>
            </a:pPr>
            <a:r>
              <a:rPr lang="en-US" sz="1700" b="1" dirty="0">
                <a:solidFill>
                  <a:srgbClr val="333333"/>
                </a:solidFill>
                <a:latin typeface="Montserrat" pitchFamily="34" charset="0"/>
                <a:ea typeface="Montserrat" pitchFamily="34" charset="-122"/>
                <a:cs typeface="Montserrat" pitchFamily="34" charset="-120"/>
              </a:rPr>
              <a:t>Monetising the Personalisation Assistant — three widening rings</a:t>
            </a:r>
            <a:endParaRPr lang="en-US" sz="1700" dirty="0"/>
          </a:p>
        </p:txBody>
      </p:sp>
      <p:sp>
        <p:nvSpPr>
          <p:cNvPr id="6" name="Shape 4"/>
          <p:cNvSpPr/>
          <p:nvPr/>
        </p:nvSpPr>
        <p:spPr>
          <a:xfrm>
            <a:off x="365760" y="1042416"/>
            <a:ext cx="11457432" cy="420624"/>
          </a:xfrm>
          <a:prstGeom prst="roundRect">
            <a:avLst>
              <a:gd name="adj" fmla="val 13043"/>
            </a:avLst>
          </a:prstGeom>
          <a:solidFill>
            <a:srgbClr val="22262A"/>
          </a:solidFill>
          <a:ln/>
        </p:spPr>
        <p:txBody>
          <a:bodyPr/>
          <a:lstStyle/>
          <a:p>
            <a:endParaRPr lang="en-US"/>
          </a:p>
        </p:txBody>
      </p:sp>
      <p:sp>
        <p:nvSpPr>
          <p:cNvPr id="7" name="Text 5"/>
          <p:cNvSpPr/>
          <p:nvPr/>
        </p:nvSpPr>
        <p:spPr>
          <a:xfrm>
            <a:off x="566928" y="1042416"/>
            <a:ext cx="11064240" cy="420624"/>
          </a:xfrm>
          <a:prstGeom prst="rect">
            <a:avLst/>
          </a:prstGeom>
          <a:noFill/>
          <a:ln/>
        </p:spPr>
        <p:txBody>
          <a:bodyPr wrap="square" lIns="0" tIns="0" rIns="0" bIns="0" rtlCol="0" anchor="ctr"/>
          <a:lstStyle/>
          <a:p>
            <a:pPr marL="0" indent="0">
              <a:buNone/>
            </a:pPr>
            <a:r>
              <a:rPr lang="en-US" sz="1000" b="1" dirty="0">
                <a:solidFill>
                  <a:srgbClr val="FF4D4D"/>
                </a:solidFill>
                <a:latin typeface="Montserrat" pitchFamily="34" charset="0"/>
                <a:ea typeface="Montserrat" pitchFamily="34" charset="-122"/>
                <a:cs typeface="Montserrat" pitchFamily="34" charset="-120"/>
              </a:rPr>
              <a:t>THE PoV:  </a:t>
            </a:r>
            <a:r>
              <a:rPr lang="en-US" sz="1000" dirty="0">
                <a:solidFill>
                  <a:srgbClr val="FDFDFD"/>
                </a:solidFill>
                <a:latin typeface="Montserrat" pitchFamily="34" charset="0"/>
                <a:ea typeface="Montserrat" pitchFamily="34" charset="-122"/>
                <a:cs typeface="Montserrat" pitchFamily="34" charset="-120"/>
              </a:rPr>
              <a:t>one capability, built once on 17 agents and a single data spine, monetised in three widening rings — with an outcome-based moat no software-only rival can copy. </a:t>
            </a:r>
            <a:r>
              <a:rPr lang="en-US" sz="1000" b="1" i="1" dirty="0">
                <a:solidFill>
                  <a:srgbClr val="D8D8D8"/>
                </a:solidFill>
                <a:latin typeface="Montserrat" pitchFamily="34" charset="0"/>
                <a:ea typeface="Montserrat" pitchFamily="34" charset="-122"/>
                <a:cs typeface="Montserrat" pitchFamily="34" charset="-120"/>
              </a:rPr>
              <a:t>Not three business models — one, zoomed in.</a:t>
            </a:r>
            <a:endParaRPr lang="en-US" sz="1000" dirty="0"/>
          </a:p>
        </p:txBody>
      </p:sp>
      <p:sp>
        <p:nvSpPr>
          <p:cNvPr id="8" name="Text 6"/>
          <p:cNvSpPr/>
          <p:nvPr/>
        </p:nvSpPr>
        <p:spPr>
          <a:xfrm>
            <a:off x="365760" y="749808"/>
            <a:ext cx="11430000" cy="219456"/>
          </a:xfrm>
          <a:prstGeom prst="rect">
            <a:avLst/>
          </a:prstGeom>
          <a:noFill/>
          <a:ln/>
        </p:spPr>
        <p:txBody>
          <a:bodyPr wrap="square" lIns="0" tIns="0" rIns="0" bIns="0" rtlCol="0" anchor="ctr"/>
          <a:lstStyle/>
          <a:p>
            <a:pPr marL="0" indent="0">
              <a:buNone/>
            </a:pPr>
            <a:r>
              <a:rPr lang="en-US" sz="950" i="1" dirty="0">
                <a:solidFill>
                  <a:srgbClr val="5F5E5A"/>
                </a:solidFill>
                <a:latin typeface="Lora" pitchFamily="34" charset="0"/>
                <a:ea typeface="Lora" pitchFamily="34" charset="-122"/>
                <a:cs typeface="Lora" pitchFamily="34" charset="-120"/>
              </a:rPr>
              <a:t>The Mission 1 choice — “a digital platform with stores” — means the same Assistant is not just a feature for our shoppers; it is a capability we can sell. One build, monetised at three rings.</a:t>
            </a:r>
            <a:endParaRPr lang="en-US" sz="950" dirty="0"/>
          </a:p>
        </p:txBody>
      </p:sp>
      <p:sp>
        <p:nvSpPr>
          <p:cNvPr id="9" name="Shape 7"/>
          <p:cNvSpPr/>
          <p:nvPr/>
        </p:nvSpPr>
        <p:spPr>
          <a:xfrm>
            <a:off x="365760" y="1572768"/>
            <a:ext cx="3672840" cy="3200400"/>
          </a:xfrm>
          <a:prstGeom prst="roundRect">
            <a:avLst>
              <a:gd name="adj" fmla="val 2571"/>
            </a:avLst>
          </a:prstGeom>
          <a:solidFill>
            <a:srgbClr val="FBE3E4"/>
          </a:solidFill>
          <a:ln w="12700">
            <a:solidFill>
              <a:srgbClr val="E31837"/>
            </a:solidFill>
            <a:prstDash val="solid"/>
          </a:ln>
          <a:effectLst>
            <a:outerShdw blurRad="50800" dist="15240" dir="5400000" algn="bl" rotWithShape="0">
              <a:srgbClr val="000000">
                <a:alpha val="10000"/>
              </a:srgbClr>
            </a:outerShdw>
          </a:effectLst>
        </p:spPr>
        <p:txBody>
          <a:bodyPr/>
          <a:lstStyle/>
          <a:p>
            <a:endParaRPr lang="en-US"/>
          </a:p>
        </p:txBody>
      </p:sp>
      <p:sp>
        <p:nvSpPr>
          <p:cNvPr id="10" name="Shape 8"/>
          <p:cNvSpPr/>
          <p:nvPr/>
        </p:nvSpPr>
        <p:spPr>
          <a:xfrm>
            <a:off x="566928" y="1810512"/>
            <a:ext cx="3270504" cy="41148"/>
          </a:xfrm>
          <a:prstGeom prst="rect">
            <a:avLst/>
          </a:prstGeom>
          <a:solidFill>
            <a:srgbClr val="E31837"/>
          </a:solidFill>
          <a:ln/>
        </p:spPr>
        <p:txBody>
          <a:bodyPr/>
          <a:lstStyle/>
          <a:p>
            <a:endParaRPr lang="en-US"/>
          </a:p>
        </p:txBody>
      </p:sp>
      <p:sp>
        <p:nvSpPr>
          <p:cNvPr id="11" name="Text 9"/>
          <p:cNvSpPr/>
          <p:nvPr/>
        </p:nvSpPr>
        <p:spPr>
          <a:xfrm>
            <a:off x="566928" y="1901952"/>
            <a:ext cx="3270504" cy="201168"/>
          </a:xfrm>
          <a:prstGeom prst="rect">
            <a:avLst/>
          </a:prstGeom>
          <a:noFill/>
          <a:ln/>
        </p:spPr>
        <p:txBody>
          <a:bodyPr wrap="square" lIns="0" tIns="0" rIns="0" bIns="0" rtlCol="0" anchor="ctr"/>
          <a:lstStyle/>
          <a:p>
            <a:pPr marL="0" indent="0">
              <a:buNone/>
            </a:pPr>
            <a:r>
              <a:rPr lang="en-US" sz="950" b="1" kern="0" spc="100" dirty="0">
                <a:solidFill>
                  <a:srgbClr val="E31837"/>
                </a:solidFill>
                <a:latin typeface="Montserrat" pitchFamily="34" charset="0"/>
                <a:ea typeface="Montserrat" pitchFamily="34" charset="-122"/>
                <a:cs typeface="Montserrat" pitchFamily="34" charset="-120"/>
              </a:rPr>
              <a:t>RING 1 · B2C</a:t>
            </a:r>
            <a:endParaRPr lang="en-US" sz="950" dirty="0"/>
          </a:p>
        </p:txBody>
      </p:sp>
      <p:sp>
        <p:nvSpPr>
          <p:cNvPr id="12" name="Text 10"/>
          <p:cNvSpPr/>
          <p:nvPr/>
        </p:nvSpPr>
        <p:spPr>
          <a:xfrm>
            <a:off x="566928" y="2103120"/>
            <a:ext cx="3270504" cy="310896"/>
          </a:xfrm>
          <a:prstGeom prst="rect">
            <a:avLst/>
          </a:prstGeom>
          <a:noFill/>
          <a:ln/>
        </p:spPr>
        <p:txBody>
          <a:bodyPr wrap="square" lIns="0" tIns="0" rIns="0" bIns="0" rtlCol="0" anchor="ctr"/>
          <a:lstStyle/>
          <a:p>
            <a:pPr marL="0" indent="0">
              <a:buNone/>
            </a:pPr>
            <a:r>
              <a:rPr lang="en-US" sz="1600" b="1" dirty="0">
                <a:solidFill>
                  <a:srgbClr val="E31837"/>
                </a:solidFill>
                <a:latin typeface="Montserrat" pitchFamily="34" charset="0"/>
                <a:ea typeface="Montserrat" pitchFamily="34" charset="-122"/>
                <a:cs typeface="Montserrat" pitchFamily="34" charset="-120"/>
              </a:rPr>
              <a:t>Customer-facing</a:t>
            </a:r>
            <a:endParaRPr lang="en-US" sz="1600" dirty="0"/>
          </a:p>
        </p:txBody>
      </p:sp>
      <p:sp>
        <p:nvSpPr>
          <p:cNvPr id="13" name="Text 11"/>
          <p:cNvSpPr/>
          <p:nvPr/>
        </p:nvSpPr>
        <p:spPr>
          <a:xfrm>
            <a:off x="566928" y="2468880"/>
            <a:ext cx="3270504" cy="201168"/>
          </a:xfrm>
          <a:prstGeom prst="rect">
            <a:avLst/>
          </a:prstGeom>
          <a:noFill/>
          <a:ln/>
        </p:spPr>
        <p:txBody>
          <a:bodyPr wrap="square" lIns="0" tIns="0" rIns="0" bIns="0" rtlCol="0" anchor="ctr"/>
          <a:lstStyle/>
          <a:p>
            <a:pPr marL="0" indent="0">
              <a:buNone/>
            </a:pPr>
            <a:r>
              <a:rPr lang="en-US" sz="750" b="1" dirty="0">
                <a:solidFill>
                  <a:srgbClr val="A0A5AB"/>
                </a:solidFill>
                <a:latin typeface="Montserrat" pitchFamily="34" charset="0"/>
                <a:ea typeface="Montserrat" pitchFamily="34" charset="-122"/>
                <a:cs typeface="Montserrat" pitchFamily="34" charset="-120"/>
              </a:rPr>
              <a:t>WHO  </a:t>
            </a:r>
            <a:r>
              <a:rPr lang="en-US" sz="900" dirty="0">
                <a:solidFill>
                  <a:srgbClr val="333333"/>
                </a:solidFill>
                <a:latin typeface="Montserrat" pitchFamily="34" charset="0"/>
                <a:ea typeface="Montserrat" pitchFamily="34" charset="-122"/>
                <a:cs typeface="Montserrat" pitchFamily="34" charset="-120"/>
              </a:rPr>
              <a:t>Our own 820K loyalty members</a:t>
            </a:r>
            <a:endParaRPr lang="en-US" sz="750" dirty="0"/>
          </a:p>
        </p:txBody>
      </p:sp>
      <p:sp>
        <p:nvSpPr>
          <p:cNvPr id="14" name="Text 12"/>
          <p:cNvSpPr/>
          <p:nvPr/>
        </p:nvSpPr>
        <p:spPr>
          <a:xfrm>
            <a:off x="566928" y="2670048"/>
            <a:ext cx="3270504" cy="201168"/>
          </a:xfrm>
          <a:prstGeom prst="rect">
            <a:avLst/>
          </a:prstGeom>
          <a:noFill/>
          <a:ln/>
        </p:spPr>
        <p:txBody>
          <a:bodyPr wrap="square" lIns="0" tIns="0" rIns="0" bIns="0" rtlCol="0" anchor="ctr"/>
          <a:lstStyle/>
          <a:p>
            <a:pPr marL="0" indent="0">
              <a:buNone/>
            </a:pPr>
            <a:r>
              <a:rPr lang="en-US" sz="750" b="1" dirty="0">
                <a:solidFill>
                  <a:srgbClr val="A0A5AB"/>
                </a:solidFill>
                <a:latin typeface="Montserrat" pitchFamily="34" charset="0"/>
                <a:ea typeface="Montserrat" pitchFamily="34" charset="-122"/>
                <a:cs typeface="Montserrat" pitchFamily="34" charset="-120"/>
              </a:rPr>
              <a:t>MODEL  </a:t>
            </a:r>
            <a:r>
              <a:rPr lang="en-US" sz="900" b="1" dirty="0">
                <a:solidFill>
                  <a:srgbClr val="333333"/>
                </a:solidFill>
                <a:latin typeface="Montserrat" pitchFamily="34" charset="0"/>
                <a:ea typeface="Montserrat" pitchFamily="34" charset="-122"/>
                <a:cs typeface="Montserrat" pitchFamily="34" charset="-120"/>
              </a:rPr>
              <a:t>Freemium + premium subscription</a:t>
            </a:r>
            <a:endParaRPr lang="en-US" sz="750" dirty="0"/>
          </a:p>
        </p:txBody>
      </p:sp>
      <p:sp>
        <p:nvSpPr>
          <p:cNvPr id="15" name="Shape 13"/>
          <p:cNvSpPr/>
          <p:nvPr/>
        </p:nvSpPr>
        <p:spPr>
          <a:xfrm>
            <a:off x="566928" y="3008376"/>
            <a:ext cx="27432" cy="457200"/>
          </a:xfrm>
          <a:prstGeom prst="rect">
            <a:avLst/>
          </a:prstGeom>
          <a:solidFill>
            <a:srgbClr val="E31837"/>
          </a:solidFill>
          <a:ln/>
        </p:spPr>
        <p:txBody>
          <a:bodyPr/>
          <a:lstStyle/>
          <a:p>
            <a:endParaRPr lang="en-US"/>
          </a:p>
        </p:txBody>
      </p:sp>
      <p:sp>
        <p:nvSpPr>
          <p:cNvPr id="16" name="Text 14"/>
          <p:cNvSpPr/>
          <p:nvPr/>
        </p:nvSpPr>
        <p:spPr>
          <a:xfrm>
            <a:off x="658368" y="2980944"/>
            <a:ext cx="3179064" cy="182880"/>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Free</a:t>
            </a:r>
            <a:endParaRPr lang="en-US" sz="900" dirty="0"/>
          </a:p>
        </p:txBody>
      </p:sp>
      <p:sp>
        <p:nvSpPr>
          <p:cNvPr id="17" name="Text 15"/>
          <p:cNvSpPr/>
          <p:nvPr/>
        </p:nvSpPr>
        <p:spPr>
          <a:xfrm>
            <a:off x="658368" y="3163824"/>
            <a:ext cx="3179064" cy="365760"/>
          </a:xfrm>
          <a:prstGeom prst="rect">
            <a:avLst/>
          </a:prstGeom>
          <a:noFill/>
          <a:ln/>
        </p:spPr>
        <p:txBody>
          <a:bodyPr wrap="square" lIns="0" tIns="0" rIns="0" bIns="0" rtlCol="0" anchor="t"/>
          <a:lstStyle/>
          <a:p>
            <a:pPr marL="0" indent="0">
              <a:lnSpc>
                <a:spcPct val="95000"/>
              </a:lnSpc>
              <a:buNone/>
            </a:pPr>
            <a:r>
              <a:rPr lang="en-US" sz="800" dirty="0">
                <a:solidFill>
                  <a:srgbClr val="5F5E5A"/>
                </a:solidFill>
                <a:latin typeface="Lora" pitchFamily="34" charset="0"/>
                <a:ea typeface="Lora" pitchFamily="34" charset="-122"/>
                <a:cs typeface="Lora" pitchFamily="34" charset="-120"/>
              </a:rPr>
              <a:t>core personalisation — funded by the retail margin it creates (conversion ↑, returns ↓)</a:t>
            </a:r>
            <a:endParaRPr lang="en-US" sz="800" dirty="0"/>
          </a:p>
        </p:txBody>
      </p:sp>
      <p:sp>
        <p:nvSpPr>
          <p:cNvPr id="18" name="Shape 16"/>
          <p:cNvSpPr/>
          <p:nvPr/>
        </p:nvSpPr>
        <p:spPr>
          <a:xfrm>
            <a:off x="566928" y="3666744"/>
            <a:ext cx="27432" cy="457200"/>
          </a:xfrm>
          <a:prstGeom prst="rect">
            <a:avLst/>
          </a:prstGeom>
          <a:solidFill>
            <a:srgbClr val="E31837"/>
          </a:solidFill>
          <a:ln/>
        </p:spPr>
        <p:txBody>
          <a:bodyPr/>
          <a:lstStyle/>
          <a:p>
            <a:endParaRPr lang="en-US"/>
          </a:p>
        </p:txBody>
      </p:sp>
      <p:sp>
        <p:nvSpPr>
          <p:cNvPr id="19" name="Text 17"/>
          <p:cNvSpPr/>
          <p:nvPr/>
        </p:nvSpPr>
        <p:spPr>
          <a:xfrm>
            <a:off x="658368" y="3639312"/>
            <a:ext cx="3179064" cy="182880"/>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Premium (paid)</a:t>
            </a:r>
            <a:endParaRPr lang="en-US" sz="900" dirty="0"/>
          </a:p>
        </p:txBody>
      </p:sp>
      <p:sp>
        <p:nvSpPr>
          <p:cNvPr id="20" name="Text 18"/>
          <p:cNvSpPr/>
          <p:nvPr/>
        </p:nvSpPr>
        <p:spPr>
          <a:xfrm>
            <a:off x="658368" y="3822192"/>
            <a:ext cx="3179064" cy="365760"/>
          </a:xfrm>
          <a:prstGeom prst="rect">
            <a:avLst/>
          </a:prstGeom>
          <a:noFill/>
          <a:ln/>
        </p:spPr>
        <p:txBody>
          <a:bodyPr wrap="square" lIns="0" tIns="0" rIns="0" bIns="0" rtlCol="0" anchor="t"/>
          <a:lstStyle/>
          <a:p>
            <a:pPr marL="0" indent="0">
              <a:lnSpc>
                <a:spcPct val="95000"/>
              </a:lnSpc>
              <a:buNone/>
            </a:pPr>
            <a:r>
              <a:rPr lang="en-US" sz="800" dirty="0">
                <a:solidFill>
                  <a:srgbClr val="5F5E5A"/>
                </a:solidFill>
                <a:latin typeface="Lora" pitchFamily="34" charset="0"/>
                <a:ea typeface="Lora" pitchFamily="34" charset="-122"/>
                <a:cs typeface="Lora" pitchFamily="34" charset="-120"/>
              </a:rPr>
              <a:t>styling advisory, fit guarantee, early access, concierge service</a:t>
            </a:r>
            <a:endParaRPr lang="en-US" sz="800" dirty="0"/>
          </a:p>
        </p:txBody>
      </p:sp>
      <p:sp>
        <p:nvSpPr>
          <p:cNvPr id="21" name="Shape 19"/>
          <p:cNvSpPr/>
          <p:nvPr/>
        </p:nvSpPr>
        <p:spPr>
          <a:xfrm>
            <a:off x="566928" y="4315968"/>
            <a:ext cx="3270504" cy="310896"/>
          </a:xfrm>
          <a:prstGeom prst="roundRect">
            <a:avLst>
              <a:gd name="adj" fmla="val 11765"/>
            </a:avLst>
          </a:prstGeom>
          <a:solidFill>
            <a:srgbClr val="F5F4F1"/>
          </a:solidFill>
          <a:ln/>
        </p:spPr>
        <p:txBody>
          <a:bodyPr/>
          <a:lstStyle/>
          <a:p>
            <a:endParaRPr lang="en-US"/>
          </a:p>
        </p:txBody>
      </p:sp>
      <p:sp>
        <p:nvSpPr>
          <p:cNvPr id="22" name="Text 20"/>
          <p:cNvSpPr/>
          <p:nvPr/>
        </p:nvSpPr>
        <p:spPr>
          <a:xfrm>
            <a:off x="676656" y="4315968"/>
            <a:ext cx="3124200" cy="310896"/>
          </a:xfrm>
          <a:prstGeom prst="rect">
            <a:avLst/>
          </a:prstGeom>
          <a:noFill/>
          <a:ln/>
        </p:spPr>
        <p:txBody>
          <a:bodyPr wrap="square" lIns="0" tIns="0" rIns="0" bIns="0" rtlCol="0" anchor="ctr"/>
          <a:lstStyle/>
          <a:p>
            <a:pPr marL="0" indent="0">
              <a:buNone/>
            </a:pPr>
            <a:r>
              <a:rPr lang="en-US" sz="700" b="1" dirty="0">
                <a:solidFill>
                  <a:srgbClr val="A0A5AB"/>
                </a:solidFill>
                <a:latin typeface="Montserrat" pitchFamily="34" charset="0"/>
                <a:ea typeface="Montserrat" pitchFamily="34" charset="-122"/>
                <a:cs typeface="Montserrat" pitchFamily="34" charset="-120"/>
              </a:rPr>
              <a:t>POWERED BY  </a:t>
            </a:r>
            <a:r>
              <a:rPr lang="en-US" sz="850" b="1" dirty="0">
                <a:solidFill>
                  <a:srgbClr val="E31837"/>
                </a:solidFill>
                <a:latin typeface="Montserrat" pitchFamily="34" charset="0"/>
                <a:ea typeface="Montserrat" pitchFamily="34" charset="-122"/>
                <a:cs typeface="Montserrat" pitchFamily="34" charset="-120"/>
              </a:rPr>
              <a:t>CONCIERGE · TALLY</a:t>
            </a:r>
            <a:endParaRPr lang="en-US" sz="700" dirty="0"/>
          </a:p>
        </p:txBody>
      </p:sp>
      <p:sp>
        <p:nvSpPr>
          <p:cNvPr id="23" name="Shape 21"/>
          <p:cNvSpPr/>
          <p:nvPr/>
        </p:nvSpPr>
        <p:spPr>
          <a:xfrm>
            <a:off x="4258056" y="1572768"/>
            <a:ext cx="3672840" cy="3200400"/>
          </a:xfrm>
          <a:prstGeom prst="roundRect">
            <a:avLst>
              <a:gd name="adj" fmla="val 2571"/>
            </a:avLst>
          </a:prstGeom>
          <a:solidFill>
            <a:srgbClr val="FDFDFD"/>
          </a:solidFill>
          <a:ln w="12700">
            <a:solidFill>
              <a:srgbClr val="333333"/>
            </a:solidFill>
            <a:prstDash val="solid"/>
          </a:ln>
          <a:effectLst>
            <a:outerShdw blurRad="50800" dist="15240" dir="5400000" algn="bl" rotWithShape="0">
              <a:srgbClr val="000000">
                <a:alpha val="10000"/>
              </a:srgbClr>
            </a:outerShdw>
          </a:effectLst>
        </p:spPr>
        <p:txBody>
          <a:bodyPr/>
          <a:lstStyle/>
          <a:p>
            <a:endParaRPr lang="en-US"/>
          </a:p>
        </p:txBody>
      </p:sp>
      <p:sp>
        <p:nvSpPr>
          <p:cNvPr id="24" name="Shape 22"/>
          <p:cNvSpPr/>
          <p:nvPr/>
        </p:nvSpPr>
        <p:spPr>
          <a:xfrm>
            <a:off x="4459224" y="1810512"/>
            <a:ext cx="3270504" cy="41148"/>
          </a:xfrm>
          <a:prstGeom prst="rect">
            <a:avLst/>
          </a:prstGeom>
          <a:solidFill>
            <a:srgbClr val="E31837"/>
          </a:solidFill>
          <a:ln/>
        </p:spPr>
        <p:txBody>
          <a:bodyPr/>
          <a:lstStyle/>
          <a:p>
            <a:endParaRPr lang="en-US"/>
          </a:p>
        </p:txBody>
      </p:sp>
      <p:sp>
        <p:nvSpPr>
          <p:cNvPr id="25" name="Text 23"/>
          <p:cNvSpPr/>
          <p:nvPr/>
        </p:nvSpPr>
        <p:spPr>
          <a:xfrm>
            <a:off x="4459224" y="1901952"/>
            <a:ext cx="3270504" cy="201168"/>
          </a:xfrm>
          <a:prstGeom prst="rect">
            <a:avLst/>
          </a:prstGeom>
          <a:noFill/>
          <a:ln/>
        </p:spPr>
        <p:txBody>
          <a:bodyPr wrap="square" lIns="0" tIns="0" rIns="0" bIns="0" rtlCol="0" anchor="ctr"/>
          <a:lstStyle/>
          <a:p>
            <a:pPr marL="0" indent="0">
              <a:buNone/>
            </a:pPr>
            <a:r>
              <a:rPr lang="en-US" sz="950" b="1" kern="0" spc="100" dirty="0">
                <a:solidFill>
                  <a:srgbClr val="E31837"/>
                </a:solidFill>
                <a:latin typeface="Montserrat" pitchFamily="34" charset="0"/>
                <a:ea typeface="Montserrat" pitchFamily="34" charset="-122"/>
                <a:cs typeface="Montserrat" pitchFamily="34" charset="-120"/>
              </a:rPr>
              <a:t>RING 2 · B2B</a:t>
            </a:r>
            <a:endParaRPr lang="en-US" sz="950" dirty="0"/>
          </a:p>
        </p:txBody>
      </p:sp>
      <p:sp>
        <p:nvSpPr>
          <p:cNvPr id="26" name="Text 24"/>
          <p:cNvSpPr/>
          <p:nvPr/>
        </p:nvSpPr>
        <p:spPr>
          <a:xfrm>
            <a:off x="4459224" y="2103120"/>
            <a:ext cx="3270504" cy="310896"/>
          </a:xfrm>
          <a:prstGeom prst="rect">
            <a:avLst/>
          </a:prstGeom>
          <a:noFill/>
          <a:ln/>
        </p:spPr>
        <p:txBody>
          <a:bodyPr wrap="square" lIns="0" tIns="0" rIns="0" bIns="0" rtlCol="0" anchor="ctr"/>
          <a:lstStyle/>
          <a:p>
            <a:pPr marL="0" indent="0">
              <a:buNone/>
            </a:pPr>
            <a:r>
              <a:rPr lang="en-US" sz="1600" b="1" dirty="0">
                <a:solidFill>
                  <a:srgbClr val="333333"/>
                </a:solidFill>
                <a:latin typeface="Montserrat" pitchFamily="34" charset="0"/>
                <a:ea typeface="Montserrat" pitchFamily="34" charset="-122"/>
                <a:cs typeface="Montserrat" pitchFamily="34" charset="-120"/>
              </a:rPr>
              <a:t>Platform — Open API</a:t>
            </a:r>
            <a:endParaRPr lang="en-US" sz="1600" dirty="0"/>
          </a:p>
        </p:txBody>
      </p:sp>
      <p:sp>
        <p:nvSpPr>
          <p:cNvPr id="27" name="Text 25"/>
          <p:cNvSpPr/>
          <p:nvPr/>
        </p:nvSpPr>
        <p:spPr>
          <a:xfrm>
            <a:off x="4459224" y="2468880"/>
            <a:ext cx="3270504" cy="201168"/>
          </a:xfrm>
          <a:prstGeom prst="rect">
            <a:avLst/>
          </a:prstGeom>
          <a:noFill/>
          <a:ln/>
        </p:spPr>
        <p:txBody>
          <a:bodyPr wrap="square" lIns="0" tIns="0" rIns="0" bIns="0" rtlCol="0" anchor="ctr"/>
          <a:lstStyle/>
          <a:p>
            <a:pPr marL="0" indent="0">
              <a:buNone/>
            </a:pPr>
            <a:r>
              <a:rPr lang="en-US" sz="750" b="1" dirty="0">
                <a:solidFill>
                  <a:srgbClr val="A0A5AB"/>
                </a:solidFill>
                <a:latin typeface="Montserrat" pitchFamily="34" charset="0"/>
                <a:ea typeface="Montserrat" pitchFamily="34" charset="-122"/>
                <a:cs typeface="Montserrat" pitchFamily="34" charset="-120"/>
              </a:rPr>
              <a:t>WHO  </a:t>
            </a:r>
            <a:r>
              <a:rPr lang="en-US" sz="900" dirty="0">
                <a:solidFill>
                  <a:srgbClr val="333333"/>
                </a:solidFill>
                <a:latin typeface="Montserrat" pitchFamily="34" charset="0"/>
                <a:ea typeface="Montserrat" pitchFamily="34" charset="-122"/>
                <a:cs typeface="Montserrat" pitchFamily="34" charset="-120"/>
              </a:rPr>
              <a:t>Other retailers &amp; brands</a:t>
            </a:r>
            <a:endParaRPr lang="en-US" sz="750" dirty="0"/>
          </a:p>
        </p:txBody>
      </p:sp>
      <p:sp>
        <p:nvSpPr>
          <p:cNvPr id="28" name="Text 26"/>
          <p:cNvSpPr/>
          <p:nvPr/>
        </p:nvSpPr>
        <p:spPr>
          <a:xfrm>
            <a:off x="4459224" y="2670048"/>
            <a:ext cx="3270504" cy="201168"/>
          </a:xfrm>
          <a:prstGeom prst="rect">
            <a:avLst/>
          </a:prstGeom>
          <a:noFill/>
          <a:ln/>
        </p:spPr>
        <p:txBody>
          <a:bodyPr wrap="square" lIns="0" tIns="0" rIns="0" bIns="0" rtlCol="0" anchor="ctr"/>
          <a:lstStyle/>
          <a:p>
            <a:pPr marL="0" indent="0">
              <a:buNone/>
            </a:pPr>
            <a:r>
              <a:rPr lang="en-US" sz="750" b="1" dirty="0">
                <a:solidFill>
                  <a:srgbClr val="A0A5AB"/>
                </a:solidFill>
                <a:latin typeface="Montserrat" pitchFamily="34" charset="0"/>
                <a:ea typeface="Montserrat" pitchFamily="34" charset="-122"/>
                <a:cs typeface="Montserrat" pitchFamily="34" charset="-120"/>
              </a:rPr>
              <a:t>MODEL  </a:t>
            </a:r>
            <a:r>
              <a:rPr lang="en-US" sz="900" b="1" dirty="0">
                <a:solidFill>
                  <a:srgbClr val="333333"/>
                </a:solidFill>
                <a:latin typeface="Montserrat" pitchFamily="34" charset="0"/>
                <a:ea typeface="Montserrat" pitchFamily="34" charset="-122"/>
                <a:cs typeface="Montserrat" pitchFamily="34" charset="-120"/>
              </a:rPr>
              <a:t>Usage-based / tiered + value-share</a:t>
            </a:r>
            <a:endParaRPr lang="en-US" sz="750" dirty="0"/>
          </a:p>
        </p:txBody>
      </p:sp>
      <p:sp>
        <p:nvSpPr>
          <p:cNvPr id="29" name="Shape 27"/>
          <p:cNvSpPr/>
          <p:nvPr/>
        </p:nvSpPr>
        <p:spPr>
          <a:xfrm>
            <a:off x="4459224" y="3008376"/>
            <a:ext cx="27432" cy="457200"/>
          </a:xfrm>
          <a:prstGeom prst="rect">
            <a:avLst/>
          </a:prstGeom>
          <a:solidFill>
            <a:srgbClr val="E31837"/>
          </a:solidFill>
          <a:ln/>
        </p:spPr>
        <p:txBody>
          <a:bodyPr/>
          <a:lstStyle/>
          <a:p>
            <a:endParaRPr lang="en-US"/>
          </a:p>
        </p:txBody>
      </p:sp>
      <p:sp>
        <p:nvSpPr>
          <p:cNvPr id="30" name="Text 28"/>
          <p:cNvSpPr/>
          <p:nvPr/>
        </p:nvSpPr>
        <p:spPr>
          <a:xfrm>
            <a:off x="4550664" y="2980944"/>
            <a:ext cx="3179064" cy="182880"/>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Agents as APIs</a:t>
            </a:r>
            <a:endParaRPr lang="en-US" sz="900" dirty="0"/>
          </a:p>
        </p:txBody>
      </p:sp>
      <p:sp>
        <p:nvSpPr>
          <p:cNvPr id="31" name="Text 29"/>
          <p:cNvSpPr/>
          <p:nvPr/>
        </p:nvSpPr>
        <p:spPr>
          <a:xfrm>
            <a:off x="4550664" y="3163824"/>
            <a:ext cx="3179064" cy="365760"/>
          </a:xfrm>
          <a:prstGeom prst="rect">
            <a:avLst/>
          </a:prstGeom>
          <a:noFill/>
          <a:ln/>
        </p:spPr>
        <p:txBody>
          <a:bodyPr wrap="square" lIns="0" tIns="0" rIns="0" bIns="0" rtlCol="0" anchor="t"/>
          <a:lstStyle/>
          <a:p>
            <a:pPr marL="0" indent="0">
              <a:lnSpc>
                <a:spcPct val="95000"/>
              </a:lnSpc>
              <a:buNone/>
            </a:pPr>
            <a:r>
              <a:rPr lang="en-US" sz="800" dirty="0">
                <a:solidFill>
                  <a:srgbClr val="5F5E5A"/>
                </a:solidFill>
                <a:latin typeface="Lora" pitchFamily="34" charset="0"/>
                <a:ea typeface="Lora" pitchFamily="34" charset="-122"/>
                <a:cs typeface="Lora" pitchFamily="34" charset="-120"/>
              </a:rPr>
              <a:t>“Size &amp; Fit as a Service” (TAILOR) · “Segmentation as a Service” (PERSONA)</a:t>
            </a:r>
            <a:endParaRPr lang="en-US" sz="800" dirty="0"/>
          </a:p>
        </p:txBody>
      </p:sp>
      <p:sp>
        <p:nvSpPr>
          <p:cNvPr id="32" name="Shape 30"/>
          <p:cNvSpPr/>
          <p:nvPr/>
        </p:nvSpPr>
        <p:spPr>
          <a:xfrm>
            <a:off x="4459224" y="3666744"/>
            <a:ext cx="27432" cy="457200"/>
          </a:xfrm>
          <a:prstGeom prst="rect">
            <a:avLst/>
          </a:prstGeom>
          <a:solidFill>
            <a:srgbClr val="E31837"/>
          </a:solidFill>
          <a:ln/>
        </p:spPr>
        <p:txBody>
          <a:bodyPr/>
          <a:lstStyle/>
          <a:p>
            <a:endParaRPr lang="en-US"/>
          </a:p>
        </p:txBody>
      </p:sp>
      <p:sp>
        <p:nvSpPr>
          <p:cNvPr id="33" name="Text 31"/>
          <p:cNvSpPr/>
          <p:nvPr/>
        </p:nvSpPr>
        <p:spPr>
          <a:xfrm>
            <a:off x="4550664" y="3639312"/>
            <a:ext cx="3179064" cy="182880"/>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Priced on use or outcome</a:t>
            </a:r>
            <a:endParaRPr lang="en-US" sz="900" dirty="0"/>
          </a:p>
        </p:txBody>
      </p:sp>
      <p:sp>
        <p:nvSpPr>
          <p:cNvPr id="34" name="Text 32"/>
          <p:cNvSpPr/>
          <p:nvPr/>
        </p:nvSpPr>
        <p:spPr>
          <a:xfrm>
            <a:off x="4550664" y="3822192"/>
            <a:ext cx="3179064" cy="365760"/>
          </a:xfrm>
          <a:prstGeom prst="rect">
            <a:avLst/>
          </a:prstGeom>
          <a:noFill/>
          <a:ln/>
        </p:spPr>
        <p:txBody>
          <a:bodyPr wrap="square" lIns="0" tIns="0" rIns="0" bIns="0" rtlCol="0" anchor="t"/>
          <a:lstStyle/>
          <a:p>
            <a:pPr marL="0" indent="0">
              <a:lnSpc>
                <a:spcPct val="95000"/>
              </a:lnSpc>
              <a:buNone/>
            </a:pPr>
            <a:r>
              <a:rPr lang="en-US" sz="800" dirty="0">
                <a:solidFill>
                  <a:srgbClr val="5F5E5A"/>
                </a:solidFill>
                <a:latin typeface="Lora" pitchFamily="34" charset="0"/>
                <a:ea typeface="Lora" pitchFamily="34" charset="-122"/>
                <a:cs typeface="Lora" pitchFamily="34" charset="-120"/>
              </a:rPr>
              <a:t>per-call tiers, or value-share on the returns we cut</a:t>
            </a:r>
            <a:endParaRPr lang="en-US" sz="800" dirty="0"/>
          </a:p>
        </p:txBody>
      </p:sp>
      <p:sp>
        <p:nvSpPr>
          <p:cNvPr id="35" name="Shape 33"/>
          <p:cNvSpPr/>
          <p:nvPr/>
        </p:nvSpPr>
        <p:spPr>
          <a:xfrm>
            <a:off x="4459224" y="4315968"/>
            <a:ext cx="3270504" cy="310896"/>
          </a:xfrm>
          <a:prstGeom prst="roundRect">
            <a:avLst>
              <a:gd name="adj" fmla="val 11765"/>
            </a:avLst>
          </a:prstGeom>
          <a:solidFill>
            <a:srgbClr val="F5F4F1"/>
          </a:solidFill>
          <a:ln/>
        </p:spPr>
        <p:txBody>
          <a:bodyPr/>
          <a:lstStyle/>
          <a:p>
            <a:endParaRPr lang="en-US"/>
          </a:p>
        </p:txBody>
      </p:sp>
      <p:sp>
        <p:nvSpPr>
          <p:cNvPr id="36" name="Text 34"/>
          <p:cNvSpPr/>
          <p:nvPr/>
        </p:nvSpPr>
        <p:spPr>
          <a:xfrm>
            <a:off x="4568952" y="4315968"/>
            <a:ext cx="3124200" cy="310896"/>
          </a:xfrm>
          <a:prstGeom prst="rect">
            <a:avLst/>
          </a:prstGeom>
          <a:noFill/>
          <a:ln/>
        </p:spPr>
        <p:txBody>
          <a:bodyPr wrap="square" lIns="0" tIns="0" rIns="0" bIns="0" rtlCol="0" anchor="ctr"/>
          <a:lstStyle/>
          <a:p>
            <a:pPr marL="0" indent="0">
              <a:buNone/>
            </a:pPr>
            <a:r>
              <a:rPr lang="en-US" sz="700" b="1" dirty="0">
                <a:solidFill>
                  <a:srgbClr val="A0A5AB"/>
                </a:solidFill>
                <a:latin typeface="Montserrat" pitchFamily="34" charset="0"/>
                <a:ea typeface="Montserrat" pitchFamily="34" charset="-122"/>
                <a:cs typeface="Montserrat" pitchFamily="34" charset="-120"/>
              </a:rPr>
              <a:t>POWERED BY  </a:t>
            </a:r>
            <a:r>
              <a:rPr lang="en-US" sz="850" b="1" dirty="0">
                <a:solidFill>
                  <a:srgbClr val="E31837"/>
                </a:solidFill>
                <a:latin typeface="Montserrat" pitchFamily="34" charset="0"/>
                <a:ea typeface="Montserrat" pitchFamily="34" charset="-122"/>
                <a:cs typeface="Montserrat" pitchFamily="34" charset="-120"/>
              </a:rPr>
              <a:t>TAILOR · PERSONA · MUSE</a:t>
            </a:r>
            <a:endParaRPr lang="en-US" sz="700" dirty="0"/>
          </a:p>
        </p:txBody>
      </p:sp>
      <p:sp>
        <p:nvSpPr>
          <p:cNvPr id="37" name="Shape 35"/>
          <p:cNvSpPr/>
          <p:nvPr/>
        </p:nvSpPr>
        <p:spPr>
          <a:xfrm>
            <a:off x="8150352" y="1572768"/>
            <a:ext cx="3672840" cy="3200400"/>
          </a:xfrm>
          <a:prstGeom prst="roundRect">
            <a:avLst>
              <a:gd name="adj" fmla="val 2571"/>
            </a:avLst>
          </a:prstGeom>
          <a:solidFill>
            <a:srgbClr val="22262A"/>
          </a:solidFill>
          <a:ln/>
          <a:effectLst>
            <a:outerShdw blurRad="50800" dist="15240" dir="5400000" algn="bl" rotWithShape="0">
              <a:srgbClr val="000000">
                <a:alpha val="10000"/>
              </a:srgbClr>
            </a:outerShdw>
          </a:effectLst>
        </p:spPr>
        <p:txBody>
          <a:bodyPr/>
          <a:lstStyle/>
          <a:p>
            <a:endParaRPr lang="en-US"/>
          </a:p>
        </p:txBody>
      </p:sp>
      <p:sp>
        <p:nvSpPr>
          <p:cNvPr id="38" name="Shape 36"/>
          <p:cNvSpPr/>
          <p:nvPr/>
        </p:nvSpPr>
        <p:spPr>
          <a:xfrm>
            <a:off x="8351520" y="1810512"/>
            <a:ext cx="3270504" cy="41148"/>
          </a:xfrm>
          <a:prstGeom prst="rect">
            <a:avLst/>
          </a:prstGeom>
          <a:solidFill>
            <a:srgbClr val="FF4D4D"/>
          </a:solidFill>
          <a:ln/>
        </p:spPr>
        <p:txBody>
          <a:bodyPr/>
          <a:lstStyle/>
          <a:p>
            <a:endParaRPr lang="en-US"/>
          </a:p>
        </p:txBody>
      </p:sp>
      <p:sp>
        <p:nvSpPr>
          <p:cNvPr id="39" name="Text 37"/>
          <p:cNvSpPr/>
          <p:nvPr/>
        </p:nvSpPr>
        <p:spPr>
          <a:xfrm>
            <a:off x="8351520" y="1901952"/>
            <a:ext cx="3270504" cy="201168"/>
          </a:xfrm>
          <a:prstGeom prst="rect">
            <a:avLst/>
          </a:prstGeom>
          <a:noFill/>
          <a:ln/>
        </p:spPr>
        <p:txBody>
          <a:bodyPr wrap="square" lIns="0" tIns="0" rIns="0" bIns="0" rtlCol="0" anchor="ctr"/>
          <a:lstStyle/>
          <a:p>
            <a:pPr marL="0" indent="0">
              <a:buNone/>
            </a:pPr>
            <a:r>
              <a:rPr lang="en-US" sz="950" b="1" kern="0" spc="100" dirty="0">
                <a:solidFill>
                  <a:srgbClr val="FF4D4D"/>
                </a:solidFill>
                <a:latin typeface="Montserrat" pitchFamily="34" charset="0"/>
                <a:ea typeface="Montserrat" pitchFamily="34" charset="-122"/>
                <a:cs typeface="Montserrat" pitchFamily="34" charset="-120"/>
              </a:rPr>
              <a:t>RING 3 · B2B2C</a:t>
            </a:r>
            <a:endParaRPr lang="en-US" sz="950" dirty="0"/>
          </a:p>
        </p:txBody>
      </p:sp>
      <p:sp>
        <p:nvSpPr>
          <p:cNvPr id="40" name="Text 38"/>
          <p:cNvSpPr/>
          <p:nvPr/>
        </p:nvSpPr>
        <p:spPr>
          <a:xfrm>
            <a:off x="8351520" y="2103120"/>
            <a:ext cx="3270504" cy="310896"/>
          </a:xfrm>
          <a:prstGeom prst="rect">
            <a:avLst/>
          </a:prstGeom>
          <a:noFill/>
          <a:ln/>
        </p:spPr>
        <p:txBody>
          <a:bodyPr wrap="square" lIns="0" tIns="0" rIns="0" bIns="0" rtlCol="0" anchor="ctr"/>
          <a:lstStyle/>
          <a:p>
            <a:pPr marL="0" indent="0">
              <a:buNone/>
            </a:pPr>
            <a:r>
              <a:rPr lang="en-US" sz="1600" b="1" dirty="0">
                <a:solidFill>
                  <a:srgbClr val="FDFDFD"/>
                </a:solidFill>
                <a:latin typeface="Montserrat" pitchFamily="34" charset="0"/>
                <a:ea typeface="Montserrat" pitchFamily="34" charset="-122"/>
                <a:cs typeface="Montserrat" pitchFamily="34" charset="-120"/>
              </a:rPr>
              <a:t>White-label</a:t>
            </a:r>
            <a:endParaRPr lang="en-US" sz="1600" dirty="0"/>
          </a:p>
        </p:txBody>
      </p:sp>
      <p:sp>
        <p:nvSpPr>
          <p:cNvPr id="41" name="Text 39"/>
          <p:cNvSpPr/>
          <p:nvPr/>
        </p:nvSpPr>
        <p:spPr>
          <a:xfrm>
            <a:off x="8351520" y="2468880"/>
            <a:ext cx="3270504" cy="201168"/>
          </a:xfrm>
          <a:prstGeom prst="rect">
            <a:avLst/>
          </a:prstGeom>
          <a:noFill/>
          <a:ln/>
        </p:spPr>
        <p:txBody>
          <a:bodyPr wrap="square" lIns="0" tIns="0" rIns="0" bIns="0" rtlCol="0" anchor="ctr"/>
          <a:lstStyle/>
          <a:p>
            <a:pPr marL="0" indent="0">
              <a:buNone/>
            </a:pPr>
            <a:r>
              <a:rPr lang="en-US" sz="750" b="1" dirty="0">
                <a:solidFill>
                  <a:srgbClr val="9B9A92"/>
                </a:solidFill>
                <a:latin typeface="Montserrat" pitchFamily="34" charset="0"/>
                <a:ea typeface="Montserrat" pitchFamily="34" charset="-122"/>
                <a:cs typeface="Montserrat" pitchFamily="34" charset="-120"/>
              </a:rPr>
              <a:t>WHO  </a:t>
            </a:r>
            <a:r>
              <a:rPr lang="en-US" sz="900" dirty="0">
                <a:solidFill>
                  <a:srgbClr val="D8D8D8"/>
                </a:solidFill>
                <a:latin typeface="Montserrat" pitchFamily="34" charset="0"/>
                <a:ea typeface="Montserrat" pitchFamily="34" charset="-122"/>
                <a:cs typeface="Montserrat" pitchFamily="34" charset="-120"/>
              </a:rPr>
              <a:t>A retailer's whole estate</a:t>
            </a:r>
            <a:endParaRPr lang="en-US" sz="750" dirty="0"/>
          </a:p>
        </p:txBody>
      </p:sp>
      <p:sp>
        <p:nvSpPr>
          <p:cNvPr id="42" name="Text 40"/>
          <p:cNvSpPr/>
          <p:nvPr/>
        </p:nvSpPr>
        <p:spPr>
          <a:xfrm>
            <a:off x="8351520" y="2670048"/>
            <a:ext cx="3270504" cy="201168"/>
          </a:xfrm>
          <a:prstGeom prst="rect">
            <a:avLst/>
          </a:prstGeom>
          <a:noFill/>
          <a:ln/>
        </p:spPr>
        <p:txBody>
          <a:bodyPr wrap="square" lIns="0" tIns="0" rIns="0" bIns="0" rtlCol="0" anchor="ctr"/>
          <a:lstStyle/>
          <a:p>
            <a:pPr marL="0" indent="0">
              <a:buNone/>
            </a:pPr>
            <a:r>
              <a:rPr lang="en-US" sz="750" b="1" dirty="0">
                <a:solidFill>
                  <a:srgbClr val="9B9A92"/>
                </a:solidFill>
                <a:latin typeface="Montserrat" pitchFamily="34" charset="0"/>
                <a:ea typeface="Montserrat" pitchFamily="34" charset="-122"/>
                <a:cs typeface="Montserrat" pitchFamily="34" charset="-120"/>
              </a:rPr>
              <a:t>MODEL  </a:t>
            </a:r>
            <a:r>
              <a:rPr lang="en-US" sz="900" b="1" dirty="0">
                <a:solidFill>
                  <a:srgbClr val="FDFDFD"/>
                </a:solidFill>
                <a:latin typeface="Montserrat" pitchFamily="34" charset="0"/>
                <a:ea typeface="Montserrat" pitchFamily="34" charset="-122"/>
                <a:cs typeface="Montserrat" pitchFamily="34" charset="-120"/>
              </a:rPr>
              <a:t>Platform licence + run</a:t>
            </a:r>
            <a:endParaRPr lang="en-US" sz="750" dirty="0"/>
          </a:p>
        </p:txBody>
      </p:sp>
      <p:sp>
        <p:nvSpPr>
          <p:cNvPr id="43" name="Shape 41"/>
          <p:cNvSpPr/>
          <p:nvPr/>
        </p:nvSpPr>
        <p:spPr>
          <a:xfrm>
            <a:off x="8351520" y="3008376"/>
            <a:ext cx="27432" cy="457200"/>
          </a:xfrm>
          <a:prstGeom prst="rect">
            <a:avLst/>
          </a:prstGeom>
          <a:solidFill>
            <a:srgbClr val="FF4D4D"/>
          </a:solidFill>
          <a:ln/>
        </p:spPr>
        <p:txBody>
          <a:bodyPr/>
          <a:lstStyle/>
          <a:p>
            <a:endParaRPr lang="en-US"/>
          </a:p>
        </p:txBody>
      </p:sp>
      <p:sp>
        <p:nvSpPr>
          <p:cNvPr id="44" name="Text 42"/>
          <p:cNvSpPr/>
          <p:nvPr/>
        </p:nvSpPr>
        <p:spPr>
          <a:xfrm>
            <a:off x="8442960" y="2980944"/>
            <a:ext cx="3179064" cy="182880"/>
          </a:xfrm>
          <a:prstGeom prst="rect">
            <a:avLst/>
          </a:prstGeom>
          <a:noFill/>
          <a:ln/>
        </p:spPr>
        <p:txBody>
          <a:bodyPr wrap="square" lIns="0" tIns="0" rIns="0" bIns="0" rtlCol="0" anchor="ctr"/>
          <a:lstStyle/>
          <a:p>
            <a:pPr marL="0" indent="0">
              <a:buNone/>
            </a:pPr>
            <a:r>
              <a:rPr lang="en-US" sz="900" b="1" dirty="0">
                <a:solidFill>
                  <a:srgbClr val="FDFDFD"/>
                </a:solidFill>
                <a:latin typeface="Montserrat" pitchFamily="34" charset="0"/>
                <a:ea typeface="Montserrat" pitchFamily="34" charset="-122"/>
                <a:cs typeface="Montserrat" pitchFamily="34" charset="-120"/>
              </a:rPr>
              <a:t>The full Assistant</a:t>
            </a:r>
            <a:endParaRPr lang="en-US" sz="900" dirty="0"/>
          </a:p>
        </p:txBody>
      </p:sp>
      <p:sp>
        <p:nvSpPr>
          <p:cNvPr id="45" name="Text 43"/>
          <p:cNvSpPr/>
          <p:nvPr/>
        </p:nvSpPr>
        <p:spPr>
          <a:xfrm>
            <a:off x="8442960" y="3163824"/>
            <a:ext cx="3179064" cy="365760"/>
          </a:xfrm>
          <a:prstGeom prst="rect">
            <a:avLst/>
          </a:prstGeom>
          <a:noFill/>
          <a:ln/>
        </p:spPr>
        <p:txBody>
          <a:bodyPr wrap="square" lIns="0" tIns="0" rIns="0" bIns="0" rtlCol="0" anchor="t"/>
          <a:lstStyle/>
          <a:p>
            <a:pPr marL="0" indent="0">
              <a:lnSpc>
                <a:spcPct val="95000"/>
              </a:lnSpc>
              <a:buNone/>
            </a:pPr>
            <a:r>
              <a:rPr lang="en-US" sz="800" dirty="0">
                <a:solidFill>
                  <a:srgbClr val="C9C9C7"/>
                </a:solidFill>
                <a:latin typeface="Lora" pitchFamily="34" charset="0"/>
                <a:ea typeface="Lora" pitchFamily="34" charset="-122"/>
                <a:cs typeface="Lora" pitchFamily="34" charset="-120"/>
              </a:rPr>
              <a:t>rebranded, run on their catalogue, stores &amp; data — our platform, their brand</a:t>
            </a:r>
            <a:endParaRPr lang="en-US" sz="800" dirty="0"/>
          </a:p>
        </p:txBody>
      </p:sp>
      <p:sp>
        <p:nvSpPr>
          <p:cNvPr id="46" name="Shape 44"/>
          <p:cNvSpPr/>
          <p:nvPr/>
        </p:nvSpPr>
        <p:spPr>
          <a:xfrm>
            <a:off x="8351520" y="3666744"/>
            <a:ext cx="27432" cy="457200"/>
          </a:xfrm>
          <a:prstGeom prst="rect">
            <a:avLst/>
          </a:prstGeom>
          <a:solidFill>
            <a:srgbClr val="FF4D4D"/>
          </a:solidFill>
          <a:ln/>
        </p:spPr>
        <p:txBody>
          <a:bodyPr/>
          <a:lstStyle/>
          <a:p>
            <a:endParaRPr lang="en-US"/>
          </a:p>
        </p:txBody>
      </p:sp>
      <p:sp>
        <p:nvSpPr>
          <p:cNvPr id="47" name="Text 45"/>
          <p:cNvSpPr/>
          <p:nvPr/>
        </p:nvSpPr>
        <p:spPr>
          <a:xfrm>
            <a:off x="8442960" y="3639312"/>
            <a:ext cx="3179064" cy="182880"/>
          </a:xfrm>
          <a:prstGeom prst="rect">
            <a:avLst/>
          </a:prstGeom>
          <a:noFill/>
          <a:ln/>
        </p:spPr>
        <p:txBody>
          <a:bodyPr wrap="square" lIns="0" tIns="0" rIns="0" bIns="0" rtlCol="0" anchor="ctr"/>
          <a:lstStyle/>
          <a:p>
            <a:pPr marL="0" indent="0">
              <a:buNone/>
            </a:pPr>
            <a:r>
              <a:rPr lang="en-US" sz="900" b="1" dirty="0">
                <a:solidFill>
                  <a:srgbClr val="FDFDFD"/>
                </a:solidFill>
                <a:latin typeface="Montserrat" pitchFamily="34" charset="0"/>
                <a:ea typeface="Montserrat" pitchFamily="34" charset="-122"/>
                <a:cs typeface="Montserrat" pitchFamily="34" charset="-120"/>
              </a:rPr>
              <a:t>Highest value</a:t>
            </a:r>
            <a:endParaRPr lang="en-US" sz="900" dirty="0"/>
          </a:p>
        </p:txBody>
      </p:sp>
      <p:sp>
        <p:nvSpPr>
          <p:cNvPr id="48" name="Text 46"/>
          <p:cNvSpPr/>
          <p:nvPr/>
        </p:nvSpPr>
        <p:spPr>
          <a:xfrm>
            <a:off x="8442960" y="3822192"/>
            <a:ext cx="3179064" cy="365760"/>
          </a:xfrm>
          <a:prstGeom prst="rect">
            <a:avLst/>
          </a:prstGeom>
          <a:noFill/>
          <a:ln/>
        </p:spPr>
        <p:txBody>
          <a:bodyPr wrap="square" lIns="0" tIns="0" rIns="0" bIns="0" rtlCol="0" anchor="t"/>
          <a:lstStyle/>
          <a:p>
            <a:pPr marL="0" indent="0">
              <a:lnSpc>
                <a:spcPct val="95000"/>
              </a:lnSpc>
              <a:buNone/>
            </a:pPr>
            <a:r>
              <a:rPr lang="en-US" sz="800" dirty="0">
                <a:solidFill>
                  <a:srgbClr val="C9C9C7"/>
                </a:solidFill>
                <a:latin typeface="Lora" pitchFamily="34" charset="0"/>
                <a:ea typeface="Lora" pitchFamily="34" charset="-122"/>
                <a:cs typeface="Lora" pitchFamily="34" charset="-120"/>
              </a:rPr>
              <a:t>licence + revenue-share; the platform play in full</a:t>
            </a:r>
            <a:endParaRPr lang="en-US" sz="800" dirty="0"/>
          </a:p>
        </p:txBody>
      </p:sp>
      <p:sp>
        <p:nvSpPr>
          <p:cNvPr id="49" name="Shape 47"/>
          <p:cNvSpPr/>
          <p:nvPr/>
        </p:nvSpPr>
        <p:spPr>
          <a:xfrm>
            <a:off x="8351520" y="4315968"/>
            <a:ext cx="3270504" cy="310896"/>
          </a:xfrm>
          <a:prstGeom prst="roundRect">
            <a:avLst>
              <a:gd name="adj" fmla="val 11765"/>
            </a:avLst>
          </a:prstGeom>
          <a:solidFill>
            <a:srgbClr val="333A40"/>
          </a:solidFill>
          <a:ln/>
        </p:spPr>
        <p:txBody>
          <a:bodyPr/>
          <a:lstStyle/>
          <a:p>
            <a:endParaRPr lang="en-US"/>
          </a:p>
        </p:txBody>
      </p:sp>
      <p:sp>
        <p:nvSpPr>
          <p:cNvPr id="50" name="Text 48"/>
          <p:cNvSpPr/>
          <p:nvPr/>
        </p:nvSpPr>
        <p:spPr>
          <a:xfrm>
            <a:off x="8461248" y="4315968"/>
            <a:ext cx="3124200" cy="310896"/>
          </a:xfrm>
          <a:prstGeom prst="rect">
            <a:avLst/>
          </a:prstGeom>
          <a:noFill/>
          <a:ln/>
        </p:spPr>
        <p:txBody>
          <a:bodyPr wrap="square" lIns="0" tIns="0" rIns="0" bIns="0" rtlCol="0" anchor="ctr"/>
          <a:lstStyle/>
          <a:p>
            <a:pPr marL="0" indent="0">
              <a:buNone/>
            </a:pPr>
            <a:r>
              <a:rPr lang="en-US" sz="700" b="1" dirty="0">
                <a:solidFill>
                  <a:srgbClr val="9B9A92"/>
                </a:solidFill>
                <a:latin typeface="Montserrat" pitchFamily="34" charset="0"/>
                <a:ea typeface="Montserrat" pitchFamily="34" charset="-122"/>
                <a:cs typeface="Montserrat" pitchFamily="34" charset="-120"/>
              </a:rPr>
              <a:t>POWERED BY  </a:t>
            </a:r>
            <a:r>
              <a:rPr lang="en-US" sz="850" b="1" dirty="0">
                <a:solidFill>
                  <a:srgbClr val="FF4D4D"/>
                </a:solidFill>
                <a:latin typeface="Montserrat" pitchFamily="34" charset="0"/>
                <a:ea typeface="Montserrat" pitchFamily="34" charset="-122"/>
                <a:cs typeface="Montserrat" pitchFamily="34" charset="-120"/>
              </a:rPr>
              <a:t>the whole 17-agent estate</a:t>
            </a:r>
            <a:endParaRPr lang="en-US" sz="700" dirty="0"/>
          </a:p>
        </p:txBody>
      </p:sp>
      <p:sp>
        <p:nvSpPr>
          <p:cNvPr id="51" name="Shape 49"/>
          <p:cNvSpPr/>
          <p:nvPr/>
        </p:nvSpPr>
        <p:spPr>
          <a:xfrm>
            <a:off x="4056888" y="3172968"/>
            <a:ext cx="182880" cy="0"/>
          </a:xfrm>
          <a:prstGeom prst="line">
            <a:avLst/>
          </a:prstGeom>
          <a:noFill/>
          <a:ln w="19050">
            <a:solidFill>
              <a:srgbClr val="A0A5AB"/>
            </a:solidFill>
            <a:prstDash val="solid"/>
            <a:tailEnd type="triangle"/>
          </a:ln>
        </p:spPr>
        <p:txBody>
          <a:bodyPr/>
          <a:lstStyle/>
          <a:p>
            <a:endParaRPr lang="en-US"/>
          </a:p>
        </p:txBody>
      </p:sp>
      <p:sp>
        <p:nvSpPr>
          <p:cNvPr id="52" name="Shape 50"/>
          <p:cNvSpPr/>
          <p:nvPr/>
        </p:nvSpPr>
        <p:spPr>
          <a:xfrm>
            <a:off x="7949184" y="3172968"/>
            <a:ext cx="182880" cy="0"/>
          </a:xfrm>
          <a:prstGeom prst="line">
            <a:avLst/>
          </a:prstGeom>
          <a:noFill/>
          <a:ln w="19050">
            <a:solidFill>
              <a:srgbClr val="A0A5AB"/>
            </a:solidFill>
            <a:prstDash val="solid"/>
            <a:tailEnd type="triangle"/>
          </a:ln>
        </p:spPr>
        <p:txBody>
          <a:bodyPr/>
          <a:lstStyle/>
          <a:p>
            <a:endParaRPr lang="en-US"/>
          </a:p>
        </p:txBody>
      </p:sp>
      <p:sp>
        <p:nvSpPr>
          <p:cNvPr id="53" name="Shape 51"/>
          <p:cNvSpPr/>
          <p:nvPr/>
        </p:nvSpPr>
        <p:spPr>
          <a:xfrm>
            <a:off x="365760" y="4882896"/>
            <a:ext cx="11457432" cy="1042416"/>
          </a:xfrm>
          <a:prstGeom prst="roundRect">
            <a:avLst>
              <a:gd name="adj" fmla="val 7609"/>
            </a:avLst>
          </a:prstGeom>
          <a:solidFill>
            <a:srgbClr val="F5F4F1"/>
          </a:solidFill>
          <a:ln/>
        </p:spPr>
        <p:txBody>
          <a:bodyPr/>
          <a:lstStyle/>
          <a:p>
            <a:endParaRPr lang="en-US"/>
          </a:p>
        </p:txBody>
      </p:sp>
      <p:sp>
        <p:nvSpPr>
          <p:cNvPr id="54" name="Text 52"/>
          <p:cNvSpPr/>
          <p:nvPr/>
        </p:nvSpPr>
        <p:spPr>
          <a:xfrm>
            <a:off x="548640" y="5048767"/>
            <a:ext cx="10972800" cy="219456"/>
          </a:xfrm>
          <a:prstGeom prst="rect">
            <a:avLst/>
          </a:prstGeom>
          <a:noFill/>
          <a:ln/>
        </p:spPr>
        <p:txBody>
          <a:bodyPr wrap="square" lIns="0" tIns="0" rIns="0" bIns="0" rtlCol="0" anchor="ctr"/>
          <a:lstStyle/>
          <a:p>
            <a:pPr marL="0" indent="0">
              <a:buNone/>
            </a:pPr>
            <a:r>
              <a:rPr lang="en-US" sz="1200" b="1" dirty="0">
                <a:solidFill>
                  <a:srgbClr val="333333"/>
                </a:solidFill>
                <a:latin typeface="Montserrat" pitchFamily="34" charset="0"/>
                <a:ea typeface="Montserrat" pitchFamily="34" charset="-122"/>
                <a:cs typeface="Montserrat" pitchFamily="34" charset="-120"/>
              </a:rPr>
              <a:t>Why the rings widen — and why only Neu.Tail can</a:t>
            </a:r>
            <a:endParaRPr lang="en-US" sz="1200" dirty="0"/>
          </a:p>
        </p:txBody>
      </p:sp>
      <p:sp>
        <p:nvSpPr>
          <p:cNvPr id="55" name="Text 53"/>
          <p:cNvSpPr/>
          <p:nvPr/>
        </p:nvSpPr>
        <p:spPr>
          <a:xfrm>
            <a:off x="548640" y="5286511"/>
            <a:ext cx="11155680" cy="457200"/>
          </a:xfrm>
          <a:prstGeom prst="rect">
            <a:avLst/>
          </a:prstGeom>
          <a:noFill/>
          <a:ln/>
        </p:spPr>
        <p:txBody>
          <a:bodyPr wrap="square" lIns="0" tIns="0" rIns="0" bIns="0" rtlCol="0" anchor="t"/>
          <a:lstStyle/>
          <a:p>
            <a:pPr marL="0" indent="0">
              <a:lnSpc>
                <a:spcPct val="102000"/>
              </a:lnSpc>
              <a:buNone/>
            </a:pPr>
            <a:r>
              <a:rPr lang="en-US" sz="1000" dirty="0">
                <a:solidFill>
                  <a:srgbClr val="5F5E5A"/>
                </a:solidFill>
                <a:latin typeface="Lora" pitchFamily="34" charset="0"/>
                <a:ea typeface="Lora" pitchFamily="34" charset="-122"/>
                <a:cs typeface="Lora" pitchFamily="34" charset="-120"/>
              </a:rPr>
              <a:t>Ring 1 proves it works on our own estate </a:t>
            </a:r>
            <a:r>
              <a:rPr lang="en-US" sz="1000" i="1" dirty="0">
                <a:solidFill>
                  <a:srgbClr val="A0A5AB"/>
                </a:solidFill>
                <a:latin typeface="Lora" pitchFamily="34" charset="0"/>
                <a:ea typeface="Lora" pitchFamily="34" charset="-122"/>
                <a:cs typeface="Lora" pitchFamily="34" charset="-120"/>
              </a:rPr>
              <a:t>(and pays for the build). </a:t>
            </a:r>
            <a:r>
              <a:rPr lang="en-US" sz="1000" dirty="0">
                <a:solidFill>
                  <a:srgbClr val="5F5E5A"/>
                </a:solidFill>
                <a:latin typeface="Lora" pitchFamily="34" charset="0"/>
                <a:ea typeface="Lora" pitchFamily="34" charset="-122"/>
                <a:cs typeface="Lora" pitchFamily="34" charset="-120"/>
              </a:rPr>
              <a:t>Ring 2 sells the proven agents as APIs. Ring 3 licences the whole platform. </a:t>
            </a:r>
            <a:r>
              <a:rPr lang="en-US" sz="1000" b="1" dirty="0">
                <a:solidFill>
                  <a:srgbClr val="333333"/>
                </a:solidFill>
                <a:latin typeface="Lora" pitchFamily="34" charset="0"/>
                <a:ea typeface="Lora" pitchFamily="34" charset="-122"/>
                <a:cs typeface="Lora" pitchFamily="34" charset="-120"/>
              </a:rPr>
              <a:t>The moat: only Neu.Tail can offer outcome-based pricing on returns, because only we have the GRADE→TAILOR loop that turns a return into prevention. “We get paid when we save you returns” is a pitch no pure-software vendor can make.</a:t>
            </a:r>
            <a:endParaRPr lang="en-US" sz="1000" dirty="0"/>
          </a:p>
        </p:txBody>
      </p:sp>
      <p:sp>
        <p:nvSpPr>
          <p:cNvPr id="56" name="Text 54"/>
          <p:cNvSpPr/>
          <p:nvPr/>
        </p:nvSpPr>
        <p:spPr>
          <a:xfrm>
            <a:off x="548640" y="6108192"/>
            <a:ext cx="11430000" cy="182880"/>
          </a:xfrm>
          <a:prstGeom prst="rect">
            <a:avLst/>
          </a:prstGeom>
          <a:noFill/>
          <a:ln/>
        </p:spPr>
        <p:txBody>
          <a:bodyPr wrap="square" lIns="0" tIns="0" rIns="0" bIns="0" rtlCol="0" anchor="ctr"/>
          <a:lstStyle/>
          <a:p>
            <a:pPr marL="0" indent="0">
              <a:buNone/>
            </a:pPr>
            <a:r>
              <a:rPr lang="en-US" sz="900" b="1" dirty="0">
                <a:solidFill>
                  <a:srgbClr val="E31837"/>
                </a:solidFill>
                <a:latin typeface="Lora" pitchFamily="34" charset="0"/>
                <a:ea typeface="Lora" pitchFamily="34" charset="-122"/>
                <a:cs typeface="Lora" pitchFamily="34" charset="-120"/>
              </a:rPr>
              <a:t>Directional PoV.  </a:t>
            </a:r>
            <a:r>
              <a:rPr lang="en-US" sz="900" i="1" dirty="0">
                <a:solidFill>
                  <a:schemeClr val="tx1">
                    <a:lumMod val="85000"/>
                    <a:lumOff val="15000"/>
                  </a:schemeClr>
                </a:solidFill>
                <a:latin typeface="Lora" pitchFamily="34" charset="0"/>
                <a:ea typeface="Lora" pitchFamily="34" charset="-122"/>
                <a:cs typeface="Lora" pitchFamily="34" charset="-120"/>
              </a:rPr>
              <a:t>Pricing models shown, not committed figures — to be validated with commercial &amp; finance</a:t>
            </a:r>
            <a:r>
              <a:rPr lang="en-US" sz="900" i="1" dirty="0">
                <a:solidFill>
                  <a:srgbClr val="A0A5AB"/>
                </a:solidFill>
                <a:latin typeface="Lora" pitchFamily="34" charset="0"/>
                <a:ea typeface="Lora" pitchFamily="34" charset="-122"/>
                <a:cs typeface="Lora" pitchFamily="34" charset="-120"/>
              </a:rPr>
              <a:t>.</a:t>
            </a:r>
            <a:endParaRPr lang="en-US" sz="900" dirty="0"/>
          </a:p>
        </p:txBody>
      </p:sp>
      <p:pic>
        <p:nvPicPr>
          <p:cNvPr id="57" name="Google Shape;126;p2" descr="preencoded.png">
            <a:extLst>
              <a:ext uri="{FF2B5EF4-FFF2-40B4-BE49-F238E27FC236}">
                <a16:creationId xmlns:a16="http://schemas.microsoft.com/office/drawing/2014/main" id="{FBF88634-B3A1-D002-5425-5ADE46365916}"/>
              </a:ext>
            </a:extLst>
          </p:cNvPr>
          <p:cNvPicPr preferRelativeResize="0"/>
          <p:nvPr/>
        </p:nvPicPr>
        <p:blipFill rotWithShape="1">
          <a:blip r:embed="rId3">
            <a:alphaModFix/>
          </a:blip>
          <a:srcRect/>
          <a:stretch/>
        </p:blipFill>
        <p:spPr>
          <a:xfrm>
            <a:off x="11153665" y="178773"/>
            <a:ext cx="669527" cy="671619"/>
          </a:xfrm>
          <a:prstGeom prst="rect">
            <a:avLst/>
          </a:prstGeom>
          <a:noFill/>
          <a:ln>
            <a:noFill/>
          </a:ln>
        </p:spPr>
      </p:pic>
      <p:sp>
        <p:nvSpPr>
          <p:cNvPr id="58" name="Shape 42">
            <a:extLst>
              <a:ext uri="{FF2B5EF4-FFF2-40B4-BE49-F238E27FC236}">
                <a16:creationId xmlns:a16="http://schemas.microsoft.com/office/drawing/2014/main" id="{831C0D2D-D10F-9BF7-9941-8C387E3166A3}"/>
              </a:ext>
            </a:extLst>
          </p:cNvPr>
          <p:cNvSpPr/>
          <p:nvPr/>
        </p:nvSpPr>
        <p:spPr>
          <a:xfrm>
            <a:off x="566928" y="6419088"/>
            <a:ext cx="11091672" cy="10973"/>
          </a:xfrm>
          <a:prstGeom prst="rect">
            <a:avLst/>
          </a:prstGeom>
          <a:solidFill>
            <a:srgbClr val="E2E0D9"/>
          </a:solidFill>
          <a:ln/>
        </p:spPr>
        <p:txBody>
          <a:bodyPr/>
          <a:lstStyle/>
          <a:p>
            <a:endParaRPr lang="en-US"/>
          </a:p>
        </p:txBody>
      </p:sp>
      <p:sp>
        <p:nvSpPr>
          <p:cNvPr id="59" name="Text 43">
            <a:extLst>
              <a:ext uri="{FF2B5EF4-FFF2-40B4-BE49-F238E27FC236}">
                <a16:creationId xmlns:a16="http://schemas.microsoft.com/office/drawing/2014/main" id="{C4732D36-35D4-6016-FC24-45E1CF9A30A3}"/>
              </a:ext>
            </a:extLst>
          </p:cNvPr>
          <p:cNvSpPr/>
          <p:nvPr/>
        </p:nvSpPr>
        <p:spPr>
          <a:xfrm>
            <a:off x="566928" y="6510528"/>
            <a:ext cx="5486400" cy="237744"/>
          </a:xfrm>
          <a:prstGeom prst="rect">
            <a:avLst/>
          </a:prstGeom>
          <a:noFill/>
          <a:ln/>
        </p:spPr>
        <p:txBody>
          <a:bodyPr wrap="square" lIns="0" tIns="0" rIns="0" bIns="0" rtlCol="0" anchor="ctr"/>
          <a:lstStyle/>
          <a:p>
            <a:pPr marL="0" indent="0">
              <a:buNone/>
            </a:pPr>
            <a:r>
              <a:rPr lang="en-US" sz="900" dirty="0">
                <a:solidFill>
                  <a:srgbClr val="A0A5AB"/>
                </a:solidFill>
                <a:latin typeface="Montserrat" pitchFamily="34" charset="0"/>
                <a:ea typeface="Montserrat" pitchFamily="34" charset="-122"/>
                <a:cs typeface="Montserrat" pitchFamily="34" charset="-120"/>
              </a:rPr>
              <a:t>Mission #3 · Team 5 — Condor Galaxy</a:t>
            </a:r>
            <a:endParaRPr lang="en-US" sz="900" dirty="0"/>
          </a:p>
        </p:txBody>
      </p:sp>
      <p:sp>
        <p:nvSpPr>
          <p:cNvPr id="60" name="Text 44">
            <a:extLst>
              <a:ext uri="{FF2B5EF4-FFF2-40B4-BE49-F238E27FC236}">
                <a16:creationId xmlns:a16="http://schemas.microsoft.com/office/drawing/2014/main" id="{23916400-AAD5-35D6-0865-48ECC114B975}"/>
              </a:ext>
            </a:extLst>
          </p:cNvPr>
          <p:cNvSpPr/>
          <p:nvPr/>
        </p:nvSpPr>
        <p:spPr>
          <a:xfrm>
            <a:off x="6144768" y="6510528"/>
            <a:ext cx="5513832" cy="237744"/>
          </a:xfrm>
          <a:prstGeom prst="rect">
            <a:avLst/>
          </a:prstGeom>
          <a:noFill/>
          <a:ln/>
        </p:spPr>
        <p:txBody>
          <a:bodyPr wrap="square" lIns="0" tIns="0" rIns="0" bIns="0" rtlCol="0" anchor="ctr"/>
          <a:lstStyle/>
          <a:p>
            <a:pPr marL="0" indent="0" algn="r">
              <a:buNone/>
            </a:pPr>
            <a:r>
              <a:rPr lang="en-US" sz="900" i="1" dirty="0">
                <a:solidFill>
                  <a:srgbClr val="A0A5AB"/>
                </a:solidFill>
                <a:latin typeface="Lora" pitchFamily="34" charset="0"/>
                <a:ea typeface="Lora" pitchFamily="34" charset="-122"/>
                <a:cs typeface="Lora" pitchFamily="34" charset="-120"/>
              </a:rPr>
              <a:t>Smart retail. Real value.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E31837"/>
          </a:solidFill>
          <a:ln/>
        </p:spPr>
        <p:txBody>
          <a:bodyPr/>
          <a:lstStyle/>
          <a:p>
            <a:endParaRPr lang="en-US"/>
          </a:p>
        </p:txBody>
      </p:sp>
      <p:sp>
        <p:nvSpPr>
          <p:cNvPr id="4" name="Text 2"/>
          <p:cNvSpPr/>
          <p:nvPr/>
        </p:nvSpPr>
        <p:spPr>
          <a:xfrm>
            <a:off x="365760" y="146304"/>
            <a:ext cx="10058400" cy="201168"/>
          </a:xfrm>
          <a:prstGeom prst="rect">
            <a:avLst/>
          </a:prstGeom>
          <a:noFill/>
          <a:ln/>
        </p:spPr>
        <p:txBody>
          <a:bodyPr wrap="square" lIns="0" tIns="0" rIns="0" bIns="0" rtlCol="0" anchor="ctr"/>
          <a:lstStyle/>
          <a:p>
            <a:pPr marL="0" indent="0">
              <a:buNone/>
            </a:pPr>
            <a:r>
              <a:rPr lang="en-US" sz="1000" b="1" kern="0" spc="150" dirty="0">
                <a:solidFill>
                  <a:srgbClr val="E31837"/>
                </a:solidFill>
                <a:latin typeface="Montserrat" pitchFamily="34" charset="0"/>
                <a:ea typeface="Montserrat" pitchFamily="34" charset="-122"/>
                <a:cs typeface="Montserrat" pitchFamily="34" charset="-120"/>
              </a:rPr>
              <a:t>OBJECTIVE 2 · RING 1 · CUSTOMER-FACING</a:t>
            </a:r>
            <a:endParaRPr lang="en-US" sz="1000" dirty="0"/>
          </a:p>
        </p:txBody>
      </p:sp>
      <p:sp>
        <p:nvSpPr>
          <p:cNvPr id="5" name="Shape 3"/>
          <p:cNvSpPr/>
          <p:nvPr/>
        </p:nvSpPr>
        <p:spPr>
          <a:xfrm>
            <a:off x="9234483" y="612647"/>
            <a:ext cx="2633472" cy="201168"/>
          </a:xfrm>
          <a:prstGeom prst="roundRect">
            <a:avLst>
              <a:gd name="adj" fmla="val 13636"/>
            </a:avLst>
          </a:prstGeom>
          <a:solidFill>
            <a:srgbClr val="F5F4F1"/>
          </a:solidFill>
          <a:ln w="6350">
            <a:solidFill>
              <a:srgbClr val="D8D6CE"/>
            </a:solidFill>
            <a:prstDash val="solid"/>
          </a:ln>
        </p:spPr>
        <p:txBody>
          <a:bodyPr/>
          <a:lstStyle/>
          <a:p>
            <a:endParaRPr lang="en-US"/>
          </a:p>
        </p:txBody>
      </p:sp>
      <p:sp>
        <p:nvSpPr>
          <p:cNvPr id="6" name="Text 4"/>
          <p:cNvSpPr/>
          <p:nvPr/>
        </p:nvSpPr>
        <p:spPr>
          <a:xfrm>
            <a:off x="9017508" y="621792"/>
            <a:ext cx="2633472" cy="201168"/>
          </a:xfrm>
          <a:prstGeom prst="rect">
            <a:avLst/>
          </a:prstGeom>
          <a:noFill/>
          <a:ln/>
        </p:spPr>
        <p:txBody>
          <a:bodyPr wrap="square" lIns="0" tIns="0" rIns="0" bIns="0" rtlCol="0" anchor="ctr"/>
          <a:lstStyle/>
          <a:p>
            <a:pPr marL="0" indent="0" algn="ctr">
              <a:buNone/>
            </a:pPr>
            <a:r>
              <a:rPr lang="en-US" sz="700" b="1" dirty="0">
                <a:solidFill>
                  <a:srgbClr val="A0A5AB"/>
                </a:solidFill>
                <a:latin typeface="Montserrat" pitchFamily="34" charset="0"/>
                <a:ea typeface="Montserrat" pitchFamily="34" charset="-122"/>
                <a:cs typeface="Montserrat" pitchFamily="34" charset="-120"/>
              </a:rPr>
              <a:t>ONE PoV · </a:t>
            </a:r>
            <a:r>
              <a:rPr lang="en-US" sz="700" b="1" dirty="0">
                <a:solidFill>
                  <a:srgbClr val="E31837"/>
                </a:solidFill>
                <a:latin typeface="Montserrat" pitchFamily="34" charset="0"/>
                <a:ea typeface="Montserrat" pitchFamily="34" charset="-122"/>
                <a:cs typeface="Montserrat" pitchFamily="34" charset="-120"/>
              </a:rPr>
              <a:t>RING 1</a:t>
            </a:r>
            <a:r>
              <a:rPr lang="en-US" sz="700" dirty="0">
                <a:solidFill>
                  <a:srgbClr val="A0A5AB"/>
                </a:solidFill>
                <a:latin typeface="Montserrat" pitchFamily="34" charset="0"/>
                <a:ea typeface="Montserrat" pitchFamily="34" charset="-122"/>
                <a:cs typeface="Montserrat" pitchFamily="34" charset="-120"/>
              </a:rPr>
              <a:t> of 3 — zoom-in</a:t>
            </a:r>
            <a:endParaRPr lang="en-US" sz="700" dirty="0"/>
          </a:p>
        </p:txBody>
      </p:sp>
      <p:sp>
        <p:nvSpPr>
          <p:cNvPr id="7" name="Text 5"/>
          <p:cNvSpPr/>
          <p:nvPr/>
        </p:nvSpPr>
        <p:spPr>
          <a:xfrm>
            <a:off x="365760" y="365760"/>
            <a:ext cx="11430000" cy="310896"/>
          </a:xfrm>
          <a:prstGeom prst="rect">
            <a:avLst/>
          </a:prstGeom>
          <a:noFill/>
          <a:ln/>
        </p:spPr>
        <p:txBody>
          <a:bodyPr wrap="square" lIns="0" tIns="0" rIns="0" bIns="0" rtlCol="0" anchor="ctr"/>
          <a:lstStyle/>
          <a:p>
            <a:pPr marL="0" indent="0">
              <a:buNone/>
            </a:pPr>
            <a:r>
              <a:rPr lang="en-US" sz="1700" b="1" dirty="0">
                <a:solidFill>
                  <a:srgbClr val="333333"/>
                </a:solidFill>
                <a:latin typeface="Montserrat" pitchFamily="34" charset="0"/>
                <a:ea typeface="Montserrat" pitchFamily="34" charset="-122"/>
                <a:cs typeface="Montserrat" pitchFamily="34" charset="-120"/>
              </a:rPr>
              <a:t>The customer-facing model — free by default, premium by choice</a:t>
            </a:r>
            <a:endParaRPr lang="en-US" sz="1700" dirty="0"/>
          </a:p>
        </p:txBody>
      </p:sp>
      <p:sp>
        <p:nvSpPr>
          <p:cNvPr id="8" name="Text 6"/>
          <p:cNvSpPr/>
          <p:nvPr/>
        </p:nvSpPr>
        <p:spPr>
          <a:xfrm>
            <a:off x="365760" y="749808"/>
            <a:ext cx="11430000" cy="201168"/>
          </a:xfrm>
          <a:prstGeom prst="rect">
            <a:avLst/>
          </a:prstGeom>
          <a:noFill/>
          <a:ln/>
        </p:spPr>
        <p:txBody>
          <a:bodyPr wrap="square" lIns="0" tIns="0" rIns="0" bIns="0" rtlCol="0" anchor="ctr"/>
          <a:lstStyle/>
          <a:p>
            <a:pPr marL="0" indent="0">
              <a:buNone/>
            </a:pPr>
            <a:r>
              <a:rPr lang="en-US" sz="1000" i="1" dirty="0">
                <a:solidFill>
                  <a:srgbClr val="5F5E5A"/>
                </a:solidFill>
                <a:latin typeface="Lora" pitchFamily="34" charset="0"/>
                <a:ea typeface="Lora" pitchFamily="34" charset="-122"/>
                <a:cs typeface="Lora" pitchFamily="34" charset="-120"/>
              </a:rPr>
              <a:t>Personalisation itself is free — it funds itself through conversion and returns. We charge for services on top, not for being understood.</a:t>
            </a:r>
            <a:endParaRPr lang="en-US" sz="1000" dirty="0"/>
          </a:p>
        </p:txBody>
      </p:sp>
      <p:sp>
        <p:nvSpPr>
          <p:cNvPr id="9" name="Shape 7"/>
          <p:cNvSpPr/>
          <p:nvPr/>
        </p:nvSpPr>
        <p:spPr>
          <a:xfrm>
            <a:off x="365760" y="1207008"/>
            <a:ext cx="3672840" cy="3657600"/>
          </a:xfrm>
          <a:prstGeom prst="roundRect">
            <a:avLst>
              <a:gd name="adj" fmla="val 2000"/>
            </a:avLst>
          </a:prstGeom>
          <a:solidFill>
            <a:srgbClr val="F5F4F1"/>
          </a:solidFill>
          <a:ln w="12700">
            <a:solidFill>
              <a:srgbClr val="D8D6CE"/>
            </a:solidFill>
            <a:prstDash val="solid"/>
          </a:ln>
          <a:effectLst>
            <a:outerShdw blurRad="50800" dist="15240" dir="5400000" algn="bl" rotWithShape="0">
              <a:srgbClr val="000000">
                <a:alpha val="10000"/>
              </a:srgbClr>
            </a:outerShdw>
          </a:effectLst>
        </p:spPr>
        <p:txBody>
          <a:bodyPr/>
          <a:lstStyle/>
          <a:p>
            <a:endParaRPr lang="en-US"/>
          </a:p>
        </p:txBody>
      </p:sp>
      <p:sp>
        <p:nvSpPr>
          <p:cNvPr id="10" name="Text 8"/>
          <p:cNvSpPr/>
          <p:nvPr/>
        </p:nvSpPr>
        <p:spPr>
          <a:xfrm>
            <a:off x="566928" y="1353312"/>
            <a:ext cx="3270504" cy="182880"/>
          </a:xfrm>
          <a:prstGeom prst="rect">
            <a:avLst/>
          </a:prstGeom>
          <a:noFill/>
          <a:ln/>
        </p:spPr>
        <p:txBody>
          <a:bodyPr wrap="square" lIns="0" tIns="0" rIns="0" bIns="0" rtlCol="0" anchor="ctr"/>
          <a:lstStyle/>
          <a:p>
            <a:pPr marL="0" indent="0">
              <a:buNone/>
            </a:pPr>
            <a:r>
              <a:rPr lang="en-US" sz="850" b="1" kern="0" spc="100" dirty="0">
                <a:solidFill>
                  <a:srgbClr val="A0A5AB"/>
                </a:solidFill>
                <a:latin typeface="Montserrat" pitchFamily="34" charset="0"/>
                <a:ea typeface="Montserrat" pitchFamily="34" charset="-122"/>
                <a:cs typeface="Montserrat" pitchFamily="34" charset="-120"/>
              </a:rPr>
              <a:t>TIER 0</a:t>
            </a:r>
            <a:endParaRPr lang="en-US" sz="850" dirty="0"/>
          </a:p>
        </p:txBody>
      </p:sp>
      <p:sp>
        <p:nvSpPr>
          <p:cNvPr id="11" name="Text 9"/>
          <p:cNvSpPr/>
          <p:nvPr/>
        </p:nvSpPr>
        <p:spPr>
          <a:xfrm>
            <a:off x="566928" y="1536192"/>
            <a:ext cx="3270504" cy="329184"/>
          </a:xfrm>
          <a:prstGeom prst="rect">
            <a:avLst/>
          </a:prstGeom>
          <a:noFill/>
          <a:ln/>
        </p:spPr>
        <p:txBody>
          <a:bodyPr wrap="square" lIns="0" tIns="0" rIns="0" bIns="0" rtlCol="0" anchor="ctr"/>
          <a:lstStyle/>
          <a:p>
            <a:pPr marL="0" indent="0">
              <a:buNone/>
            </a:pPr>
            <a:r>
              <a:rPr lang="en-US" sz="1900" b="1" dirty="0">
                <a:solidFill>
                  <a:srgbClr val="333333"/>
                </a:solidFill>
                <a:latin typeface="Montserrat" pitchFamily="34" charset="0"/>
                <a:ea typeface="Montserrat" pitchFamily="34" charset="-122"/>
                <a:cs typeface="Montserrat" pitchFamily="34" charset="-120"/>
              </a:rPr>
              <a:t>Free</a:t>
            </a:r>
            <a:endParaRPr lang="en-US" sz="1900" dirty="0"/>
          </a:p>
        </p:txBody>
      </p:sp>
      <p:sp>
        <p:nvSpPr>
          <p:cNvPr id="12" name="Text 10"/>
          <p:cNvSpPr/>
          <p:nvPr/>
        </p:nvSpPr>
        <p:spPr>
          <a:xfrm>
            <a:off x="566928" y="1883664"/>
            <a:ext cx="3270504" cy="219456"/>
          </a:xfrm>
          <a:prstGeom prst="rect">
            <a:avLst/>
          </a:prstGeom>
          <a:noFill/>
          <a:ln/>
        </p:spPr>
        <p:txBody>
          <a:bodyPr wrap="square" lIns="0" tIns="0" rIns="0" bIns="0" rtlCol="0" anchor="ctr"/>
          <a:lstStyle/>
          <a:p>
            <a:pPr marL="0" indent="0">
              <a:buNone/>
            </a:pPr>
            <a:r>
              <a:rPr lang="en-US" sz="1400" b="1" dirty="0">
                <a:solidFill>
                  <a:srgbClr val="A0A5AB"/>
                </a:solidFill>
                <a:latin typeface="Montserrat" pitchFamily="34" charset="0"/>
                <a:ea typeface="Montserrat" pitchFamily="34" charset="-122"/>
                <a:cs typeface="Montserrat" pitchFamily="34" charset="-120"/>
              </a:rPr>
              <a:t>£0  </a:t>
            </a:r>
            <a:r>
              <a:rPr lang="en-US" sz="800" i="1" dirty="0">
                <a:solidFill>
                  <a:srgbClr val="A0A5AB"/>
                </a:solidFill>
                <a:latin typeface="Montserrat" pitchFamily="34" charset="0"/>
                <a:ea typeface="Montserrat" pitchFamily="34" charset="-122"/>
                <a:cs typeface="Montserrat" pitchFamily="34" charset="-120"/>
              </a:rPr>
              <a:t>every loyalty member</a:t>
            </a:r>
            <a:endParaRPr lang="en-US" sz="1400" dirty="0"/>
          </a:p>
        </p:txBody>
      </p:sp>
      <p:sp>
        <p:nvSpPr>
          <p:cNvPr id="13" name="Shape 11"/>
          <p:cNvSpPr/>
          <p:nvPr/>
        </p:nvSpPr>
        <p:spPr>
          <a:xfrm>
            <a:off x="566928" y="2157984"/>
            <a:ext cx="3270504" cy="0"/>
          </a:xfrm>
          <a:prstGeom prst="line">
            <a:avLst/>
          </a:prstGeom>
          <a:noFill/>
          <a:ln w="9525">
            <a:solidFill>
              <a:srgbClr val="E2E0D9"/>
            </a:solidFill>
            <a:prstDash val="solid"/>
          </a:ln>
        </p:spPr>
        <p:txBody>
          <a:bodyPr/>
          <a:lstStyle/>
          <a:p>
            <a:endParaRPr lang="en-US"/>
          </a:p>
        </p:txBody>
      </p:sp>
      <p:sp>
        <p:nvSpPr>
          <p:cNvPr id="14" name="Text 12"/>
          <p:cNvSpPr/>
          <p:nvPr/>
        </p:nvSpPr>
        <p:spPr>
          <a:xfrm>
            <a:off x="566928" y="2267712"/>
            <a:ext cx="182880" cy="182880"/>
          </a:xfrm>
          <a:prstGeom prst="rect">
            <a:avLst/>
          </a:prstGeom>
          <a:noFill/>
          <a:ln/>
        </p:spPr>
        <p:txBody>
          <a:bodyPr wrap="square" lIns="0" tIns="0" rIns="0" bIns="0" rtlCol="0" anchor="ctr"/>
          <a:lstStyle/>
          <a:p>
            <a:pPr marL="0" indent="0">
              <a:buNone/>
            </a:pPr>
            <a:r>
              <a:rPr lang="en-US" sz="900" b="1" dirty="0">
                <a:solidFill>
                  <a:srgbClr val="A0A5AB"/>
                </a:solidFill>
                <a:latin typeface="Montserrat" pitchFamily="34" charset="0"/>
                <a:ea typeface="Montserrat" pitchFamily="34" charset="-122"/>
                <a:cs typeface="Montserrat" pitchFamily="34" charset="-120"/>
              </a:rPr>
              <a:t>✓</a:t>
            </a:r>
            <a:endParaRPr lang="en-US" sz="900" dirty="0"/>
          </a:p>
        </p:txBody>
      </p:sp>
      <p:sp>
        <p:nvSpPr>
          <p:cNvPr id="15" name="Text 13"/>
          <p:cNvSpPr/>
          <p:nvPr/>
        </p:nvSpPr>
        <p:spPr>
          <a:xfrm>
            <a:off x="768096" y="2267712"/>
            <a:ext cx="3069336" cy="182880"/>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1:1 personalised discovery</a:t>
            </a:r>
            <a:endParaRPr lang="en-US" sz="900" dirty="0"/>
          </a:p>
        </p:txBody>
      </p:sp>
      <p:sp>
        <p:nvSpPr>
          <p:cNvPr id="16" name="Text 14"/>
          <p:cNvSpPr/>
          <p:nvPr/>
        </p:nvSpPr>
        <p:spPr>
          <a:xfrm>
            <a:off x="768096" y="2432304"/>
            <a:ext cx="3069336" cy="182880"/>
          </a:xfrm>
          <a:prstGeom prst="rect">
            <a:avLst/>
          </a:prstGeom>
          <a:noFill/>
          <a:ln/>
        </p:spPr>
        <p:txBody>
          <a:bodyPr wrap="square" lIns="0" tIns="0" rIns="0" bIns="0" rtlCol="0" anchor="ctr"/>
          <a:lstStyle/>
          <a:p>
            <a:pPr marL="0" indent="0">
              <a:buNone/>
            </a:pPr>
            <a:r>
              <a:rPr lang="en-US" sz="730" i="1" dirty="0">
                <a:solidFill>
                  <a:srgbClr val="7A7970"/>
                </a:solidFill>
                <a:latin typeface="Lora" pitchFamily="34" charset="0"/>
                <a:ea typeface="Lora" pitchFamily="34" charset="-122"/>
                <a:cs typeface="Lora" pitchFamily="34" charset="-120"/>
              </a:rPr>
              <a:t>MUSE curates to your persona</a:t>
            </a:r>
            <a:endParaRPr lang="en-US" sz="730" dirty="0"/>
          </a:p>
        </p:txBody>
      </p:sp>
      <p:sp>
        <p:nvSpPr>
          <p:cNvPr id="17" name="Text 15"/>
          <p:cNvSpPr/>
          <p:nvPr/>
        </p:nvSpPr>
        <p:spPr>
          <a:xfrm>
            <a:off x="566928" y="2724912"/>
            <a:ext cx="182880" cy="182880"/>
          </a:xfrm>
          <a:prstGeom prst="rect">
            <a:avLst/>
          </a:prstGeom>
          <a:noFill/>
          <a:ln/>
        </p:spPr>
        <p:txBody>
          <a:bodyPr wrap="square" lIns="0" tIns="0" rIns="0" bIns="0" rtlCol="0" anchor="ctr"/>
          <a:lstStyle/>
          <a:p>
            <a:pPr marL="0" indent="0">
              <a:buNone/>
            </a:pPr>
            <a:r>
              <a:rPr lang="en-US" sz="900" b="1" dirty="0">
                <a:solidFill>
                  <a:srgbClr val="A0A5AB"/>
                </a:solidFill>
                <a:latin typeface="Montserrat" pitchFamily="34" charset="0"/>
                <a:ea typeface="Montserrat" pitchFamily="34" charset="-122"/>
                <a:cs typeface="Montserrat" pitchFamily="34" charset="-120"/>
              </a:rPr>
              <a:t>✓</a:t>
            </a:r>
            <a:endParaRPr lang="en-US" sz="900" dirty="0"/>
          </a:p>
        </p:txBody>
      </p:sp>
      <p:sp>
        <p:nvSpPr>
          <p:cNvPr id="18" name="Text 16"/>
          <p:cNvSpPr/>
          <p:nvPr/>
        </p:nvSpPr>
        <p:spPr>
          <a:xfrm>
            <a:off x="768096" y="2724912"/>
            <a:ext cx="3069336" cy="182880"/>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Right-size fit guidance</a:t>
            </a:r>
            <a:endParaRPr lang="en-US" sz="900" dirty="0"/>
          </a:p>
        </p:txBody>
      </p:sp>
      <p:sp>
        <p:nvSpPr>
          <p:cNvPr id="19" name="Text 17"/>
          <p:cNvSpPr/>
          <p:nvPr/>
        </p:nvSpPr>
        <p:spPr>
          <a:xfrm>
            <a:off x="768096" y="2889504"/>
            <a:ext cx="3069336" cy="182880"/>
          </a:xfrm>
          <a:prstGeom prst="rect">
            <a:avLst/>
          </a:prstGeom>
          <a:noFill/>
          <a:ln/>
        </p:spPr>
        <p:txBody>
          <a:bodyPr wrap="square" lIns="0" tIns="0" rIns="0" bIns="0" rtlCol="0" anchor="ctr"/>
          <a:lstStyle/>
          <a:p>
            <a:pPr marL="0" indent="0">
              <a:buNone/>
            </a:pPr>
            <a:r>
              <a:rPr lang="en-US" sz="730" i="1" dirty="0">
                <a:solidFill>
                  <a:srgbClr val="7A7970"/>
                </a:solidFill>
                <a:latin typeface="Lora" pitchFamily="34" charset="0"/>
                <a:ea typeface="Lora" pitchFamily="34" charset="-122"/>
                <a:cs typeface="Lora" pitchFamily="34" charset="-120"/>
              </a:rPr>
              <a:t>TAILOR's basic fit advice</a:t>
            </a:r>
            <a:endParaRPr lang="en-US" sz="730" dirty="0"/>
          </a:p>
        </p:txBody>
      </p:sp>
      <p:sp>
        <p:nvSpPr>
          <p:cNvPr id="20" name="Text 18"/>
          <p:cNvSpPr/>
          <p:nvPr/>
        </p:nvSpPr>
        <p:spPr>
          <a:xfrm>
            <a:off x="566928" y="3182112"/>
            <a:ext cx="182880" cy="182880"/>
          </a:xfrm>
          <a:prstGeom prst="rect">
            <a:avLst/>
          </a:prstGeom>
          <a:noFill/>
          <a:ln/>
        </p:spPr>
        <p:txBody>
          <a:bodyPr wrap="square" lIns="0" tIns="0" rIns="0" bIns="0" rtlCol="0" anchor="ctr"/>
          <a:lstStyle/>
          <a:p>
            <a:pPr marL="0" indent="0">
              <a:buNone/>
            </a:pPr>
            <a:r>
              <a:rPr lang="en-US" sz="900" b="1" dirty="0">
                <a:solidFill>
                  <a:srgbClr val="A0A5AB"/>
                </a:solidFill>
                <a:latin typeface="Montserrat" pitchFamily="34" charset="0"/>
                <a:ea typeface="Montserrat" pitchFamily="34" charset="-122"/>
                <a:cs typeface="Montserrat" pitchFamily="34" charset="-120"/>
              </a:rPr>
              <a:t>✓</a:t>
            </a:r>
            <a:endParaRPr lang="en-US" sz="900" dirty="0"/>
          </a:p>
        </p:txBody>
      </p:sp>
      <p:sp>
        <p:nvSpPr>
          <p:cNvPr id="21" name="Text 19"/>
          <p:cNvSpPr/>
          <p:nvPr/>
        </p:nvSpPr>
        <p:spPr>
          <a:xfrm>
            <a:off x="768096" y="3182112"/>
            <a:ext cx="3069336" cy="182880"/>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Loyalty points &amp; rewards</a:t>
            </a:r>
            <a:endParaRPr lang="en-US" sz="900" dirty="0"/>
          </a:p>
        </p:txBody>
      </p:sp>
      <p:sp>
        <p:nvSpPr>
          <p:cNvPr id="22" name="Text 20"/>
          <p:cNvSpPr/>
          <p:nvPr/>
        </p:nvSpPr>
        <p:spPr>
          <a:xfrm>
            <a:off x="768096" y="3346704"/>
            <a:ext cx="3069336" cy="182880"/>
          </a:xfrm>
          <a:prstGeom prst="rect">
            <a:avLst/>
          </a:prstGeom>
          <a:noFill/>
          <a:ln/>
        </p:spPr>
        <p:txBody>
          <a:bodyPr wrap="square" lIns="0" tIns="0" rIns="0" bIns="0" rtlCol="0" anchor="ctr"/>
          <a:lstStyle/>
          <a:p>
            <a:pPr marL="0" indent="0">
              <a:buNone/>
            </a:pPr>
            <a:r>
              <a:rPr lang="en-US" sz="730" i="1" dirty="0">
                <a:solidFill>
                  <a:srgbClr val="7A7970"/>
                </a:solidFill>
                <a:latin typeface="Lora" pitchFamily="34" charset="0"/>
                <a:ea typeface="Lora" pitchFamily="34" charset="-122"/>
                <a:cs typeface="Lora" pitchFamily="34" charset="-120"/>
              </a:rPr>
              <a:t>TALLY accrual + redemption</a:t>
            </a:r>
            <a:endParaRPr lang="en-US" sz="730" dirty="0"/>
          </a:p>
        </p:txBody>
      </p:sp>
      <p:sp>
        <p:nvSpPr>
          <p:cNvPr id="23" name="Text 21"/>
          <p:cNvSpPr/>
          <p:nvPr/>
        </p:nvSpPr>
        <p:spPr>
          <a:xfrm>
            <a:off x="566928" y="3639312"/>
            <a:ext cx="182880" cy="182880"/>
          </a:xfrm>
          <a:prstGeom prst="rect">
            <a:avLst/>
          </a:prstGeom>
          <a:noFill/>
          <a:ln/>
        </p:spPr>
        <p:txBody>
          <a:bodyPr wrap="square" lIns="0" tIns="0" rIns="0" bIns="0" rtlCol="0" anchor="ctr"/>
          <a:lstStyle/>
          <a:p>
            <a:pPr marL="0" indent="0">
              <a:buNone/>
            </a:pPr>
            <a:r>
              <a:rPr lang="en-US" sz="900" b="1" dirty="0">
                <a:solidFill>
                  <a:srgbClr val="A0A5AB"/>
                </a:solidFill>
                <a:latin typeface="Montserrat" pitchFamily="34" charset="0"/>
                <a:ea typeface="Montserrat" pitchFamily="34" charset="-122"/>
                <a:cs typeface="Montserrat" pitchFamily="34" charset="-120"/>
              </a:rPr>
              <a:t>✓</a:t>
            </a:r>
            <a:endParaRPr lang="en-US" sz="900" dirty="0"/>
          </a:p>
        </p:txBody>
      </p:sp>
      <p:sp>
        <p:nvSpPr>
          <p:cNvPr id="24" name="Text 22"/>
          <p:cNvSpPr/>
          <p:nvPr/>
        </p:nvSpPr>
        <p:spPr>
          <a:xfrm>
            <a:off x="768096" y="3639312"/>
            <a:ext cx="3069336" cy="182880"/>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Autonomous service</a:t>
            </a:r>
            <a:endParaRPr lang="en-US" sz="900" dirty="0"/>
          </a:p>
        </p:txBody>
      </p:sp>
      <p:sp>
        <p:nvSpPr>
          <p:cNvPr id="25" name="Text 23"/>
          <p:cNvSpPr/>
          <p:nvPr/>
        </p:nvSpPr>
        <p:spPr>
          <a:xfrm>
            <a:off x="768096" y="3803904"/>
            <a:ext cx="3069336" cy="182880"/>
          </a:xfrm>
          <a:prstGeom prst="rect">
            <a:avLst/>
          </a:prstGeom>
          <a:noFill/>
          <a:ln/>
        </p:spPr>
        <p:txBody>
          <a:bodyPr wrap="square" lIns="0" tIns="0" rIns="0" bIns="0" rtlCol="0" anchor="ctr"/>
          <a:lstStyle/>
          <a:p>
            <a:pPr marL="0" indent="0">
              <a:buNone/>
            </a:pPr>
            <a:r>
              <a:rPr lang="en-US" sz="730" i="1" dirty="0">
                <a:solidFill>
                  <a:srgbClr val="7A7970"/>
                </a:solidFill>
                <a:latin typeface="Lora" pitchFamily="34" charset="0"/>
                <a:ea typeface="Lora" pitchFamily="34" charset="-122"/>
                <a:cs typeface="Lora" pitchFamily="34" charset="-120"/>
              </a:rPr>
              <a:t>CARE resolves your queries</a:t>
            </a:r>
            <a:endParaRPr lang="en-US" sz="730" dirty="0"/>
          </a:p>
        </p:txBody>
      </p:sp>
      <p:sp>
        <p:nvSpPr>
          <p:cNvPr id="26" name="Shape 24"/>
          <p:cNvSpPr/>
          <p:nvPr/>
        </p:nvSpPr>
        <p:spPr>
          <a:xfrm>
            <a:off x="530352" y="4315968"/>
            <a:ext cx="3343656" cy="420624"/>
          </a:xfrm>
          <a:prstGeom prst="roundRect">
            <a:avLst>
              <a:gd name="adj" fmla="val 8696"/>
            </a:avLst>
          </a:prstGeom>
          <a:solidFill>
            <a:srgbClr val="FDFDFD"/>
          </a:solidFill>
          <a:ln w="6350">
            <a:solidFill>
              <a:srgbClr val="D8D6CE"/>
            </a:solidFill>
            <a:prstDash val="solid"/>
          </a:ln>
        </p:spPr>
        <p:txBody>
          <a:bodyPr/>
          <a:lstStyle/>
          <a:p>
            <a:endParaRPr lang="en-US"/>
          </a:p>
        </p:txBody>
      </p:sp>
      <p:sp>
        <p:nvSpPr>
          <p:cNvPr id="27" name="Text 25"/>
          <p:cNvSpPr/>
          <p:nvPr/>
        </p:nvSpPr>
        <p:spPr>
          <a:xfrm>
            <a:off x="640080" y="4315968"/>
            <a:ext cx="3124200" cy="420624"/>
          </a:xfrm>
          <a:prstGeom prst="rect">
            <a:avLst/>
          </a:prstGeom>
          <a:noFill/>
          <a:ln/>
        </p:spPr>
        <p:txBody>
          <a:bodyPr wrap="square" lIns="0" tIns="0" rIns="0" bIns="0" rtlCol="0" anchor="ctr"/>
          <a:lstStyle/>
          <a:p>
            <a:pPr marL="0" indent="0">
              <a:lnSpc>
                <a:spcPct val="95000"/>
              </a:lnSpc>
              <a:buNone/>
            </a:pPr>
            <a:r>
              <a:rPr lang="en-US" sz="760" i="1" dirty="0">
                <a:solidFill>
                  <a:srgbClr val="5F5E5A"/>
                </a:solidFill>
                <a:latin typeface="Lora" pitchFamily="34" charset="0"/>
                <a:ea typeface="Lora" pitchFamily="34" charset="-122"/>
                <a:cs typeface="Lora" pitchFamily="34" charset="-120"/>
              </a:rPr>
              <a:t>Free because it lifts conversion &amp; cuts returns — the margin pays for it.</a:t>
            </a:r>
            <a:endParaRPr lang="en-US" sz="760" dirty="0"/>
          </a:p>
        </p:txBody>
      </p:sp>
      <p:sp>
        <p:nvSpPr>
          <p:cNvPr id="28" name="Shape 26"/>
          <p:cNvSpPr/>
          <p:nvPr/>
        </p:nvSpPr>
        <p:spPr>
          <a:xfrm>
            <a:off x="4212336" y="1097280"/>
            <a:ext cx="3764280" cy="3840480"/>
          </a:xfrm>
          <a:prstGeom prst="roundRect">
            <a:avLst>
              <a:gd name="adj" fmla="val 2429"/>
            </a:avLst>
          </a:prstGeom>
          <a:solidFill>
            <a:srgbClr val="E31837"/>
          </a:solidFill>
          <a:ln/>
        </p:spPr>
        <p:txBody>
          <a:bodyPr/>
          <a:lstStyle/>
          <a:p>
            <a:endParaRPr lang="en-US"/>
          </a:p>
        </p:txBody>
      </p:sp>
      <p:sp>
        <p:nvSpPr>
          <p:cNvPr id="29" name="Text 27"/>
          <p:cNvSpPr/>
          <p:nvPr/>
        </p:nvSpPr>
        <p:spPr>
          <a:xfrm>
            <a:off x="4258056" y="1115568"/>
            <a:ext cx="3672840" cy="164592"/>
          </a:xfrm>
          <a:prstGeom prst="rect">
            <a:avLst/>
          </a:prstGeom>
          <a:noFill/>
          <a:ln/>
        </p:spPr>
        <p:txBody>
          <a:bodyPr wrap="square" lIns="0" tIns="0" rIns="0" bIns="0" rtlCol="0" anchor="ctr"/>
          <a:lstStyle/>
          <a:p>
            <a:pPr marL="0" indent="0" algn="ctr">
              <a:buNone/>
            </a:pPr>
            <a:r>
              <a:rPr lang="en-US" sz="750" b="1" kern="0" spc="100" dirty="0">
                <a:solidFill>
                  <a:srgbClr val="FDFDFD"/>
                </a:solidFill>
                <a:latin typeface="Montserrat" pitchFamily="34" charset="0"/>
                <a:ea typeface="Montserrat" pitchFamily="34" charset="-122"/>
                <a:cs typeface="Montserrat" pitchFamily="34" charset="-120"/>
              </a:rPr>
              <a:t>MOST STRATEGIC</a:t>
            </a:r>
            <a:endParaRPr lang="en-US" sz="750" dirty="0"/>
          </a:p>
        </p:txBody>
      </p:sp>
      <p:sp>
        <p:nvSpPr>
          <p:cNvPr id="30" name="Shape 28"/>
          <p:cNvSpPr/>
          <p:nvPr/>
        </p:nvSpPr>
        <p:spPr>
          <a:xfrm>
            <a:off x="4258056" y="1335024"/>
            <a:ext cx="3672840" cy="3529584"/>
          </a:xfrm>
          <a:prstGeom prst="roundRect">
            <a:avLst>
              <a:gd name="adj" fmla="val 2073"/>
            </a:avLst>
          </a:prstGeom>
          <a:solidFill>
            <a:srgbClr val="FBE3E4"/>
          </a:solidFill>
          <a:ln w="12700">
            <a:solidFill>
              <a:srgbClr val="E31837"/>
            </a:solidFill>
            <a:prstDash val="solid"/>
          </a:ln>
          <a:effectLst>
            <a:outerShdw blurRad="50800" dist="15240" dir="5400000" algn="bl" rotWithShape="0">
              <a:srgbClr val="000000">
                <a:alpha val="10000"/>
              </a:srgbClr>
            </a:outerShdw>
          </a:effectLst>
        </p:spPr>
        <p:txBody>
          <a:bodyPr/>
          <a:lstStyle/>
          <a:p>
            <a:endParaRPr lang="en-US"/>
          </a:p>
        </p:txBody>
      </p:sp>
      <p:sp>
        <p:nvSpPr>
          <p:cNvPr id="31" name="Text 29"/>
          <p:cNvSpPr/>
          <p:nvPr/>
        </p:nvSpPr>
        <p:spPr>
          <a:xfrm>
            <a:off x="4459224" y="1481328"/>
            <a:ext cx="3270504" cy="182880"/>
          </a:xfrm>
          <a:prstGeom prst="rect">
            <a:avLst/>
          </a:prstGeom>
          <a:noFill/>
          <a:ln/>
        </p:spPr>
        <p:txBody>
          <a:bodyPr wrap="square" lIns="0" tIns="0" rIns="0" bIns="0" rtlCol="0" anchor="ctr"/>
          <a:lstStyle/>
          <a:p>
            <a:pPr marL="0" indent="0">
              <a:buNone/>
            </a:pPr>
            <a:r>
              <a:rPr lang="en-US" sz="850" b="1" kern="0" spc="100" dirty="0">
                <a:solidFill>
                  <a:srgbClr val="E31837"/>
                </a:solidFill>
                <a:latin typeface="Montserrat" pitchFamily="34" charset="0"/>
                <a:ea typeface="Montserrat" pitchFamily="34" charset="-122"/>
                <a:cs typeface="Montserrat" pitchFamily="34" charset="-120"/>
              </a:rPr>
              <a:t>TIER 1 · PREMIUM</a:t>
            </a:r>
            <a:endParaRPr lang="en-US" sz="850" dirty="0"/>
          </a:p>
        </p:txBody>
      </p:sp>
      <p:sp>
        <p:nvSpPr>
          <p:cNvPr id="32" name="Text 30"/>
          <p:cNvSpPr/>
          <p:nvPr/>
        </p:nvSpPr>
        <p:spPr>
          <a:xfrm>
            <a:off x="4459224" y="1664208"/>
            <a:ext cx="3270504" cy="329184"/>
          </a:xfrm>
          <a:prstGeom prst="rect">
            <a:avLst/>
          </a:prstGeom>
          <a:noFill/>
          <a:ln/>
        </p:spPr>
        <p:txBody>
          <a:bodyPr wrap="square" lIns="0" tIns="0" rIns="0" bIns="0" rtlCol="0" anchor="ctr"/>
          <a:lstStyle/>
          <a:p>
            <a:pPr marL="0" indent="0">
              <a:buNone/>
            </a:pPr>
            <a:r>
              <a:rPr lang="en-US" sz="1900" b="1" dirty="0">
                <a:solidFill>
                  <a:srgbClr val="333333"/>
                </a:solidFill>
                <a:latin typeface="Montserrat" pitchFamily="34" charset="0"/>
                <a:ea typeface="Montserrat" pitchFamily="34" charset="-122"/>
                <a:cs typeface="Montserrat" pitchFamily="34" charset="-120"/>
              </a:rPr>
              <a:t>Neu.Tail+</a:t>
            </a:r>
            <a:endParaRPr lang="en-US" sz="1900" dirty="0"/>
          </a:p>
        </p:txBody>
      </p:sp>
      <p:sp>
        <p:nvSpPr>
          <p:cNvPr id="33" name="Text 31"/>
          <p:cNvSpPr/>
          <p:nvPr/>
        </p:nvSpPr>
        <p:spPr>
          <a:xfrm>
            <a:off x="4459224" y="2011680"/>
            <a:ext cx="3270504" cy="219456"/>
          </a:xfrm>
          <a:prstGeom prst="rect">
            <a:avLst/>
          </a:prstGeom>
          <a:noFill/>
          <a:ln/>
        </p:spPr>
        <p:txBody>
          <a:bodyPr wrap="square" lIns="0" tIns="0" rIns="0" bIns="0" rtlCol="0" anchor="ctr"/>
          <a:lstStyle/>
          <a:p>
            <a:pPr marL="0" indent="0">
              <a:buNone/>
            </a:pPr>
            <a:r>
              <a:rPr lang="en-US" sz="1400" b="1" dirty="0">
                <a:solidFill>
                  <a:srgbClr val="E31837"/>
                </a:solidFill>
                <a:latin typeface="Montserrat" pitchFamily="34" charset="0"/>
                <a:ea typeface="Montserrat" pitchFamily="34" charset="-122"/>
                <a:cs typeface="Montserrat" pitchFamily="34" charset="-120"/>
              </a:rPr>
              <a:t>~£value/mo  </a:t>
            </a:r>
            <a:r>
              <a:rPr lang="en-US" sz="800" i="1" dirty="0">
                <a:solidFill>
                  <a:srgbClr val="A0A5AB"/>
                </a:solidFill>
                <a:latin typeface="Montserrat" pitchFamily="34" charset="0"/>
                <a:ea typeface="Montserrat" pitchFamily="34" charset="-122"/>
                <a:cs typeface="Montserrat" pitchFamily="34" charset="-120"/>
              </a:rPr>
              <a:t>illustrative</a:t>
            </a:r>
            <a:endParaRPr lang="en-US" sz="1400" dirty="0"/>
          </a:p>
        </p:txBody>
      </p:sp>
      <p:sp>
        <p:nvSpPr>
          <p:cNvPr id="34" name="Shape 32"/>
          <p:cNvSpPr/>
          <p:nvPr/>
        </p:nvSpPr>
        <p:spPr>
          <a:xfrm>
            <a:off x="4459224" y="2286000"/>
            <a:ext cx="3270504" cy="0"/>
          </a:xfrm>
          <a:prstGeom prst="line">
            <a:avLst/>
          </a:prstGeom>
          <a:noFill/>
          <a:ln w="9525">
            <a:solidFill>
              <a:srgbClr val="E2E0D9"/>
            </a:solidFill>
            <a:prstDash val="solid"/>
          </a:ln>
        </p:spPr>
        <p:txBody>
          <a:bodyPr/>
          <a:lstStyle/>
          <a:p>
            <a:endParaRPr lang="en-US"/>
          </a:p>
        </p:txBody>
      </p:sp>
      <p:sp>
        <p:nvSpPr>
          <p:cNvPr id="35" name="Text 33"/>
          <p:cNvSpPr/>
          <p:nvPr/>
        </p:nvSpPr>
        <p:spPr>
          <a:xfrm>
            <a:off x="4459224" y="2395728"/>
            <a:ext cx="182880" cy="182880"/>
          </a:xfrm>
          <a:prstGeom prst="rect">
            <a:avLst/>
          </a:prstGeom>
          <a:noFill/>
          <a:ln/>
        </p:spPr>
        <p:txBody>
          <a:bodyPr wrap="square" lIns="0" tIns="0" rIns="0" bIns="0" rtlCol="0" anchor="ctr"/>
          <a:lstStyle/>
          <a:p>
            <a:pPr marL="0" indent="0">
              <a:buNone/>
            </a:pPr>
            <a:r>
              <a:rPr lang="en-US" sz="900" b="1" dirty="0">
                <a:solidFill>
                  <a:srgbClr val="E31837"/>
                </a:solidFill>
                <a:latin typeface="Montserrat" pitchFamily="34" charset="0"/>
                <a:ea typeface="Montserrat" pitchFamily="34" charset="-122"/>
                <a:cs typeface="Montserrat" pitchFamily="34" charset="-120"/>
              </a:rPr>
              <a:t>✓</a:t>
            </a:r>
            <a:endParaRPr lang="en-US" sz="900" dirty="0"/>
          </a:p>
        </p:txBody>
      </p:sp>
      <p:sp>
        <p:nvSpPr>
          <p:cNvPr id="36" name="Text 34"/>
          <p:cNvSpPr/>
          <p:nvPr/>
        </p:nvSpPr>
        <p:spPr>
          <a:xfrm>
            <a:off x="4660392" y="2395728"/>
            <a:ext cx="3069336" cy="182880"/>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Personal styling advisory</a:t>
            </a:r>
            <a:endParaRPr lang="en-US" sz="900" dirty="0"/>
          </a:p>
        </p:txBody>
      </p:sp>
      <p:sp>
        <p:nvSpPr>
          <p:cNvPr id="37" name="Text 35"/>
          <p:cNvSpPr/>
          <p:nvPr/>
        </p:nvSpPr>
        <p:spPr>
          <a:xfrm>
            <a:off x="4660392" y="2560320"/>
            <a:ext cx="3069336" cy="182880"/>
          </a:xfrm>
          <a:prstGeom prst="rect">
            <a:avLst/>
          </a:prstGeom>
          <a:noFill/>
          <a:ln/>
        </p:spPr>
        <p:txBody>
          <a:bodyPr wrap="square" lIns="0" tIns="0" rIns="0" bIns="0" rtlCol="0" anchor="ctr"/>
          <a:lstStyle/>
          <a:p>
            <a:pPr marL="0" indent="0">
              <a:buNone/>
            </a:pPr>
            <a:r>
              <a:rPr lang="en-US" sz="730" i="1" dirty="0">
                <a:solidFill>
                  <a:srgbClr val="7A7970"/>
                </a:solidFill>
                <a:latin typeface="Lora" pitchFamily="34" charset="0"/>
                <a:ea typeface="Lora" pitchFamily="34" charset="-122"/>
                <a:cs typeface="Lora" pitchFamily="34" charset="-120"/>
              </a:rPr>
              <a:t>CONCIERGE — free-tier entry → paid depth</a:t>
            </a:r>
            <a:endParaRPr lang="en-US" sz="730" dirty="0"/>
          </a:p>
        </p:txBody>
      </p:sp>
      <p:sp>
        <p:nvSpPr>
          <p:cNvPr id="38" name="Text 36"/>
          <p:cNvSpPr/>
          <p:nvPr/>
        </p:nvSpPr>
        <p:spPr>
          <a:xfrm>
            <a:off x="4459224" y="2852928"/>
            <a:ext cx="182880" cy="182880"/>
          </a:xfrm>
          <a:prstGeom prst="rect">
            <a:avLst/>
          </a:prstGeom>
          <a:noFill/>
          <a:ln/>
        </p:spPr>
        <p:txBody>
          <a:bodyPr wrap="square" lIns="0" tIns="0" rIns="0" bIns="0" rtlCol="0" anchor="ctr"/>
          <a:lstStyle/>
          <a:p>
            <a:pPr marL="0" indent="0">
              <a:buNone/>
            </a:pPr>
            <a:r>
              <a:rPr lang="en-US" sz="900" b="1" dirty="0">
                <a:solidFill>
                  <a:srgbClr val="E31837"/>
                </a:solidFill>
                <a:latin typeface="Montserrat" pitchFamily="34" charset="0"/>
                <a:ea typeface="Montserrat" pitchFamily="34" charset="-122"/>
                <a:cs typeface="Montserrat" pitchFamily="34" charset="-120"/>
              </a:rPr>
              <a:t>✓</a:t>
            </a:r>
            <a:endParaRPr lang="en-US" sz="900" dirty="0"/>
          </a:p>
        </p:txBody>
      </p:sp>
      <p:sp>
        <p:nvSpPr>
          <p:cNvPr id="39" name="Text 37"/>
          <p:cNvSpPr/>
          <p:nvPr/>
        </p:nvSpPr>
        <p:spPr>
          <a:xfrm>
            <a:off x="4660392" y="2852928"/>
            <a:ext cx="3069336" cy="182880"/>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Fit guarantee</a:t>
            </a:r>
            <a:endParaRPr lang="en-US" sz="900" dirty="0"/>
          </a:p>
        </p:txBody>
      </p:sp>
      <p:sp>
        <p:nvSpPr>
          <p:cNvPr id="40" name="Text 38"/>
          <p:cNvSpPr/>
          <p:nvPr/>
        </p:nvSpPr>
        <p:spPr>
          <a:xfrm>
            <a:off x="4660392" y="3017520"/>
            <a:ext cx="3069336" cy="182880"/>
          </a:xfrm>
          <a:prstGeom prst="rect">
            <a:avLst/>
          </a:prstGeom>
          <a:noFill/>
          <a:ln/>
        </p:spPr>
        <p:txBody>
          <a:bodyPr wrap="square" lIns="0" tIns="0" rIns="0" bIns="0" rtlCol="0" anchor="ctr"/>
          <a:lstStyle/>
          <a:p>
            <a:pPr marL="0" indent="0">
              <a:buNone/>
            </a:pPr>
            <a:r>
              <a:rPr lang="en-US" sz="730" i="1" dirty="0">
                <a:solidFill>
                  <a:srgbClr val="7A7970"/>
                </a:solidFill>
                <a:latin typeface="Lora" pitchFamily="34" charset="0"/>
                <a:ea typeface="Lora" pitchFamily="34" charset="-122"/>
                <a:cs typeface="Lora" pitchFamily="34" charset="-120"/>
              </a:rPr>
              <a:t>TAILOR-backed: free returns on any miss</a:t>
            </a:r>
            <a:endParaRPr lang="en-US" sz="730" dirty="0"/>
          </a:p>
        </p:txBody>
      </p:sp>
      <p:sp>
        <p:nvSpPr>
          <p:cNvPr id="41" name="Text 39"/>
          <p:cNvSpPr/>
          <p:nvPr/>
        </p:nvSpPr>
        <p:spPr>
          <a:xfrm>
            <a:off x="4459224" y="3310128"/>
            <a:ext cx="182880" cy="182880"/>
          </a:xfrm>
          <a:prstGeom prst="rect">
            <a:avLst/>
          </a:prstGeom>
          <a:noFill/>
          <a:ln/>
        </p:spPr>
        <p:txBody>
          <a:bodyPr wrap="square" lIns="0" tIns="0" rIns="0" bIns="0" rtlCol="0" anchor="ctr"/>
          <a:lstStyle/>
          <a:p>
            <a:pPr marL="0" indent="0">
              <a:buNone/>
            </a:pPr>
            <a:r>
              <a:rPr lang="en-US" sz="900" b="1" dirty="0">
                <a:solidFill>
                  <a:srgbClr val="E31837"/>
                </a:solidFill>
                <a:latin typeface="Montserrat" pitchFamily="34" charset="0"/>
                <a:ea typeface="Montserrat" pitchFamily="34" charset="-122"/>
                <a:cs typeface="Montserrat" pitchFamily="34" charset="-120"/>
              </a:rPr>
              <a:t>✓</a:t>
            </a:r>
            <a:endParaRPr lang="en-US" sz="900" dirty="0"/>
          </a:p>
        </p:txBody>
      </p:sp>
      <p:sp>
        <p:nvSpPr>
          <p:cNvPr id="42" name="Text 40"/>
          <p:cNvSpPr/>
          <p:nvPr/>
        </p:nvSpPr>
        <p:spPr>
          <a:xfrm>
            <a:off x="4660392" y="3310128"/>
            <a:ext cx="3069336" cy="182880"/>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Early &amp; exclusive access</a:t>
            </a:r>
            <a:endParaRPr lang="en-US" sz="900" dirty="0"/>
          </a:p>
        </p:txBody>
      </p:sp>
      <p:sp>
        <p:nvSpPr>
          <p:cNvPr id="43" name="Text 41"/>
          <p:cNvSpPr/>
          <p:nvPr/>
        </p:nvSpPr>
        <p:spPr>
          <a:xfrm>
            <a:off x="4660392" y="3474720"/>
            <a:ext cx="3069336" cy="182880"/>
          </a:xfrm>
          <a:prstGeom prst="rect">
            <a:avLst/>
          </a:prstGeom>
          <a:noFill/>
          <a:ln/>
        </p:spPr>
        <p:txBody>
          <a:bodyPr wrap="square" lIns="0" tIns="0" rIns="0" bIns="0" rtlCol="0" anchor="ctr"/>
          <a:lstStyle/>
          <a:p>
            <a:pPr marL="0" indent="0">
              <a:buNone/>
            </a:pPr>
            <a:r>
              <a:rPr lang="en-US" sz="730" i="1" dirty="0">
                <a:solidFill>
                  <a:srgbClr val="7A7970"/>
                </a:solidFill>
                <a:latin typeface="Lora" pitchFamily="34" charset="0"/>
                <a:ea typeface="Lora" pitchFamily="34" charset="-122"/>
                <a:cs typeface="Lora" pitchFamily="34" charset="-120"/>
              </a:rPr>
              <a:t>drops, sales &amp; reservations first</a:t>
            </a:r>
            <a:endParaRPr lang="en-US" sz="730" dirty="0"/>
          </a:p>
        </p:txBody>
      </p:sp>
      <p:sp>
        <p:nvSpPr>
          <p:cNvPr id="44" name="Text 42"/>
          <p:cNvSpPr/>
          <p:nvPr/>
        </p:nvSpPr>
        <p:spPr>
          <a:xfrm>
            <a:off x="4459224" y="3767328"/>
            <a:ext cx="182880" cy="182880"/>
          </a:xfrm>
          <a:prstGeom prst="rect">
            <a:avLst/>
          </a:prstGeom>
          <a:noFill/>
          <a:ln/>
        </p:spPr>
        <p:txBody>
          <a:bodyPr wrap="square" lIns="0" tIns="0" rIns="0" bIns="0" rtlCol="0" anchor="ctr"/>
          <a:lstStyle/>
          <a:p>
            <a:pPr marL="0" indent="0">
              <a:buNone/>
            </a:pPr>
            <a:r>
              <a:rPr lang="en-US" sz="900" b="1" dirty="0">
                <a:solidFill>
                  <a:srgbClr val="E31837"/>
                </a:solidFill>
                <a:latin typeface="Montserrat" pitchFamily="34" charset="0"/>
                <a:ea typeface="Montserrat" pitchFamily="34" charset="-122"/>
                <a:cs typeface="Montserrat" pitchFamily="34" charset="-120"/>
              </a:rPr>
              <a:t>✓</a:t>
            </a:r>
            <a:endParaRPr lang="en-US" sz="900" dirty="0"/>
          </a:p>
        </p:txBody>
      </p:sp>
      <p:sp>
        <p:nvSpPr>
          <p:cNvPr id="45" name="Text 43"/>
          <p:cNvSpPr/>
          <p:nvPr/>
        </p:nvSpPr>
        <p:spPr>
          <a:xfrm>
            <a:off x="4660392" y="3767328"/>
            <a:ext cx="3069336" cy="182880"/>
          </a:xfrm>
          <a:prstGeom prst="rect">
            <a:avLst/>
          </a:prstGeom>
          <a:noFill/>
          <a:ln/>
        </p:spPr>
        <p:txBody>
          <a:bodyPr wrap="square" lIns="0" tIns="0" rIns="0" bIns="0" rtlCol="0" anchor="ctr"/>
          <a:lstStyle/>
          <a:p>
            <a:pPr marL="0" indent="0">
              <a:buNone/>
            </a:pPr>
            <a:r>
              <a:rPr lang="en-US" sz="900" b="1" dirty="0">
                <a:solidFill>
                  <a:srgbClr val="333333"/>
                </a:solidFill>
                <a:latin typeface="Montserrat" pitchFamily="34" charset="0"/>
                <a:ea typeface="Montserrat" pitchFamily="34" charset="-122"/>
                <a:cs typeface="Montserrat" pitchFamily="34" charset="-120"/>
              </a:rPr>
              <a:t>Priority everything</a:t>
            </a:r>
            <a:endParaRPr lang="en-US" sz="900" dirty="0"/>
          </a:p>
        </p:txBody>
      </p:sp>
      <p:sp>
        <p:nvSpPr>
          <p:cNvPr id="46" name="Text 44"/>
          <p:cNvSpPr/>
          <p:nvPr/>
        </p:nvSpPr>
        <p:spPr>
          <a:xfrm>
            <a:off x="4660392" y="3931920"/>
            <a:ext cx="3069336" cy="182880"/>
          </a:xfrm>
          <a:prstGeom prst="rect">
            <a:avLst/>
          </a:prstGeom>
          <a:noFill/>
          <a:ln/>
        </p:spPr>
        <p:txBody>
          <a:bodyPr wrap="square" lIns="0" tIns="0" rIns="0" bIns="0" rtlCol="0" anchor="ctr"/>
          <a:lstStyle/>
          <a:p>
            <a:pPr marL="0" indent="0">
              <a:buNone/>
            </a:pPr>
            <a:r>
              <a:rPr lang="en-US" sz="730" i="1" dirty="0">
                <a:solidFill>
                  <a:srgbClr val="7A7970"/>
                </a:solidFill>
                <a:latin typeface="Lora" pitchFamily="34" charset="0"/>
                <a:ea typeface="Lora" pitchFamily="34" charset="-122"/>
                <a:cs typeface="Lora" pitchFamily="34" charset="-120"/>
              </a:rPr>
              <a:t>service, collect, fulfilment</a:t>
            </a:r>
            <a:endParaRPr lang="en-US" sz="730" dirty="0"/>
          </a:p>
        </p:txBody>
      </p:sp>
      <p:sp>
        <p:nvSpPr>
          <p:cNvPr id="47" name="Shape 45"/>
          <p:cNvSpPr/>
          <p:nvPr/>
        </p:nvSpPr>
        <p:spPr>
          <a:xfrm>
            <a:off x="4422648" y="4315968"/>
            <a:ext cx="3343656" cy="420624"/>
          </a:xfrm>
          <a:prstGeom prst="roundRect">
            <a:avLst>
              <a:gd name="adj" fmla="val 8696"/>
            </a:avLst>
          </a:prstGeom>
          <a:solidFill>
            <a:srgbClr val="FDFDFD"/>
          </a:solidFill>
          <a:ln w="6350">
            <a:solidFill>
              <a:srgbClr val="E31837"/>
            </a:solidFill>
            <a:prstDash val="solid"/>
          </a:ln>
        </p:spPr>
        <p:txBody>
          <a:bodyPr/>
          <a:lstStyle/>
          <a:p>
            <a:endParaRPr lang="en-US"/>
          </a:p>
        </p:txBody>
      </p:sp>
      <p:sp>
        <p:nvSpPr>
          <p:cNvPr id="48" name="Text 46"/>
          <p:cNvSpPr/>
          <p:nvPr/>
        </p:nvSpPr>
        <p:spPr>
          <a:xfrm>
            <a:off x="4532376" y="4315968"/>
            <a:ext cx="3124200" cy="420624"/>
          </a:xfrm>
          <a:prstGeom prst="rect">
            <a:avLst/>
          </a:prstGeom>
          <a:noFill/>
          <a:ln/>
        </p:spPr>
        <p:txBody>
          <a:bodyPr wrap="square" lIns="0" tIns="0" rIns="0" bIns="0" rtlCol="0" anchor="ctr"/>
          <a:lstStyle/>
          <a:p>
            <a:pPr marL="0" indent="0">
              <a:lnSpc>
                <a:spcPct val="95000"/>
              </a:lnSpc>
              <a:buNone/>
            </a:pPr>
            <a:r>
              <a:rPr lang="en-US" sz="760" i="1" dirty="0">
                <a:solidFill>
                  <a:srgbClr val="5F5E5A"/>
                </a:solidFill>
                <a:latin typeface="Lora" pitchFamily="34" charset="0"/>
                <a:ea typeface="Lora" pitchFamily="34" charset="-122"/>
                <a:cs typeface="Lora" pitchFamily="34" charset="-120"/>
              </a:rPr>
              <a:t>The paid layer sits on the same agents — services, not access.</a:t>
            </a:r>
            <a:endParaRPr lang="en-US" sz="760" dirty="0"/>
          </a:p>
        </p:txBody>
      </p:sp>
      <p:sp>
        <p:nvSpPr>
          <p:cNvPr id="49" name="Shape 47"/>
          <p:cNvSpPr/>
          <p:nvPr/>
        </p:nvSpPr>
        <p:spPr>
          <a:xfrm>
            <a:off x="8150352" y="1207008"/>
            <a:ext cx="3672840" cy="3657600"/>
          </a:xfrm>
          <a:prstGeom prst="roundRect">
            <a:avLst>
              <a:gd name="adj" fmla="val 2000"/>
            </a:avLst>
          </a:prstGeom>
          <a:solidFill>
            <a:srgbClr val="22262A"/>
          </a:solidFill>
          <a:ln/>
          <a:effectLst>
            <a:outerShdw blurRad="50800" dist="15240" dir="5400000" algn="bl" rotWithShape="0">
              <a:srgbClr val="000000">
                <a:alpha val="10000"/>
              </a:srgbClr>
            </a:outerShdw>
          </a:effectLst>
        </p:spPr>
        <p:txBody>
          <a:bodyPr/>
          <a:lstStyle/>
          <a:p>
            <a:endParaRPr lang="en-US"/>
          </a:p>
        </p:txBody>
      </p:sp>
      <p:sp>
        <p:nvSpPr>
          <p:cNvPr id="50" name="Text 48"/>
          <p:cNvSpPr/>
          <p:nvPr/>
        </p:nvSpPr>
        <p:spPr>
          <a:xfrm>
            <a:off x="8351520" y="1353312"/>
            <a:ext cx="3270504" cy="182880"/>
          </a:xfrm>
          <a:prstGeom prst="rect">
            <a:avLst/>
          </a:prstGeom>
          <a:noFill/>
          <a:ln/>
        </p:spPr>
        <p:txBody>
          <a:bodyPr wrap="square" lIns="0" tIns="0" rIns="0" bIns="0" rtlCol="0" anchor="ctr"/>
          <a:lstStyle/>
          <a:p>
            <a:pPr marL="0" indent="0">
              <a:buNone/>
            </a:pPr>
            <a:r>
              <a:rPr lang="en-US" sz="850" b="1" kern="0" spc="100" dirty="0">
                <a:solidFill>
                  <a:srgbClr val="FF4D4D"/>
                </a:solidFill>
                <a:latin typeface="Montserrat" pitchFamily="34" charset="0"/>
                <a:ea typeface="Montserrat" pitchFamily="34" charset="-122"/>
                <a:cs typeface="Montserrat" pitchFamily="34" charset="-120"/>
              </a:rPr>
              <a:t>TIER 2</a:t>
            </a:r>
            <a:endParaRPr lang="en-US" sz="850" dirty="0"/>
          </a:p>
        </p:txBody>
      </p:sp>
      <p:sp>
        <p:nvSpPr>
          <p:cNvPr id="51" name="Text 49"/>
          <p:cNvSpPr/>
          <p:nvPr/>
        </p:nvSpPr>
        <p:spPr>
          <a:xfrm>
            <a:off x="8351520" y="1536192"/>
            <a:ext cx="3270504" cy="329184"/>
          </a:xfrm>
          <a:prstGeom prst="rect">
            <a:avLst/>
          </a:prstGeom>
          <a:noFill/>
          <a:ln/>
        </p:spPr>
        <p:txBody>
          <a:bodyPr wrap="square" lIns="0" tIns="0" rIns="0" bIns="0" rtlCol="0" anchor="ctr"/>
          <a:lstStyle/>
          <a:p>
            <a:pPr marL="0" indent="0">
              <a:buNone/>
            </a:pPr>
            <a:r>
              <a:rPr lang="en-US" sz="1900" b="1" dirty="0" err="1">
                <a:solidFill>
                  <a:srgbClr val="FDFDFD"/>
                </a:solidFill>
                <a:latin typeface="Montserrat" pitchFamily="34" charset="0"/>
                <a:ea typeface="Montserrat" pitchFamily="34" charset="-122"/>
                <a:cs typeface="Montserrat" pitchFamily="34" charset="-120"/>
              </a:rPr>
              <a:t>Neu.Tail</a:t>
            </a:r>
            <a:r>
              <a:rPr lang="en-US" sz="1900" b="1" dirty="0">
                <a:solidFill>
                  <a:srgbClr val="FDFDFD"/>
                </a:solidFill>
                <a:latin typeface="Montserrat" pitchFamily="34" charset="0"/>
                <a:ea typeface="Montserrat" pitchFamily="34" charset="-122"/>
                <a:cs typeface="Montserrat" pitchFamily="34" charset="-120"/>
              </a:rPr>
              <a:t> Elite</a:t>
            </a:r>
            <a:endParaRPr lang="en-US" sz="1900" dirty="0"/>
          </a:p>
        </p:txBody>
      </p:sp>
      <p:sp>
        <p:nvSpPr>
          <p:cNvPr id="52" name="Text 50"/>
          <p:cNvSpPr/>
          <p:nvPr/>
        </p:nvSpPr>
        <p:spPr>
          <a:xfrm>
            <a:off x="8351520" y="1883664"/>
            <a:ext cx="3270504" cy="219456"/>
          </a:xfrm>
          <a:prstGeom prst="rect">
            <a:avLst/>
          </a:prstGeom>
          <a:noFill/>
          <a:ln/>
        </p:spPr>
        <p:txBody>
          <a:bodyPr wrap="square" lIns="0" tIns="0" rIns="0" bIns="0" rtlCol="0" anchor="ctr"/>
          <a:lstStyle/>
          <a:p>
            <a:pPr marL="0" indent="0">
              <a:buNone/>
            </a:pPr>
            <a:r>
              <a:rPr lang="en-US" sz="1400" b="1" dirty="0">
                <a:solidFill>
                  <a:srgbClr val="FF4D4D"/>
                </a:solidFill>
                <a:latin typeface="Montserrat" pitchFamily="34" charset="0"/>
                <a:ea typeface="Montserrat" pitchFamily="34" charset="-122"/>
                <a:cs typeface="Montserrat" pitchFamily="34" charset="-120"/>
              </a:rPr>
              <a:t>value / ££  </a:t>
            </a:r>
            <a:r>
              <a:rPr lang="en-US" sz="800" i="1" dirty="0">
                <a:solidFill>
                  <a:srgbClr val="9B9A92"/>
                </a:solidFill>
                <a:latin typeface="Montserrat" pitchFamily="34" charset="0"/>
                <a:ea typeface="Montserrat" pitchFamily="34" charset="-122"/>
                <a:cs typeface="Montserrat" pitchFamily="34" charset="-120"/>
              </a:rPr>
              <a:t>high-value segment</a:t>
            </a:r>
            <a:endParaRPr lang="en-US" sz="1400" dirty="0"/>
          </a:p>
        </p:txBody>
      </p:sp>
      <p:sp>
        <p:nvSpPr>
          <p:cNvPr id="53" name="Shape 51"/>
          <p:cNvSpPr/>
          <p:nvPr/>
        </p:nvSpPr>
        <p:spPr>
          <a:xfrm>
            <a:off x="8351520" y="2157984"/>
            <a:ext cx="3270504" cy="0"/>
          </a:xfrm>
          <a:prstGeom prst="line">
            <a:avLst/>
          </a:prstGeom>
          <a:noFill/>
          <a:ln w="9525">
            <a:solidFill>
              <a:srgbClr val="333A40"/>
            </a:solidFill>
            <a:prstDash val="solid"/>
          </a:ln>
        </p:spPr>
        <p:txBody>
          <a:bodyPr/>
          <a:lstStyle/>
          <a:p>
            <a:endParaRPr lang="en-US"/>
          </a:p>
        </p:txBody>
      </p:sp>
      <p:sp>
        <p:nvSpPr>
          <p:cNvPr id="54" name="Text 52"/>
          <p:cNvSpPr/>
          <p:nvPr/>
        </p:nvSpPr>
        <p:spPr>
          <a:xfrm>
            <a:off x="8351520" y="2267712"/>
            <a:ext cx="182880" cy="182880"/>
          </a:xfrm>
          <a:prstGeom prst="rect">
            <a:avLst/>
          </a:prstGeom>
          <a:noFill/>
          <a:ln/>
        </p:spPr>
        <p:txBody>
          <a:bodyPr wrap="square" lIns="0" tIns="0" rIns="0" bIns="0" rtlCol="0" anchor="ctr"/>
          <a:lstStyle/>
          <a:p>
            <a:pPr marL="0" indent="0">
              <a:buNone/>
            </a:pPr>
            <a:r>
              <a:rPr lang="en-US" sz="900" b="1" dirty="0">
                <a:solidFill>
                  <a:srgbClr val="FF4D4D"/>
                </a:solidFill>
                <a:latin typeface="Montserrat" pitchFamily="34" charset="0"/>
                <a:ea typeface="Montserrat" pitchFamily="34" charset="-122"/>
                <a:cs typeface="Montserrat" pitchFamily="34" charset="-120"/>
              </a:rPr>
              <a:t>✓</a:t>
            </a:r>
            <a:endParaRPr lang="en-US" sz="900" dirty="0"/>
          </a:p>
        </p:txBody>
      </p:sp>
      <p:sp>
        <p:nvSpPr>
          <p:cNvPr id="55" name="Text 53"/>
          <p:cNvSpPr/>
          <p:nvPr/>
        </p:nvSpPr>
        <p:spPr>
          <a:xfrm>
            <a:off x="8552688" y="2267712"/>
            <a:ext cx="3069336" cy="182880"/>
          </a:xfrm>
          <a:prstGeom prst="rect">
            <a:avLst/>
          </a:prstGeom>
          <a:noFill/>
          <a:ln/>
        </p:spPr>
        <p:txBody>
          <a:bodyPr wrap="square" lIns="0" tIns="0" rIns="0" bIns="0" rtlCol="0" anchor="ctr"/>
          <a:lstStyle/>
          <a:p>
            <a:pPr marL="0" indent="0">
              <a:buNone/>
            </a:pPr>
            <a:r>
              <a:rPr lang="en-US" sz="900" b="1" dirty="0">
                <a:solidFill>
                  <a:srgbClr val="FDFDFD"/>
                </a:solidFill>
                <a:latin typeface="Montserrat" pitchFamily="34" charset="0"/>
                <a:ea typeface="Montserrat" pitchFamily="34" charset="-122"/>
                <a:cs typeface="Montserrat" pitchFamily="34" charset="-120"/>
              </a:rPr>
              <a:t>Human + agent styling</a:t>
            </a:r>
            <a:endParaRPr lang="en-US" sz="900" dirty="0"/>
          </a:p>
        </p:txBody>
      </p:sp>
      <p:sp>
        <p:nvSpPr>
          <p:cNvPr id="56" name="Text 54"/>
          <p:cNvSpPr/>
          <p:nvPr/>
        </p:nvSpPr>
        <p:spPr>
          <a:xfrm>
            <a:off x="8552688" y="2432304"/>
            <a:ext cx="3069336" cy="182880"/>
          </a:xfrm>
          <a:prstGeom prst="rect">
            <a:avLst/>
          </a:prstGeom>
          <a:noFill/>
          <a:ln/>
        </p:spPr>
        <p:txBody>
          <a:bodyPr wrap="square" lIns="0" tIns="0" rIns="0" bIns="0" rtlCol="0" anchor="ctr"/>
          <a:lstStyle/>
          <a:p>
            <a:pPr marL="0" indent="0">
              <a:buNone/>
            </a:pPr>
            <a:r>
              <a:rPr lang="en-US" sz="730" i="1" dirty="0">
                <a:solidFill>
                  <a:srgbClr val="C9C9C7"/>
                </a:solidFill>
                <a:latin typeface="Lora" pitchFamily="34" charset="0"/>
                <a:ea typeface="Lora" pitchFamily="34" charset="-122"/>
                <a:cs typeface="Lora" pitchFamily="34" charset="-120"/>
              </a:rPr>
              <a:t>CONCIERGE escalates to a stylist</a:t>
            </a:r>
            <a:endParaRPr lang="en-US" sz="730" dirty="0"/>
          </a:p>
        </p:txBody>
      </p:sp>
      <p:sp>
        <p:nvSpPr>
          <p:cNvPr id="57" name="Text 55"/>
          <p:cNvSpPr/>
          <p:nvPr/>
        </p:nvSpPr>
        <p:spPr>
          <a:xfrm>
            <a:off x="8351520" y="2724912"/>
            <a:ext cx="182880" cy="182880"/>
          </a:xfrm>
          <a:prstGeom prst="rect">
            <a:avLst/>
          </a:prstGeom>
          <a:noFill/>
          <a:ln/>
        </p:spPr>
        <p:txBody>
          <a:bodyPr wrap="square" lIns="0" tIns="0" rIns="0" bIns="0" rtlCol="0" anchor="ctr"/>
          <a:lstStyle/>
          <a:p>
            <a:pPr marL="0" indent="0">
              <a:buNone/>
            </a:pPr>
            <a:r>
              <a:rPr lang="en-US" sz="900" b="1" dirty="0">
                <a:solidFill>
                  <a:srgbClr val="FF4D4D"/>
                </a:solidFill>
                <a:latin typeface="Montserrat" pitchFamily="34" charset="0"/>
                <a:ea typeface="Montserrat" pitchFamily="34" charset="-122"/>
                <a:cs typeface="Montserrat" pitchFamily="34" charset="-120"/>
              </a:rPr>
              <a:t>✓</a:t>
            </a:r>
            <a:endParaRPr lang="en-US" sz="900" dirty="0"/>
          </a:p>
        </p:txBody>
      </p:sp>
      <p:sp>
        <p:nvSpPr>
          <p:cNvPr id="58" name="Text 56"/>
          <p:cNvSpPr/>
          <p:nvPr/>
        </p:nvSpPr>
        <p:spPr>
          <a:xfrm>
            <a:off x="8552688" y="2724912"/>
            <a:ext cx="3069336" cy="182880"/>
          </a:xfrm>
          <a:prstGeom prst="rect">
            <a:avLst/>
          </a:prstGeom>
          <a:noFill/>
          <a:ln/>
        </p:spPr>
        <p:txBody>
          <a:bodyPr wrap="square" lIns="0" tIns="0" rIns="0" bIns="0" rtlCol="0" anchor="ctr"/>
          <a:lstStyle/>
          <a:p>
            <a:pPr marL="0" indent="0">
              <a:buNone/>
            </a:pPr>
            <a:r>
              <a:rPr lang="en-US" sz="900" b="1" dirty="0">
                <a:solidFill>
                  <a:srgbClr val="FDFDFD"/>
                </a:solidFill>
                <a:latin typeface="Montserrat" pitchFamily="34" charset="0"/>
                <a:ea typeface="Montserrat" pitchFamily="34" charset="-122"/>
                <a:cs typeface="Montserrat" pitchFamily="34" charset="-120"/>
              </a:rPr>
              <a:t>Wardrobe management</a:t>
            </a:r>
            <a:endParaRPr lang="en-US" sz="900" dirty="0"/>
          </a:p>
        </p:txBody>
      </p:sp>
      <p:sp>
        <p:nvSpPr>
          <p:cNvPr id="59" name="Text 57"/>
          <p:cNvSpPr/>
          <p:nvPr/>
        </p:nvSpPr>
        <p:spPr>
          <a:xfrm>
            <a:off x="8552688" y="2889504"/>
            <a:ext cx="3069336" cy="182880"/>
          </a:xfrm>
          <a:prstGeom prst="rect">
            <a:avLst/>
          </a:prstGeom>
          <a:noFill/>
          <a:ln/>
        </p:spPr>
        <p:txBody>
          <a:bodyPr wrap="square" lIns="0" tIns="0" rIns="0" bIns="0" rtlCol="0" anchor="ctr"/>
          <a:lstStyle/>
          <a:p>
            <a:pPr marL="0" indent="0">
              <a:buNone/>
            </a:pPr>
            <a:r>
              <a:rPr lang="en-US" sz="730" i="1" dirty="0">
                <a:solidFill>
                  <a:srgbClr val="C9C9C7"/>
                </a:solidFill>
                <a:latin typeface="Lora" pitchFamily="34" charset="0"/>
                <a:ea typeface="Lora" pitchFamily="34" charset="-122"/>
                <a:cs typeface="Lora" pitchFamily="34" charset="-120"/>
              </a:rPr>
              <a:t>proactive, cross-season</a:t>
            </a:r>
            <a:endParaRPr lang="en-US" sz="730" dirty="0"/>
          </a:p>
        </p:txBody>
      </p:sp>
      <p:sp>
        <p:nvSpPr>
          <p:cNvPr id="60" name="Text 58"/>
          <p:cNvSpPr/>
          <p:nvPr/>
        </p:nvSpPr>
        <p:spPr>
          <a:xfrm>
            <a:off x="8351520" y="3182112"/>
            <a:ext cx="182880" cy="182880"/>
          </a:xfrm>
          <a:prstGeom prst="rect">
            <a:avLst/>
          </a:prstGeom>
          <a:noFill/>
          <a:ln/>
        </p:spPr>
        <p:txBody>
          <a:bodyPr wrap="square" lIns="0" tIns="0" rIns="0" bIns="0" rtlCol="0" anchor="ctr"/>
          <a:lstStyle/>
          <a:p>
            <a:pPr marL="0" indent="0">
              <a:buNone/>
            </a:pPr>
            <a:r>
              <a:rPr lang="en-US" sz="900" b="1" dirty="0">
                <a:solidFill>
                  <a:srgbClr val="FF4D4D"/>
                </a:solidFill>
                <a:latin typeface="Montserrat" pitchFamily="34" charset="0"/>
                <a:ea typeface="Montserrat" pitchFamily="34" charset="-122"/>
                <a:cs typeface="Montserrat" pitchFamily="34" charset="-120"/>
              </a:rPr>
              <a:t>✓</a:t>
            </a:r>
            <a:endParaRPr lang="en-US" sz="900" dirty="0"/>
          </a:p>
        </p:txBody>
      </p:sp>
      <p:sp>
        <p:nvSpPr>
          <p:cNvPr id="61" name="Text 59"/>
          <p:cNvSpPr/>
          <p:nvPr/>
        </p:nvSpPr>
        <p:spPr>
          <a:xfrm>
            <a:off x="8552688" y="3182112"/>
            <a:ext cx="3069336" cy="182880"/>
          </a:xfrm>
          <a:prstGeom prst="rect">
            <a:avLst/>
          </a:prstGeom>
          <a:noFill/>
          <a:ln/>
        </p:spPr>
        <p:txBody>
          <a:bodyPr wrap="square" lIns="0" tIns="0" rIns="0" bIns="0" rtlCol="0" anchor="ctr"/>
          <a:lstStyle/>
          <a:p>
            <a:pPr marL="0" indent="0">
              <a:buNone/>
            </a:pPr>
            <a:r>
              <a:rPr lang="en-US" sz="900" b="1" dirty="0">
                <a:solidFill>
                  <a:srgbClr val="FDFDFD"/>
                </a:solidFill>
                <a:latin typeface="Montserrat" pitchFamily="34" charset="0"/>
                <a:ea typeface="Montserrat" pitchFamily="34" charset="-122"/>
                <a:cs typeface="Montserrat" pitchFamily="34" charset="-120"/>
              </a:rPr>
              <a:t>White-glove logistics</a:t>
            </a:r>
            <a:endParaRPr lang="en-US" sz="900" dirty="0"/>
          </a:p>
        </p:txBody>
      </p:sp>
      <p:sp>
        <p:nvSpPr>
          <p:cNvPr id="62" name="Text 60"/>
          <p:cNvSpPr/>
          <p:nvPr/>
        </p:nvSpPr>
        <p:spPr>
          <a:xfrm>
            <a:off x="8552688" y="3346704"/>
            <a:ext cx="3069336" cy="182880"/>
          </a:xfrm>
          <a:prstGeom prst="rect">
            <a:avLst/>
          </a:prstGeom>
          <a:noFill/>
          <a:ln/>
        </p:spPr>
        <p:txBody>
          <a:bodyPr wrap="square" lIns="0" tIns="0" rIns="0" bIns="0" rtlCol="0" anchor="ctr"/>
          <a:lstStyle/>
          <a:p>
            <a:pPr marL="0" indent="0">
              <a:buNone/>
            </a:pPr>
            <a:r>
              <a:rPr lang="en-US" sz="730" i="1" dirty="0">
                <a:solidFill>
                  <a:srgbClr val="C9C9C7"/>
                </a:solidFill>
                <a:latin typeface="Lora" pitchFamily="34" charset="0"/>
                <a:ea typeface="Lora" pitchFamily="34" charset="-122"/>
                <a:cs typeface="Lora" pitchFamily="34" charset="-120"/>
              </a:rPr>
              <a:t>try-at-home, collection</a:t>
            </a:r>
            <a:endParaRPr lang="en-US" sz="730" dirty="0"/>
          </a:p>
        </p:txBody>
      </p:sp>
      <p:sp>
        <p:nvSpPr>
          <p:cNvPr id="63" name="Text 61"/>
          <p:cNvSpPr/>
          <p:nvPr/>
        </p:nvSpPr>
        <p:spPr>
          <a:xfrm>
            <a:off x="8351520" y="3639312"/>
            <a:ext cx="182880" cy="182880"/>
          </a:xfrm>
          <a:prstGeom prst="rect">
            <a:avLst/>
          </a:prstGeom>
          <a:noFill/>
          <a:ln/>
        </p:spPr>
        <p:txBody>
          <a:bodyPr wrap="square" lIns="0" tIns="0" rIns="0" bIns="0" rtlCol="0" anchor="ctr"/>
          <a:lstStyle/>
          <a:p>
            <a:pPr marL="0" indent="0">
              <a:buNone/>
            </a:pPr>
            <a:r>
              <a:rPr lang="en-US" sz="900" b="1" dirty="0">
                <a:solidFill>
                  <a:srgbClr val="FF4D4D"/>
                </a:solidFill>
                <a:latin typeface="Montserrat" pitchFamily="34" charset="0"/>
                <a:ea typeface="Montserrat" pitchFamily="34" charset="-122"/>
                <a:cs typeface="Montserrat" pitchFamily="34" charset="-120"/>
              </a:rPr>
              <a:t>✓</a:t>
            </a:r>
            <a:endParaRPr lang="en-US" sz="900" dirty="0"/>
          </a:p>
        </p:txBody>
      </p:sp>
      <p:sp>
        <p:nvSpPr>
          <p:cNvPr id="64" name="Text 62"/>
          <p:cNvSpPr/>
          <p:nvPr/>
        </p:nvSpPr>
        <p:spPr>
          <a:xfrm>
            <a:off x="8552688" y="3639312"/>
            <a:ext cx="3069336" cy="182880"/>
          </a:xfrm>
          <a:prstGeom prst="rect">
            <a:avLst/>
          </a:prstGeom>
          <a:noFill/>
          <a:ln/>
        </p:spPr>
        <p:txBody>
          <a:bodyPr wrap="square" lIns="0" tIns="0" rIns="0" bIns="0" rtlCol="0" anchor="ctr"/>
          <a:lstStyle/>
          <a:p>
            <a:pPr marL="0" indent="0">
              <a:buNone/>
            </a:pPr>
            <a:r>
              <a:rPr lang="en-US" sz="900" b="1" dirty="0">
                <a:solidFill>
                  <a:srgbClr val="FDFDFD"/>
                </a:solidFill>
                <a:latin typeface="Montserrat" pitchFamily="34" charset="0"/>
                <a:ea typeface="Montserrat" pitchFamily="34" charset="-122"/>
                <a:cs typeface="Montserrat" pitchFamily="34" charset="-120"/>
              </a:rPr>
              <a:t>VIP events &amp; tiers</a:t>
            </a:r>
            <a:endParaRPr lang="en-US" sz="900" dirty="0"/>
          </a:p>
        </p:txBody>
      </p:sp>
      <p:sp>
        <p:nvSpPr>
          <p:cNvPr id="65" name="Text 63"/>
          <p:cNvSpPr/>
          <p:nvPr/>
        </p:nvSpPr>
        <p:spPr>
          <a:xfrm>
            <a:off x="8552688" y="3803904"/>
            <a:ext cx="3069336" cy="182880"/>
          </a:xfrm>
          <a:prstGeom prst="rect">
            <a:avLst/>
          </a:prstGeom>
          <a:noFill/>
          <a:ln/>
        </p:spPr>
        <p:txBody>
          <a:bodyPr wrap="square" lIns="0" tIns="0" rIns="0" bIns="0" rtlCol="0" anchor="ctr"/>
          <a:lstStyle/>
          <a:p>
            <a:pPr marL="0" indent="0">
              <a:buNone/>
            </a:pPr>
            <a:r>
              <a:rPr lang="en-US" sz="730" i="1" dirty="0">
                <a:solidFill>
                  <a:srgbClr val="C9C9C7"/>
                </a:solidFill>
                <a:latin typeface="Lora" pitchFamily="34" charset="0"/>
                <a:ea typeface="Lora" pitchFamily="34" charset="-122"/>
                <a:cs typeface="Lora" pitchFamily="34" charset="-120"/>
              </a:rPr>
              <a:t>TALLY's top tier</a:t>
            </a:r>
            <a:endParaRPr lang="en-US" sz="730" dirty="0"/>
          </a:p>
        </p:txBody>
      </p:sp>
      <p:sp>
        <p:nvSpPr>
          <p:cNvPr id="66" name="Shape 64"/>
          <p:cNvSpPr/>
          <p:nvPr/>
        </p:nvSpPr>
        <p:spPr>
          <a:xfrm>
            <a:off x="8314944" y="4315968"/>
            <a:ext cx="3343656" cy="420624"/>
          </a:xfrm>
          <a:prstGeom prst="roundRect">
            <a:avLst>
              <a:gd name="adj" fmla="val 8696"/>
            </a:avLst>
          </a:prstGeom>
          <a:solidFill>
            <a:srgbClr val="333A40"/>
          </a:solidFill>
          <a:ln/>
        </p:spPr>
        <p:txBody>
          <a:bodyPr/>
          <a:lstStyle/>
          <a:p>
            <a:endParaRPr lang="en-US"/>
          </a:p>
        </p:txBody>
      </p:sp>
      <p:sp>
        <p:nvSpPr>
          <p:cNvPr id="67" name="Text 65"/>
          <p:cNvSpPr/>
          <p:nvPr/>
        </p:nvSpPr>
        <p:spPr>
          <a:xfrm>
            <a:off x="8424672" y="4315968"/>
            <a:ext cx="3124200" cy="420624"/>
          </a:xfrm>
          <a:prstGeom prst="rect">
            <a:avLst/>
          </a:prstGeom>
          <a:noFill/>
          <a:ln/>
        </p:spPr>
        <p:txBody>
          <a:bodyPr wrap="square" lIns="0" tIns="0" rIns="0" bIns="0" rtlCol="0" anchor="ctr"/>
          <a:lstStyle/>
          <a:p>
            <a:pPr marL="0" indent="0">
              <a:lnSpc>
                <a:spcPct val="95000"/>
              </a:lnSpc>
              <a:buNone/>
            </a:pPr>
            <a:r>
              <a:rPr lang="en-US" sz="760" i="1" dirty="0">
                <a:solidFill>
                  <a:srgbClr val="D8D8D8"/>
                </a:solidFill>
                <a:latin typeface="Lora" pitchFamily="34" charset="0"/>
                <a:ea typeface="Lora" pitchFamily="34" charset="-122"/>
                <a:cs typeface="Lora" pitchFamily="34" charset="-120"/>
              </a:rPr>
              <a:t>For the affluent segment PERSONA identifies — highest ARPU.</a:t>
            </a:r>
            <a:endParaRPr lang="en-US" sz="760" dirty="0"/>
          </a:p>
        </p:txBody>
      </p:sp>
      <p:sp>
        <p:nvSpPr>
          <p:cNvPr id="68" name="Text 66"/>
          <p:cNvSpPr/>
          <p:nvPr/>
        </p:nvSpPr>
        <p:spPr>
          <a:xfrm>
            <a:off x="365760" y="5248655"/>
            <a:ext cx="11457432" cy="548640"/>
          </a:xfrm>
          <a:prstGeom prst="rect">
            <a:avLst/>
          </a:prstGeom>
          <a:noFill/>
          <a:ln/>
        </p:spPr>
        <p:txBody>
          <a:bodyPr wrap="square" lIns="0" tIns="0" rIns="0" bIns="0" rtlCol="0" anchor="t"/>
          <a:lstStyle/>
          <a:p>
            <a:pPr marL="0" indent="0">
              <a:lnSpc>
                <a:spcPct val="105000"/>
              </a:lnSpc>
              <a:buNone/>
            </a:pPr>
            <a:r>
              <a:rPr lang="en-US" sz="1050" b="1" dirty="0">
                <a:solidFill>
                  <a:srgbClr val="E31837"/>
                </a:solidFill>
                <a:latin typeface="Lora" pitchFamily="34" charset="0"/>
                <a:ea typeface="Lora" pitchFamily="34" charset="-122"/>
                <a:cs typeface="Lora" pitchFamily="34" charset="-120"/>
              </a:rPr>
              <a:t>The freemium logic:  </a:t>
            </a:r>
            <a:r>
              <a:rPr lang="en-US" sz="1050" dirty="0">
                <a:solidFill>
                  <a:srgbClr val="5F5E5A"/>
                </a:solidFill>
                <a:latin typeface="Lora" pitchFamily="34" charset="0"/>
                <a:ea typeface="Lora" pitchFamily="34" charset="-122"/>
                <a:cs typeface="Lora" pitchFamily="34" charset="-120"/>
              </a:rPr>
              <a:t>we never charge for the personalisation that makes us money anyway. Free tier drives the conversion and returns gains that fund the platform; the paid tiers monetise </a:t>
            </a:r>
            <a:r>
              <a:rPr lang="en-US" sz="1050" b="1" i="1" dirty="0">
                <a:solidFill>
                  <a:srgbClr val="333333"/>
                </a:solidFill>
                <a:latin typeface="Lora" pitchFamily="34" charset="0"/>
                <a:ea typeface="Lora" pitchFamily="34" charset="-122"/>
                <a:cs typeface="Lora" pitchFamily="34" charset="-120"/>
              </a:rPr>
              <a:t>services</a:t>
            </a:r>
            <a:r>
              <a:rPr lang="en-US" sz="1050" dirty="0">
                <a:solidFill>
                  <a:srgbClr val="5F5E5A"/>
                </a:solidFill>
                <a:latin typeface="Lora" pitchFamily="34" charset="0"/>
                <a:ea typeface="Lora" pitchFamily="34" charset="-122"/>
                <a:cs typeface="Lora" pitchFamily="34" charset="-120"/>
              </a:rPr>
              <a:t> — styling, guarantees, access — that the same agents already deliver. Upgrade is one tap inside the experience, surfaced by CONCIERGE at the right moment.</a:t>
            </a:r>
            <a:endParaRPr lang="en-US" sz="1050" dirty="0"/>
          </a:p>
        </p:txBody>
      </p:sp>
      <p:sp>
        <p:nvSpPr>
          <p:cNvPr id="69" name="Text 67"/>
          <p:cNvSpPr/>
          <p:nvPr/>
        </p:nvSpPr>
        <p:spPr>
          <a:xfrm>
            <a:off x="365760" y="5852160"/>
            <a:ext cx="11430000" cy="182880"/>
          </a:xfrm>
          <a:prstGeom prst="rect">
            <a:avLst/>
          </a:prstGeom>
          <a:noFill/>
          <a:ln/>
        </p:spPr>
        <p:txBody>
          <a:bodyPr wrap="square" lIns="0" tIns="0" rIns="0" bIns="0" rtlCol="0" anchor="ctr"/>
          <a:lstStyle/>
          <a:p>
            <a:pPr marL="0" indent="0">
              <a:buNone/>
            </a:pPr>
            <a:endParaRPr lang="en-US" sz="900" dirty="0">
              <a:solidFill>
                <a:schemeClr val="tx1">
                  <a:lumMod val="85000"/>
                  <a:lumOff val="15000"/>
                </a:schemeClr>
              </a:solidFill>
            </a:endParaRPr>
          </a:p>
        </p:txBody>
      </p:sp>
      <p:pic>
        <p:nvPicPr>
          <p:cNvPr id="70" name="Google Shape;126;p2" descr="preencoded.png">
            <a:extLst>
              <a:ext uri="{FF2B5EF4-FFF2-40B4-BE49-F238E27FC236}">
                <a16:creationId xmlns:a16="http://schemas.microsoft.com/office/drawing/2014/main" id="{78D3DB6A-3B73-9C54-7018-4FD0215DDB32}"/>
              </a:ext>
            </a:extLst>
          </p:cNvPr>
          <p:cNvPicPr preferRelativeResize="0"/>
          <p:nvPr/>
        </p:nvPicPr>
        <p:blipFill rotWithShape="1">
          <a:blip r:embed="rId3">
            <a:alphaModFix/>
          </a:blip>
          <a:srcRect/>
          <a:stretch/>
        </p:blipFill>
        <p:spPr>
          <a:xfrm>
            <a:off x="11257052" y="114766"/>
            <a:ext cx="669527" cy="671619"/>
          </a:xfrm>
          <a:prstGeom prst="rect">
            <a:avLst/>
          </a:prstGeom>
          <a:noFill/>
          <a:ln>
            <a:noFill/>
          </a:ln>
        </p:spPr>
      </p:pic>
      <p:sp>
        <p:nvSpPr>
          <p:cNvPr id="71" name="Shape 42">
            <a:extLst>
              <a:ext uri="{FF2B5EF4-FFF2-40B4-BE49-F238E27FC236}">
                <a16:creationId xmlns:a16="http://schemas.microsoft.com/office/drawing/2014/main" id="{E31C7ECE-3BD0-55C9-71C5-95E42B7752E9}"/>
              </a:ext>
            </a:extLst>
          </p:cNvPr>
          <p:cNvSpPr/>
          <p:nvPr/>
        </p:nvSpPr>
        <p:spPr>
          <a:xfrm>
            <a:off x="566928" y="6190487"/>
            <a:ext cx="11091672" cy="10973"/>
          </a:xfrm>
          <a:prstGeom prst="rect">
            <a:avLst/>
          </a:prstGeom>
          <a:solidFill>
            <a:srgbClr val="E2E0D9"/>
          </a:solidFill>
          <a:ln/>
        </p:spPr>
        <p:txBody>
          <a:bodyPr/>
          <a:lstStyle/>
          <a:p>
            <a:endParaRPr lang="en-US"/>
          </a:p>
        </p:txBody>
      </p:sp>
      <p:sp>
        <p:nvSpPr>
          <p:cNvPr id="72" name="Text 43">
            <a:extLst>
              <a:ext uri="{FF2B5EF4-FFF2-40B4-BE49-F238E27FC236}">
                <a16:creationId xmlns:a16="http://schemas.microsoft.com/office/drawing/2014/main" id="{6DEAC495-9F9F-54E5-0E3F-DA375C152E52}"/>
              </a:ext>
            </a:extLst>
          </p:cNvPr>
          <p:cNvSpPr/>
          <p:nvPr/>
        </p:nvSpPr>
        <p:spPr>
          <a:xfrm>
            <a:off x="566928" y="6281927"/>
            <a:ext cx="5486400" cy="237744"/>
          </a:xfrm>
          <a:prstGeom prst="rect">
            <a:avLst/>
          </a:prstGeom>
          <a:noFill/>
          <a:ln/>
        </p:spPr>
        <p:txBody>
          <a:bodyPr wrap="square" lIns="0" tIns="0" rIns="0" bIns="0" rtlCol="0" anchor="ctr"/>
          <a:lstStyle/>
          <a:p>
            <a:pPr marL="0" indent="0">
              <a:buNone/>
            </a:pPr>
            <a:r>
              <a:rPr lang="en-US" sz="900" dirty="0">
                <a:solidFill>
                  <a:srgbClr val="A0A5AB"/>
                </a:solidFill>
                <a:latin typeface="Montserrat" pitchFamily="34" charset="0"/>
                <a:ea typeface="Montserrat" pitchFamily="34" charset="-122"/>
                <a:cs typeface="Montserrat" pitchFamily="34" charset="-120"/>
              </a:rPr>
              <a:t>Mission #3 · Team 5 — Condor Galaxy</a:t>
            </a:r>
            <a:endParaRPr lang="en-US" sz="900" dirty="0"/>
          </a:p>
        </p:txBody>
      </p:sp>
      <p:sp>
        <p:nvSpPr>
          <p:cNvPr id="73" name="Text 44">
            <a:extLst>
              <a:ext uri="{FF2B5EF4-FFF2-40B4-BE49-F238E27FC236}">
                <a16:creationId xmlns:a16="http://schemas.microsoft.com/office/drawing/2014/main" id="{F2B17AAD-7459-12BA-9155-35D29D1B3B7B}"/>
              </a:ext>
            </a:extLst>
          </p:cNvPr>
          <p:cNvSpPr/>
          <p:nvPr/>
        </p:nvSpPr>
        <p:spPr>
          <a:xfrm>
            <a:off x="6144768" y="6281927"/>
            <a:ext cx="5513832" cy="237744"/>
          </a:xfrm>
          <a:prstGeom prst="rect">
            <a:avLst/>
          </a:prstGeom>
          <a:noFill/>
          <a:ln/>
        </p:spPr>
        <p:txBody>
          <a:bodyPr wrap="square" lIns="0" tIns="0" rIns="0" bIns="0" rtlCol="0" anchor="ctr"/>
          <a:lstStyle/>
          <a:p>
            <a:pPr marL="0" indent="0" algn="r">
              <a:buNone/>
            </a:pPr>
            <a:r>
              <a:rPr lang="en-US" sz="900" i="1" dirty="0">
                <a:solidFill>
                  <a:srgbClr val="A0A5AB"/>
                </a:solidFill>
                <a:latin typeface="Lora" pitchFamily="34" charset="0"/>
                <a:ea typeface="Lora" pitchFamily="34" charset="-122"/>
                <a:cs typeface="Lora" pitchFamily="34" charset="-120"/>
              </a:rPr>
              <a:t>Smart retail. Real value.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E31837"/>
          </a:solidFill>
          <a:ln/>
        </p:spPr>
        <p:txBody>
          <a:bodyPr/>
          <a:lstStyle/>
          <a:p>
            <a:endParaRPr lang="en-US"/>
          </a:p>
        </p:txBody>
      </p:sp>
      <p:sp>
        <p:nvSpPr>
          <p:cNvPr id="4" name="Text 2"/>
          <p:cNvSpPr/>
          <p:nvPr/>
        </p:nvSpPr>
        <p:spPr>
          <a:xfrm>
            <a:off x="365760" y="146304"/>
            <a:ext cx="10058400" cy="201168"/>
          </a:xfrm>
          <a:prstGeom prst="rect">
            <a:avLst/>
          </a:prstGeom>
          <a:noFill/>
          <a:ln/>
        </p:spPr>
        <p:txBody>
          <a:bodyPr wrap="square" lIns="0" tIns="0" rIns="0" bIns="0" rtlCol="0" anchor="ctr"/>
          <a:lstStyle/>
          <a:p>
            <a:pPr marL="0" indent="0">
              <a:buNone/>
            </a:pPr>
            <a:r>
              <a:rPr lang="en-US" sz="1000" b="1" kern="0" spc="150" dirty="0">
                <a:solidFill>
                  <a:srgbClr val="E31837"/>
                </a:solidFill>
                <a:latin typeface="Montserrat" pitchFamily="34" charset="0"/>
                <a:ea typeface="Montserrat" pitchFamily="34" charset="-122"/>
                <a:cs typeface="Montserrat" pitchFamily="34" charset="-120"/>
              </a:rPr>
              <a:t>OBJECTIVE 2 · RINGS 2 &amp; 3 · PLATFORM &amp; ECOSYSTEM</a:t>
            </a:r>
            <a:endParaRPr lang="en-US" sz="1000" dirty="0"/>
          </a:p>
        </p:txBody>
      </p:sp>
      <p:sp>
        <p:nvSpPr>
          <p:cNvPr id="5" name="Shape 3"/>
          <p:cNvSpPr/>
          <p:nvPr/>
        </p:nvSpPr>
        <p:spPr>
          <a:xfrm>
            <a:off x="8821674" y="623919"/>
            <a:ext cx="2907792" cy="201168"/>
          </a:xfrm>
          <a:prstGeom prst="roundRect">
            <a:avLst>
              <a:gd name="adj" fmla="val 13636"/>
            </a:avLst>
          </a:prstGeom>
          <a:solidFill>
            <a:srgbClr val="F5F4F1"/>
          </a:solidFill>
          <a:ln w="6350">
            <a:solidFill>
              <a:srgbClr val="D8D6CE"/>
            </a:solidFill>
            <a:prstDash val="solid"/>
          </a:ln>
        </p:spPr>
        <p:txBody>
          <a:bodyPr/>
          <a:lstStyle/>
          <a:p>
            <a:endParaRPr lang="en-US"/>
          </a:p>
        </p:txBody>
      </p:sp>
      <p:sp>
        <p:nvSpPr>
          <p:cNvPr id="6" name="Text 4"/>
          <p:cNvSpPr/>
          <p:nvPr/>
        </p:nvSpPr>
        <p:spPr>
          <a:xfrm>
            <a:off x="8714232" y="621792"/>
            <a:ext cx="2907792" cy="201168"/>
          </a:xfrm>
          <a:prstGeom prst="rect">
            <a:avLst/>
          </a:prstGeom>
          <a:noFill/>
          <a:ln/>
        </p:spPr>
        <p:txBody>
          <a:bodyPr wrap="square" lIns="0" tIns="0" rIns="0" bIns="0" rtlCol="0" anchor="ctr"/>
          <a:lstStyle/>
          <a:p>
            <a:pPr marL="0" indent="0" algn="ctr">
              <a:buNone/>
            </a:pPr>
            <a:r>
              <a:rPr lang="en-US" sz="700" b="1" dirty="0">
                <a:solidFill>
                  <a:srgbClr val="A0A5AB"/>
                </a:solidFill>
                <a:latin typeface="Montserrat" pitchFamily="34" charset="0"/>
                <a:ea typeface="Montserrat" pitchFamily="34" charset="-122"/>
                <a:cs typeface="Montserrat" pitchFamily="34" charset="-120"/>
              </a:rPr>
              <a:t>ONE PoV · </a:t>
            </a:r>
            <a:r>
              <a:rPr lang="en-US" sz="700" b="1" dirty="0">
                <a:solidFill>
                  <a:srgbClr val="E31837"/>
                </a:solidFill>
                <a:latin typeface="Montserrat" pitchFamily="34" charset="0"/>
                <a:ea typeface="Montserrat" pitchFamily="34" charset="-122"/>
                <a:cs typeface="Montserrat" pitchFamily="34" charset="-120"/>
              </a:rPr>
              <a:t>RINGS 2 &amp; 3</a:t>
            </a:r>
            <a:r>
              <a:rPr lang="en-US" sz="700" dirty="0">
                <a:solidFill>
                  <a:srgbClr val="A0A5AB"/>
                </a:solidFill>
                <a:latin typeface="Montserrat" pitchFamily="34" charset="0"/>
                <a:ea typeface="Montserrat" pitchFamily="34" charset="-122"/>
                <a:cs typeface="Montserrat" pitchFamily="34" charset="-120"/>
              </a:rPr>
              <a:t> of 3 — zoom-in</a:t>
            </a:r>
            <a:endParaRPr lang="en-US" sz="700" dirty="0"/>
          </a:p>
        </p:txBody>
      </p:sp>
      <p:sp>
        <p:nvSpPr>
          <p:cNvPr id="7" name="Text 5"/>
          <p:cNvSpPr/>
          <p:nvPr/>
        </p:nvSpPr>
        <p:spPr>
          <a:xfrm>
            <a:off x="365760" y="365760"/>
            <a:ext cx="11430000" cy="310896"/>
          </a:xfrm>
          <a:prstGeom prst="rect">
            <a:avLst/>
          </a:prstGeom>
          <a:noFill/>
          <a:ln/>
        </p:spPr>
        <p:txBody>
          <a:bodyPr wrap="square" lIns="0" tIns="0" rIns="0" bIns="0" rtlCol="0" anchor="ctr"/>
          <a:lstStyle/>
          <a:p>
            <a:pPr marL="0" indent="0">
              <a:buNone/>
            </a:pPr>
            <a:r>
              <a:rPr lang="en-US" sz="1700" b="1" dirty="0">
                <a:solidFill>
                  <a:srgbClr val="333333"/>
                </a:solidFill>
                <a:latin typeface="Montserrat" pitchFamily="34" charset="0"/>
                <a:ea typeface="Montserrat" pitchFamily="34" charset="-122"/>
                <a:cs typeface="Montserrat" pitchFamily="34" charset="-120"/>
              </a:rPr>
              <a:t>The platform model — selling the agents beyond our own estate</a:t>
            </a:r>
            <a:endParaRPr lang="en-US" sz="1700" dirty="0"/>
          </a:p>
        </p:txBody>
      </p:sp>
      <p:sp>
        <p:nvSpPr>
          <p:cNvPr id="8" name="Text 6"/>
          <p:cNvSpPr/>
          <p:nvPr/>
        </p:nvSpPr>
        <p:spPr>
          <a:xfrm>
            <a:off x="365760" y="749808"/>
            <a:ext cx="11430000" cy="201168"/>
          </a:xfrm>
          <a:prstGeom prst="rect">
            <a:avLst/>
          </a:prstGeom>
          <a:noFill/>
          <a:ln/>
        </p:spPr>
        <p:txBody>
          <a:bodyPr wrap="square" lIns="0" tIns="0" rIns="0" bIns="0" rtlCol="0" anchor="ctr"/>
          <a:lstStyle/>
          <a:p>
            <a:pPr marL="0" indent="0">
              <a:buNone/>
            </a:pPr>
            <a:r>
              <a:rPr lang="en-US" sz="950" i="1" dirty="0">
                <a:solidFill>
                  <a:srgbClr val="5F5E5A"/>
                </a:solidFill>
                <a:latin typeface="Lora" pitchFamily="34" charset="0"/>
                <a:ea typeface="Lora" pitchFamily="34" charset="-122"/>
                <a:cs typeface="Lora" pitchFamily="34" charset="-120"/>
              </a:rPr>
              <a:t>Three ways to buy the capability, from a single API call to the whole platform run for you — priced on use, on outcome, or on licence.</a:t>
            </a:r>
            <a:endParaRPr lang="en-US" sz="950" dirty="0"/>
          </a:p>
        </p:txBody>
      </p:sp>
      <p:sp>
        <p:nvSpPr>
          <p:cNvPr id="9" name="Shape 7"/>
          <p:cNvSpPr/>
          <p:nvPr/>
        </p:nvSpPr>
        <p:spPr>
          <a:xfrm>
            <a:off x="365760" y="1225296"/>
            <a:ext cx="3672840" cy="2926080"/>
          </a:xfrm>
          <a:prstGeom prst="roundRect">
            <a:avLst>
              <a:gd name="adj" fmla="val 2500"/>
            </a:avLst>
          </a:prstGeom>
          <a:solidFill>
            <a:srgbClr val="FDFDFD"/>
          </a:solidFill>
          <a:ln w="12700">
            <a:solidFill>
              <a:srgbClr val="333333"/>
            </a:solidFill>
            <a:prstDash val="solid"/>
          </a:ln>
          <a:effectLst>
            <a:outerShdw blurRad="50800" dist="15240" dir="5400000" algn="bl" rotWithShape="0">
              <a:srgbClr val="000000">
                <a:alpha val="10000"/>
              </a:srgbClr>
            </a:outerShdw>
          </a:effectLst>
        </p:spPr>
        <p:txBody>
          <a:bodyPr/>
          <a:lstStyle/>
          <a:p>
            <a:endParaRPr lang="en-US" sz="2400"/>
          </a:p>
        </p:txBody>
      </p:sp>
      <p:sp>
        <p:nvSpPr>
          <p:cNvPr id="10" name="Text 8"/>
          <p:cNvSpPr/>
          <p:nvPr/>
        </p:nvSpPr>
        <p:spPr>
          <a:xfrm>
            <a:off x="566928" y="1371600"/>
            <a:ext cx="3270504" cy="182880"/>
          </a:xfrm>
          <a:prstGeom prst="rect">
            <a:avLst/>
          </a:prstGeom>
          <a:noFill/>
          <a:ln/>
        </p:spPr>
        <p:txBody>
          <a:bodyPr wrap="square" lIns="0" tIns="0" rIns="0" bIns="0" rtlCol="0" anchor="ctr"/>
          <a:lstStyle/>
          <a:p>
            <a:pPr marL="0" indent="0">
              <a:buNone/>
            </a:pPr>
            <a:r>
              <a:rPr lang="en-US" sz="1000" b="1" kern="0" spc="100" dirty="0">
                <a:solidFill>
                  <a:srgbClr val="333333"/>
                </a:solidFill>
                <a:latin typeface="Montserrat" pitchFamily="34" charset="0"/>
                <a:ea typeface="Montserrat" pitchFamily="34" charset="-122"/>
                <a:cs typeface="Montserrat" pitchFamily="34" charset="-120"/>
              </a:rPr>
              <a:t>OPEN API</a:t>
            </a:r>
            <a:endParaRPr lang="en-US" sz="1000" dirty="0"/>
          </a:p>
        </p:txBody>
      </p:sp>
      <p:sp>
        <p:nvSpPr>
          <p:cNvPr id="11" name="Text 9"/>
          <p:cNvSpPr/>
          <p:nvPr/>
        </p:nvSpPr>
        <p:spPr>
          <a:xfrm>
            <a:off x="566928" y="1554480"/>
            <a:ext cx="3270504" cy="310896"/>
          </a:xfrm>
          <a:prstGeom prst="rect">
            <a:avLst/>
          </a:prstGeom>
          <a:noFill/>
          <a:ln/>
        </p:spPr>
        <p:txBody>
          <a:bodyPr wrap="square" lIns="0" tIns="0" rIns="0" bIns="0" rtlCol="0" anchor="ctr"/>
          <a:lstStyle/>
          <a:p>
            <a:pPr marL="0" indent="0">
              <a:buNone/>
            </a:pPr>
            <a:r>
              <a:rPr lang="en-US" sz="2000" b="1" dirty="0">
                <a:solidFill>
                  <a:srgbClr val="333333"/>
                </a:solidFill>
                <a:latin typeface="Montserrat" pitchFamily="34" charset="0"/>
                <a:ea typeface="Montserrat" pitchFamily="34" charset="-122"/>
                <a:cs typeface="Montserrat" pitchFamily="34" charset="-120"/>
              </a:rPr>
              <a:t>Usage-based / tiered</a:t>
            </a:r>
            <a:endParaRPr lang="en-US" sz="2000" dirty="0"/>
          </a:p>
        </p:txBody>
      </p:sp>
      <p:sp>
        <p:nvSpPr>
          <p:cNvPr id="12" name="Shape 10"/>
          <p:cNvSpPr/>
          <p:nvPr/>
        </p:nvSpPr>
        <p:spPr>
          <a:xfrm>
            <a:off x="566928" y="1938528"/>
            <a:ext cx="3270504" cy="0"/>
          </a:xfrm>
          <a:prstGeom prst="line">
            <a:avLst/>
          </a:prstGeom>
          <a:noFill/>
          <a:ln w="9525">
            <a:solidFill>
              <a:srgbClr val="E2E0D9"/>
            </a:solidFill>
            <a:prstDash val="solid"/>
          </a:ln>
        </p:spPr>
        <p:txBody>
          <a:bodyPr/>
          <a:lstStyle/>
          <a:p>
            <a:endParaRPr lang="en-US" sz="2400"/>
          </a:p>
        </p:txBody>
      </p:sp>
      <p:sp>
        <p:nvSpPr>
          <p:cNvPr id="13" name="Text 11"/>
          <p:cNvSpPr/>
          <p:nvPr/>
        </p:nvSpPr>
        <p:spPr>
          <a:xfrm>
            <a:off x="566928" y="2048256"/>
            <a:ext cx="3270504" cy="182880"/>
          </a:xfrm>
          <a:prstGeom prst="rect">
            <a:avLst/>
          </a:prstGeom>
          <a:noFill/>
          <a:ln/>
        </p:spPr>
        <p:txBody>
          <a:bodyPr wrap="square" lIns="0" tIns="0" rIns="0" bIns="0" rtlCol="0" anchor="ctr"/>
          <a:lstStyle/>
          <a:p>
            <a:pPr marL="0" indent="0">
              <a:buNone/>
            </a:pPr>
            <a:r>
              <a:rPr lang="en-US" sz="1050" b="1" dirty="0">
                <a:solidFill>
                  <a:srgbClr val="333333"/>
                </a:solidFill>
                <a:latin typeface="Montserrat" pitchFamily="34" charset="0"/>
                <a:ea typeface="Montserrat" pitchFamily="34" charset="-122"/>
                <a:cs typeface="Montserrat" pitchFamily="34" charset="-120"/>
              </a:rPr>
              <a:t>Pay-as-you-go</a:t>
            </a:r>
            <a:endParaRPr lang="en-US" sz="1050" dirty="0"/>
          </a:p>
        </p:txBody>
      </p:sp>
      <p:sp>
        <p:nvSpPr>
          <p:cNvPr id="14" name="Text 12"/>
          <p:cNvSpPr/>
          <p:nvPr/>
        </p:nvSpPr>
        <p:spPr>
          <a:xfrm>
            <a:off x="566928" y="2212848"/>
            <a:ext cx="3270504" cy="256032"/>
          </a:xfrm>
          <a:prstGeom prst="rect">
            <a:avLst/>
          </a:prstGeom>
          <a:noFill/>
          <a:ln/>
        </p:spPr>
        <p:txBody>
          <a:bodyPr wrap="square" lIns="0" tIns="0" rIns="0" bIns="0" rtlCol="0" anchor="t"/>
          <a:lstStyle/>
          <a:p>
            <a:pPr marL="0" indent="0">
              <a:lnSpc>
                <a:spcPct val="92000"/>
              </a:lnSpc>
              <a:buNone/>
            </a:pPr>
            <a:r>
              <a:rPr lang="en-US" sz="900" i="1" dirty="0">
                <a:solidFill>
                  <a:srgbClr val="7A7970"/>
                </a:solidFill>
                <a:latin typeface="Lora" pitchFamily="34" charset="0"/>
                <a:ea typeface="Lora" pitchFamily="34" charset="-122"/>
                <a:cs typeface="Lora" pitchFamily="34" charset="-120"/>
              </a:rPr>
              <a:t>per 1,000 API calls — try before you scale</a:t>
            </a:r>
            <a:endParaRPr lang="en-US" sz="900" dirty="0"/>
          </a:p>
        </p:txBody>
      </p:sp>
      <p:sp>
        <p:nvSpPr>
          <p:cNvPr id="15" name="Text 13"/>
          <p:cNvSpPr/>
          <p:nvPr/>
        </p:nvSpPr>
        <p:spPr>
          <a:xfrm>
            <a:off x="566928" y="2560320"/>
            <a:ext cx="3270504" cy="182880"/>
          </a:xfrm>
          <a:prstGeom prst="rect">
            <a:avLst/>
          </a:prstGeom>
          <a:noFill/>
          <a:ln/>
        </p:spPr>
        <p:txBody>
          <a:bodyPr wrap="square" lIns="0" tIns="0" rIns="0" bIns="0" rtlCol="0" anchor="ctr"/>
          <a:lstStyle/>
          <a:p>
            <a:pPr marL="0" indent="0">
              <a:buNone/>
            </a:pPr>
            <a:r>
              <a:rPr lang="en-US" sz="1050" b="1" dirty="0">
                <a:solidFill>
                  <a:srgbClr val="333333"/>
                </a:solidFill>
                <a:latin typeface="Montserrat" pitchFamily="34" charset="0"/>
                <a:ea typeface="Montserrat" pitchFamily="34" charset="-122"/>
                <a:cs typeface="Montserrat" pitchFamily="34" charset="-120"/>
              </a:rPr>
              <a:t>Tiered plans</a:t>
            </a:r>
            <a:endParaRPr lang="en-US" sz="1050" dirty="0"/>
          </a:p>
        </p:txBody>
      </p:sp>
      <p:sp>
        <p:nvSpPr>
          <p:cNvPr id="16" name="Text 14"/>
          <p:cNvSpPr/>
          <p:nvPr/>
        </p:nvSpPr>
        <p:spPr>
          <a:xfrm>
            <a:off x="566928" y="2724912"/>
            <a:ext cx="3270504" cy="256032"/>
          </a:xfrm>
          <a:prstGeom prst="rect">
            <a:avLst/>
          </a:prstGeom>
          <a:noFill/>
          <a:ln/>
        </p:spPr>
        <p:txBody>
          <a:bodyPr wrap="square" lIns="0" tIns="0" rIns="0" bIns="0" rtlCol="0" anchor="t"/>
          <a:lstStyle/>
          <a:p>
            <a:pPr marL="0" indent="0">
              <a:lnSpc>
                <a:spcPct val="92000"/>
              </a:lnSpc>
              <a:buNone/>
            </a:pPr>
            <a:r>
              <a:rPr lang="en-US" sz="900" i="1" dirty="0">
                <a:solidFill>
                  <a:srgbClr val="7A7970"/>
                </a:solidFill>
                <a:latin typeface="Lora" pitchFamily="34" charset="0"/>
                <a:ea typeface="Lora" pitchFamily="34" charset="-122"/>
                <a:cs typeface="Lora" pitchFamily="34" charset="-120"/>
              </a:rPr>
              <a:t>Starter / Growth / Enterprise volume bands</a:t>
            </a:r>
            <a:endParaRPr lang="en-US" sz="900" dirty="0"/>
          </a:p>
        </p:txBody>
      </p:sp>
      <p:sp>
        <p:nvSpPr>
          <p:cNvPr id="17" name="Text 15"/>
          <p:cNvSpPr/>
          <p:nvPr/>
        </p:nvSpPr>
        <p:spPr>
          <a:xfrm>
            <a:off x="566928" y="3072384"/>
            <a:ext cx="3270504" cy="182880"/>
          </a:xfrm>
          <a:prstGeom prst="rect">
            <a:avLst/>
          </a:prstGeom>
          <a:noFill/>
          <a:ln/>
        </p:spPr>
        <p:txBody>
          <a:bodyPr wrap="square" lIns="0" tIns="0" rIns="0" bIns="0" rtlCol="0" anchor="ctr"/>
          <a:lstStyle/>
          <a:p>
            <a:pPr marL="0" indent="0">
              <a:buNone/>
            </a:pPr>
            <a:r>
              <a:rPr lang="en-US" sz="1050" b="1" dirty="0">
                <a:solidFill>
                  <a:srgbClr val="333333"/>
                </a:solidFill>
                <a:latin typeface="Montserrat" pitchFamily="34" charset="0"/>
                <a:ea typeface="Montserrat" pitchFamily="34" charset="-122"/>
                <a:cs typeface="Montserrat" pitchFamily="34" charset="-120"/>
              </a:rPr>
              <a:t>Agent endpoints</a:t>
            </a:r>
            <a:endParaRPr lang="en-US" sz="1050" dirty="0"/>
          </a:p>
        </p:txBody>
      </p:sp>
      <p:sp>
        <p:nvSpPr>
          <p:cNvPr id="18" name="Text 16"/>
          <p:cNvSpPr/>
          <p:nvPr/>
        </p:nvSpPr>
        <p:spPr>
          <a:xfrm>
            <a:off x="566928" y="3236976"/>
            <a:ext cx="3270504" cy="256032"/>
          </a:xfrm>
          <a:prstGeom prst="rect">
            <a:avLst/>
          </a:prstGeom>
          <a:noFill/>
          <a:ln/>
        </p:spPr>
        <p:txBody>
          <a:bodyPr wrap="square" lIns="0" tIns="0" rIns="0" bIns="0" rtlCol="0" anchor="t"/>
          <a:lstStyle/>
          <a:p>
            <a:pPr marL="0" indent="0">
              <a:lnSpc>
                <a:spcPct val="92000"/>
              </a:lnSpc>
              <a:buNone/>
            </a:pPr>
            <a:r>
              <a:rPr lang="en-US" sz="900" i="1" dirty="0">
                <a:solidFill>
                  <a:srgbClr val="7A7970"/>
                </a:solidFill>
                <a:latin typeface="Lora" pitchFamily="34" charset="0"/>
                <a:ea typeface="Lora" pitchFamily="34" charset="-122"/>
                <a:cs typeface="Lora" pitchFamily="34" charset="-120"/>
              </a:rPr>
              <a:t>TAILOR fit · PERSONA segment · MUSE reco</a:t>
            </a:r>
            <a:endParaRPr lang="en-US" sz="900" dirty="0"/>
          </a:p>
        </p:txBody>
      </p:sp>
      <p:sp>
        <p:nvSpPr>
          <p:cNvPr id="19" name="Shape 17"/>
          <p:cNvSpPr/>
          <p:nvPr/>
        </p:nvSpPr>
        <p:spPr>
          <a:xfrm>
            <a:off x="530352" y="3767328"/>
            <a:ext cx="3343656" cy="274320"/>
          </a:xfrm>
          <a:prstGeom prst="roundRect">
            <a:avLst>
              <a:gd name="adj" fmla="val 13333"/>
            </a:avLst>
          </a:prstGeom>
          <a:solidFill>
            <a:srgbClr val="F5F4F1"/>
          </a:solidFill>
          <a:ln/>
        </p:spPr>
        <p:txBody>
          <a:bodyPr/>
          <a:lstStyle/>
          <a:p>
            <a:endParaRPr lang="en-US" sz="2400"/>
          </a:p>
        </p:txBody>
      </p:sp>
      <p:sp>
        <p:nvSpPr>
          <p:cNvPr id="20" name="Text 18"/>
          <p:cNvSpPr/>
          <p:nvPr/>
        </p:nvSpPr>
        <p:spPr>
          <a:xfrm>
            <a:off x="640080" y="3767328"/>
            <a:ext cx="3124200" cy="274320"/>
          </a:xfrm>
          <a:prstGeom prst="rect">
            <a:avLst/>
          </a:prstGeom>
          <a:noFill/>
          <a:ln/>
        </p:spPr>
        <p:txBody>
          <a:bodyPr wrap="square" lIns="0" tIns="0" rIns="0" bIns="0" rtlCol="0" anchor="ctr"/>
          <a:lstStyle/>
          <a:p>
            <a:pPr marL="0" indent="0">
              <a:buNone/>
            </a:pPr>
            <a:r>
              <a:rPr lang="en-US" sz="1000" b="1" i="1" dirty="0">
                <a:solidFill>
                  <a:srgbClr val="E31837"/>
                </a:solidFill>
                <a:latin typeface="Montserrat" pitchFamily="34" charset="0"/>
                <a:ea typeface="Montserrat" pitchFamily="34" charset="-122"/>
                <a:cs typeface="Montserrat" pitchFamily="34" charset="-120"/>
              </a:rPr>
              <a:t>Lowest friction · land-and-expand</a:t>
            </a:r>
            <a:endParaRPr lang="en-US" sz="1000" dirty="0"/>
          </a:p>
        </p:txBody>
      </p:sp>
      <p:sp>
        <p:nvSpPr>
          <p:cNvPr id="21" name="Shape 19"/>
          <p:cNvSpPr/>
          <p:nvPr/>
        </p:nvSpPr>
        <p:spPr>
          <a:xfrm>
            <a:off x="4212336" y="1115568"/>
            <a:ext cx="3764280" cy="3108960"/>
          </a:xfrm>
          <a:prstGeom prst="roundRect">
            <a:avLst>
              <a:gd name="adj" fmla="val 2941"/>
            </a:avLst>
          </a:prstGeom>
          <a:solidFill>
            <a:srgbClr val="E31837"/>
          </a:solidFill>
          <a:ln/>
        </p:spPr>
        <p:txBody>
          <a:bodyPr/>
          <a:lstStyle/>
          <a:p>
            <a:endParaRPr lang="en-US" sz="2400"/>
          </a:p>
        </p:txBody>
      </p:sp>
      <p:sp>
        <p:nvSpPr>
          <p:cNvPr id="22" name="Text 20"/>
          <p:cNvSpPr/>
          <p:nvPr/>
        </p:nvSpPr>
        <p:spPr>
          <a:xfrm>
            <a:off x="4258056" y="1133856"/>
            <a:ext cx="3672840" cy="164592"/>
          </a:xfrm>
          <a:prstGeom prst="rect">
            <a:avLst/>
          </a:prstGeom>
          <a:noFill/>
          <a:ln/>
        </p:spPr>
        <p:txBody>
          <a:bodyPr wrap="square" lIns="0" tIns="0" rIns="0" bIns="0" rtlCol="0" anchor="ctr"/>
          <a:lstStyle/>
          <a:p>
            <a:pPr marL="0" indent="0" algn="ctr">
              <a:buNone/>
            </a:pPr>
            <a:r>
              <a:rPr lang="en-US" sz="900" b="1" kern="0" spc="100" dirty="0">
                <a:solidFill>
                  <a:srgbClr val="FDFDFD"/>
                </a:solidFill>
                <a:latin typeface="Montserrat" pitchFamily="34" charset="0"/>
                <a:ea typeface="Montserrat" pitchFamily="34" charset="-122"/>
                <a:cs typeface="Montserrat" pitchFamily="34" charset="-120"/>
              </a:rPr>
              <a:t>THE DIFFERENTIATOR</a:t>
            </a:r>
            <a:endParaRPr lang="en-US" sz="900" dirty="0"/>
          </a:p>
        </p:txBody>
      </p:sp>
      <p:sp>
        <p:nvSpPr>
          <p:cNvPr id="23" name="Shape 21"/>
          <p:cNvSpPr/>
          <p:nvPr/>
        </p:nvSpPr>
        <p:spPr>
          <a:xfrm>
            <a:off x="4258056" y="1353312"/>
            <a:ext cx="3672840" cy="2798064"/>
          </a:xfrm>
          <a:prstGeom prst="roundRect">
            <a:avLst>
              <a:gd name="adj" fmla="val 2614"/>
            </a:avLst>
          </a:prstGeom>
          <a:solidFill>
            <a:srgbClr val="FBE3E4"/>
          </a:solidFill>
          <a:ln w="12700">
            <a:solidFill>
              <a:srgbClr val="E31837"/>
            </a:solidFill>
            <a:prstDash val="solid"/>
          </a:ln>
          <a:effectLst>
            <a:outerShdw blurRad="50800" dist="15240" dir="5400000" algn="bl" rotWithShape="0">
              <a:srgbClr val="000000">
                <a:alpha val="10000"/>
              </a:srgbClr>
            </a:outerShdw>
          </a:effectLst>
        </p:spPr>
        <p:txBody>
          <a:bodyPr/>
          <a:lstStyle/>
          <a:p>
            <a:endParaRPr lang="en-US" sz="2400"/>
          </a:p>
        </p:txBody>
      </p:sp>
      <p:sp>
        <p:nvSpPr>
          <p:cNvPr id="24" name="Text 22"/>
          <p:cNvSpPr/>
          <p:nvPr/>
        </p:nvSpPr>
        <p:spPr>
          <a:xfrm>
            <a:off x="4459224" y="1499616"/>
            <a:ext cx="3270504" cy="182880"/>
          </a:xfrm>
          <a:prstGeom prst="rect">
            <a:avLst/>
          </a:prstGeom>
          <a:noFill/>
          <a:ln/>
        </p:spPr>
        <p:txBody>
          <a:bodyPr wrap="square" lIns="0" tIns="0" rIns="0" bIns="0" rtlCol="0" anchor="ctr"/>
          <a:lstStyle/>
          <a:p>
            <a:pPr marL="0" indent="0">
              <a:buNone/>
            </a:pPr>
            <a:r>
              <a:rPr lang="en-US" sz="1000" b="1" kern="0" spc="100" dirty="0">
                <a:solidFill>
                  <a:srgbClr val="E31837"/>
                </a:solidFill>
                <a:latin typeface="Montserrat" pitchFamily="34" charset="0"/>
                <a:ea typeface="Montserrat" pitchFamily="34" charset="-122"/>
                <a:cs typeface="Montserrat" pitchFamily="34" charset="-120"/>
              </a:rPr>
              <a:t>OUTCOME-BASED</a:t>
            </a:r>
            <a:endParaRPr lang="en-US" sz="1000" dirty="0"/>
          </a:p>
        </p:txBody>
      </p:sp>
      <p:sp>
        <p:nvSpPr>
          <p:cNvPr id="25" name="Text 23"/>
          <p:cNvSpPr/>
          <p:nvPr/>
        </p:nvSpPr>
        <p:spPr>
          <a:xfrm>
            <a:off x="4459224" y="1682496"/>
            <a:ext cx="3270504" cy="310896"/>
          </a:xfrm>
          <a:prstGeom prst="rect">
            <a:avLst/>
          </a:prstGeom>
          <a:noFill/>
          <a:ln/>
        </p:spPr>
        <p:txBody>
          <a:bodyPr wrap="square" lIns="0" tIns="0" rIns="0" bIns="0" rtlCol="0" anchor="ctr"/>
          <a:lstStyle/>
          <a:p>
            <a:pPr marL="0" indent="0">
              <a:buNone/>
            </a:pPr>
            <a:r>
              <a:rPr lang="en-US" sz="2000" b="1" dirty="0">
                <a:solidFill>
                  <a:srgbClr val="333333"/>
                </a:solidFill>
                <a:latin typeface="Montserrat" pitchFamily="34" charset="0"/>
                <a:ea typeface="Montserrat" pitchFamily="34" charset="-122"/>
                <a:cs typeface="Montserrat" pitchFamily="34" charset="-120"/>
              </a:rPr>
              <a:t>Value-share</a:t>
            </a:r>
            <a:endParaRPr lang="en-US" sz="2000" dirty="0"/>
          </a:p>
        </p:txBody>
      </p:sp>
      <p:sp>
        <p:nvSpPr>
          <p:cNvPr id="26" name="Shape 24"/>
          <p:cNvSpPr/>
          <p:nvPr/>
        </p:nvSpPr>
        <p:spPr>
          <a:xfrm>
            <a:off x="4459224" y="2066544"/>
            <a:ext cx="3270504" cy="0"/>
          </a:xfrm>
          <a:prstGeom prst="line">
            <a:avLst/>
          </a:prstGeom>
          <a:noFill/>
          <a:ln w="9525">
            <a:solidFill>
              <a:srgbClr val="E2E0D9"/>
            </a:solidFill>
            <a:prstDash val="solid"/>
          </a:ln>
        </p:spPr>
        <p:txBody>
          <a:bodyPr/>
          <a:lstStyle/>
          <a:p>
            <a:endParaRPr lang="en-US" sz="2400"/>
          </a:p>
        </p:txBody>
      </p:sp>
      <p:sp>
        <p:nvSpPr>
          <p:cNvPr id="27" name="Text 25"/>
          <p:cNvSpPr/>
          <p:nvPr/>
        </p:nvSpPr>
        <p:spPr>
          <a:xfrm>
            <a:off x="4459224" y="2176272"/>
            <a:ext cx="3270504" cy="182880"/>
          </a:xfrm>
          <a:prstGeom prst="rect">
            <a:avLst/>
          </a:prstGeom>
          <a:noFill/>
          <a:ln/>
        </p:spPr>
        <p:txBody>
          <a:bodyPr wrap="square" lIns="0" tIns="0" rIns="0" bIns="0" rtlCol="0" anchor="ctr"/>
          <a:lstStyle/>
          <a:p>
            <a:pPr marL="0" indent="0">
              <a:buNone/>
            </a:pPr>
            <a:r>
              <a:rPr lang="en-US" sz="1050" b="1" dirty="0">
                <a:solidFill>
                  <a:srgbClr val="333333"/>
                </a:solidFill>
                <a:latin typeface="Montserrat" pitchFamily="34" charset="0"/>
                <a:ea typeface="Montserrat" pitchFamily="34" charset="-122"/>
                <a:cs typeface="Montserrat" pitchFamily="34" charset="-120"/>
              </a:rPr>
              <a:t>We share the saving</a:t>
            </a:r>
            <a:endParaRPr lang="en-US" sz="1050" dirty="0"/>
          </a:p>
        </p:txBody>
      </p:sp>
      <p:sp>
        <p:nvSpPr>
          <p:cNvPr id="28" name="Text 26"/>
          <p:cNvSpPr/>
          <p:nvPr/>
        </p:nvSpPr>
        <p:spPr>
          <a:xfrm>
            <a:off x="4459224" y="2340864"/>
            <a:ext cx="3270504" cy="256032"/>
          </a:xfrm>
          <a:prstGeom prst="rect">
            <a:avLst/>
          </a:prstGeom>
          <a:noFill/>
          <a:ln/>
        </p:spPr>
        <p:txBody>
          <a:bodyPr wrap="square" lIns="0" tIns="0" rIns="0" bIns="0" rtlCol="0" anchor="t"/>
          <a:lstStyle/>
          <a:p>
            <a:pPr marL="0" indent="0">
              <a:lnSpc>
                <a:spcPct val="92000"/>
              </a:lnSpc>
              <a:buNone/>
            </a:pPr>
            <a:r>
              <a:rPr lang="en-US" sz="900" i="1" dirty="0">
                <a:solidFill>
                  <a:srgbClr val="7A7970"/>
                </a:solidFill>
                <a:latin typeface="Lora" pitchFamily="34" charset="0"/>
                <a:ea typeface="Lora" pitchFamily="34" charset="-122"/>
                <a:cs typeface="Lora" pitchFamily="34" charset="-120"/>
              </a:rPr>
              <a:t>% of the returns value TAILOR removes</a:t>
            </a:r>
            <a:endParaRPr lang="en-US" sz="900" dirty="0"/>
          </a:p>
        </p:txBody>
      </p:sp>
      <p:sp>
        <p:nvSpPr>
          <p:cNvPr id="29" name="Text 27"/>
          <p:cNvSpPr/>
          <p:nvPr/>
        </p:nvSpPr>
        <p:spPr>
          <a:xfrm>
            <a:off x="4459224" y="2688336"/>
            <a:ext cx="3270504" cy="182880"/>
          </a:xfrm>
          <a:prstGeom prst="rect">
            <a:avLst/>
          </a:prstGeom>
          <a:noFill/>
          <a:ln/>
        </p:spPr>
        <p:txBody>
          <a:bodyPr wrap="square" lIns="0" tIns="0" rIns="0" bIns="0" rtlCol="0" anchor="ctr"/>
          <a:lstStyle/>
          <a:p>
            <a:pPr marL="0" indent="0">
              <a:buNone/>
            </a:pPr>
            <a:r>
              <a:rPr lang="en-US" sz="1050" b="1" dirty="0">
                <a:solidFill>
                  <a:srgbClr val="333333"/>
                </a:solidFill>
                <a:latin typeface="Montserrat" pitchFamily="34" charset="0"/>
                <a:ea typeface="Montserrat" pitchFamily="34" charset="-122"/>
                <a:cs typeface="Montserrat" pitchFamily="34" charset="-120"/>
              </a:rPr>
              <a:t>Aligned incentive</a:t>
            </a:r>
            <a:endParaRPr lang="en-US" sz="1050" dirty="0"/>
          </a:p>
        </p:txBody>
      </p:sp>
      <p:sp>
        <p:nvSpPr>
          <p:cNvPr id="30" name="Text 28"/>
          <p:cNvSpPr/>
          <p:nvPr/>
        </p:nvSpPr>
        <p:spPr>
          <a:xfrm>
            <a:off x="4459224" y="2852928"/>
            <a:ext cx="3270504" cy="256032"/>
          </a:xfrm>
          <a:prstGeom prst="rect">
            <a:avLst/>
          </a:prstGeom>
          <a:noFill/>
          <a:ln/>
        </p:spPr>
        <p:txBody>
          <a:bodyPr wrap="square" lIns="0" tIns="0" rIns="0" bIns="0" rtlCol="0" anchor="t"/>
          <a:lstStyle/>
          <a:p>
            <a:pPr marL="0" indent="0">
              <a:lnSpc>
                <a:spcPct val="92000"/>
              </a:lnSpc>
              <a:buNone/>
            </a:pPr>
            <a:r>
              <a:rPr lang="en-US" sz="900" i="1" dirty="0">
                <a:solidFill>
                  <a:srgbClr val="7A7970"/>
                </a:solidFill>
                <a:latin typeface="Lora" pitchFamily="34" charset="0"/>
                <a:ea typeface="Lora" pitchFamily="34" charset="-122"/>
                <a:cs typeface="Lora" pitchFamily="34" charset="-120"/>
              </a:rPr>
              <a:t>we only win when the client wins</a:t>
            </a:r>
            <a:endParaRPr lang="en-US" sz="900" dirty="0"/>
          </a:p>
        </p:txBody>
      </p:sp>
      <p:sp>
        <p:nvSpPr>
          <p:cNvPr id="31" name="Text 29"/>
          <p:cNvSpPr/>
          <p:nvPr/>
        </p:nvSpPr>
        <p:spPr>
          <a:xfrm>
            <a:off x="4459224" y="3200400"/>
            <a:ext cx="3270504" cy="182880"/>
          </a:xfrm>
          <a:prstGeom prst="rect">
            <a:avLst/>
          </a:prstGeom>
          <a:noFill/>
          <a:ln/>
        </p:spPr>
        <p:txBody>
          <a:bodyPr wrap="square" lIns="0" tIns="0" rIns="0" bIns="0" rtlCol="0" anchor="ctr"/>
          <a:lstStyle/>
          <a:p>
            <a:pPr marL="0" indent="0">
              <a:buNone/>
            </a:pPr>
            <a:r>
              <a:rPr lang="en-US" sz="1050" b="1" dirty="0">
                <a:solidFill>
                  <a:srgbClr val="333333"/>
                </a:solidFill>
                <a:latin typeface="Montserrat" pitchFamily="34" charset="0"/>
                <a:ea typeface="Montserrat" pitchFamily="34" charset="-122"/>
                <a:cs typeface="Montserrat" pitchFamily="34" charset="-120"/>
              </a:rPr>
              <a:t>Our moat</a:t>
            </a:r>
            <a:endParaRPr lang="en-US" sz="1050" dirty="0"/>
          </a:p>
        </p:txBody>
      </p:sp>
      <p:sp>
        <p:nvSpPr>
          <p:cNvPr id="32" name="Text 30"/>
          <p:cNvSpPr/>
          <p:nvPr/>
        </p:nvSpPr>
        <p:spPr>
          <a:xfrm>
            <a:off x="4459224" y="3364992"/>
            <a:ext cx="3270504" cy="256032"/>
          </a:xfrm>
          <a:prstGeom prst="rect">
            <a:avLst/>
          </a:prstGeom>
          <a:noFill/>
          <a:ln/>
        </p:spPr>
        <p:txBody>
          <a:bodyPr wrap="square" lIns="0" tIns="0" rIns="0" bIns="0" rtlCol="0" anchor="t"/>
          <a:lstStyle/>
          <a:p>
            <a:pPr marL="0" indent="0">
              <a:lnSpc>
                <a:spcPct val="92000"/>
              </a:lnSpc>
              <a:buNone/>
            </a:pPr>
            <a:r>
              <a:rPr lang="en-US" sz="900" i="1" dirty="0">
                <a:solidFill>
                  <a:srgbClr val="7A7970"/>
                </a:solidFill>
                <a:latin typeface="Lora" pitchFamily="34" charset="0"/>
                <a:ea typeface="Lora" pitchFamily="34" charset="-122"/>
                <a:cs typeface="Lora" pitchFamily="34" charset="-120"/>
              </a:rPr>
              <a:t>only we have the GRADE→TAILOR loop</a:t>
            </a:r>
            <a:endParaRPr lang="en-US" sz="900" dirty="0"/>
          </a:p>
        </p:txBody>
      </p:sp>
      <p:sp>
        <p:nvSpPr>
          <p:cNvPr id="33" name="Shape 31"/>
          <p:cNvSpPr/>
          <p:nvPr/>
        </p:nvSpPr>
        <p:spPr>
          <a:xfrm>
            <a:off x="4422648" y="3767328"/>
            <a:ext cx="3343656" cy="274320"/>
          </a:xfrm>
          <a:prstGeom prst="roundRect">
            <a:avLst>
              <a:gd name="adj" fmla="val 13333"/>
            </a:avLst>
          </a:prstGeom>
          <a:solidFill>
            <a:srgbClr val="F5F4F1"/>
          </a:solidFill>
          <a:ln/>
        </p:spPr>
        <p:txBody>
          <a:bodyPr/>
          <a:lstStyle/>
          <a:p>
            <a:endParaRPr lang="en-US" sz="2400"/>
          </a:p>
        </p:txBody>
      </p:sp>
      <p:sp>
        <p:nvSpPr>
          <p:cNvPr id="34" name="Text 32"/>
          <p:cNvSpPr/>
          <p:nvPr/>
        </p:nvSpPr>
        <p:spPr>
          <a:xfrm>
            <a:off x="4532376" y="3767328"/>
            <a:ext cx="3124200" cy="274320"/>
          </a:xfrm>
          <a:prstGeom prst="rect">
            <a:avLst/>
          </a:prstGeom>
          <a:noFill/>
          <a:ln/>
        </p:spPr>
        <p:txBody>
          <a:bodyPr wrap="square" lIns="0" tIns="0" rIns="0" bIns="0" rtlCol="0" anchor="ctr"/>
          <a:lstStyle/>
          <a:p>
            <a:pPr marL="0" indent="0">
              <a:buNone/>
            </a:pPr>
            <a:r>
              <a:rPr lang="en-US" sz="1000" b="1" i="1" dirty="0">
                <a:solidFill>
                  <a:srgbClr val="E31837"/>
                </a:solidFill>
                <a:latin typeface="Montserrat" pitchFamily="34" charset="0"/>
                <a:ea typeface="Montserrat" pitchFamily="34" charset="-122"/>
                <a:cs typeface="Montserrat" pitchFamily="34" charset="-120"/>
              </a:rPr>
              <a:t>The pitch no software vendor can match</a:t>
            </a:r>
            <a:endParaRPr lang="en-US" sz="1000" dirty="0"/>
          </a:p>
        </p:txBody>
      </p:sp>
      <p:sp>
        <p:nvSpPr>
          <p:cNvPr id="35" name="Shape 33"/>
          <p:cNvSpPr/>
          <p:nvPr/>
        </p:nvSpPr>
        <p:spPr>
          <a:xfrm>
            <a:off x="8150352" y="1225296"/>
            <a:ext cx="3672840" cy="2926080"/>
          </a:xfrm>
          <a:prstGeom prst="roundRect">
            <a:avLst>
              <a:gd name="adj" fmla="val 2500"/>
            </a:avLst>
          </a:prstGeom>
          <a:solidFill>
            <a:srgbClr val="22262A"/>
          </a:solidFill>
          <a:ln/>
          <a:effectLst>
            <a:outerShdw blurRad="50800" dist="15240" dir="5400000" algn="bl" rotWithShape="0">
              <a:srgbClr val="000000">
                <a:alpha val="10000"/>
              </a:srgbClr>
            </a:outerShdw>
          </a:effectLst>
        </p:spPr>
        <p:txBody>
          <a:bodyPr/>
          <a:lstStyle/>
          <a:p>
            <a:endParaRPr lang="en-US" sz="2400"/>
          </a:p>
        </p:txBody>
      </p:sp>
      <p:sp>
        <p:nvSpPr>
          <p:cNvPr id="36" name="Text 34"/>
          <p:cNvSpPr/>
          <p:nvPr/>
        </p:nvSpPr>
        <p:spPr>
          <a:xfrm>
            <a:off x="8351520" y="1371600"/>
            <a:ext cx="3270504" cy="182880"/>
          </a:xfrm>
          <a:prstGeom prst="rect">
            <a:avLst/>
          </a:prstGeom>
          <a:noFill/>
          <a:ln/>
        </p:spPr>
        <p:txBody>
          <a:bodyPr wrap="square" lIns="0" tIns="0" rIns="0" bIns="0" rtlCol="0" anchor="ctr"/>
          <a:lstStyle/>
          <a:p>
            <a:pPr marL="0" indent="0">
              <a:buNone/>
            </a:pPr>
            <a:r>
              <a:rPr lang="en-US" sz="1000" b="1" kern="0" spc="100" dirty="0">
                <a:solidFill>
                  <a:srgbClr val="FF4D4D"/>
                </a:solidFill>
                <a:latin typeface="Montserrat" pitchFamily="34" charset="0"/>
                <a:ea typeface="Montserrat" pitchFamily="34" charset="-122"/>
                <a:cs typeface="Montserrat" pitchFamily="34" charset="-120"/>
              </a:rPr>
              <a:t>WHITE-LABEL</a:t>
            </a:r>
            <a:endParaRPr lang="en-US" sz="1000" dirty="0"/>
          </a:p>
        </p:txBody>
      </p:sp>
      <p:sp>
        <p:nvSpPr>
          <p:cNvPr id="37" name="Text 35"/>
          <p:cNvSpPr/>
          <p:nvPr/>
        </p:nvSpPr>
        <p:spPr>
          <a:xfrm>
            <a:off x="8351520" y="1554480"/>
            <a:ext cx="3270504" cy="310896"/>
          </a:xfrm>
          <a:prstGeom prst="rect">
            <a:avLst/>
          </a:prstGeom>
          <a:noFill/>
          <a:ln/>
        </p:spPr>
        <p:txBody>
          <a:bodyPr wrap="square" lIns="0" tIns="0" rIns="0" bIns="0" rtlCol="0" anchor="ctr"/>
          <a:lstStyle/>
          <a:p>
            <a:pPr marL="0" indent="0">
              <a:buNone/>
            </a:pPr>
            <a:r>
              <a:rPr lang="en-US" sz="2000" b="1" dirty="0">
                <a:solidFill>
                  <a:srgbClr val="FDFDFD"/>
                </a:solidFill>
                <a:latin typeface="Montserrat" pitchFamily="34" charset="0"/>
                <a:ea typeface="Montserrat" pitchFamily="34" charset="-122"/>
                <a:cs typeface="Montserrat" pitchFamily="34" charset="-120"/>
              </a:rPr>
              <a:t>Licence + run</a:t>
            </a:r>
            <a:endParaRPr lang="en-US" sz="2000" dirty="0"/>
          </a:p>
        </p:txBody>
      </p:sp>
      <p:sp>
        <p:nvSpPr>
          <p:cNvPr id="38" name="Shape 36"/>
          <p:cNvSpPr/>
          <p:nvPr/>
        </p:nvSpPr>
        <p:spPr>
          <a:xfrm>
            <a:off x="8351520" y="1938528"/>
            <a:ext cx="3270504" cy="0"/>
          </a:xfrm>
          <a:prstGeom prst="line">
            <a:avLst/>
          </a:prstGeom>
          <a:noFill/>
          <a:ln w="9525">
            <a:solidFill>
              <a:srgbClr val="333A40"/>
            </a:solidFill>
            <a:prstDash val="solid"/>
          </a:ln>
        </p:spPr>
        <p:txBody>
          <a:bodyPr/>
          <a:lstStyle/>
          <a:p>
            <a:endParaRPr lang="en-US" sz="2400"/>
          </a:p>
        </p:txBody>
      </p:sp>
      <p:sp>
        <p:nvSpPr>
          <p:cNvPr id="39" name="Text 37"/>
          <p:cNvSpPr/>
          <p:nvPr/>
        </p:nvSpPr>
        <p:spPr>
          <a:xfrm>
            <a:off x="8351520" y="2048256"/>
            <a:ext cx="3270504" cy="182880"/>
          </a:xfrm>
          <a:prstGeom prst="rect">
            <a:avLst/>
          </a:prstGeom>
          <a:noFill/>
          <a:ln/>
        </p:spPr>
        <p:txBody>
          <a:bodyPr wrap="square" lIns="0" tIns="0" rIns="0" bIns="0" rtlCol="0" anchor="ctr"/>
          <a:lstStyle/>
          <a:p>
            <a:pPr marL="0" indent="0">
              <a:buNone/>
            </a:pPr>
            <a:r>
              <a:rPr lang="en-US" sz="1050" b="1" dirty="0">
                <a:solidFill>
                  <a:srgbClr val="FDFDFD"/>
                </a:solidFill>
                <a:latin typeface="Montserrat" pitchFamily="34" charset="0"/>
                <a:ea typeface="Montserrat" pitchFamily="34" charset="-122"/>
                <a:cs typeface="Montserrat" pitchFamily="34" charset="-120"/>
              </a:rPr>
              <a:t>Platform licence</a:t>
            </a:r>
            <a:endParaRPr lang="en-US" sz="1050" dirty="0"/>
          </a:p>
        </p:txBody>
      </p:sp>
      <p:sp>
        <p:nvSpPr>
          <p:cNvPr id="40" name="Text 38"/>
          <p:cNvSpPr/>
          <p:nvPr/>
        </p:nvSpPr>
        <p:spPr>
          <a:xfrm>
            <a:off x="8351520" y="2212848"/>
            <a:ext cx="3270504" cy="256032"/>
          </a:xfrm>
          <a:prstGeom prst="rect">
            <a:avLst/>
          </a:prstGeom>
          <a:noFill/>
          <a:ln/>
        </p:spPr>
        <p:txBody>
          <a:bodyPr wrap="square" lIns="0" tIns="0" rIns="0" bIns="0" rtlCol="0" anchor="t"/>
          <a:lstStyle/>
          <a:p>
            <a:pPr marL="0" indent="0">
              <a:lnSpc>
                <a:spcPct val="92000"/>
              </a:lnSpc>
              <a:buNone/>
            </a:pPr>
            <a:r>
              <a:rPr lang="en-US" sz="900" i="1" dirty="0">
                <a:solidFill>
                  <a:srgbClr val="C9C9C7"/>
                </a:solidFill>
                <a:latin typeface="Lora" pitchFamily="34" charset="0"/>
                <a:ea typeface="Lora" pitchFamily="34" charset="-122"/>
                <a:cs typeface="Lora" pitchFamily="34" charset="-120"/>
              </a:rPr>
              <a:t>annual + revenue-share</a:t>
            </a:r>
            <a:endParaRPr lang="en-US" sz="900" dirty="0"/>
          </a:p>
        </p:txBody>
      </p:sp>
      <p:sp>
        <p:nvSpPr>
          <p:cNvPr id="41" name="Text 39"/>
          <p:cNvSpPr/>
          <p:nvPr/>
        </p:nvSpPr>
        <p:spPr>
          <a:xfrm>
            <a:off x="8351520" y="2560320"/>
            <a:ext cx="3270504" cy="182880"/>
          </a:xfrm>
          <a:prstGeom prst="rect">
            <a:avLst/>
          </a:prstGeom>
          <a:noFill/>
          <a:ln/>
        </p:spPr>
        <p:txBody>
          <a:bodyPr wrap="square" lIns="0" tIns="0" rIns="0" bIns="0" rtlCol="0" anchor="ctr"/>
          <a:lstStyle/>
          <a:p>
            <a:pPr marL="0" indent="0">
              <a:buNone/>
            </a:pPr>
            <a:r>
              <a:rPr lang="en-US" sz="1050" b="1" dirty="0">
                <a:solidFill>
                  <a:srgbClr val="FDFDFD"/>
                </a:solidFill>
                <a:latin typeface="Montserrat" pitchFamily="34" charset="0"/>
                <a:ea typeface="Montserrat" pitchFamily="34" charset="-122"/>
                <a:cs typeface="Montserrat" pitchFamily="34" charset="-120"/>
              </a:rPr>
              <a:t>Fully run for them</a:t>
            </a:r>
            <a:endParaRPr lang="en-US" sz="1050" dirty="0"/>
          </a:p>
        </p:txBody>
      </p:sp>
      <p:sp>
        <p:nvSpPr>
          <p:cNvPr id="42" name="Text 40"/>
          <p:cNvSpPr/>
          <p:nvPr/>
        </p:nvSpPr>
        <p:spPr>
          <a:xfrm>
            <a:off x="8351520" y="2724912"/>
            <a:ext cx="3270504" cy="256032"/>
          </a:xfrm>
          <a:prstGeom prst="rect">
            <a:avLst/>
          </a:prstGeom>
          <a:noFill/>
          <a:ln/>
        </p:spPr>
        <p:txBody>
          <a:bodyPr wrap="square" lIns="0" tIns="0" rIns="0" bIns="0" rtlCol="0" anchor="t"/>
          <a:lstStyle/>
          <a:p>
            <a:pPr marL="0" indent="0">
              <a:lnSpc>
                <a:spcPct val="92000"/>
              </a:lnSpc>
              <a:buNone/>
            </a:pPr>
            <a:r>
              <a:rPr lang="en-US" sz="900" i="1" dirty="0">
                <a:solidFill>
                  <a:srgbClr val="C9C9C7"/>
                </a:solidFill>
                <a:latin typeface="Lora" pitchFamily="34" charset="0"/>
                <a:ea typeface="Lora" pitchFamily="34" charset="-122"/>
                <a:cs typeface="Lora" pitchFamily="34" charset="-120"/>
              </a:rPr>
              <a:t>their brand, catalogue, stores &amp; data</a:t>
            </a:r>
            <a:endParaRPr lang="en-US" sz="900" dirty="0"/>
          </a:p>
        </p:txBody>
      </p:sp>
      <p:sp>
        <p:nvSpPr>
          <p:cNvPr id="43" name="Text 41"/>
          <p:cNvSpPr/>
          <p:nvPr/>
        </p:nvSpPr>
        <p:spPr>
          <a:xfrm>
            <a:off x="8351520" y="3072384"/>
            <a:ext cx="3270504" cy="182880"/>
          </a:xfrm>
          <a:prstGeom prst="rect">
            <a:avLst/>
          </a:prstGeom>
          <a:noFill/>
          <a:ln/>
        </p:spPr>
        <p:txBody>
          <a:bodyPr wrap="square" lIns="0" tIns="0" rIns="0" bIns="0" rtlCol="0" anchor="ctr"/>
          <a:lstStyle/>
          <a:p>
            <a:pPr marL="0" indent="0">
              <a:buNone/>
            </a:pPr>
            <a:r>
              <a:rPr lang="en-US" sz="1050" b="1" dirty="0">
                <a:solidFill>
                  <a:srgbClr val="FDFDFD"/>
                </a:solidFill>
                <a:latin typeface="Montserrat" pitchFamily="34" charset="0"/>
                <a:ea typeface="Montserrat" pitchFamily="34" charset="-122"/>
                <a:cs typeface="Montserrat" pitchFamily="34" charset="-120"/>
              </a:rPr>
              <a:t>The whole estate</a:t>
            </a:r>
            <a:endParaRPr lang="en-US" sz="1050" dirty="0"/>
          </a:p>
        </p:txBody>
      </p:sp>
      <p:sp>
        <p:nvSpPr>
          <p:cNvPr id="44" name="Text 42"/>
          <p:cNvSpPr/>
          <p:nvPr/>
        </p:nvSpPr>
        <p:spPr>
          <a:xfrm>
            <a:off x="8351520" y="3236976"/>
            <a:ext cx="3270504" cy="256032"/>
          </a:xfrm>
          <a:prstGeom prst="rect">
            <a:avLst/>
          </a:prstGeom>
          <a:noFill/>
          <a:ln/>
        </p:spPr>
        <p:txBody>
          <a:bodyPr wrap="square" lIns="0" tIns="0" rIns="0" bIns="0" rtlCol="0" anchor="t"/>
          <a:lstStyle/>
          <a:p>
            <a:pPr marL="0" indent="0">
              <a:lnSpc>
                <a:spcPct val="92000"/>
              </a:lnSpc>
              <a:buNone/>
            </a:pPr>
            <a:r>
              <a:rPr lang="en-US" sz="900" i="1" dirty="0">
                <a:solidFill>
                  <a:srgbClr val="C9C9C7"/>
                </a:solidFill>
                <a:latin typeface="Lora" pitchFamily="34" charset="0"/>
                <a:ea typeface="Lora" pitchFamily="34" charset="-122"/>
                <a:cs typeface="Lora" pitchFamily="34" charset="-120"/>
              </a:rPr>
              <a:t>all 17 agents, our runtime &amp; guardrails</a:t>
            </a:r>
            <a:endParaRPr lang="en-US" sz="900" dirty="0"/>
          </a:p>
        </p:txBody>
      </p:sp>
      <p:sp>
        <p:nvSpPr>
          <p:cNvPr id="45" name="Shape 43"/>
          <p:cNvSpPr/>
          <p:nvPr/>
        </p:nvSpPr>
        <p:spPr>
          <a:xfrm>
            <a:off x="8314944" y="3767328"/>
            <a:ext cx="3343656" cy="274320"/>
          </a:xfrm>
          <a:prstGeom prst="roundRect">
            <a:avLst>
              <a:gd name="adj" fmla="val 13333"/>
            </a:avLst>
          </a:prstGeom>
          <a:solidFill>
            <a:srgbClr val="333A40"/>
          </a:solidFill>
          <a:ln/>
        </p:spPr>
        <p:txBody>
          <a:bodyPr/>
          <a:lstStyle/>
          <a:p>
            <a:endParaRPr lang="en-US" sz="2400"/>
          </a:p>
        </p:txBody>
      </p:sp>
      <p:sp>
        <p:nvSpPr>
          <p:cNvPr id="46" name="Text 44"/>
          <p:cNvSpPr/>
          <p:nvPr/>
        </p:nvSpPr>
        <p:spPr>
          <a:xfrm>
            <a:off x="8424672" y="3767328"/>
            <a:ext cx="3124200" cy="274320"/>
          </a:xfrm>
          <a:prstGeom prst="rect">
            <a:avLst/>
          </a:prstGeom>
          <a:noFill/>
          <a:ln/>
        </p:spPr>
        <p:txBody>
          <a:bodyPr wrap="square" lIns="0" tIns="0" rIns="0" bIns="0" rtlCol="0" anchor="ctr"/>
          <a:lstStyle/>
          <a:p>
            <a:pPr marL="0" indent="0">
              <a:buNone/>
            </a:pPr>
            <a:r>
              <a:rPr lang="en-US" sz="1000" b="1" i="1" dirty="0">
                <a:solidFill>
                  <a:srgbClr val="FF4D4D"/>
                </a:solidFill>
                <a:latin typeface="Montserrat" pitchFamily="34" charset="0"/>
                <a:ea typeface="Montserrat" pitchFamily="34" charset="-122"/>
                <a:cs typeface="Montserrat" pitchFamily="34" charset="-120"/>
              </a:rPr>
              <a:t>Highest value · highest touch</a:t>
            </a:r>
            <a:endParaRPr lang="en-US" sz="1000" dirty="0"/>
          </a:p>
        </p:txBody>
      </p:sp>
      <p:sp>
        <p:nvSpPr>
          <p:cNvPr id="47" name="Shape 45"/>
          <p:cNvSpPr/>
          <p:nvPr/>
        </p:nvSpPr>
        <p:spPr>
          <a:xfrm>
            <a:off x="365760" y="4370832"/>
            <a:ext cx="11457432" cy="969264"/>
          </a:xfrm>
          <a:prstGeom prst="roundRect">
            <a:avLst>
              <a:gd name="adj" fmla="val 6604"/>
            </a:avLst>
          </a:prstGeom>
          <a:solidFill>
            <a:srgbClr val="F5F4F1"/>
          </a:solidFill>
          <a:ln/>
        </p:spPr>
        <p:txBody>
          <a:bodyPr/>
          <a:lstStyle/>
          <a:p>
            <a:endParaRPr lang="en-US"/>
          </a:p>
        </p:txBody>
      </p:sp>
      <p:sp>
        <p:nvSpPr>
          <p:cNvPr id="48" name="Text 46"/>
          <p:cNvSpPr/>
          <p:nvPr/>
        </p:nvSpPr>
        <p:spPr>
          <a:xfrm>
            <a:off x="548640" y="4480560"/>
            <a:ext cx="7315200" cy="219456"/>
          </a:xfrm>
          <a:prstGeom prst="rect">
            <a:avLst/>
          </a:prstGeom>
          <a:noFill/>
          <a:ln/>
        </p:spPr>
        <p:txBody>
          <a:bodyPr wrap="square" lIns="0" tIns="0" rIns="0" bIns="0" rtlCol="0" anchor="ctr"/>
          <a:lstStyle/>
          <a:p>
            <a:pPr marL="0" indent="0">
              <a:buNone/>
            </a:pPr>
            <a:r>
              <a:rPr lang="en-US" sz="1200" b="1" dirty="0">
                <a:solidFill>
                  <a:srgbClr val="333333"/>
                </a:solidFill>
                <a:latin typeface="Montserrat" pitchFamily="34" charset="0"/>
                <a:ea typeface="Montserrat" pitchFamily="34" charset="-122"/>
                <a:cs typeface="Montserrat" pitchFamily="34" charset="-120"/>
              </a:rPr>
              <a:t>The land-and-expand ladder</a:t>
            </a:r>
            <a:endParaRPr lang="en-US" sz="1200" dirty="0"/>
          </a:p>
        </p:txBody>
      </p:sp>
      <p:sp>
        <p:nvSpPr>
          <p:cNvPr id="49" name="Shape 47"/>
          <p:cNvSpPr/>
          <p:nvPr/>
        </p:nvSpPr>
        <p:spPr>
          <a:xfrm>
            <a:off x="548640" y="4809744"/>
            <a:ext cx="256032" cy="256032"/>
          </a:xfrm>
          <a:prstGeom prst="ellipse">
            <a:avLst/>
          </a:prstGeom>
          <a:solidFill>
            <a:srgbClr val="E31837"/>
          </a:solidFill>
          <a:ln/>
        </p:spPr>
        <p:txBody>
          <a:bodyPr/>
          <a:lstStyle/>
          <a:p>
            <a:endParaRPr lang="en-US" sz="2000"/>
          </a:p>
        </p:txBody>
      </p:sp>
      <p:sp>
        <p:nvSpPr>
          <p:cNvPr id="50" name="Text 48"/>
          <p:cNvSpPr/>
          <p:nvPr/>
        </p:nvSpPr>
        <p:spPr>
          <a:xfrm>
            <a:off x="548640" y="4809744"/>
            <a:ext cx="256032" cy="256032"/>
          </a:xfrm>
          <a:prstGeom prst="rect">
            <a:avLst/>
          </a:prstGeom>
          <a:noFill/>
          <a:ln/>
        </p:spPr>
        <p:txBody>
          <a:bodyPr wrap="square" lIns="0" tIns="0" rIns="0" bIns="0" rtlCol="0" anchor="ctr"/>
          <a:lstStyle/>
          <a:p>
            <a:pPr marL="0" indent="0" algn="ctr">
              <a:buNone/>
            </a:pPr>
            <a:r>
              <a:rPr lang="en-US" sz="1200" b="1" dirty="0">
                <a:solidFill>
                  <a:srgbClr val="FDFDFD"/>
                </a:solidFill>
                <a:latin typeface="Montserrat" pitchFamily="34" charset="0"/>
                <a:ea typeface="Montserrat" pitchFamily="34" charset="-122"/>
                <a:cs typeface="Montserrat" pitchFamily="34" charset="-120"/>
              </a:rPr>
              <a:t>1</a:t>
            </a:r>
            <a:endParaRPr lang="en-US" sz="1200" dirty="0"/>
          </a:p>
        </p:txBody>
      </p:sp>
      <p:sp>
        <p:nvSpPr>
          <p:cNvPr id="51" name="Text 49"/>
          <p:cNvSpPr/>
          <p:nvPr/>
        </p:nvSpPr>
        <p:spPr>
          <a:xfrm>
            <a:off x="877824" y="4754880"/>
            <a:ext cx="2306574" cy="201168"/>
          </a:xfrm>
          <a:prstGeom prst="rect">
            <a:avLst/>
          </a:prstGeom>
          <a:noFill/>
          <a:ln/>
        </p:spPr>
        <p:txBody>
          <a:bodyPr wrap="square" lIns="0" tIns="0" rIns="0" bIns="0" rtlCol="0" anchor="ctr"/>
          <a:lstStyle/>
          <a:p>
            <a:pPr marL="0" indent="0">
              <a:buNone/>
            </a:pPr>
            <a:r>
              <a:rPr lang="en-US" sz="1000" b="1" dirty="0">
                <a:solidFill>
                  <a:srgbClr val="333333"/>
                </a:solidFill>
                <a:latin typeface="Montserrat" pitchFamily="34" charset="0"/>
                <a:ea typeface="Montserrat" pitchFamily="34" charset="-122"/>
                <a:cs typeface="Montserrat" pitchFamily="34" charset="-120"/>
              </a:rPr>
              <a:t>Try one API</a:t>
            </a:r>
            <a:endParaRPr lang="en-US" sz="1000" dirty="0"/>
          </a:p>
        </p:txBody>
      </p:sp>
      <p:sp>
        <p:nvSpPr>
          <p:cNvPr id="52" name="Text 50"/>
          <p:cNvSpPr/>
          <p:nvPr/>
        </p:nvSpPr>
        <p:spPr>
          <a:xfrm>
            <a:off x="877824" y="4937760"/>
            <a:ext cx="2306574" cy="292608"/>
          </a:xfrm>
          <a:prstGeom prst="rect">
            <a:avLst/>
          </a:prstGeom>
          <a:noFill/>
          <a:ln/>
        </p:spPr>
        <p:txBody>
          <a:bodyPr wrap="square" lIns="0" tIns="0" rIns="0" bIns="0" rtlCol="0" anchor="t"/>
          <a:lstStyle/>
          <a:p>
            <a:pPr marL="0" indent="0">
              <a:lnSpc>
                <a:spcPct val="92000"/>
              </a:lnSpc>
              <a:buNone/>
            </a:pPr>
            <a:r>
              <a:rPr lang="en-US" sz="900" i="1" dirty="0">
                <a:solidFill>
                  <a:srgbClr val="5F5E5A"/>
                </a:solidFill>
                <a:latin typeface="Lora" pitchFamily="34" charset="0"/>
                <a:ea typeface="Lora" pitchFamily="34" charset="-122"/>
                <a:cs typeface="Lora" pitchFamily="34" charset="-120"/>
              </a:rPr>
              <a:t>a retailer trials TAILOR fit on one category</a:t>
            </a:r>
            <a:endParaRPr lang="en-US" sz="900" dirty="0"/>
          </a:p>
        </p:txBody>
      </p:sp>
      <p:sp>
        <p:nvSpPr>
          <p:cNvPr id="53" name="Shape 51"/>
          <p:cNvSpPr/>
          <p:nvPr/>
        </p:nvSpPr>
        <p:spPr>
          <a:xfrm>
            <a:off x="3166110" y="4937760"/>
            <a:ext cx="164592" cy="0"/>
          </a:xfrm>
          <a:prstGeom prst="line">
            <a:avLst/>
          </a:prstGeom>
          <a:noFill/>
          <a:ln w="15875">
            <a:solidFill>
              <a:srgbClr val="A0A5AB"/>
            </a:solidFill>
            <a:prstDash val="solid"/>
            <a:tailEnd type="triangle"/>
          </a:ln>
        </p:spPr>
        <p:txBody>
          <a:bodyPr/>
          <a:lstStyle/>
          <a:p>
            <a:endParaRPr lang="en-US" sz="2000"/>
          </a:p>
        </p:txBody>
      </p:sp>
      <p:sp>
        <p:nvSpPr>
          <p:cNvPr id="54" name="Shape 52"/>
          <p:cNvSpPr/>
          <p:nvPr/>
        </p:nvSpPr>
        <p:spPr>
          <a:xfrm>
            <a:off x="3367278" y="4809744"/>
            <a:ext cx="256032" cy="256032"/>
          </a:xfrm>
          <a:prstGeom prst="ellipse">
            <a:avLst/>
          </a:prstGeom>
          <a:solidFill>
            <a:srgbClr val="E31837"/>
          </a:solidFill>
          <a:ln/>
        </p:spPr>
        <p:txBody>
          <a:bodyPr/>
          <a:lstStyle/>
          <a:p>
            <a:endParaRPr lang="en-US" sz="2000"/>
          </a:p>
        </p:txBody>
      </p:sp>
      <p:sp>
        <p:nvSpPr>
          <p:cNvPr id="55" name="Text 53"/>
          <p:cNvSpPr/>
          <p:nvPr/>
        </p:nvSpPr>
        <p:spPr>
          <a:xfrm>
            <a:off x="3367278" y="4809744"/>
            <a:ext cx="256032" cy="256032"/>
          </a:xfrm>
          <a:prstGeom prst="rect">
            <a:avLst/>
          </a:prstGeom>
          <a:noFill/>
          <a:ln/>
        </p:spPr>
        <p:txBody>
          <a:bodyPr wrap="square" lIns="0" tIns="0" rIns="0" bIns="0" rtlCol="0" anchor="ctr"/>
          <a:lstStyle/>
          <a:p>
            <a:pPr marL="0" indent="0" algn="ctr">
              <a:buNone/>
            </a:pPr>
            <a:r>
              <a:rPr lang="en-US" sz="1200" b="1" dirty="0">
                <a:solidFill>
                  <a:srgbClr val="FDFDFD"/>
                </a:solidFill>
                <a:latin typeface="Montserrat" pitchFamily="34" charset="0"/>
                <a:ea typeface="Montserrat" pitchFamily="34" charset="-122"/>
                <a:cs typeface="Montserrat" pitchFamily="34" charset="-120"/>
              </a:rPr>
              <a:t>2</a:t>
            </a:r>
            <a:endParaRPr lang="en-US" sz="1200" dirty="0"/>
          </a:p>
        </p:txBody>
      </p:sp>
      <p:sp>
        <p:nvSpPr>
          <p:cNvPr id="56" name="Text 54"/>
          <p:cNvSpPr/>
          <p:nvPr/>
        </p:nvSpPr>
        <p:spPr>
          <a:xfrm>
            <a:off x="3696462" y="4754880"/>
            <a:ext cx="2306574" cy="201168"/>
          </a:xfrm>
          <a:prstGeom prst="rect">
            <a:avLst/>
          </a:prstGeom>
          <a:noFill/>
          <a:ln/>
        </p:spPr>
        <p:txBody>
          <a:bodyPr wrap="square" lIns="0" tIns="0" rIns="0" bIns="0" rtlCol="0" anchor="ctr"/>
          <a:lstStyle/>
          <a:p>
            <a:pPr marL="0" indent="0">
              <a:buNone/>
            </a:pPr>
            <a:r>
              <a:rPr lang="en-US" sz="1000" b="1" dirty="0">
                <a:solidFill>
                  <a:srgbClr val="333333"/>
                </a:solidFill>
                <a:latin typeface="Montserrat" pitchFamily="34" charset="0"/>
                <a:ea typeface="Montserrat" pitchFamily="34" charset="-122"/>
                <a:cs typeface="Montserrat" pitchFamily="34" charset="-120"/>
              </a:rPr>
              <a:t>Scale on usage</a:t>
            </a:r>
            <a:endParaRPr lang="en-US" sz="1000" dirty="0"/>
          </a:p>
        </p:txBody>
      </p:sp>
      <p:sp>
        <p:nvSpPr>
          <p:cNvPr id="57" name="Text 55"/>
          <p:cNvSpPr/>
          <p:nvPr/>
        </p:nvSpPr>
        <p:spPr>
          <a:xfrm>
            <a:off x="3696462" y="4937760"/>
            <a:ext cx="2306574" cy="292608"/>
          </a:xfrm>
          <a:prstGeom prst="rect">
            <a:avLst/>
          </a:prstGeom>
          <a:noFill/>
          <a:ln/>
        </p:spPr>
        <p:txBody>
          <a:bodyPr wrap="square" lIns="0" tIns="0" rIns="0" bIns="0" rtlCol="0" anchor="t"/>
          <a:lstStyle/>
          <a:p>
            <a:pPr marL="0" indent="0">
              <a:lnSpc>
                <a:spcPct val="92000"/>
              </a:lnSpc>
              <a:buNone/>
            </a:pPr>
            <a:r>
              <a:rPr lang="en-US" sz="900" i="1" dirty="0">
                <a:solidFill>
                  <a:srgbClr val="5F5E5A"/>
                </a:solidFill>
                <a:latin typeface="Lora" pitchFamily="34" charset="0"/>
                <a:ea typeface="Lora" pitchFamily="34" charset="-122"/>
                <a:cs typeface="Lora" pitchFamily="34" charset="-120"/>
              </a:rPr>
              <a:t>rolls out across catalogue — tiered pricing</a:t>
            </a:r>
            <a:endParaRPr lang="en-US" sz="900" dirty="0"/>
          </a:p>
        </p:txBody>
      </p:sp>
      <p:sp>
        <p:nvSpPr>
          <p:cNvPr id="58" name="Shape 56"/>
          <p:cNvSpPr/>
          <p:nvPr/>
        </p:nvSpPr>
        <p:spPr>
          <a:xfrm>
            <a:off x="5984748" y="4937760"/>
            <a:ext cx="164592" cy="0"/>
          </a:xfrm>
          <a:prstGeom prst="line">
            <a:avLst/>
          </a:prstGeom>
          <a:noFill/>
          <a:ln w="15875">
            <a:solidFill>
              <a:srgbClr val="A0A5AB"/>
            </a:solidFill>
            <a:prstDash val="solid"/>
            <a:tailEnd type="triangle"/>
          </a:ln>
        </p:spPr>
        <p:txBody>
          <a:bodyPr/>
          <a:lstStyle/>
          <a:p>
            <a:endParaRPr lang="en-US" sz="2000"/>
          </a:p>
        </p:txBody>
      </p:sp>
      <p:sp>
        <p:nvSpPr>
          <p:cNvPr id="59" name="Shape 57"/>
          <p:cNvSpPr/>
          <p:nvPr/>
        </p:nvSpPr>
        <p:spPr>
          <a:xfrm>
            <a:off x="6185916" y="4809744"/>
            <a:ext cx="256032" cy="256032"/>
          </a:xfrm>
          <a:prstGeom prst="ellipse">
            <a:avLst/>
          </a:prstGeom>
          <a:solidFill>
            <a:srgbClr val="E31837"/>
          </a:solidFill>
          <a:ln/>
        </p:spPr>
        <p:txBody>
          <a:bodyPr/>
          <a:lstStyle/>
          <a:p>
            <a:endParaRPr lang="en-US" sz="2000"/>
          </a:p>
        </p:txBody>
      </p:sp>
      <p:sp>
        <p:nvSpPr>
          <p:cNvPr id="60" name="Text 58"/>
          <p:cNvSpPr/>
          <p:nvPr/>
        </p:nvSpPr>
        <p:spPr>
          <a:xfrm>
            <a:off x="6185916" y="4809744"/>
            <a:ext cx="256032" cy="256032"/>
          </a:xfrm>
          <a:prstGeom prst="rect">
            <a:avLst/>
          </a:prstGeom>
          <a:noFill/>
          <a:ln/>
        </p:spPr>
        <p:txBody>
          <a:bodyPr wrap="square" lIns="0" tIns="0" rIns="0" bIns="0" rtlCol="0" anchor="ctr"/>
          <a:lstStyle/>
          <a:p>
            <a:pPr marL="0" indent="0" algn="ctr">
              <a:buNone/>
            </a:pPr>
            <a:r>
              <a:rPr lang="en-US" sz="1200" b="1" dirty="0">
                <a:solidFill>
                  <a:srgbClr val="FDFDFD"/>
                </a:solidFill>
                <a:latin typeface="Montserrat" pitchFamily="34" charset="0"/>
                <a:ea typeface="Montserrat" pitchFamily="34" charset="-122"/>
                <a:cs typeface="Montserrat" pitchFamily="34" charset="-120"/>
              </a:rPr>
              <a:t>3</a:t>
            </a:r>
            <a:endParaRPr lang="en-US" sz="1200" dirty="0"/>
          </a:p>
        </p:txBody>
      </p:sp>
      <p:sp>
        <p:nvSpPr>
          <p:cNvPr id="61" name="Text 59"/>
          <p:cNvSpPr/>
          <p:nvPr/>
        </p:nvSpPr>
        <p:spPr>
          <a:xfrm>
            <a:off x="6515100" y="4754880"/>
            <a:ext cx="2306574" cy="201168"/>
          </a:xfrm>
          <a:prstGeom prst="rect">
            <a:avLst/>
          </a:prstGeom>
          <a:noFill/>
          <a:ln/>
        </p:spPr>
        <p:txBody>
          <a:bodyPr wrap="square" lIns="0" tIns="0" rIns="0" bIns="0" rtlCol="0" anchor="ctr"/>
          <a:lstStyle/>
          <a:p>
            <a:pPr marL="0" indent="0">
              <a:buNone/>
            </a:pPr>
            <a:r>
              <a:rPr lang="en-US" sz="1000" b="1" dirty="0">
                <a:solidFill>
                  <a:srgbClr val="333333"/>
                </a:solidFill>
                <a:latin typeface="Montserrat" pitchFamily="34" charset="0"/>
                <a:ea typeface="Montserrat" pitchFamily="34" charset="-122"/>
                <a:cs typeface="Montserrat" pitchFamily="34" charset="-120"/>
              </a:rPr>
              <a:t>Share the outcome</a:t>
            </a:r>
            <a:endParaRPr lang="en-US" sz="1000" dirty="0"/>
          </a:p>
        </p:txBody>
      </p:sp>
      <p:sp>
        <p:nvSpPr>
          <p:cNvPr id="62" name="Text 60"/>
          <p:cNvSpPr/>
          <p:nvPr/>
        </p:nvSpPr>
        <p:spPr>
          <a:xfrm>
            <a:off x="6515100" y="4937760"/>
            <a:ext cx="2306574" cy="292608"/>
          </a:xfrm>
          <a:prstGeom prst="rect">
            <a:avLst/>
          </a:prstGeom>
          <a:noFill/>
          <a:ln/>
        </p:spPr>
        <p:txBody>
          <a:bodyPr wrap="square" lIns="0" tIns="0" rIns="0" bIns="0" rtlCol="0" anchor="t"/>
          <a:lstStyle/>
          <a:p>
            <a:pPr marL="0" indent="0">
              <a:lnSpc>
                <a:spcPct val="92000"/>
              </a:lnSpc>
              <a:buNone/>
            </a:pPr>
            <a:r>
              <a:rPr lang="en-US" sz="900" i="1" dirty="0">
                <a:solidFill>
                  <a:srgbClr val="5F5E5A"/>
                </a:solidFill>
                <a:latin typeface="Lora" pitchFamily="34" charset="0"/>
                <a:ea typeface="Lora" pitchFamily="34" charset="-122"/>
                <a:cs typeface="Lora" pitchFamily="34" charset="-120"/>
              </a:rPr>
              <a:t>moves to value-share as returns fall</a:t>
            </a:r>
            <a:endParaRPr lang="en-US" sz="900" dirty="0"/>
          </a:p>
        </p:txBody>
      </p:sp>
      <p:sp>
        <p:nvSpPr>
          <p:cNvPr id="63" name="Shape 61"/>
          <p:cNvSpPr/>
          <p:nvPr/>
        </p:nvSpPr>
        <p:spPr>
          <a:xfrm>
            <a:off x="8803386" y="4937760"/>
            <a:ext cx="164592" cy="0"/>
          </a:xfrm>
          <a:prstGeom prst="line">
            <a:avLst/>
          </a:prstGeom>
          <a:noFill/>
          <a:ln w="15875">
            <a:solidFill>
              <a:srgbClr val="A0A5AB"/>
            </a:solidFill>
            <a:prstDash val="solid"/>
            <a:tailEnd type="triangle"/>
          </a:ln>
        </p:spPr>
        <p:txBody>
          <a:bodyPr/>
          <a:lstStyle/>
          <a:p>
            <a:endParaRPr lang="en-US" sz="2000"/>
          </a:p>
        </p:txBody>
      </p:sp>
      <p:sp>
        <p:nvSpPr>
          <p:cNvPr id="64" name="Shape 62"/>
          <p:cNvSpPr/>
          <p:nvPr/>
        </p:nvSpPr>
        <p:spPr>
          <a:xfrm>
            <a:off x="9004554" y="4809744"/>
            <a:ext cx="256032" cy="256032"/>
          </a:xfrm>
          <a:prstGeom prst="ellipse">
            <a:avLst/>
          </a:prstGeom>
          <a:solidFill>
            <a:srgbClr val="E31837"/>
          </a:solidFill>
          <a:ln/>
        </p:spPr>
        <p:txBody>
          <a:bodyPr/>
          <a:lstStyle/>
          <a:p>
            <a:endParaRPr lang="en-US" sz="2000"/>
          </a:p>
        </p:txBody>
      </p:sp>
      <p:sp>
        <p:nvSpPr>
          <p:cNvPr id="65" name="Text 63"/>
          <p:cNvSpPr/>
          <p:nvPr/>
        </p:nvSpPr>
        <p:spPr>
          <a:xfrm>
            <a:off x="9004554" y="4809744"/>
            <a:ext cx="256032" cy="256032"/>
          </a:xfrm>
          <a:prstGeom prst="rect">
            <a:avLst/>
          </a:prstGeom>
          <a:noFill/>
          <a:ln/>
        </p:spPr>
        <p:txBody>
          <a:bodyPr wrap="square" lIns="0" tIns="0" rIns="0" bIns="0" rtlCol="0" anchor="ctr"/>
          <a:lstStyle/>
          <a:p>
            <a:pPr marL="0" indent="0" algn="ctr">
              <a:buNone/>
            </a:pPr>
            <a:r>
              <a:rPr lang="en-US" sz="1200" b="1" dirty="0">
                <a:solidFill>
                  <a:srgbClr val="FDFDFD"/>
                </a:solidFill>
                <a:latin typeface="Montserrat" pitchFamily="34" charset="0"/>
                <a:ea typeface="Montserrat" pitchFamily="34" charset="-122"/>
                <a:cs typeface="Montserrat" pitchFamily="34" charset="-120"/>
              </a:rPr>
              <a:t>4</a:t>
            </a:r>
            <a:endParaRPr lang="en-US" sz="1200" dirty="0"/>
          </a:p>
        </p:txBody>
      </p:sp>
      <p:sp>
        <p:nvSpPr>
          <p:cNvPr id="66" name="Text 64"/>
          <p:cNvSpPr/>
          <p:nvPr/>
        </p:nvSpPr>
        <p:spPr>
          <a:xfrm>
            <a:off x="9333738" y="4754880"/>
            <a:ext cx="2306574" cy="201168"/>
          </a:xfrm>
          <a:prstGeom prst="rect">
            <a:avLst/>
          </a:prstGeom>
          <a:noFill/>
          <a:ln/>
        </p:spPr>
        <p:txBody>
          <a:bodyPr wrap="square" lIns="0" tIns="0" rIns="0" bIns="0" rtlCol="0" anchor="ctr"/>
          <a:lstStyle/>
          <a:p>
            <a:pPr marL="0" indent="0">
              <a:buNone/>
            </a:pPr>
            <a:r>
              <a:rPr lang="en-US" sz="1000" b="1" dirty="0">
                <a:solidFill>
                  <a:srgbClr val="333333"/>
                </a:solidFill>
                <a:latin typeface="Montserrat" pitchFamily="34" charset="0"/>
                <a:ea typeface="Montserrat" pitchFamily="34" charset="-122"/>
                <a:cs typeface="Montserrat" pitchFamily="34" charset="-120"/>
              </a:rPr>
              <a:t>Go white-label</a:t>
            </a:r>
            <a:endParaRPr lang="en-US" sz="1000" dirty="0"/>
          </a:p>
        </p:txBody>
      </p:sp>
      <p:sp>
        <p:nvSpPr>
          <p:cNvPr id="67" name="Text 65"/>
          <p:cNvSpPr/>
          <p:nvPr/>
        </p:nvSpPr>
        <p:spPr>
          <a:xfrm>
            <a:off x="9333738" y="4937760"/>
            <a:ext cx="2306574" cy="292608"/>
          </a:xfrm>
          <a:prstGeom prst="rect">
            <a:avLst/>
          </a:prstGeom>
          <a:noFill/>
          <a:ln/>
        </p:spPr>
        <p:txBody>
          <a:bodyPr wrap="square" lIns="0" tIns="0" rIns="0" bIns="0" rtlCol="0" anchor="t"/>
          <a:lstStyle/>
          <a:p>
            <a:pPr marL="0" indent="0">
              <a:lnSpc>
                <a:spcPct val="92000"/>
              </a:lnSpc>
              <a:buNone/>
            </a:pPr>
            <a:r>
              <a:rPr lang="en-US" sz="900" i="1" dirty="0">
                <a:solidFill>
                  <a:srgbClr val="5F5E5A"/>
                </a:solidFill>
                <a:latin typeface="Lora" pitchFamily="34" charset="0"/>
                <a:ea typeface="Lora" pitchFamily="34" charset="-122"/>
                <a:cs typeface="Lora" pitchFamily="34" charset="-120"/>
              </a:rPr>
              <a:t>adopts the whole platform, our brand behind theirs</a:t>
            </a:r>
            <a:endParaRPr lang="en-US" sz="900" dirty="0"/>
          </a:p>
        </p:txBody>
      </p:sp>
      <p:sp>
        <p:nvSpPr>
          <p:cNvPr id="68" name="Text 66"/>
          <p:cNvSpPr/>
          <p:nvPr/>
        </p:nvSpPr>
        <p:spPr>
          <a:xfrm>
            <a:off x="434340" y="5650992"/>
            <a:ext cx="11430000" cy="182880"/>
          </a:xfrm>
          <a:prstGeom prst="rect">
            <a:avLst/>
          </a:prstGeom>
          <a:noFill/>
          <a:ln/>
        </p:spPr>
        <p:txBody>
          <a:bodyPr wrap="square" lIns="0" tIns="0" rIns="0" bIns="0" rtlCol="0" anchor="ctr"/>
          <a:lstStyle/>
          <a:p>
            <a:pPr marL="0" indent="0">
              <a:buNone/>
            </a:pPr>
            <a:r>
              <a:rPr lang="en-US" sz="1000" b="1" dirty="0">
                <a:solidFill>
                  <a:srgbClr val="E31837"/>
                </a:solidFill>
                <a:latin typeface="Lora" pitchFamily="34" charset="0"/>
                <a:ea typeface="Lora" pitchFamily="34" charset="-122"/>
                <a:cs typeface="Lora" pitchFamily="34" charset="-120"/>
              </a:rPr>
              <a:t>Directional PoV</a:t>
            </a:r>
            <a:r>
              <a:rPr lang="en-US" sz="1050" b="1" dirty="0">
                <a:solidFill>
                  <a:schemeClr val="tx1">
                    <a:lumMod val="85000"/>
                    <a:lumOff val="15000"/>
                  </a:schemeClr>
                </a:solidFill>
                <a:latin typeface="Lora" pitchFamily="34" charset="0"/>
                <a:ea typeface="Lora" pitchFamily="34" charset="-122"/>
                <a:cs typeface="Lora" pitchFamily="34" charset="-120"/>
              </a:rPr>
              <a:t>.  </a:t>
            </a:r>
            <a:r>
              <a:rPr lang="en-US" sz="1000" i="1" dirty="0">
                <a:solidFill>
                  <a:schemeClr val="tx1">
                    <a:lumMod val="85000"/>
                    <a:lumOff val="15000"/>
                  </a:schemeClr>
                </a:solidFill>
                <a:latin typeface="Lora" pitchFamily="34" charset="0"/>
                <a:ea typeface="Lora" pitchFamily="34" charset="-122"/>
                <a:cs typeface="Lora" pitchFamily="34" charset="-120"/>
              </a:rPr>
              <a:t>Pricing structures shown, not committed rates — API tiers, value-share % and licence terms to be modelled with commercial &amp; finance</a:t>
            </a:r>
            <a:r>
              <a:rPr lang="en-US" sz="900" i="1" dirty="0">
                <a:solidFill>
                  <a:srgbClr val="A0A5AB"/>
                </a:solidFill>
                <a:latin typeface="Lora" pitchFamily="34" charset="0"/>
                <a:ea typeface="Lora" pitchFamily="34" charset="-122"/>
                <a:cs typeface="Lora" pitchFamily="34" charset="-120"/>
              </a:rPr>
              <a:t>.</a:t>
            </a:r>
            <a:endParaRPr lang="en-US" sz="900" dirty="0"/>
          </a:p>
        </p:txBody>
      </p:sp>
      <p:sp>
        <p:nvSpPr>
          <p:cNvPr id="69" name="Shape 42">
            <a:extLst>
              <a:ext uri="{FF2B5EF4-FFF2-40B4-BE49-F238E27FC236}">
                <a16:creationId xmlns:a16="http://schemas.microsoft.com/office/drawing/2014/main" id="{C7D3B8AC-46D2-DAD0-1701-C3FE33932EA7}"/>
              </a:ext>
            </a:extLst>
          </p:cNvPr>
          <p:cNvSpPr/>
          <p:nvPr/>
        </p:nvSpPr>
        <p:spPr>
          <a:xfrm>
            <a:off x="556650" y="6163056"/>
            <a:ext cx="11091672" cy="10973"/>
          </a:xfrm>
          <a:prstGeom prst="rect">
            <a:avLst/>
          </a:prstGeom>
          <a:solidFill>
            <a:srgbClr val="E2E0D9"/>
          </a:solidFill>
          <a:ln/>
        </p:spPr>
        <p:txBody>
          <a:bodyPr/>
          <a:lstStyle/>
          <a:p>
            <a:endParaRPr lang="en-US"/>
          </a:p>
        </p:txBody>
      </p:sp>
      <p:sp>
        <p:nvSpPr>
          <p:cNvPr id="70" name="Text 43">
            <a:extLst>
              <a:ext uri="{FF2B5EF4-FFF2-40B4-BE49-F238E27FC236}">
                <a16:creationId xmlns:a16="http://schemas.microsoft.com/office/drawing/2014/main" id="{0FD28D0F-7367-EA3B-77A7-B43AF36DCED6}"/>
              </a:ext>
            </a:extLst>
          </p:cNvPr>
          <p:cNvSpPr/>
          <p:nvPr/>
        </p:nvSpPr>
        <p:spPr>
          <a:xfrm>
            <a:off x="556650" y="6254496"/>
            <a:ext cx="5486400" cy="237744"/>
          </a:xfrm>
          <a:prstGeom prst="rect">
            <a:avLst/>
          </a:prstGeom>
          <a:noFill/>
          <a:ln/>
        </p:spPr>
        <p:txBody>
          <a:bodyPr wrap="square" lIns="0" tIns="0" rIns="0" bIns="0" rtlCol="0" anchor="ctr"/>
          <a:lstStyle/>
          <a:p>
            <a:pPr marL="0" indent="0">
              <a:buNone/>
            </a:pPr>
            <a:r>
              <a:rPr lang="en-US" sz="900" dirty="0">
                <a:solidFill>
                  <a:srgbClr val="A0A5AB"/>
                </a:solidFill>
                <a:latin typeface="Montserrat" pitchFamily="34" charset="0"/>
                <a:ea typeface="Montserrat" pitchFamily="34" charset="-122"/>
                <a:cs typeface="Montserrat" pitchFamily="34" charset="-120"/>
              </a:rPr>
              <a:t>Mission #3 · Team 5 — Condor Galaxy</a:t>
            </a:r>
            <a:endParaRPr lang="en-US" sz="900" dirty="0"/>
          </a:p>
        </p:txBody>
      </p:sp>
      <p:sp>
        <p:nvSpPr>
          <p:cNvPr id="71" name="Text 44">
            <a:extLst>
              <a:ext uri="{FF2B5EF4-FFF2-40B4-BE49-F238E27FC236}">
                <a16:creationId xmlns:a16="http://schemas.microsoft.com/office/drawing/2014/main" id="{EA57F86B-4F01-6B08-46AE-C71E2DA9DC71}"/>
              </a:ext>
            </a:extLst>
          </p:cNvPr>
          <p:cNvSpPr/>
          <p:nvPr/>
        </p:nvSpPr>
        <p:spPr>
          <a:xfrm>
            <a:off x="6134490" y="6254496"/>
            <a:ext cx="5513832" cy="237744"/>
          </a:xfrm>
          <a:prstGeom prst="rect">
            <a:avLst/>
          </a:prstGeom>
          <a:noFill/>
          <a:ln/>
        </p:spPr>
        <p:txBody>
          <a:bodyPr wrap="square" lIns="0" tIns="0" rIns="0" bIns="0" rtlCol="0" anchor="ctr"/>
          <a:lstStyle/>
          <a:p>
            <a:pPr marL="0" indent="0" algn="r">
              <a:buNone/>
            </a:pPr>
            <a:r>
              <a:rPr lang="en-US" sz="900" i="1" dirty="0">
                <a:solidFill>
                  <a:srgbClr val="A0A5AB"/>
                </a:solidFill>
                <a:latin typeface="Lora" pitchFamily="34" charset="0"/>
                <a:ea typeface="Lora" pitchFamily="34" charset="-122"/>
                <a:cs typeface="Lora" pitchFamily="34" charset="-120"/>
              </a:rPr>
              <a:t>Smart retail. Real value.</a:t>
            </a:r>
            <a:endParaRPr lang="en-US" sz="900" dirty="0"/>
          </a:p>
        </p:txBody>
      </p:sp>
      <p:pic>
        <p:nvPicPr>
          <p:cNvPr id="72" name="Google Shape;126;p2" descr="preencoded.png">
            <a:extLst>
              <a:ext uri="{FF2B5EF4-FFF2-40B4-BE49-F238E27FC236}">
                <a16:creationId xmlns:a16="http://schemas.microsoft.com/office/drawing/2014/main" id="{F2C2783F-1349-4199-FF6C-2D74CFF34E4F}"/>
              </a:ext>
            </a:extLst>
          </p:cNvPr>
          <p:cNvPicPr preferRelativeResize="0"/>
          <p:nvPr/>
        </p:nvPicPr>
        <p:blipFill rotWithShape="1">
          <a:blip r:embed="rId3">
            <a:alphaModFix/>
          </a:blip>
          <a:srcRect/>
          <a:stretch/>
        </p:blipFill>
        <p:spPr>
          <a:xfrm>
            <a:off x="11126233" y="103102"/>
            <a:ext cx="669527" cy="67161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01">
          <a:extLst>
            <a:ext uri="{FF2B5EF4-FFF2-40B4-BE49-F238E27FC236}">
              <a16:creationId xmlns:a16="http://schemas.microsoft.com/office/drawing/2014/main" id="{35F7454E-B57E-DCD8-B3DD-6E831461EAF0}"/>
            </a:ext>
          </a:extLst>
        </p:cNvPr>
        <p:cNvGrpSpPr/>
        <p:nvPr/>
      </p:nvGrpSpPr>
      <p:grpSpPr>
        <a:xfrm>
          <a:off x="0" y="0"/>
          <a:ext cx="0" cy="0"/>
          <a:chOff x="0" y="0"/>
          <a:chExt cx="0" cy="0"/>
        </a:xfrm>
      </p:grpSpPr>
      <p:sp>
        <p:nvSpPr>
          <p:cNvPr id="1210" name="Google Shape;1210;p21">
            <a:extLst>
              <a:ext uri="{FF2B5EF4-FFF2-40B4-BE49-F238E27FC236}">
                <a16:creationId xmlns:a16="http://schemas.microsoft.com/office/drawing/2014/main" id="{763F83EF-26B4-CF85-1238-E4C24C0CE5E2}"/>
              </a:ext>
            </a:extLst>
          </p:cNvPr>
          <p:cNvSpPr/>
          <p:nvPr/>
        </p:nvSpPr>
        <p:spPr>
          <a:xfrm>
            <a:off x="7332862" y="0"/>
            <a:ext cx="4859140" cy="6858000"/>
          </a:xfrm>
          <a:prstGeom prst="rect">
            <a:avLst/>
          </a:prstGeom>
          <a:solidFill>
            <a:srgbClr val="FFFFFF"/>
          </a:solidFill>
          <a:ln>
            <a:noFill/>
          </a:ln>
        </p:spPr>
        <p:txBody>
          <a:bodyPr spcFirstLastPara="1" wrap="square" lIns="121900" tIns="60933" rIns="121900" bIns="60933" anchor="t" anchorCtr="0">
            <a:noAutofit/>
          </a:bodyPr>
          <a:lstStyle/>
          <a:p>
            <a:endParaRPr sz="1200">
              <a:solidFill>
                <a:schemeClr val="dk1"/>
              </a:solidFill>
              <a:latin typeface="Calibri"/>
              <a:ea typeface="Calibri"/>
              <a:cs typeface="Calibri"/>
              <a:sym typeface="Calibri"/>
            </a:endParaRPr>
          </a:p>
        </p:txBody>
      </p:sp>
      <p:pic>
        <p:nvPicPr>
          <p:cNvPr id="3" name="Picture 2" descr="Fashion store Images - Free Download on Magnific (formerly Freepik)">
            <a:extLst>
              <a:ext uri="{FF2B5EF4-FFF2-40B4-BE49-F238E27FC236}">
                <a16:creationId xmlns:a16="http://schemas.microsoft.com/office/drawing/2014/main" id="{58912C3B-0DCF-7C75-96B6-97FAC33E6EE3}"/>
              </a:ext>
            </a:extLst>
          </p:cNvPr>
          <p:cNvPicPr>
            <a:picLocks noChangeAspect="1"/>
          </p:cNvPicPr>
          <p:nvPr/>
        </p:nvPicPr>
        <p:blipFill>
          <a:blip r:embed="rId3"/>
          <a:stretch>
            <a:fillRect/>
          </a:stretch>
        </p:blipFill>
        <p:spPr>
          <a:xfrm>
            <a:off x="7406367" y="0"/>
            <a:ext cx="4759374" cy="6846519"/>
          </a:xfrm>
          <a:prstGeom prst="rect">
            <a:avLst/>
          </a:prstGeom>
        </p:spPr>
      </p:pic>
      <p:sp>
        <p:nvSpPr>
          <p:cNvPr id="1202" name="Google Shape;1202;p21">
            <a:extLst>
              <a:ext uri="{FF2B5EF4-FFF2-40B4-BE49-F238E27FC236}">
                <a16:creationId xmlns:a16="http://schemas.microsoft.com/office/drawing/2014/main" id="{E43BCCCF-595A-90F9-40F5-102F2446855A}"/>
              </a:ext>
            </a:extLst>
          </p:cNvPr>
          <p:cNvSpPr/>
          <p:nvPr/>
        </p:nvSpPr>
        <p:spPr>
          <a:xfrm>
            <a:off x="0" y="0"/>
            <a:ext cx="7332861" cy="6858000"/>
          </a:xfrm>
          <a:prstGeom prst="rect">
            <a:avLst/>
          </a:prstGeom>
          <a:solidFill>
            <a:srgbClr val="212427"/>
          </a:solidFill>
          <a:ln w="12700" cap="flat" cmpd="sng">
            <a:solidFill>
              <a:srgbClr val="1C3052"/>
            </a:solidFill>
            <a:prstDash val="solid"/>
            <a:miter lim="8000"/>
            <a:headEnd type="none" w="sm" len="sm"/>
            <a:tailEnd type="none" w="sm" len="sm"/>
          </a:ln>
        </p:spPr>
        <p:txBody>
          <a:bodyPr spcFirstLastPara="1" wrap="square" lIns="121900" tIns="60933" rIns="121900" bIns="60933" anchor="ctr" anchorCtr="0">
            <a:noAutofit/>
          </a:bodyPr>
          <a:lstStyle/>
          <a:p>
            <a:pPr algn="ctr"/>
            <a:endParaRPr sz="2400">
              <a:solidFill>
                <a:schemeClr val="lt1"/>
              </a:solidFill>
              <a:latin typeface="Calibri"/>
              <a:ea typeface="Calibri"/>
              <a:cs typeface="Calibri"/>
              <a:sym typeface="Calibri"/>
            </a:endParaRPr>
          </a:p>
        </p:txBody>
      </p:sp>
      <p:sp>
        <p:nvSpPr>
          <p:cNvPr id="1203" name="Google Shape;1203;p21">
            <a:extLst>
              <a:ext uri="{FF2B5EF4-FFF2-40B4-BE49-F238E27FC236}">
                <a16:creationId xmlns:a16="http://schemas.microsoft.com/office/drawing/2014/main" id="{C864D360-3EE4-7AA4-0811-A5639CF19F6A}"/>
              </a:ext>
            </a:extLst>
          </p:cNvPr>
          <p:cNvSpPr/>
          <p:nvPr/>
        </p:nvSpPr>
        <p:spPr>
          <a:xfrm>
            <a:off x="609600" y="2057749"/>
            <a:ext cx="254000" cy="31751"/>
          </a:xfrm>
          <a:prstGeom prst="rect">
            <a:avLst/>
          </a:prstGeom>
          <a:solidFill>
            <a:srgbClr val="E31837"/>
          </a:solidFill>
          <a:ln>
            <a:noFill/>
          </a:ln>
        </p:spPr>
        <p:txBody>
          <a:bodyPr spcFirstLastPara="1" wrap="square" lIns="121900" tIns="60933" rIns="121900" bIns="60933" anchor="t" anchorCtr="0">
            <a:noAutofit/>
          </a:bodyPr>
          <a:lstStyle/>
          <a:p>
            <a:endParaRPr sz="1200">
              <a:solidFill>
                <a:schemeClr val="dk1"/>
              </a:solidFill>
              <a:latin typeface="Calibri"/>
              <a:ea typeface="Calibri"/>
              <a:cs typeface="Calibri"/>
              <a:sym typeface="Calibri"/>
            </a:endParaRPr>
          </a:p>
        </p:txBody>
      </p:sp>
      <p:sp>
        <p:nvSpPr>
          <p:cNvPr id="1204" name="Google Shape;1204;p21">
            <a:extLst>
              <a:ext uri="{FF2B5EF4-FFF2-40B4-BE49-F238E27FC236}">
                <a16:creationId xmlns:a16="http://schemas.microsoft.com/office/drawing/2014/main" id="{A7BF3A2A-3E92-1704-A653-CFB007E12CB4}"/>
              </a:ext>
            </a:extLst>
          </p:cNvPr>
          <p:cNvSpPr/>
          <p:nvPr/>
        </p:nvSpPr>
        <p:spPr>
          <a:xfrm>
            <a:off x="952500" y="1981549"/>
            <a:ext cx="4399677" cy="209551"/>
          </a:xfrm>
          <a:prstGeom prst="rect">
            <a:avLst/>
          </a:prstGeom>
          <a:noFill/>
          <a:ln>
            <a:noFill/>
          </a:ln>
        </p:spPr>
        <p:txBody>
          <a:bodyPr spcFirstLastPara="1" wrap="square" lIns="16933" tIns="16933" rIns="16933" bIns="16933" anchor="t" anchorCtr="0">
            <a:normAutofit/>
          </a:bodyPr>
          <a:lstStyle/>
          <a:p>
            <a:pPr>
              <a:lnSpc>
                <a:spcPct val="90000"/>
              </a:lnSpc>
            </a:pPr>
            <a:r>
              <a:rPr lang="en-US" sz="1200" b="1" dirty="0">
                <a:solidFill>
                  <a:srgbClr val="FF4D4D"/>
                </a:solidFill>
                <a:latin typeface="Montserrat"/>
                <a:ea typeface="Montserrat"/>
                <a:cs typeface="Montserrat"/>
                <a:sym typeface="Montserrat"/>
              </a:rPr>
              <a:t>MISSION 3 · TEAM 5 — CONDOR GALAXY</a:t>
            </a:r>
            <a:endParaRPr sz="1200" dirty="0">
              <a:solidFill>
                <a:schemeClr val="dk1"/>
              </a:solidFill>
              <a:latin typeface="Calibri"/>
              <a:ea typeface="Calibri"/>
              <a:cs typeface="Calibri"/>
              <a:sym typeface="Calibri"/>
            </a:endParaRPr>
          </a:p>
        </p:txBody>
      </p:sp>
      <p:sp>
        <p:nvSpPr>
          <p:cNvPr id="1205" name="Google Shape;1205;p21">
            <a:extLst>
              <a:ext uri="{FF2B5EF4-FFF2-40B4-BE49-F238E27FC236}">
                <a16:creationId xmlns:a16="http://schemas.microsoft.com/office/drawing/2014/main" id="{BF9C7C51-4E1B-7805-F3A4-95C7FC448D8F}"/>
              </a:ext>
            </a:extLst>
          </p:cNvPr>
          <p:cNvSpPr/>
          <p:nvPr/>
        </p:nvSpPr>
        <p:spPr>
          <a:xfrm>
            <a:off x="609601" y="2330797"/>
            <a:ext cx="6948548" cy="635000"/>
          </a:xfrm>
          <a:prstGeom prst="rect">
            <a:avLst/>
          </a:prstGeom>
          <a:noFill/>
          <a:ln>
            <a:noFill/>
          </a:ln>
        </p:spPr>
        <p:txBody>
          <a:bodyPr spcFirstLastPara="1" wrap="square" lIns="16933" tIns="16933" rIns="16933" bIns="16933" anchor="t" anchorCtr="0">
            <a:normAutofit/>
          </a:bodyPr>
          <a:lstStyle/>
          <a:p>
            <a:pPr>
              <a:lnSpc>
                <a:spcPct val="80000"/>
              </a:lnSpc>
            </a:pPr>
            <a:r>
              <a:rPr lang="en-US" sz="4440" b="1">
                <a:solidFill>
                  <a:srgbClr val="FFFFFF"/>
                </a:solidFill>
                <a:latin typeface="Montserrat"/>
                <a:ea typeface="Montserrat"/>
                <a:cs typeface="Montserrat"/>
                <a:sym typeface="Montserrat"/>
              </a:rPr>
              <a:t>Thank you.</a:t>
            </a:r>
            <a:endParaRPr sz="4440">
              <a:solidFill>
                <a:schemeClr val="dk1"/>
              </a:solidFill>
              <a:latin typeface="Calibri"/>
              <a:ea typeface="Calibri"/>
              <a:cs typeface="Calibri"/>
              <a:sym typeface="Calibri"/>
            </a:endParaRPr>
          </a:p>
        </p:txBody>
      </p:sp>
      <p:sp>
        <p:nvSpPr>
          <p:cNvPr id="1206" name="Google Shape;1206;p21">
            <a:extLst>
              <a:ext uri="{FF2B5EF4-FFF2-40B4-BE49-F238E27FC236}">
                <a16:creationId xmlns:a16="http://schemas.microsoft.com/office/drawing/2014/main" id="{1E5DF0ED-0B40-A2D7-D704-9C0BEA7DBC32}"/>
              </a:ext>
            </a:extLst>
          </p:cNvPr>
          <p:cNvSpPr/>
          <p:nvPr/>
        </p:nvSpPr>
        <p:spPr>
          <a:xfrm>
            <a:off x="609600" y="3092798"/>
            <a:ext cx="5363211" cy="1002605"/>
          </a:xfrm>
          <a:prstGeom prst="rect">
            <a:avLst/>
          </a:prstGeom>
          <a:solidFill>
            <a:srgbClr val="222427"/>
          </a:solidFill>
          <a:ln>
            <a:noFill/>
          </a:ln>
        </p:spPr>
        <p:txBody>
          <a:bodyPr spcFirstLastPara="1" wrap="square" lIns="16933" tIns="16933" rIns="16933" bIns="16933" anchor="t" anchorCtr="0">
            <a:normAutofit fontScale="92500"/>
          </a:bodyPr>
          <a:lstStyle/>
          <a:p>
            <a:pPr>
              <a:lnSpc>
                <a:spcPct val="130000"/>
              </a:lnSpc>
            </a:pPr>
            <a:r>
              <a:rPr lang="en-US" dirty="0">
                <a:solidFill>
                  <a:srgbClr val="E4E4E2"/>
                </a:solidFill>
                <a:latin typeface="Lora" pitchFamily="34" charset="0"/>
                <a:ea typeface="Lora" pitchFamily="34" charset="-122"/>
                <a:cs typeface="Lora" pitchFamily="34" charset="-120"/>
              </a:rPr>
              <a:t>Five functionalities, seventeen agents, one platform — mapped, reimagined, and ready to build.</a:t>
            </a:r>
            <a:endParaRPr lang="en-US" dirty="0"/>
          </a:p>
        </p:txBody>
      </p:sp>
      <p:sp>
        <p:nvSpPr>
          <p:cNvPr id="1207" name="Google Shape;1207;p21">
            <a:extLst>
              <a:ext uri="{FF2B5EF4-FFF2-40B4-BE49-F238E27FC236}">
                <a16:creationId xmlns:a16="http://schemas.microsoft.com/office/drawing/2014/main" id="{A721DA55-6F61-EE70-AC14-F450479F7EF5}"/>
              </a:ext>
            </a:extLst>
          </p:cNvPr>
          <p:cNvSpPr/>
          <p:nvPr/>
        </p:nvSpPr>
        <p:spPr>
          <a:xfrm>
            <a:off x="609600" y="4412903"/>
            <a:ext cx="6316861" cy="6351"/>
          </a:xfrm>
          <a:prstGeom prst="rect">
            <a:avLst/>
          </a:prstGeom>
          <a:solidFill>
            <a:srgbClr val="FFFFFF">
              <a:alpha val="14117"/>
            </a:srgbClr>
          </a:solidFill>
          <a:ln>
            <a:noFill/>
          </a:ln>
        </p:spPr>
        <p:txBody>
          <a:bodyPr spcFirstLastPara="1" wrap="square" lIns="121900" tIns="60933" rIns="121900" bIns="60933" anchor="t" anchorCtr="0">
            <a:noAutofit/>
          </a:bodyPr>
          <a:lstStyle/>
          <a:p>
            <a:endParaRPr sz="1200">
              <a:solidFill>
                <a:schemeClr val="dk1"/>
              </a:solidFill>
              <a:latin typeface="Calibri"/>
              <a:ea typeface="Calibri"/>
              <a:cs typeface="Calibri"/>
              <a:sym typeface="Calibri"/>
            </a:endParaRPr>
          </a:p>
        </p:txBody>
      </p:sp>
      <p:sp>
        <p:nvSpPr>
          <p:cNvPr id="1208" name="Google Shape;1208;p21">
            <a:extLst>
              <a:ext uri="{FF2B5EF4-FFF2-40B4-BE49-F238E27FC236}">
                <a16:creationId xmlns:a16="http://schemas.microsoft.com/office/drawing/2014/main" id="{BC6239DA-3668-DDA6-A995-2BA6ED98E8AB}"/>
              </a:ext>
            </a:extLst>
          </p:cNvPr>
          <p:cNvSpPr/>
          <p:nvPr/>
        </p:nvSpPr>
        <p:spPr>
          <a:xfrm>
            <a:off x="628981" y="4608138"/>
            <a:ext cx="1330043" cy="149225"/>
          </a:xfrm>
          <a:prstGeom prst="rect">
            <a:avLst/>
          </a:prstGeom>
          <a:noFill/>
          <a:ln>
            <a:noFill/>
          </a:ln>
        </p:spPr>
        <p:txBody>
          <a:bodyPr spcFirstLastPara="1" wrap="square" lIns="16933" tIns="16933" rIns="16933" bIns="16933" anchor="t" anchorCtr="0">
            <a:normAutofit/>
          </a:bodyPr>
          <a:lstStyle/>
          <a:p>
            <a:pPr>
              <a:lnSpc>
                <a:spcPct val="90000"/>
              </a:lnSpc>
            </a:pPr>
            <a:r>
              <a:rPr lang="en-US" sz="800" b="1">
                <a:solidFill>
                  <a:srgbClr val="A0A5AB"/>
                </a:solidFill>
                <a:latin typeface="Montserrat"/>
                <a:ea typeface="Montserrat"/>
                <a:cs typeface="Montserrat"/>
                <a:sym typeface="Montserrat"/>
              </a:rPr>
              <a:t>WEBSITE</a:t>
            </a:r>
            <a:endParaRPr sz="800">
              <a:solidFill>
                <a:schemeClr val="dk1"/>
              </a:solidFill>
              <a:latin typeface="Calibri"/>
              <a:ea typeface="Calibri"/>
              <a:cs typeface="Calibri"/>
              <a:sym typeface="Calibri"/>
            </a:endParaRPr>
          </a:p>
        </p:txBody>
      </p:sp>
      <p:sp>
        <p:nvSpPr>
          <p:cNvPr id="1209" name="Google Shape;1209;p21">
            <a:extLst>
              <a:ext uri="{FF2B5EF4-FFF2-40B4-BE49-F238E27FC236}">
                <a16:creationId xmlns:a16="http://schemas.microsoft.com/office/drawing/2014/main" id="{34C80671-6CF9-22DB-E0FC-AB4EB1F0F0EF}"/>
              </a:ext>
            </a:extLst>
          </p:cNvPr>
          <p:cNvSpPr/>
          <p:nvPr/>
        </p:nvSpPr>
        <p:spPr>
          <a:xfrm>
            <a:off x="628981" y="4782763"/>
            <a:ext cx="1330043" cy="180976"/>
          </a:xfrm>
          <a:prstGeom prst="rect">
            <a:avLst/>
          </a:prstGeom>
          <a:noFill/>
          <a:ln>
            <a:noFill/>
          </a:ln>
        </p:spPr>
        <p:txBody>
          <a:bodyPr spcFirstLastPara="1" wrap="square" lIns="16933" tIns="16933" rIns="16933" bIns="16933" anchor="t" anchorCtr="0">
            <a:normAutofit/>
          </a:bodyPr>
          <a:lstStyle/>
          <a:p>
            <a:pPr>
              <a:lnSpc>
                <a:spcPct val="90000"/>
              </a:lnSpc>
            </a:pPr>
            <a:r>
              <a:rPr lang="en-US" sz="1000" b="1">
                <a:solidFill>
                  <a:srgbClr val="FFFFFF"/>
                </a:solidFill>
                <a:latin typeface="Montserrat"/>
                <a:ea typeface="Montserrat"/>
                <a:cs typeface="Montserrat"/>
                <a:sym typeface="Montserrat"/>
              </a:rPr>
              <a:t>www.neutail.co.uk</a:t>
            </a:r>
            <a:endParaRPr sz="1000">
              <a:solidFill>
                <a:schemeClr val="dk1"/>
              </a:solidFill>
              <a:latin typeface="Calibri"/>
              <a:ea typeface="Calibri"/>
              <a:cs typeface="Calibri"/>
              <a:sym typeface="Calibri"/>
            </a:endParaRPr>
          </a:p>
        </p:txBody>
      </p:sp>
      <p:pic>
        <p:nvPicPr>
          <p:cNvPr id="1211" name="Google Shape;1211;p21" descr="preencoded.png">
            <a:extLst>
              <a:ext uri="{FF2B5EF4-FFF2-40B4-BE49-F238E27FC236}">
                <a16:creationId xmlns:a16="http://schemas.microsoft.com/office/drawing/2014/main" id="{393431FC-5F2C-3BD1-3903-C7037125EF89}"/>
              </a:ext>
            </a:extLst>
          </p:cNvPr>
          <p:cNvPicPr preferRelativeResize="0"/>
          <p:nvPr/>
        </p:nvPicPr>
        <p:blipFill rotWithShape="1">
          <a:blip r:embed="rId4">
            <a:alphaModFix amt="70000"/>
          </a:blip>
          <a:srcRect/>
          <a:stretch/>
        </p:blipFill>
        <p:spPr>
          <a:xfrm>
            <a:off x="8492431" y="2155033"/>
            <a:ext cx="2540000" cy="2547937"/>
          </a:xfrm>
          <a:prstGeom prst="rect">
            <a:avLst/>
          </a:prstGeom>
          <a:noFill/>
          <a:ln>
            <a:noFill/>
          </a:ln>
          <a:effectLst>
            <a:reflection stA="78000" endPos="65000" dist="50800" dir="5400000" sy="-100000" algn="bl" rotWithShape="0"/>
          </a:effectLst>
        </p:spPr>
      </p:pic>
      <p:sp>
        <p:nvSpPr>
          <p:cNvPr id="1212" name="Google Shape;1212;p21">
            <a:extLst>
              <a:ext uri="{FF2B5EF4-FFF2-40B4-BE49-F238E27FC236}">
                <a16:creationId xmlns:a16="http://schemas.microsoft.com/office/drawing/2014/main" id="{8F596A8A-0AA1-7922-CDA1-E1442AEE5FC8}"/>
              </a:ext>
            </a:extLst>
          </p:cNvPr>
          <p:cNvSpPr/>
          <p:nvPr/>
        </p:nvSpPr>
        <p:spPr>
          <a:xfrm>
            <a:off x="8728273" y="6273801"/>
            <a:ext cx="2275091" cy="266700"/>
          </a:xfrm>
          <a:prstGeom prst="rect">
            <a:avLst/>
          </a:prstGeom>
          <a:noFill/>
          <a:ln>
            <a:noFill/>
          </a:ln>
        </p:spPr>
        <p:txBody>
          <a:bodyPr spcFirstLastPara="1" wrap="square" lIns="16933" tIns="16933" rIns="16933" bIns="16933" anchor="t" anchorCtr="0">
            <a:normAutofit/>
          </a:bodyPr>
          <a:lstStyle/>
          <a:p>
            <a:r>
              <a:rPr lang="en-US" sz="1500" i="1">
                <a:solidFill>
                  <a:srgbClr val="333333"/>
                </a:solidFill>
                <a:latin typeface="Lora"/>
                <a:ea typeface="Lora"/>
                <a:cs typeface="Lora"/>
                <a:sym typeface="Lora"/>
              </a:rPr>
              <a:t>Smart retail. Real value.</a:t>
            </a:r>
            <a:endParaRPr sz="1500">
              <a:solidFill>
                <a:schemeClr val="dk1"/>
              </a:solidFill>
              <a:latin typeface="Calibri"/>
              <a:ea typeface="Calibri"/>
              <a:cs typeface="Calibri"/>
              <a:sym typeface="Calibri"/>
            </a:endParaRPr>
          </a:p>
        </p:txBody>
      </p:sp>
      <p:sp>
        <p:nvSpPr>
          <p:cNvPr id="1213" name="Google Shape;1213;p21">
            <a:extLst>
              <a:ext uri="{FF2B5EF4-FFF2-40B4-BE49-F238E27FC236}">
                <a16:creationId xmlns:a16="http://schemas.microsoft.com/office/drawing/2014/main" id="{DDAF8B81-08F8-56F2-D6A6-981B6431B776}"/>
              </a:ext>
            </a:extLst>
          </p:cNvPr>
          <p:cNvSpPr/>
          <p:nvPr/>
        </p:nvSpPr>
        <p:spPr>
          <a:xfrm>
            <a:off x="7332862" y="0"/>
            <a:ext cx="88900" cy="6858000"/>
          </a:xfrm>
          <a:prstGeom prst="rect">
            <a:avLst/>
          </a:prstGeom>
          <a:solidFill>
            <a:srgbClr val="E31837"/>
          </a:solidFill>
          <a:ln>
            <a:noFill/>
          </a:ln>
        </p:spPr>
        <p:txBody>
          <a:bodyPr spcFirstLastPara="1" wrap="square" lIns="121900" tIns="60933" rIns="121900" bIns="60933" anchor="t" anchorCtr="0">
            <a:noAutofit/>
          </a:bodyPr>
          <a:lstStyle/>
          <a:p>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4726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E31837"/>
          </a:solidFill>
          <a:ln/>
        </p:spPr>
        <p:txBody>
          <a:bodyPr/>
          <a:lstStyle/>
          <a:p>
            <a:endParaRPr lang="en-US"/>
          </a:p>
        </p:txBody>
      </p:sp>
      <p:sp>
        <p:nvSpPr>
          <p:cNvPr id="4" name="Text 2"/>
          <p:cNvSpPr/>
          <p:nvPr/>
        </p:nvSpPr>
        <p:spPr>
          <a:xfrm>
            <a:off x="365760" y="182880"/>
            <a:ext cx="9144000" cy="219456"/>
          </a:xfrm>
          <a:prstGeom prst="rect">
            <a:avLst/>
          </a:prstGeom>
          <a:noFill/>
          <a:ln/>
        </p:spPr>
        <p:txBody>
          <a:bodyPr wrap="square" lIns="0" tIns="0" rIns="0" bIns="0" rtlCol="0" anchor="ctr"/>
          <a:lstStyle/>
          <a:p>
            <a:pPr marL="0" indent="0">
              <a:buNone/>
            </a:pPr>
            <a:r>
              <a:rPr lang="en-US" sz="1000" b="1" kern="0" spc="200" dirty="0">
                <a:solidFill>
                  <a:srgbClr val="E31837"/>
                </a:solidFill>
                <a:latin typeface="Montserrat" pitchFamily="34" charset="0"/>
                <a:ea typeface="Montserrat" pitchFamily="34" charset="-122"/>
                <a:cs typeface="Montserrat" pitchFamily="34" charset="-120"/>
              </a:rPr>
              <a:t>OBJECTIVE 1 · THE AGENTIC SOLUTION</a:t>
            </a:r>
            <a:endParaRPr lang="en-US" sz="1000" dirty="0"/>
          </a:p>
        </p:txBody>
      </p:sp>
      <p:sp>
        <p:nvSpPr>
          <p:cNvPr id="5" name="Text 3"/>
          <p:cNvSpPr/>
          <p:nvPr/>
        </p:nvSpPr>
        <p:spPr>
          <a:xfrm>
            <a:off x="365760" y="402336"/>
            <a:ext cx="11521440" cy="347472"/>
          </a:xfrm>
          <a:prstGeom prst="rect">
            <a:avLst/>
          </a:prstGeom>
          <a:noFill/>
          <a:ln/>
        </p:spPr>
        <p:txBody>
          <a:bodyPr wrap="square" lIns="0" tIns="0" rIns="0" bIns="0" rtlCol="0" anchor="ctr"/>
          <a:lstStyle/>
          <a:p>
            <a:pPr marL="0" indent="0">
              <a:buNone/>
            </a:pPr>
            <a:r>
              <a:rPr lang="en-US" sz="1800" b="1" dirty="0">
                <a:solidFill>
                  <a:srgbClr val="333333"/>
                </a:solidFill>
                <a:latin typeface="Montserrat" pitchFamily="34" charset="0"/>
                <a:ea typeface="Montserrat" pitchFamily="34" charset="-122"/>
                <a:cs typeface="Montserrat" pitchFamily="34" charset="-120"/>
              </a:rPr>
              <a:t>The full agent ecosystem — 17 agents, 11 in the Mission 3 use cases</a:t>
            </a:r>
            <a:endParaRPr lang="en-US" sz="1800" dirty="0"/>
          </a:p>
        </p:txBody>
      </p:sp>
      <p:sp>
        <p:nvSpPr>
          <p:cNvPr id="6" name="Text 4"/>
          <p:cNvSpPr/>
          <p:nvPr/>
        </p:nvSpPr>
        <p:spPr>
          <a:xfrm>
            <a:off x="365760" y="768096"/>
            <a:ext cx="11521440" cy="201168"/>
          </a:xfrm>
          <a:prstGeom prst="rect">
            <a:avLst/>
          </a:prstGeom>
          <a:noFill/>
          <a:ln/>
        </p:spPr>
        <p:txBody>
          <a:bodyPr wrap="square" lIns="0" tIns="0" rIns="0" bIns="0" rtlCol="0" anchor="ctr"/>
          <a:lstStyle/>
          <a:p>
            <a:pPr marL="0" indent="0">
              <a:buNone/>
            </a:pPr>
            <a:r>
              <a:rPr lang="en-US" sz="1000" i="1" dirty="0">
                <a:solidFill>
                  <a:srgbClr val="5F5E5A"/>
                </a:solidFill>
                <a:latin typeface="Lora" pitchFamily="34" charset="0"/>
                <a:ea typeface="Lora" pitchFamily="34" charset="-122"/>
                <a:cs typeface="Lora" pitchFamily="34" charset="-120"/>
              </a:rPr>
              <a:t>Four new sub-agents built on the Mission 2 estate. UC1–5 = the five Personalisation Assistant use cases.</a:t>
            </a:r>
            <a:endParaRPr lang="en-US" sz="1000" dirty="0"/>
          </a:p>
        </p:txBody>
      </p:sp>
      <p:sp>
        <p:nvSpPr>
          <p:cNvPr id="7" name="Shape 5"/>
          <p:cNvSpPr/>
          <p:nvPr/>
        </p:nvSpPr>
        <p:spPr>
          <a:xfrm>
            <a:off x="365760" y="1024128"/>
            <a:ext cx="146304" cy="146304"/>
          </a:xfrm>
          <a:prstGeom prst="roundRect">
            <a:avLst>
              <a:gd name="adj" fmla="val 12500"/>
            </a:avLst>
          </a:prstGeom>
          <a:solidFill>
            <a:srgbClr val="FBE3E4"/>
          </a:solidFill>
          <a:ln w="12700">
            <a:solidFill>
              <a:srgbClr val="E24B4A"/>
            </a:solidFill>
            <a:prstDash val="solid"/>
          </a:ln>
        </p:spPr>
        <p:txBody>
          <a:bodyPr/>
          <a:lstStyle/>
          <a:p>
            <a:endParaRPr lang="en-US"/>
          </a:p>
        </p:txBody>
      </p:sp>
      <p:sp>
        <p:nvSpPr>
          <p:cNvPr id="8" name="Text 6"/>
          <p:cNvSpPr/>
          <p:nvPr/>
        </p:nvSpPr>
        <p:spPr>
          <a:xfrm>
            <a:off x="548640" y="1005840"/>
            <a:ext cx="1371600" cy="182880"/>
          </a:xfrm>
          <a:prstGeom prst="rect">
            <a:avLst/>
          </a:prstGeom>
          <a:noFill/>
          <a:ln/>
        </p:spPr>
        <p:txBody>
          <a:bodyPr wrap="square" lIns="0" tIns="0" rIns="0" bIns="0" rtlCol="0" anchor="ctr"/>
          <a:lstStyle/>
          <a:p>
            <a:pPr marL="0" indent="0">
              <a:buNone/>
            </a:pPr>
            <a:r>
              <a:rPr lang="en-US" sz="800" dirty="0">
                <a:solidFill>
                  <a:srgbClr val="5F5E5A"/>
                </a:solidFill>
                <a:latin typeface="Montserrat" pitchFamily="34" charset="0"/>
                <a:ea typeface="Montserrat" pitchFamily="34" charset="-122"/>
                <a:cs typeface="Montserrat" pitchFamily="34" charset="-120"/>
              </a:rPr>
              <a:t>New (M3)</a:t>
            </a:r>
            <a:endParaRPr lang="en-US" sz="800" dirty="0"/>
          </a:p>
        </p:txBody>
      </p:sp>
      <p:sp>
        <p:nvSpPr>
          <p:cNvPr id="9" name="Shape 7"/>
          <p:cNvSpPr/>
          <p:nvPr/>
        </p:nvSpPr>
        <p:spPr>
          <a:xfrm>
            <a:off x="1783080" y="1024128"/>
            <a:ext cx="146304" cy="146304"/>
          </a:xfrm>
          <a:prstGeom prst="roundRect">
            <a:avLst>
              <a:gd name="adj" fmla="val 12500"/>
            </a:avLst>
          </a:prstGeom>
          <a:solidFill>
            <a:srgbClr val="EAF0F6"/>
          </a:solidFill>
          <a:ln w="12700">
            <a:solidFill>
              <a:srgbClr val="5B7FA6"/>
            </a:solidFill>
            <a:prstDash val="solid"/>
          </a:ln>
        </p:spPr>
        <p:txBody>
          <a:bodyPr/>
          <a:lstStyle/>
          <a:p>
            <a:endParaRPr lang="en-US"/>
          </a:p>
        </p:txBody>
      </p:sp>
      <p:sp>
        <p:nvSpPr>
          <p:cNvPr id="10" name="Text 8"/>
          <p:cNvSpPr/>
          <p:nvPr/>
        </p:nvSpPr>
        <p:spPr>
          <a:xfrm>
            <a:off x="1965960" y="1005840"/>
            <a:ext cx="1371600" cy="182880"/>
          </a:xfrm>
          <a:prstGeom prst="rect">
            <a:avLst/>
          </a:prstGeom>
          <a:noFill/>
          <a:ln/>
        </p:spPr>
        <p:txBody>
          <a:bodyPr wrap="square" lIns="0" tIns="0" rIns="0" bIns="0" rtlCol="0" anchor="ctr"/>
          <a:lstStyle/>
          <a:p>
            <a:pPr marL="0" indent="0">
              <a:buNone/>
            </a:pPr>
            <a:r>
              <a:rPr lang="en-US" sz="800" dirty="0">
                <a:solidFill>
                  <a:srgbClr val="5F5E5A"/>
                </a:solidFill>
                <a:latin typeface="Montserrat" pitchFamily="34" charset="0"/>
                <a:ea typeface="Montserrat" pitchFamily="34" charset="-122"/>
                <a:cs typeface="Montserrat" pitchFamily="34" charset="-120"/>
              </a:rPr>
              <a:t>Reused in M3</a:t>
            </a:r>
            <a:endParaRPr lang="en-US" sz="800" dirty="0"/>
          </a:p>
        </p:txBody>
      </p:sp>
      <p:sp>
        <p:nvSpPr>
          <p:cNvPr id="11" name="Shape 9"/>
          <p:cNvSpPr/>
          <p:nvPr/>
        </p:nvSpPr>
        <p:spPr>
          <a:xfrm>
            <a:off x="3200400" y="1024128"/>
            <a:ext cx="146304" cy="146304"/>
          </a:xfrm>
          <a:prstGeom prst="roundRect">
            <a:avLst>
              <a:gd name="adj" fmla="val 12500"/>
            </a:avLst>
          </a:prstGeom>
          <a:solidFill>
            <a:srgbClr val="FBF3E4"/>
          </a:solidFill>
          <a:ln w="12700">
            <a:solidFill>
              <a:srgbClr val="C79A3E"/>
            </a:solidFill>
            <a:prstDash val="solid"/>
          </a:ln>
        </p:spPr>
        <p:txBody>
          <a:bodyPr/>
          <a:lstStyle/>
          <a:p>
            <a:endParaRPr lang="en-US"/>
          </a:p>
        </p:txBody>
      </p:sp>
      <p:sp>
        <p:nvSpPr>
          <p:cNvPr id="12" name="Text 10"/>
          <p:cNvSpPr/>
          <p:nvPr/>
        </p:nvSpPr>
        <p:spPr>
          <a:xfrm>
            <a:off x="3383280" y="1005840"/>
            <a:ext cx="1371600" cy="182880"/>
          </a:xfrm>
          <a:prstGeom prst="rect">
            <a:avLst/>
          </a:prstGeom>
          <a:noFill/>
          <a:ln/>
        </p:spPr>
        <p:txBody>
          <a:bodyPr wrap="square" lIns="0" tIns="0" rIns="0" bIns="0" rtlCol="0" anchor="ctr"/>
          <a:lstStyle/>
          <a:p>
            <a:pPr marL="0" indent="0">
              <a:buNone/>
            </a:pPr>
            <a:r>
              <a:rPr lang="en-US" sz="800" dirty="0">
                <a:solidFill>
                  <a:srgbClr val="5F5E5A"/>
                </a:solidFill>
                <a:latin typeface="Montserrat" pitchFamily="34" charset="0"/>
                <a:ea typeface="Montserrat" pitchFamily="34" charset="-122"/>
                <a:cs typeface="Montserrat" pitchFamily="34" charset="-120"/>
              </a:rPr>
              <a:t>Signal to M3</a:t>
            </a:r>
            <a:endParaRPr lang="en-US" sz="800" dirty="0"/>
          </a:p>
        </p:txBody>
      </p:sp>
      <p:sp>
        <p:nvSpPr>
          <p:cNvPr id="13" name="Shape 11"/>
          <p:cNvSpPr/>
          <p:nvPr/>
        </p:nvSpPr>
        <p:spPr>
          <a:xfrm>
            <a:off x="4617720" y="1024128"/>
            <a:ext cx="146304" cy="146304"/>
          </a:xfrm>
          <a:prstGeom prst="roundRect">
            <a:avLst>
              <a:gd name="adj" fmla="val 12500"/>
            </a:avLst>
          </a:prstGeom>
          <a:solidFill>
            <a:srgbClr val="F2F1EC"/>
          </a:solidFill>
          <a:ln w="12700">
            <a:solidFill>
              <a:srgbClr val="DAD8D0"/>
            </a:solidFill>
            <a:prstDash val="solid"/>
          </a:ln>
        </p:spPr>
        <p:txBody>
          <a:bodyPr/>
          <a:lstStyle/>
          <a:p>
            <a:endParaRPr lang="en-US"/>
          </a:p>
        </p:txBody>
      </p:sp>
      <p:sp>
        <p:nvSpPr>
          <p:cNvPr id="14" name="Text 12"/>
          <p:cNvSpPr/>
          <p:nvPr/>
        </p:nvSpPr>
        <p:spPr>
          <a:xfrm>
            <a:off x="4800600" y="1005840"/>
            <a:ext cx="1371600" cy="182880"/>
          </a:xfrm>
          <a:prstGeom prst="rect">
            <a:avLst/>
          </a:prstGeom>
          <a:noFill/>
          <a:ln/>
        </p:spPr>
        <p:txBody>
          <a:bodyPr wrap="square" lIns="0" tIns="0" rIns="0" bIns="0" rtlCol="0" anchor="ctr"/>
          <a:lstStyle/>
          <a:p>
            <a:pPr marL="0" indent="0">
              <a:buNone/>
            </a:pPr>
            <a:r>
              <a:rPr lang="en-US" sz="800" dirty="0">
                <a:solidFill>
                  <a:srgbClr val="5F5E5A"/>
                </a:solidFill>
                <a:latin typeface="Montserrat" pitchFamily="34" charset="0"/>
                <a:ea typeface="Montserrat" pitchFamily="34" charset="-122"/>
                <a:cs typeface="Montserrat" pitchFamily="34" charset="-120"/>
              </a:rPr>
              <a:t>Mission 2 only</a:t>
            </a:r>
            <a:endParaRPr lang="en-US" sz="800" dirty="0"/>
          </a:p>
        </p:txBody>
      </p:sp>
      <p:sp>
        <p:nvSpPr>
          <p:cNvPr id="15" name="Text 13"/>
          <p:cNvSpPr/>
          <p:nvPr/>
        </p:nvSpPr>
        <p:spPr>
          <a:xfrm>
            <a:off x="365760" y="1280160"/>
            <a:ext cx="9144000" cy="164592"/>
          </a:xfrm>
          <a:prstGeom prst="rect">
            <a:avLst/>
          </a:prstGeom>
          <a:noFill/>
          <a:ln/>
        </p:spPr>
        <p:txBody>
          <a:bodyPr wrap="square" lIns="0" tIns="0" rIns="0" bIns="0" rtlCol="0" anchor="ctr"/>
          <a:lstStyle/>
          <a:p>
            <a:pPr marL="0" indent="0">
              <a:buNone/>
            </a:pPr>
            <a:r>
              <a:rPr lang="en-US" sz="900" b="1" kern="0" spc="80" dirty="0">
                <a:solidFill>
                  <a:srgbClr val="7A7970"/>
                </a:solidFill>
                <a:latin typeface="Montserrat" pitchFamily="34" charset="0"/>
                <a:ea typeface="Montserrat" pitchFamily="34" charset="-122"/>
                <a:cs typeface="Montserrat" pitchFamily="34" charset="-120"/>
              </a:rPr>
              <a:t>NEW — Mission 3 sub-agents</a:t>
            </a:r>
            <a:endParaRPr lang="en-US" sz="900" dirty="0"/>
          </a:p>
        </p:txBody>
      </p:sp>
      <p:sp>
        <p:nvSpPr>
          <p:cNvPr id="16" name="Shape 14"/>
          <p:cNvSpPr/>
          <p:nvPr/>
        </p:nvSpPr>
        <p:spPr>
          <a:xfrm>
            <a:off x="365760" y="1463040"/>
            <a:ext cx="1787652" cy="914400"/>
          </a:xfrm>
          <a:prstGeom prst="roundRect">
            <a:avLst>
              <a:gd name="adj" fmla="val 5000"/>
            </a:avLst>
          </a:prstGeom>
          <a:solidFill>
            <a:srgbClr val="FBE3E4"/>
          </a:solidFill>
          <a:ln w="9525">
            <a:solidFill>
              <a:srgbClr val="E24B4A"/>
            </a:solidFill>
            <a:prstDash val="solid"/>
          </a:ln>
          <a:effectLst>
            <a:outerShdw blurRad="38100" dist="12700" dir="5400000" algn="bl" rotWithShape="0">
              <a:srgbClr val="000000">
                <a:alpha val="9000"/>
              </a:srgbClr>
            </a:outerShdw>
          </a:effectLst>
        </p:spPr>
        <p:txBody>
          <a:bodyPr/>
          <a:lstStyle/>
          <a:p>
            <a:endParaRPr lang="en-US" dirty="0"/>
          </a:p>
        </p:txBody>
      </p:sp>
      <p:sp>
        <p:nvSpPr>
          <p:cNvPr id="17" name="Text 15"/>
          <p:cNvSpPr/>
          <p:nvPr/>
        </p:nvSpPr>
        <p:spPr>
          <a:xfrm>
            <a:off x="457200" y="1527048"/>
            <a:ext cx="1284732" cy="219456"/>
          </a:xfrm>
          <a:prstGeom prst="rect">
            <a:avLst/>
          </a:prstGeom>
          <a:noFill/>
          <a:ln/>
        </p:spPr>
        <p:txBody>
          <a:bodyPr wrap="square" lIns="0" tIns="0" rIns="0" bIns="0" rtlCol="0" anchor="ctr"/>
          <a:lstStyle/>
          <a:p>
            <a:pPr marL="0" indent="0">
              <a:buNone/>
            </a:pPr>
            <a:r>
              <a:rPr lang="en-US" sz="1100" b="1" dirty="0">
                <a:solidFill>
                  <a:srgbClr val="8A1F2C"/>
                </a:solidFill>
                <a:latin typeface="Montserrat" pitchFamily="34" charset="0"/>
                <a:ea typeface="Montserrat" pitchFamily="34" charset="-122"/>
                <a:cs typeface="Montserrat" pitchFamily="34" charset="-120"/>
              </a:rPr>
              <a:t>PERSONA</a:t>
            </a:r>
            <a:endParaRPr lang="en-US" sz="1100" dirty="0"/>
          </a:p>
        </p:txBody>
      </p:sp>
      <p:sp>
        <p:nvSpPr>
          <p:cNvPr id="18" name="Shape 16"/>
          <p:cNvSpPr/>
          <p:nvPr/>
        </p:nvSpPr>
        <p:spPr>
          <a:xfrm>
            <a:off x="1696212" y="1536192"/>
            <a:ext cx="384048" cy="173736"/>
          </a:xfrm>
          <a:prstGeom prst="roundRect">
            <a:avLst>
              <a:gd name="adj" fmla="val 15789"/>
            </a:avLst>
          </a:prstGeom>
          <a:solidFill>
            <a:srgbClr val="E24B4A"/>
          </a:solidFill>
          <a:ln/>
        </p:spPr>
        <p:txBody>
          <a:bodyPr/>
          <a:lstStyle/>
          <a:p>
            <a:endParaRPr lang="en-US"/>
          </a:p>
        </p:txBody>
      </p:sp>
      <p:sp>
        <p:nvSpPr>
          <p:cNvPr id="19" name="Text 17"/>
          <p:cNvSpPr/>
          <p:nvPr/>
        </p:nvSpPr>
        <p:spPr>
          <a:xfrm>
            <a:off x="1696212" y="1536192"/>
            <a:ext cx="384048" cy="173736"/>
          </a:xfrm>
          <a:prstGeom prst="rect">
            <a:avLst/>
          </a:prstGeom>
          <a:noFill/>
          <a:ln/>
        </p:spPr>
        <p:txBody>
          <a:bodyPr wrap="square" lIns="0" tIns="0" rIns="0" bIns="0" rtlCol="0" anchor="ctr"/>
          <a:lstStyle/>
          <a:p>
            <a:pPr marL="0" indent="0" algn="ctr">
              <a:buNone/>
            </a:pPr>
            <a:r>
              <a:rPr lang="en-US" sz="650" b="1" dirty="0">
                <a:solidFill>
                  <a:srgbClr val="FDFDFD"/>
                </a:solidFill>
                <a:latin typeface="Montserrat" pitchFamily="34" charset="0"/>
                <a:ea typeface="Montserrat" pitchFamily="34" charset="-122"/>
                <a:cs typeface="Montserrat" pitchFamily="34" charset="-120"/>
              </a:rPr>
              <a:t>UC1</a:t>
            </a:r>
            <a:endParaRPr lang="en-US" sz="650" dirty="0"/>
          </a:p>
        </p:txBody>
      </p:sp>
      <p:sp>
        <p:nvSpPr>
          <p:cNvPr id="20" name="Text 18"/>
          <p:cNvSpPr/>
          <p:nvPr/>
        </p:nvSpPr>
        <p:spPr>
          <a:xfrm>
            <a:off x="457200" y="1737360"/>
            <a:ext cx="1604772" cy="146304"/>
          </a:xfrm>
          <a:prstGeom prst="rect">
            <a:avLst/>
          </a:prstGeom>
          <a:noFill/>
          <a:ln/>
        </p:spPr>
        <p:txBody>
          <a:bodyPr wrap="square" lIns="0" tIns="0" rIns="0" bIns="0" rtlCol="0" anchor="ctr"/>
          <a:lstStyle/>
          <a:p>
            <a:pPr marL="0" indent="0">
              <a:buNone/>
            </a:pPr>
            <a:r>
              <a:rPr lang="en-US" sz="630" b="1" kern="0" spc="30" dirty="0">
                <a:solidFill>
                  <a:srgbClr val="8A1F2C"/>
                </a:solidFill>
                <a:latin typeface="Montserrat" pitchFamily="34" charset="0"/>
                <a:ea typeface="Montserrat" pitchFamily="34" charset="-122"/>
                <a:cs typeface="Montserrat" pitchFamily="34" charset="-120"/>
              </a:rPr>
              <a:t>PROFILING &amp; SEGMENTATION</a:t>
            </a:r>
            <a:endParaRPr lang="en-US" sz="630" dirty="0"/>
          </a:p>
        </p:txBody>
      </p:sp>
      <p:sp>
        <p:nvSpPr>
          <p:cNvPr id="21" name="Text 19"/>
          <p:cNvSpPr/>
          <p:nvPr/>
        </p:nvSpPr>
        <p:spPr>
          <a:xfrm>
            <a:off x="457200" y="1883664"/>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333333"/>
                </a:solidFill>
                <a:latin typeface="Lora" pitchFamily="34" charset="0"/>
                <a:ea typeface="Lora" pitchFamily="34" charset="-122"/>
                <a:cs typeface="Lora" pitchFamily="34" charset="-120"/>
              </a:rPr>
              <a:t>Real-time profile; classifies segment; publishes downstream</a:t>
            </a:r>
            <a:endParaRPr lang="en-US" sz="700" dirty="0"/>
          </a:p>
        </p:txBody>
      </p:sp>
      <p:sp>
        <p:nvSpPr>
          <p:cNvPr id="22" name="Text 20"/>
          <p:cNvSpPr/>
          <p:nvPr/>
        </p:nvSpPr>
        <p:spPr>
          <a:xfrm>
            <a:off x="457200" y="2075688"/>
            <a:ext cx="1623060" cy="329184"/>
          </a:xfrm>
          <a:prstGeom prst="rect">
            <a:avLst/>
          </a:prstGeom>
          <a:noFill/>
          <a:ln/>
        </p:spPr>
        <p:txBody>
          <a:bodyPr wrap="square" lIns="0" tIns="0" rIns="0" bIns="0" rtlCol="0" anchor="ctr"/>
          <a:lstStyle/>
          <a:p>
            <a:r>
              <a:rPr lang="en-US" sz="700" b="1" dirty="0">
                <a:latin typeface="Lora" pitchFamily="2" charset="77"/>
              </a:rPr>
              <a:t>Extends</a:t>
            </a:r>
            <a:r>
              <a:rPr lang="en-US" sz="700" dirty="0">
                <a:latin typeface="Lora" pitchFamily="2" charset="77"/>
              </a:rPr>
              <a:t> ONEBASKET · </a:t>
            </a:r>
            <a:r>
              <a:rPr lang="en-US" sz="700" b="1" dirty="0">
                <a:latin typeface="Lora" pitchFamily="2" charset="77"/>
              </a:rPr>
              <a:t>feeds</a:t>
            </a:r>
            <a:r>
              <a:rPr lang="en-US" sz="700" dirty="0">
                <a:latin typeface="Lora" pitchFamily="2" charset="77"/>
              </a:rPr>
              <a:t> MUSE, </a:t>
            </a:r>
          </a:p>
          <a:p>
            <a:r>
              <a:rPr lang="en-US" sz="700" dirty="0">
                <a:latin typeface="Lora" pitchFamily="2" charset="77"/>
              </a:rPr>
              <a:t>TAILOR, CONCIERGE, TALLY</a:t>
            </a:r>
          </a:p>
        </p:txBody>
      </p:sp>
      <p:sp>
        <p:nvSpPr>
          <p:cNvPr id="23" name="Shape 21"/>
          <p:cNvSpPr/>
          <p:nvPr/>
        </p:nvSpPr>
        <p:spPr>
          <a:xfrm>
            <a:off x="2299716" y="1463040"/>
            <a:ext cx="1787652" cy="914400"/>
          </a:xfrm>
          <a:prstGeom prst="roundRect">
            <a:avLst>
              <a:gd name="adj" fmla="val 5000"/>
            </a:avLst>
          </a:prstGeom>
          <a:solidFill>
            <a:srgbClr val="FBE3E4"/>
          </a:solidFill>
          <a:ln w="9525">
            <a:solidFill>
              <a:srgbClr val="E24B4A"/>
            </a:solidFill>
            <a:prstDash val="solid"/>
          </a:ln>
          <a:effectLst>
            <a:outerShdw blurRad="38100" dist="12700" dir="5400000" algn="bl" rotWithShape="0">
              <a:srgbClr val="000000">
                <a:alpha val="9000"/>
              </a:srgbClr>
            </a:outerShdw>
          </a:effectLst>
        </p:spPr>
        <p:txBody>
          <a:bodyPr/>
          <a:lstStyle/>
          <a:p>
            <a:endParaRPr lang="en-US"/>
          </a:p>
        </p:txBody>
      </p:sp>
      <p:sp>
        <p:nvSpPr>
          <p:cNvPr id="24" name="Text 22"/>
          <p:cNvSpPr/>
          <p:nvPr/>
        </p:nvSpPr>
        <p:spPr>
          <a:xfrm>
            <a:off x="2391156" y="1527048"/>
            <a:ext cx="1284732" cy="219456"/>
          </a:xfrm>
          <a:prstGeom prst="rect">
            <a:avLst/>
          </a:prstGeom>
          <a:noFill/>
          <a:ln/>
        </p:spPr>
        <p:txBody>
          <a:bodyPr wrap="square" lIns="0" tIns="0" rIns="0" bIns="0" rtlCol="0" anchor="ctr"/>
          <a:lstStyle/>
          <a:p>
            <a:pPr marL="0" indent="0">
              <a:buNone/>
            </a:pPr>
            <a:r>
              <a:rPr lang="en-US" sz="1100" b="1" dirty="0">
                <a:solidFill>
                  <a:srgbClr val="8A1F2C"/>
                </a:solidFill>
                <a:latin typeface="Montserrat" pitchFamily="34" charset="0"/>
                <a:ea typeface="Montserrat" pitchFamily="34" charset="-122"/>
                <a:cs typeface="Montserrat" pitchFamily="34" charset="-120"/>
              </a:rPr>
              <a:t>TAILOR</a:t>
            </a:r>
            <a:endParaRPr lang="en-US" sz="1100" dirty="0"/>
          </a:p>
        </p:txBody>
      </p:sp>
      <p:sp>
        <p:nvSpPr>
          <p:cNvPr id="25" name="Shape 23"/>
          <p:cNvSpPr/>
          <p:nvPr/>
        </p:nvSpPr>
        <p:spPr>
          <a:xfrm>
            <a:off x="3630168" y="1536192"/>
            <a:ext cx="384048" cy="173736"/>
          </a:xfrm>
          <a:prstGeom prst="roundRect">
            <a:avLst>
              <a:gd name="adj" fmla="val 15789"/>
            </a:avLst>
          </a:prstGeom>
          <a:solidFill>
            <a:srgbClr val="E24B4A"/>
          </a:solidFill>
          <a:ln/>
        </p:spPr>
        <p:txBody>
          <a:bodyPr/>
          <a:lstStyle/>
          <a:p>
            <a:endParaRPr lang="en-US"/>
          </a:p>
        </p:txBody>
      </p:sp>
      <p:sp>
        <p:nvSpPr>
          <p:cNvPr id="26" name="Text 24"/>
          <p:cNvSpPr/>
          <p:nvPr/>
        </p:nvSpPr>
        <p:spPr>
          <a:xfrm>
            <a:off x="3630168" y="1536192"/>
            <a:ext cx="384048" cy="173736"/>
          </a:xfrm>
          <a:prstGeom prst="rect">
            <a:avLst/>
          </a:prstGeom>
          <a:noFill/>
          <a:ln/>
        </p:spPr>
        <p:txBody>
          <a:bodyPr wrap="square" lIns="0" tIns="0" rIns="0" bIns="0" rtlCol="0" anchor="ctr"/>
          <a:lstStyle/>
          <a:p>
            <a:pPr marL="0" indent="0" algn="ctr">
              <a:buNone/>
            </a:pPr>
            <a:r>
              <a:rPr lang="en-US" sz="650" b="1" dirty="0">
                <a:solidFill>
                  <a:srgbClr val="FDFDFD"/>
                </a:solidFill>
                <a:latin typeface="Montserrat" pitchFamily="34" charset="0"/>
                <a:ea typeface="Montserrat" pitchFamily="34" charset="-122"/>
                <a:cs typeface="Montserrat" pitchFamily="34" charset="-120"/>
              </a:rPr>
              <a:t>UC3</a:t>
            </a:r>
            <a:endParaRPr lang="en-US" sz="650" dirty="0"/>
          </a:p>
        </p:txBody>
      </p:sp>
      <p:sp>
        <p:nvSpPr>
          <p:cNvPr id="27" name="Text 25"/>
          <p:cNvSpPr/>
          <p:nvPr/>
        </p:nvSpPr>
        <p:spPr>
          <a:xfrm>
            <a:off x="2391156" y="1737360"/>
            <a:ext cx="1604772" cy="146304"/>
          </a:xfrm>
          <a:prstGeom prst="rect">
            <a:avLst/>
          </a:prstGeom>
          <a:noFill/>
          <a:ln/>
        </p:spPr>
        <p:txBody>
          <a:bodyPr wrap="square" lIns="0" tIns="0" rIns="0" bIns="0" rtlCol="0" anchor="ctr"/>
          <a:lstStyle/>
          <a:p>
            <a:pPr marL="0" indent="0">
              <a:buNone/>
            </a:pPr>
            <a:r>
              <a:rPr lang="en-US" sz="630" b="1" kern="0" spc="30" dirty="0">
                <a:solidFill>
                  <a:srgbClr val="8A1F2C"/>
                </a:solidFill>
                <a:latin typeface="Montserrat" pitchFamily="34" charset="0"/>
                <a:ea typeface="Montserrat" pitchFamily="34" charset="-122"/>
                <a:cs typeface="Montserrat" pitchFamily="34" charset="-120"/>
              </a:rPr>
              <a:t>SIZE &amp; FIT</a:t>
            </a:r>
            <a:endParaRPr lang="en-US" sz="630" dirty="0"/>
          </a:p>
        </p:txBody>
      </p:sp>
      <p:sp>
        <p:nvSpPr>
          <p:cNvPr id="28" name="Text 26"/>
          <p:cNvSpPr/>
          <p:nvPr/>
        </p:nvSpPr>
        <p:spPr>
          <a:xfrm>
            <a:off x="2391156" y="1883664"/>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333333"/>
                </a:solidFill>
                <a:latin typeface="Lora" pitchFamily="34" charset="0"/>
                <a:ea typeface="Lora" pitchFamily="34" charset="-122"/>
                <a:cs typeface="Lora" pitchFamily="34" charset="-120"/>
              </a:rPr>
              <a:t>Size, fit &amp; preference; owns returns 34%→10–15%</a:t>
            </a:r>
            <a:endParaRPr lang="en-US" sz="700" dirty="0"/>
          </a:p>
        </p:txBody>
      </p:sp>
      <p:sp>
        <p:nvSpPr>
          <p:cNvPr id="29" name="Text 27"/>
          <p:cNvSpPr/>
          <p:nvPr/>
        </p:nvSpPr>
        <p:spPr>
          <a:xfrm>
            <a:off x="2391156" y="2176272"/>
            <a:ext cx="1604772" cy="164592"/>
          </a:xfrm>
          <a:prstGeom prst="rect">
            <a:avLst/>
          </a:prstGeom>
          <a:noFill/>
          <a:ln/>
        </p:spPr>
        <p:txBody>
          <a:bodyPr wrap="square" lIns="0" tIns="0" rIns="0" bIns="0" rtlCol="0" anchor="ctr"/>
          <a:lstStyle/>
          <a:p>
            <a:r>
              <a:rPr lang="en-US" sz="700" b="1" dirty="0">
                <a:latin typeface="Lora" pitchFamily="2" charset="77"/>
              </a:rPr>
              <a:t>Consumes</a:t>
            </a:r>
            <a:r>
              <a:rPr lang="en-US" sz="700" dirty="0">
                <a:latin typeface="Lora" pitchFamily="2" charset="77"/>
              </a:rPr>
              <a:t> GRADE return reasons + PERSONA </a:t>
            </a:r>
            <a:r>
              <a:rPr lang="en-US" sz="700" dirty="0" err="1">
                <a:latin typeface="Lora" pitchFamily="2" charset="77"/>
              </a:rPr>
              <a:t>prefs</a:t>
            </a:r>
            <a:endParaRPr lang="en-US" sz="100" dirty="0">
              <a:latin typeface="Lora" pitchFamily="2" charset="77"/>
            </a:endParaRPr>
          </a:p>
        </p:txBody>
      </p:sp>
      <p:sp>
        <p:nvSpPr>
          <p:cNvPr id="30" name="Shape 28"/>
          <p:cNvSpPr/>
          <p:nvPr/>
        </p:nvSpPr>
        <p:spPr>
          <a:xfrm>
            <a:off x="4233672" y="1463040"/>
            <a:ext cx="1787652" cy="914400"/>
          </a:xfrm>
          <a:prstGeom prst="roundRect">
            <a:avLst>
              <a:gd name="adj" fmla="val 5000"/>
            </a:avLst>
          </a:prstGeom>
          <a:solidFill>
            <a:srgbClr val="FBE3E4"/>
          </a:solidFill>
          <a:ln w="9525">
            <a:solidFill>
              <a:srgbClr val="E24B4A"/>
            </a:solidFill>
            <a:prstDash val="solid"/>
          </a:ln>
          <a:effectLst>
            <a:outerShdw blurRad="38100" dist="12700" dir="5400000" algn="bl" rotWithShape="0">
              <a:srgbClr val="000000">
                <a:alpha val="9000"/>
              </a:srgbClr>
            </a:outerShdw>
          </a:effectLst>
        </p:spPr>
        <p:txBody>
          <a:bodyPr/>
          <a:lstStyle/>
          <a:p>
            <a:endParaRPr lang="en-US" dirty="0"/>
          </a:p>
        </p:txBody>
      </p:sp>
      <p:sp>
        <p:nvSpPr>
          <p:cNvPr id="31" name="Text 29"/>
          <p:cNvSpPr/>
          <p:nvPr/>
        </p:nvSpPr>
        <p:spPr>
          <a:xfrm>
            <a:off x="4325112" y="1527048"/>
            <a:ext cx="1284732" cy="219456"/>
          </a:xfrm>
          <a:prstGeom prst="rect">
            <a:avLst/>
          </a:prstGeom>
          <a:noFill/>
          <a:ln/>
        </p:spPr>
        <p:txBody>
          <a:bodyPr wrap="square" lIns="0" tIns="0" rIns="0" bIns="0" rtlCol="0" anchor="ctr"/>
          <a:lstStyle/>
          <a:p>
            <a:pPr marL="0" indent="0">
              <a:buNone/>
            </a:pPr>
            <a:r>
              <a:rPr lang="en-US" sz="1100" b="1" dirty="0">
                <a:solidFill>
                  <a:srgbClr val="8A1F2C"/>
                </a:solidFill>
                <a:latin typeface="Montserrat" pitchFamily="34" charset="0"/>
                <a:ea typeface="Montserrat" pitchFamily="34" charset="-122"/>
                <a:cs typeface="Montserrat" pitchFamily="34" charset="-120"/>
              </a:rPr>
              <a:t>CONCIERGE</a:t>
            </a:r>
            <a:endParaRPr lang="en-US" sz="1100" dirty="0"/>
          </a:p>
        </p:txBody>
      </p:sp>
      <p:sp>
        <p:nvSpPr>
          <p:cNvPr id="32" name="Shape 30"/>
          <p:cNvSpPr/>
          <p:nvPr/>
        </p:nvSpPr>
        <p:spPr>
          <a:xfrm>
            <a:off x="5564124" y="1536192"/>
            <a:ext cx="384048" cy="173736"/>
          </a:xfrm>
          <a:prstGeom prst="roundRect">
            <a:avLst>
              <a:gd name="adj" fmla="val 15789"/>
            </a:avLst>
          </a:prstGeom>
          <a:solidFill>
            <a:srgbClr val="E24B4A"/>
          </a:solidFill>
          <a:ln/>
        </p:spPr>
        <p:txBody>
          <a:bodyPr/>
          <a:lstStyle/>
          <a:p>
            <a:endParaRPr lang="en-US"/>
          </a:p>
        </p:txBody>
      </p:sp>
      <p:sp>
        <p:nvSpPr>
          <p:cNvPr id="33" name="Text 31"/>
          <p:cNvSpPr/>
          <p:nvPr/>
        </p:nvSpPr>
        <p:spPr>
          <a:xfrm>
            <a:off x="5564124" y="1536192"/>
            <a:ext cx="384048" cy="173736"/>
          </a:xfrm>
          <a:prstGeom prst="rect">
            <a:avLst/>
          </a:prstGeom>
          <a:noFill/>
          <a:ln/>
        </p:spPr>
        <p:txBody>
          <a:bodyPr wrap="square" lIns="0" tIns="0" rIns="0" bIns="0" rtlCol="0" anchor="ctr"/>
          <a:lstStyle/>
          <a:p>
            <a:pPr marL="0" indent="0" algn="ctr">
              <a:buNone/>
            </a:pPr>
            <a:r>
              <a:rPr lang="en-US" sz="650" b="1" dirty="0">
                <a:solidFill>
                  <a:srgbClr val="FDFDFD"/>
                </a:solidFill>
                <a:latin typeface="Montserrat" pitchFamily="34" charset="0"/>
                <a:ea typeface="Montserrat" pitchFamily="34" charset="-122"/>
                <a:cs typeface="Montserrat" pitchFamily="34" charset="-120"/>
              </a:rPr>
              <a:t>UC4</a:t>
            </a:r>
            <a:endParaRPr lang="en-US" sz="650" dirty="0"/>
          </a:p>
        </p:txBody>
      </p:sp>
      <p:sp>
        <p:nvSpPr>
          <p:cNvPr id="34" name="Text 32"/>
          <p:cNvSpPr/>
          <p:nvPr/>
        </p:nvSpPr>
        <p:spPr>
          <a:xfrm>
            <a:off x="4325112" y="1737360"/>
            <a:ext cx="1604772" cy="146304"/>
          </a:xfrm>
          <a:prstGeom prst="rect">
            <a:avLst/>
          </a:prstGeom>
          <a:noFill/>
          <a:ln/>
        </p:spPr>
        <p:txBody>
          <a:bodyPr wrap="square" lIns="0" tIns="0" rIns="0" bIns="0" rtlCol="0" anchor="ctr"/>
          <a:lstStyle/>
          <a:p>
            <a:pPr marL="0" indent="0">
              <a:buNone/>
            </a:pPr>
            <a:r>
              <a:rPr lang="en-US" sz="630" b="1" kern="0" spc="30" dirty="0">
                <a:solidFill>
                  <a:srgbClr val="8A1F2C"/>
                </a:solidFill>
                <a:latin typeface="Montserrat" pitchFamily="34" charset="0"/>
                <a:ea typeface="Montserrat" pitchFamily="34" charset="-122"/>
                <a:cs typeface="Montserrat" pitchFamily="34" charset="-120"/>
              </a:rPr>
              <a:t>UPSELL &amp; MONETISATION</a:t>
            </a:r>
            <a:endParaRPr lang="en-US" sz="630" dirty="0"/>
          </a:p>
        </p:txBody>
      </p:sp>
      <p:sp>
        <p:nvSpPr>
          <p:cNvPr id="35" name="Text 33"/>
          <p:cNvSpPr/>
          <p:nvPr/>
        </p:nvSpPr>
        <p:spPr>
          <a:xfrm>
            <a:off x="4325112" y="1883664"/>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333333"/>
                </a:solidFill>
                <a:latin typeface="Lora" pitchFamily="34" charset="0"/>
                <a:ea typeface="Lora" pitchFamily="34" charset="-122"/>
                <a:cs typeface="Lora" pitchFamily="34" charset="-120"/>
              </a:rPr>
              <a:t>Value-added services; free → paid subscription</a:t>
            </a:r>
            <a:endParaRPr lang="en-US" sz="700" dirty="0"/>
          </a:p>
        </p:txBody>
      </p:sp>
      <p:sp>
        <p:nvSpPr>
          <p:cNvPr id="36" name="Text 34"/>
          <p:cNvSpPr/>
          <p:nvPr/>
        </p:nvSpPr>
        <p:spPr>
          <a:xfrm>
            <a:off x="4325112" y="2093976"/>
            <a:ext cx="1604772" cy="246888"/>
          </a:xfrm>
          <a:prstGeom prst="rect">
            <a:avLst/>
          </a:prstGeom>
          <a:noFill/>
          <a:ln/>
        </p:spPr>
        <p:txBody>
          <a:bodyPr wrap="square" lIns="0" tIns="0" rIns="0" bIns="0" rtlCol="0" anchor="ctr"/>
          <a:lstStyle/>
          <a:p>
            <a:pPr marL="0" indent="0">
              <a:buNone/>
            </a:pPr>
            <a:r>
              <a:rPr lang="en-US" sz="800" b="1" i="0" dirty="0">
                <a:effectLst/>
                <a:latin typeface="-apple-system"/>
              </a:rPr>
              <a:t>Operates through</a:t>
            </a:r>
            <a:r>
              <a:rPr lang="en-US" sz="800" b="0" i="0" u="none" strike="noStrike" dirty="0">
                <a:solidFill>
                  <a:srgbClr val="8B8A83"/>
                </a:solidFill>
                <a:effectLst/>
                <a:latin typeface="-apple-system"/>
              </a:rPr>
              <a:t> CARE -&gt; · </a:t>
            </a:r>
            <a:r>
              <a:rPr lang="en-US" sz="800" b="1" i="0" dirty="0">
                <a:effectLst/>
                <a:latin typeface="-apple-system"/>
              </a:rPr>
              <a:t>SENTRY</a:t>
            </a:r>
            <a:r>
              <a:rPr lang="en-US" sz="800" b="0" i="0" u="none" strike="noStrike" dirty="0">
                <a:solidFill>
                  <a:srgbClr val="8B8A83"/>
                </a:solidFill>
                <a:effectLst/>
                <a:latin typeface="-apple-system"/>
              </a:rPr>
              <a:t> approves payments ·</a:t>
            </a:r>
            <a:endParaRPr lang="en-US" sz="630" dirty="0"/>
          </a:p>
        </p:txBody>
      </p:sp>
      <p:sp>
        <p:nvSpPr>
          <p:cNvPr id="37" name="Shape 35"/>
          <p:cNvSpPr/>
          <p:nvPr/>
        </p:nvSpPr>
        <p:spPr>
          <a:xfrm>
            <a:off x="6167628" y="1463040"/>
            <a:ext cx="1787652" cy="914400"/>
          </a:xfrm>
          <a:prstGeom prst="roundRect">
            <a:avLst>
              <a:gd name="adj" fmla="val 5000"/>
            </a:avLst>
          </a:prstGeom>
          <a:solidFill>
            <a:srgbClr val="FBE3E4"/>
          </a:solidFill>
          <a:ln w="9525">
            <a:solidFill>
              <a:srgbClr val="E24B4A"/>
            </a:solidFill>
            <a:prstDash val="solid"/>
          </a:ln>
          <a:effectLst>
            <a:outerShdw blurRad="38100" dist="12700" dir="5400000" algn="bl" rotWithShape="0">
              <a:srgbClr val="000000">
                <a:alpha val="9000"/>
              </a:srgbClr>
            </a:outerShdw>
          </a:effectLst>
        </p:spPr>
        <p:txBody>
          <a:bodyPr/>
          <a:lstStyle/>
          <a:p>
            <a:endParaRPr lang="en-US"/>
          </a:p>
        </p:txBody>
      </p:sp>
      <p:sp>
        <p:nvSpPr>
          <p:cNvPr id="38" name="Text 36"/>
          <p:cNvSpPr/>
          <p:nvPr/>
        </p:nvSpPr>
        <p:spPr>
          <a:xfrm>
            <a:off x="6259068" y="1527048"/>
            <a:ext cx="1284732" cy="219456"/>
          </a:xfrm>
          <a:prstGeom prst="rect">
            <a:avLst/>
          </a:prstGeom>
          <a:noFill/>
          <a:ln/>
        </p:spPr>
        <p:txBody>
          <a:bodyPr wrap="square" lIns="0" tIns="0" rIns="0" bIns="0" rtlCol="0" anchor="ctr"/>
          <a:lstStyle/>
          <a:p>
            <a:pPr marL="0" indent="0">
              <a:buNone/>
            </a:pPr>
            <a:r>
              <a:rPr lang="en-US" sz="1100" b="1" dirty="0">
                <a:solidFill>
                  <a:srgbClr val="8A1F2C"/>
                </a:solidFill>
                <a:latin typeface="Montserrat" pitchFamily="34" charset="0"/>
                <a:ea typeface="Montserrat" pitchFamily="34" charset="-122"/>
                <a:cs typeface="Montserrat" pitchFamily="34" charset="-120"/>
              </a:rPr>
              <a:t>TALLY</a:t>
            </a:r>
            <a:endParaRPr lang="en-US" sz="1100" dirty="0"/>
          </a:p>
        </p:txBody>
      </p:sp>
      <p:sp>
        <p:nvSpPr>
          <p:cNvPr id="39" name="Shape 37"/>
          <p:cNvSpPr/>
          <p:nvPr/>
        </p:nvSpPr>
        <p:spPr>
          <a:xfrm>
            <a:off x="7498080" y="1536192"/>
            <a:ext cx="384048" cy="173736"/>
          </a:xfrm>
          <a:prstGeom prst="roundRect">
            <a:avLst>
              <a:gd name="adj" fmla="val 15789"/>
            </a:avLst>
          </a:prstGeom>
          <a:solidFill>
            <a:srgbClr val="E24B4A"/>
          </a:solidFill>
          <a:ln/>
        </p:spPr>
        <p:txBody>
          <a:bodyPr/>
          <a:lstStyle/>
          <a:p>
            <a:endParaRPr lang="en-US"/>
          </a:p>
        </p:txBody>
      </p:sp>
      <p:sp>
        <p:nvSpPr>
          <p:cNvPr id="40" name="Text 38"/>
          <p:cNvSpPr/>
          <p:nvPr/>
        </p:nvSpPr>
        <p:spPr>
          <a:xfrm>
            <a:off x="7498080" y="1536192"/>
            <a:ext cx="384048" cy="173736"/>
          </a:xfrm>
          <a:prstGeom prst="rect">
            <a:avLst/>
          </a:prstGeom>
          <a:noFill/>
          <a:ln/>
        </p:spPr>
        <p:txBody>
          <a:bodyPr wrap="square" lIns="0" tIns="0" rIns="0" bIns="0" rtlCol="0" anchor="ctr"/>
          <a:lstStyle/>
          <a:p>
            <a:pPr marL="0" indent="0" algn="ctr">
              <a:buNone/>
            </a:pPr>
            <a:r>
              <a:rPr lang="en-US" sz="650" b="1" dirty="0">
                <a:solidFill>
                  <a:srgbClr val="FDFDFD"/>
                </a:solidFill>
                <a:latin typeface="Montserrat" pitchFamily="34" charset="0"/>
                <a:ea typeface="Montserrat" pitchFamily="34" charset="-122"/>
                <a:cs typeface="Montserrat" pitchFamily="34" charset="-120"/>
              </a:rPr>
              <a:t>UC5</a:t>
            </a:r>
            <a:endParaRPr lang="en-US" sz="650" dirty="0"/>
          </a:p>
        </p:txBody>
      </p:sp>
      <p:sp>
        <p:nvSpPr>
          <p:cNvPr id="41" name="Text 39"/>
          <p:cNvSpPr/>
          <p:nvPr/>
        </p:nvSpPr>
        <p:spPr>
          <a:xfrm>
            <a:off x="6259068" y="1737360"/>
            <a:ext cx="1604772" cy="146304"/>
          </a:xfrm>
          <a:prstGeom prst="rect">
            <a:avLst/>
          </a:prstGeom>
          <a:noFill/>
          <a:ln/>
        </p:spPr>
        <p:txBody>
          <a:bodyPr wrap="square" lIns="0" tIns="0" rIns="0" bIns="0" rtlCol="0" anchor="ctr"/>
          <a:lstStyle/>
          <a:p>
            <a:pPr marL="0" indent="0">
              <a:buNone/>
            </a:pPr>
            <a:r>
              <a:rPr lang="en-US" sz="630" b="1" kern="0" spc="30" dirty="0">
                <a:solidFill>
                  <a:srgbClr val="8A1F2C"/>
                </a:solidFill>
                <a:latin typeface="Montserrat" pitchFamily="34" charset="0"/>
                <a:ea typeface="Montserrat" pitchFamily="34" charset="-122"/>
                <a:cs typeface="Montserrat" pitchFamily="34" charset="-120"/>
              </a:rPr>
              <a:t>LOYALTY &amp; GAMIFICATION</a:t>
            </a:r>
            <a:endParaRPr lang="en-US" sz="630" dirty="0"/>
          </a:p>
        </p:txBody>
      </p:sp>
      <p:sp>
        <p:nvSpPr>
          <p:cNvPr id="42" name="Text 40"/>
          <p:cNvSpPr/>
          <p:nvPr/>
        </p:nvSpPr>
        <p:spPr>
          <a:xfrm>
            <a:off x="6259068" y="1883664"/>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333333"/>
                </a:solidFill>
                <a:latin typeface="Lora" pitchFamily="34" charset="0"/>
                <a:ea typeface="Lora" pitchFamily="34" charset="-122"/>
                <a:cs typeface="Lora" pitchFamily="34" charset="-120"/>
              </a:rPr>
              <a:t>Points, gamification, redemption, tier upgrades</a:t>
            </a:r>
            <a:endParaRPr lang="en-US" sz="700" dirty="0"/>
          </a:p>
        </p:txBody>
      </p:sp>
      <p:sp>
        <p:nvSpPr>
          <p:cNvPr id="43" name="Text 41"/>
          <p:cNvSpPr/>
          <p:nvPr/>
        </p:nvSpPr>
        <p:spPr>
          <a:xfrm>
            <a:off x="6259068" y="2176272"/>
            <a:ext cx="1604772" cy="164592"/>
          </a:xfrm>
          <a:prstGeom prst="rect">
            <a:avLst/>
          </a:prstGeom>
          <a:noFill/>
          <a:ln/>
        </p:spPr>
        <p:txBody>
          <a:bodyPr wrap="square" lIns="0" tIns="0" rIns="0" bIns="0" rtlCol="0" anchor="ctr"/>
          <a:lstStyle/>
          <a:p>
            <a:pPr marL="0" indent="0">
              <a:buNone/>
            </a:pPr>
            <a:r>
              <a:rPr lang="en-US" sz="800" b="1" i="0" dirty="0">
                <a:effectLst/>
                <a:latin typeface="-apple-system"/>
              </a:rPr>
              <a:t>New</a:t>
            </a:r>
            <a:r>
              <a:rPr lang="en-US" sz="800" b="0" i="0" u="none" strike="noStrike" dirty="0">
                <a:solidFill>
                  <a:srgbClr val="8B8A83"/>
                </a:solidFill>
                <a:effectLst/>
                <a:latin typeface="-apple-system"/>
              </a:rPr>
              <a:t> · consumes PERSONA · writes Loyalty </a:t>
            </a:r>
            <a:r>
              <a:rPr lang="en-US" sz="800" b="0" i="0" u="none" strike="noStrike" dirty="0" err="1">
                <a:solidFill>
                  <a:srgbClr val="8B8A83"/>
                </a:solidFill>
                <a:effectLst/>
                <a:latin typeface="-apple-system"/>
              </a:rPr>
              <a:t>Mgmt</a:t>
            </a:r>
            <a:endParaRPr lang="en-US" sz="630" dirty="0"/>
          </a:p>
        </p:txBody>
      </p:sp>
      <p:sp>
        <p:nvSpPr>
          <p:cNvPr id="44" name="Text 42"/>
          <p:cNvSpPr/>
          <p:nvPr/>
        </p:nvSpPr>
        <p:spPr>
          <a:xfrm>
            <a:off x="365760" y="2487168"/>
            <a:ext cx="9144000" cy="164592"/>
          </a:xfrm>
          <a:prstGeom prst="rect">
            <a:avLst/>
          </a:prstGeom>
          <a:noFill/>
          <a:ln/>
        </p:spPr>
        <p:txBody>
          <a:bodyPr wrap="square" lIns="0" tIns="0" rIns="0" bIns="0" rtlCol="0" anchor="ctr"/>
          <a:lstStyle/>
          <a:p>
            <a:pPr marL="0" indent="0">
              <a:buNone/>
            </a:pPr>
            <a:r>
              <a:rPr lang="en-US" sz="900" b="1" kern="0" spc="80" dirty="0">
                <a:solidFill>
                  <a:srgbClr val="7A7970"/>
                </a:solidFill>
                <a:latin typeface="Montserrat" pitchFamily="34" charset="0"/>
                <a:ea typeface="Montserrat" pitchFamily="34" charset="-122"/>
                <a:cs typeface="Montserrat" pitchFamily="34" charset="-120"/>
              </a:rPr>
              <a:t>REUSED — carried from Mission 2 into the use cases</a:t>
            </a:r>
            <a:endParaRPr lang="en-US" sz="900" dirty="0"/>
          </a:p>
        </p:txBody>
      </p:sp>
      <p:sp>
        <p:nvSpPr>
          <p:cNvPr id="45" name="Shape 43"/>
          <p:cNvSpPr/>
          <p:nvPr/>
        </p:nvSpPr>
        <p:spPr>
          <a:xfrm>
            <a:off x="365760" y="2670048"/>
            <a:ext cx="1787652" cy="914400"/>
          </a:xfrm>
          <a:prstGeom prst="roundRect">
            <a:avLst>
              <a:gd name="adj" fmla="val 5000"/>
            </a:avLst>
          </a:prstGeom>
          <a:solidFill>
            <a:srgbClr val="EAF0F6"/>
          </a:solidFill>
          <a:ln w="9525">
            <a:solidFill>
              <a:srgbClr val="5B7FA6"/>
            </a:solidFill>
            <a:prstDash val="solid"/>
          </a:ln>
          <a:effectLst>
            <a:outerShdw blurRad="38100" dist="12700" dir="5400000" algn="bl" rotWithShape="0">
              <a:srgbClr val="000000">
                <a:alpha val="9000"/>
              </a:srgbClr>
            </a:outerShdw>
          </a:effectLst>
        </p:spPr>
        <p:txBody>
          <a:bodyPr/>
          <a:lstStyle/>
          <a:p>
            <a:endParaRPr lang="en-US"/>
          </a:p>
        </p:txBody>
      </p:sp>
      <p:sp>
        <p:nvSpPr>
          <p:cNvPr id="46" name="Text 44"/>
          <p:cNvSpPr/>
          <p:nvPr/>
        </p:nvSpPr>
        <p:spPr>
          <a:xfrm>
            <a:off x="457200" y="2734056"/>
            <a:ext cx="1284732" cy="219456"/>
          </a:xfrm>
          <a:prstGeom prst="rect">
            <a:avLst/>
          </a:prstGeom>
          <a:noFill/>
          <a:ln/>
        </p:spPr>
        <p:txBody>
          <a:bodyPr wrap="square" lIns="0" tIns="0" rIns="0" bIns="0" rtlCol="0" anchor="ctr"/>
          <a:lstStyle/>
          <a:p>
            <a:pPr marL="0" indent="0">
              <a:buNone/>
            </a:pPr>
            <a:r>
              <a:rPr lang="en-US" sz="1100" b="1" dirty="0">
                <a:solidFill>
                  <a:srgbClr val="274763"/>
                </a:solidFill>
                <a:latin typeface="Montserrat" pitchFamily="34" charset="0"/>
                <a:ea typeface="Montserrat" pitchFamily="34" charset="-122"/>
                <a:cs typeface="Montserrat" pitchFamily="34" charset="-120"/>
              </a:rPr>
              <a:t>MUSE</a:t>
            </a:r>
            <a:endParaRPr lang="en-US" sz="1100" dirty="0"/>
          </a:p>
        </p:txBody>
      </p:sp>
      <p:sp>
        <p:nvSpPr>
          <p:cNvPr id="47" name="Shape 45"/>
          <p:cNvSpPr/>
          <p:nvPr/>
        </p:nvSpPr>
        <p:spPr>
          <a:xfrm>
            <a:off x="1696212" y="2743200"/>
            <a:ext cx="384048" cy="173736"/>
          </a:xfrm>
          <a:prstGeom prst="roundRect">
            <a:avLst>
              <a:gd name="adj" fmla="val 15789"/>
            </a:avLst>
          </a:prstGeom>
          <a:solidFill>
            <a:srgbClr val="5B7FA6"/>
          </a:solidFill>
          <a:ln/>
        </p:spPr>
        <p:txBody>
          <a:bodyPr/>
          <a:lstStyle/>
          <a:p>
            <a:endParaRPr lang="en-US"/>
          </a:p>
        </p:txBody>
      </p:sp>
      <p:sp>
        <p:nvSpPr>
          <p:cNvPr id="48" name="Text 46"/>
          <p:cNvSpPr/>
          <p:nvPr/>
        </p:nvSpPr>
        <p:spPr>
          <a:xfrm>
            <a:off x="1696212" y="2743200"/>
            <a:ext cx="384048" cy="173736"/>
          </a:xfrm>
          <a:prstGeom prst="rect">
            <a:avLst/>
          </a:prstGeom>
          <a:noFill/>
          <a:ln/>
        </p:spPr>
        <p:txBody>
          <a:bodyPr wrap="square" lIns="0" tIns="0" rIns="0" bIns="0" rtlCol="0" anchor="ctr"/>
          <a:lstStyle/>
          <a:p>
            <a:pPr marL="0" indent="0" algn="ctr">
              <a:buNone/>
            </a:pPr>
            <a:r>
              <a:rPr lang="en-US" sz="650" b="1" dirty="0">
                <a:solidFill>
                  <a:srgbClr val="FDFDFD"/>
                </a:solidFill>
                <a:latin typeface="Montserrat" pitchFamily="34" charset="0"/>
                <a:ea typeface="Montserrat" pitchFamily="34" charset="-122"/>
                <a:cs typeface="Montserrat" pitchFamily="34" charset="-120"/>
              </a:rPr>
              <a:t>UC2</a:t>
            </a:r>
            <a:endParaRPr lang="en-US" sz="650" dirty="0"/>
          </a:p>
        </p:txBody>
      </p:sp>
      <p:sp>
        <p:nvSpPr>
          <p:cNvPr id="49" name="Text 47"/>
          <p:cNvSpPr/>
          <p:nvPr/>
        </p:nvSpPr>
        <p:spPr>
          <a:xfrm>
            <a:off x="457200" y="2944368"/>
            <a:ext cx="1604772" cy="146304"/>
          </a:xfrm>
          <a:prstGeom prst="rect">
            <a:avLst/>
          </a:prstGeom>
          <a:noFill/>
          <a:ln/>
        </p:spPr>
        <p:txBody>
          <a:bodyPr wrap="square" lIns="0" tIns="0" rIns="0" bIns="0" rtlCol="0" anchor="ctr"/>
          <a:lstStyle/>
          <a:p>
            <a:pPr marL="0" indent="0">
              <a:buNone/>
            </a:pPr>
            <a:r>
              <a:rPr lang="en-US" sz="630" b="1" kern="0" spc="30" dirty="0">
                <a:solidFill>
                  <a:srgbClr val="274763"/>
                </a:solidFill>
                <a:latin typeface="Montserrat" pitchFamily="34" charset="0"/>
                <a:ea typeface="Montserrat" pitchFamily="34" charset="-122"/>
                <a:cs typeface="Montserrat" pitchFamily="34" charset="-120"/>
              </a:rPr>
              <a:t>DISCOVERY &amp; PERSONALISATION</a:t>
            </a:r>
            <a:endParaRPr lang="en-US" sz="630" dirty="0"/>
          </a:p>
        </p:txBody>
      </p:sp>
      <p:sp>
        <p:nvSpPr>
          <p:cNvPr id="50" name="Text 48"/>
          <p:cNvSpPr/>
          <p:nvPr/>
        </p:nvSpPr>
        <p:spPr>
          <a:xfrm>
            <a:off x="457200" y="3090672"/>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333333"/>
                </a:solidFill>
                <a:latin typeface="Lora" pitchFamily="34" charset="0"/>
                <a:ea typeface="Lora" pitchFamily="34" charset="-122"/>
                <a:cs typeface="Lora" pitchFamily="34" charset="-120"/>
              </a:rPr>
              <a:t>Persona-driven curation; premium vs private-label</a:t>
            </a:r>
            <a:endParaRPr lang="en-US" sz="700" dirty="0"/>
          </a:p>
        </p:txBody>
      </p:sp>
      <p:sp>
        <p:nvSpPr>
          <p:cNvPr id="51" name="Text 49"/>
          <p:cNvSpPr/>
          <p:nvPr/>
        </p:nvSpPr>
        <p:spPr>
          <a:xfrm>
            <a:off x="457200" y="3383280"/>
            <a:ext cx="1604772" cy="164592"/>
          </a:xfrm>
          <a:prstGeom prst="rect">
            <a:avLst/>
          </a:prstGeom>
          <a:noFill/>
          <a:ln/>
        </p:spPr>
        <p:txBody>
          <a:bodyPr wrap="square" lIns="0" tIns="0" rIns="0" bIns="0" rtlCol="0" anchor="ctr"/>
          <a:lstStyle/>
          <a:p>
            <a:pPr marL="0" indent="0">
              <a:buNone/>
            </a:pPr>
            <a:r>
              <a:rPr lang="en-US" sz="630" i="1" dirty="0">
                <a:solidFill>
                  <a:srgbClr val="5F5E5A"/>
                </a:solidFill>
                <a:latin typeface="Lora" pitchFamily="34" charset="0"/>
                <a:ea typeface="Lora" pitchFamily="34" charset="-122"/>
                <a:cs typeface="Lora" pitchFamily="34" charset="-120"/>
              </a:rPr>
              <a:t>consumes PERSONA + SCOUT</a:t>
            </a:r>
            <a:endParaRPr lang="en-US" sz="630" dirty="0"/>
          </a:p>
        </p:txBody>
      </p:sp>
      <p:sp>
        <p:nvSpPr>
          <p:cNvPr id="52" name="Shape 50"/>
          <p:cNvSpPr/>
          <p:nvPr/>
        </p:nvSpPr>
        <p:spPr>
          <a:xfrm>
            <a:off x="2299716" y="2670048"/>
            <a:ext cx="1787652" cy="914400"/>
          </a:xfrm>
          <a:prstGeom prst="roundRect">
            <a:avLst>
              <a:gd name="adj" fmla="val 5000"/>
            </a:avLst>
          </a:prstGeom>
          <a:solidFill>
            <a:srgbClr val="EAF0F6"/>
          </a:solidFill>
          <a:ln w="9525">
            <a:solidFill>
              <a:srgbClr val="5B7FA6"/>
            </a:solidFill>
            <a:prstDash val="solid"/>
          </a:ln>
          <a:effectLst>
            <a:outerShdw blurRad="38100" dist="12700" dir="5400000" algn="bl" rotWithShape="0">
              <a:srgbClr val="000000">
                <a:alpha val="9000"/>
              </a:srgbClr>
            </a:outerShdw>
          </a:effectLst>
        </p:spPr>
        <p:txBody>
          <a:bodyPr/>
          <a:lstStyle/>
          <a:p>
            <a:endParaRPr lang="en-US"/>
          </a:p>
        </p:txBody>
      </p:sp>
      <p:sp>
        <p:nvSpPr>
          <p:cNvPr id="53" name="Text 51"/>
          <p:cNvSpPr/>
          <p:nvPr/>
        </p:nvSpPr>
        <p:spPr>
          <a:xfrm>
            <a:off x="2391156" y="2734056"/>
            <a:ext cx="1284732" cy="219456"/>
          </a:xfrm>
          <a:prstGeom prst="rect">
            <a:avLst/>
          </a:prstGeom>
          <a:noFill/>
          <a:ln/>
        </p:spPr>
        <p:txBody>
          <a:bodyPr wrap="square" lIns="0" tIns="0" rIns="0" bIns="0" rtlCol="0" anchor="ctr"/>
          <a:lstStyle/>
          <a:p>
            <a:pPr marL="0" indent="0">
              <a:buNone/>
            </a:pPr>
            <a:r>
              <a:rPr lang="en-US" sz="1100" b="1" dirty="0">
                <a:solidFill>
                  <a:srgbClr val="274763"/>
                </a:solidFill>
                <a:latin typeface="Montserrat" pitchFamily="34" charset="0"/>
                <a:ea typeface="Montserrat" pitchFamily="34" charset="-122"/>
                <a:cs typeface="Montserrat" pitchFamily="34" charset="-120"/>
              </a:rPr>
              <a:t>ONEBASKET</a:t>
            </a:r>
            <a:endParaRPr lang="en-US" sz="1100" dirty="0"/>
          </a:p>
        </p:txBody>
      </p:sp>
      <p:sp>
        <p:nvSpPr>
          <p:cNvPr id="54" name="Shape 52"/>
          <p:cNvSpPr/>
          <p:nvPr/>
        </p:nvSpPr>
        <p:spPr>
          <a:xfrm>
            <a:off x="3630168" y="2743200"/>
            <a:ext cx="384048" cy="173736"/>
          </a:xfrm>
          <a:prstGeom prst="roundRect">
            <a:avLst>
              <a:gd name="adj" fmla="val 15789"/>
            </a:avLst>
          </a:prstGeom>
          <a:solidFill>
            <a:srgbClr val="5B7FA6"/>
          </a:solidFill>
          <a:ln/>
        </p:spPr>
        <p:txBody>
          <a:bodyPr/>
          <a:lstStyle/>
          <a:p>
            <a:endParaRPr lang="en-US"/>
          </a:p>
        </p:txBody>
      </p:sp>
      <p:sp>
        <p:nvSpPr>
          <p:cNvPr id="55" name="Text 53"/>
          <p:cNvSpPr/>
          <p:nvPr/>
        </p:nvSpPr>
        <p:spPr>
          <a:xfrm>
            <a:off x="3630168" y="2743200"/>
            <a:ext cx="384048" cy="173736"/>
          </a:xfrm>
          <a:prstGeom prst="rect">
            <a:avLst/>
          </a:prstGeom>
          <a:noFill/>
          <a:ln/>
        </p:spPr>
        <p:txBody>
          <a:bodyPr wrap="square" lIns="0" tIns="0" rIns="0" bIns="0" rtlCol="0" anchor="ctr"/>
          <a:lstStyle/>
          <a:p>
            <a:pPr marL="0" indent="0" algn="ctr">
              <a:buNone/>
            </a:pPr>
            <a:r>
              <a:rPr lang="en-US" sz="650" b="1" dirty="0">
                <a:solidFill>
                  <a:srgbClr val="FDFDFD"/>
                </a:solidFill>
                <a:latin typeface="Montserrat" pitchFamily="34" charset="0"/>
                <a:ea typeface="Montserrat" pitchFamily="34" charset="-122"/>
                <a:cs typeface="Montserrat" pitchFamily="34" charset="-120"/>
              </a:rPr>
              <a:t>UC1</a:t>
            </a:r>
            <a:endParaRPr lang="en-US" sz="650" dirty="0"/>
          </a:p>
        </p:txBody>
      </p:sp>
      <p:sp>
        <p:nvSpPr>
          <p:cNvPr id="56" name="Text 54"/>
          <p:cNvSpPr/>
          <p:nvPr/>
        </p:nvSpPr>
        <p:spPr>
          <a:xfrm>
            <a:off x="2391156" y="2944368"/>
            <a:ext cx="1604772" cy="146304"/>
          </a:xfrm>
          <a:prstGeom prst="rect">
            <a:avLst/>
          </a:prstGeom>
          <a:noFill/>
          <a:ln/>
        </p:spPr>
        <p:txBody>
          <a:bodyPr wrap="square" lIns="0" tIns="0" rIns="0" bIns="0" rtlCol="0" anchor="ctr"/>
          <a:lstStyle/>
          <a:p>
            <a:pPr marL="0" indent="0">
              <a:buNone/>
            </a:pPr>
            <a:r>
              <a:rPr lang="en-US" sz="630" b="1" kern="0" spc="30" dirty="0">
                <a:solidFill>
                  <a:srgbClr val="274763"/>
                </a:solidFill>
                <a:latin typeface="Montserrat" pitchFamily="34" charset="0"/>
                <a:ea typeface="Montserrat" pitchFamily="34" charset="-122"/>
                <a:cs typeface="Montserrat" pitchFamily="34" charset="-120"/>
              </a:rPr>
              <a:t>SESSION &amp; IDENTITY</a:t>
            </a:r>
            <a:endParaRPr lang="en-US" sz="630" dirty="0"/>
          </a:p>
        </p:txBody>
      </p:sp>
      <p:sp>
        <p:nvSpPr>
          <p:cNvPr id="57" name="Text 55"/>
          <p:cNvSpPr/>
          <p:nvPr/>
        </p:nvSpPr>
        <p:spPr>
          <a:xfrm>
            <a:off x="2391156" y="3090672"/>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333333"/>
                </a:solidFill>
                <a:latin typeface="Lora" pitchFamily="34" charset="0"/>
                <a:ea typeface="Lora" pitchFamily="34" charset="-122"/>
                <a:cs typeface="Lora" pitchFamily="34" charset="-120"/>
              </a:rPr>
              <a:t>One basket, one identity across channels</a:t>
            </a:r>
            <a:endParaRPr lang="en-US" sz="700" dirty="0"/>
          </a:p>
        </p:txBody>
      </p:sp>
      <p:sp>
        <p:nvSpPr>
          <p:cNvPr id="58" name="Text 56"/>
          <p:cNvSpPr/>
          <p:nvPr/>
        </p:nvSpPr>
        <p:spPr>
          <a:xfrm>
            <a:off x="2391156" y="3383280"/>
            <a:ext cx="1604772" cy="164592"/>
          </a:xfrm>
          <a:prstGeom prst="rect">
            <a:avLst/>
          </a:prstGeom>
          <a:noFill/>
          <a:ln/>
        </p:spPr>
        <p:txBody>
          <a:bodyPr wrap="square" lIns="0" tIns="0" rIns="0" bIns="0" rtlCol="0" anchor="ctr"/>
          <a:lstStyle/>
          <a:p>
            <a:pPr marL="0" indent="0">
              <a:buNone/>
            </a:pPr>
            <a:r>
              <a:rPr lang="en-US" sz="630" i="1" dirty="0">
                <a:solidFill>
                  <a:srgbClr val="5F5E5A"/>
                </a:solidFill>
                <a:latin typeface="Lora" pitchFamily="34" charset="0"/>
                <a:ea typeface="Lora" pitchFamily="34" charset="-122"/>
                <a:cs typeface="Lora" pitchFamily="34" charset="-120"/>
              </a:rPr>
              <a:t>parent of PERSONA</a:t>
            </a:r>
            <a:endParaRPr lang="en-US" sz="630" dirty="0"/>
          </a:p>
        </p:txBody>
      </p:sp>
      <p:sp>
        <p:nvSpPr>
          <p:cNvPr id="59" name="Shape 57"/>
          <p:cNvSpPr/>
          <p:nvPr/>
        </p:nvSpPr>
        <p:spPr>
          <a:xfrm>
            <a:off x="4233672" y="2670048"/>
            <a:ext cx="1787652" cy="914400"/>
          </a:xfrm>
          <a:prstGeom prst="roundRect">
            <a:avLst>
              <a:gd name="adj" fmla="val 5000"/>
            </a:avLst>
          </a:prstGeom>
          <a:solidFill>
            <a:srgbClr val="EAF0F6"/>
          </a:solidFill>
          <a:ln w="9525">
            <a:solidFill>
              <a:srgbClr val="5B7FA6"/>
            </a:solidFill>
            <a:prstDash val="solid"/>
          </a:ln>
          <a:effectLst>
            <a:outerShdw blurRad="38100" dist="12700" dir="5400000" algn="bl" rotWithShape="0">
              <a:srgbClr val="000000">
                <a:alpha val="9000"/>
              </a:srgbClr>
            </a:outerShdw>
          </a:effectLst>
        </p:spPr>
        <p:txBody>
          <a:bodyPr/>
          <a:lstStyle/>
          <a:p>
            <a:endParaRPr lang="en-US"/>
          </a:p>
        </p:txBody>
      </p:sp>
      <p:sp>
        <p:nvSpPr>
          <p:cNvPr id="60" name="Text 58"/>
          <p:cNvSpPr/>
          <p:nvPr/>
        </p:nvSpPr>
        <p:spPr>
          <a:xfrm>
            <a:off x="4325112" y="2734056"/>
            <a:ext cx="1284732" cy="219456"/>
          </a:xfrm>
          <a:prstGeom prst="rect">
            <a:avLst/>
          </a:prstGeom>
          <a:noFill/>
          <a:ln/>
        </p:spPr>
        <p:txBody>
          <a:bodyPr wrap="square" lIns="0" tIns="0" rIns="0" bIns="0" rtlCol="0" anchor="ctr"/>
          <a:lstStyle/>
          <a:p>
            <a:pPr marL="0" indent="0">
              <a:buNone/>
            </a:pPr>
            <a:r>
              <a:rPr lang="en-US" sz="1100" b="1" dirty="0">
                <a:solidFill>
                  <a:srgbClr val="274763"/>
                </a:solidFill>
                <a:latin typeface="Montserrat" pitchFamily="34" charset="0"/>
                <a:ea typeface="Montserrat" pitchFamily="34" charset="-122"/>
                <a:cs typeface="Montserrat" pitchFamily="34" charset="-120"/>
              </a:rPr>
              <a:t>GRADE</a:t>
            </a:r>
            <a:endParaRPr lang="en-US" sz="1100" dirty="0"/>
          </a:p>
        </p:txBody>
      </p:sp>
      <p:sp>
        <p:nvSpPr>
          <p:cNvPr id="61" name="Shape 59"/>
          <p:cNvSpPr/>
          <p:nvPr/>
        </p:nvSpPr>
        <p:spPr>
          <a:xfrm>
            <a:off x="5564124" y="2743200"/>
            <a:ext cx="384048" cy="173736"/>
          </a:xfrm>
          <a:prstGeom prst="roundRect">
            <a:avLst>
              <a:gd name="adj" fmla="val 15789"/>
            </a:avLst>
          </a:prstGeom>
          <a:solidFill>
            <a:srgbClr val="5B7FA6"/>
          </a:solidFill>
          <a:ln/>
        </p:spPr>
        <p:txBody>
          <a:bodyPr/>
          <a:lstStyle/>
          <a:p>
            <a:endParaRPr lang="en-US"/>
          </a:p>
        </p:txBody>
      </p:sp>
      <p:sp>
        <p:nvSpPr>
          <p:cNvPr id="62" name="Text 60"/>
          <p:cNvSpPr/>
          <p:nvPr/>
        </p:nvSpPr>
        <p:spPr>
          <a:xfrm>
            <a:off x="5564124" y="2743200"/>
            <a:ext cx="384048" cy="173736"/>
          </a:xfrm>
          <a:prstGeom prst="rect">
            <a:avLst/>
          </a:prstGeom>
          <a:noFill/>
          <a:ln/>
        </p:spPr>
        <p:txBody>
          <a:bodyPr wrap="square" lIns="0" tIns="0" rIns="0" bIns="0" rtlCol="0" anchor="ctr"/>
          <a:lstStyle/>
          <a:p>
            <a:pPr marL="0" indent="0" algn="ctr">
              <a:buNone/>
            </a:pPr>
            <a:r>
              <a:rPr lang="en-US" sz="650" b="1" dirty="0">
                <a:solidFill>
                  <a:srgbClr val="FDFDFD"/>
                </a:solidFill>
                <a:latin typeface="Montserrat" pitchFamily="34" charset="0"/>
                <a:ea typeface="Montserrat" pitchFamily="34" charset="-122"/>
                <a:cs typeface="Montserrat" pitchFamily="34" charset="-120"/>
              </a:rPr>
              <a:t>UC3</a:t>
            </a:r>
            <a:endParaRPr lang="en-US" sz="650" dirty="0"/>
          </a:p>
        </p:txBody>
      </p:sp>
      <p:sp>
        <p:nvSpPr>
          <p:cNvPr id="63" name="Text 61"/>
          <p:cNvSpPr/>
          <p:nvPr/>
        </p:nvSpPr>
        <p:spPr>
          <a:xfrm>
            <a:off x="4325112" y="2944368"/>
            <a:ext cx="1604772" cy="146304"/>
          </a:xfrm>
          <a:prstGeom prst="rect">
            <a:avLst/>
          </a:prstGeom>
          <a:noFill/>
          <a:ln/>
        </p:spPr>
        <p:txBody>
          <a:bodyPr wrap="square" lIns="0" tIns="0" rIns="0" bIns="0" rtlCol="0" anchor="ctr"/>
          <a:lstStyle/>
          <a:p>
            <a:pPr marL="0" indent="0">
              <a:buNone/>
            </a:pPr>
            <a:r>
              <a:rPr lang="en-US" sz="630" b="1" kern="0" spc="30" dirty="0">
                <a:solidFill>
                  <a:srgbClr val="274763"/>
                </a:solidFill>
                <a:latin typeface="Montserrat" pitchFamily="34" charset="0"/>
                <a:ea typeface="Montserrat" pitchFamily="34" charset="-122"/>
                <a:cs typeface="Montserrat" pitchFamily="34" charset="-120"/>
              </a:rPr>
              <a:t>RETURNS VISION</a:t>
            </a:r>
            <a:endParaRPr lang="en-US" sz="630" dirty="0"/>
          </a:p>
        </p:txBody>
      </p:sp>
      <p:sp>
        <p:nvSpPr>
          <p:cNvPr id="64" name="Text 62"/>
          <p:cNvSpPr/>
          <p:nvPr/>
        </p:nvSpPr>
        <p:spPr>
          <a:xfrm>
            <a:off x="4325112" y="3090672"/>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333333"/>
                </a:solidFill>
                <a:latin typeface="Lora" pitchFamily="34" charset="0"/>
                <a:ea typeface="Lora" pitchFamily="34" charset="-122"/>
                <a:cs typeface="Lora" pitchFamily="34" charset="-120"/>
              </a:rPr>
              <a:t>Grades returns at intake; captures reasons</a:t>
            </a:r>
            <a:endParaRPr lang="en-US" sz="700" dirty="0"/>
          </a:p>
        </p:txBody>
      </p:sp>
      <p:sp>
        <p:nvSpPr>
          <p:cNvPr id="65" name="Text 63"/>
          <p:cNvSpPr/>
          <p:nvPr/>
        </p:nvSpPr>
        <p:spPr>
          <a:xfrm>
            <a:off x="4325112" y="3383280"/>
            <a:ext cx="1604772" cy="164592"/>
          </a:xfrm>
          <a:prstGeom prst="rect">
            <a:avLst/>
          </a:prstGeom>
          <a:noFill/>
          <a:ln/>
        </p:spPr>
        <p:txBody>
          <a:bodyPr wrap="square" lIns="0" tIns="0" rIns="0" bIns="0" rtlCol="0" anchor="ctr"/>
          <a:lstStyle/>
          <a:p>
            <a:pPr marL="0" indent="0">
              <a:buNone/>
            </a:pPr>
            <a:r>
              <a:rPr lang="en-US" sz="630" i="1" dirty="0">
                <a:solidFill>
                  <a:srgbClr val="5F5E5A"/>
                </a:solidFill>
                <a:latin typeface="Lora" pitchFamily="34" charset="0"/>
                <a:ea typeface="Lora" pitchFamily="34" charset="-122"/>
                <a:cs typeface="Lora" pitchFamily="34" charset="-120"/>
              </a:rPr>
              <a:t>feeds TAILOR + RECLAIM</a:t>
            </a:r>
            <a:endParaRPr lang="en-US" sz="630" dirty="0"/>
          </a:p>
        </p:txBody>
      </p:sp>
      <p:sp>
        <p:nvSpPr>
          <p:cNvPr id="66" name="Shape 64"/>
          <p:cNvSpPr/>
          <p:nvPr/>
        </p:nvSpPr>
        <p:spPr>
          <a:xfrm>
            <a:off x="6167628" y="2670048"/>
            <a:ext cx="1787652" cy="914400"/>
          </a:xfrm>
          <a:prstGeom prst="roundRect">
            <a:avLst>
              <a:gd name="adj" fmla="val 5000"/>
            </a:avLst>
          </a:prstGeom>
          <a:solidFill>
            <a:srgbClr val="EAF0F6"/>
          </a:solidFill>
          <a:ln w="9525">
            <a:solidFill>
              <a:srgbClr val="5B7FA6"/>
            </a:solidFill>
            <a:prstDash val="solid"/>
          </a:ln>
          <a:effectLst>
            <a:outerShdw blurRad="38100" dist="12700" dir="5400000" algn="bl" rotWithShape="0">
              <a:srgbClr val="000000">
                <a:alpha val="9000"/>
              </a:srgbClr>
            </a:outerShdw>
          </a:effectLst>
        </p:spPr>
        <p:txBody>
          <a:bodyPr/>
          <a:lstStyle/>
          <a:p>
            <a:endParaRPr lang="en-US"/>
          </a:p>
        </p:txBody>
      </p:sp>
      <p:sp>
        <p:nvSpPr>
          <p:cNvPr id="67" name="Text 65"/>
          <p:cNvSpPr/>
          <p:nvPr/>
        </p:nvSpPr>
        <p:spPr>
          <a:xfrm>
            <a:off x="6259068" y="2734056"/>
            <a:ext cx="1284732" cy="219456"/>
          </a:xfrm>
          <a:prstGeom prst="rect">
            <a:avLst/>
          </a:prstGeom>
          <a:noFill/>
          <a:ln/>
        </p:spPr>
        <p:txBody>
          <a:bodyPr wrap="square" lIns="0" tIns="0" rIns="0" bIns="0" rtlCol="0" anchor="ctr"/>
          <a:lstStyle/>
          <a:p>
            <a:pPr marL="0" indent="0">
              <a:buNone/>
            </a:pPr>
            <a:r>
              <a:rPr lang="en-US" sz="1100" b="1" dirty="0">
                <a:solidFill>
                  <a:srgbClr val="274763"/>
                </a:solidFill>
                <a:latin typeface="Montserrat" pitchFamily="34" charset="0"/>
                <a:ea typeface="Montserrat" pitchFamily="34" charset="-122"/>
                <a:cs typeface="Montserrat" pitchFamily="34" charset="-120"/>
              </a:rPr>
              <a:t>CARE</a:t>
            </a:r>
            <a:endParaRPr lang="en-US" sz="1100" dirty="0"/>
          </a:p>
        </p:txBody>
      </p:sp>
      <p:sp>
        <p:nvSpPr>
          <p:cNvPr id="68" name="Shape 66"/>
          <p:cNvSpPr/>
          <p:nvPr/>
        </p:nvSpPr>
        <p:spPr>
          <a:xfrm>
            <a:off x="7498080" y="2743200"/>
            <a:ext cx="384048" cy="173736"/>
          </a:xfrm>
          <a:prstGeom prst="roundRect">
            <a:avLst>
              <a:gd name="adj" fmla="val 15789"/>
            </a:avLst>
          </a:prstGeom>
          <a:solidFill>
            <a:srgbClr val="5B7FA6"/>
          </a:solidFill>
          <a:ln/>
        </p:spPr>
        <p:txBody>
          <a:bodyPr/>
          <a:lstStyle/>
          <a:p>
            <a:endParaRPr lang="en-US"/>
          </a:p>
        </p:txBody>
      </p:sp>
      <p:sp>
        <p:nvSpPr>
          <p:cNvPr id="69" name="Text 67"/>
          <p:cNvSpPr/>
          <p:nvPr/>
        </p:nvSpPr>
        <p:spPr>
          <a:xfrm>
            <a:off x="7498080" y="2743200"/>
            <a:ext cx="384048" cy="173736"/>
          </a:xfrm>
          <a:prstGeom prst="rect">
            <a:avLst/>
          </a:prstGeom>
          <a:noFill/>
          <a:ln/>
        </p:spPr>
        <p:txBody>
          <a:bodyPr wrap="square" lIns="0" tIns="0" rIns="0" bIns="0" rtlCol="0" anchor="ctr"/>
          <a:lstStyle/>
          <a:p>
            <a:pPr marL="0" indent="0" algn="ctr">
              <a:buNone/>
            </a:pPr>
            <a:r>
              <a:rPr lang="en-US" sz="650" b="1" dirty="0">
                <a:solidFill>
                  <a:srgbClr val="FDFDFD"/>
                </a:solidFill>
                <a:latin typeface="Montserrat" pitchFamily="34" charset="0"/>
                <a:ea typeface="Montserrat" pitchFamily="34" charset="-122"/>
                <a:cs typeface="Montserrat" pitchFamily="34" charset="-120"/>
              </a:rPr>
              <a:t>UC4</a:t>
            </a:r>
            <a:endParaRPr lang="en-US" sz="650" dirty="0"/>
          </a:p>
        </p:txBody>
      </p:sp>
      <p:sp>
        <p:nvSpPr>
          <p:cNvPr id="70" name="Text 68"/>
          <p:cNvSpPr/>
          <p:nvPr/>
        </p:nvSpPr>
        <p:spPr>
          <a:xfrm>
            <a:off x="6259068" y="2944368"/>
            <a:ext cx="1604772" cy="146304"/>
          </a:xfrm>
          <a:prstGeom prst="rect">
            <a:avLst/>
          </a:prstGeom>
          <a:noFill/>
          <a:ln/>
        </p:spPr>
        <p:txBody>
          <a:bodyPr wrap="square" lIns="0" tIns="0" rIns="0" bIns="0" rtlCol="0" anchor="ctr"/>
          <a:lstStyle/>
          <a:p>
            <a:pPr marL="0" indent="0">
              <a:buNone/>
            </a:pPr>
            <a:r>
              <a:rPr lang="en-US" sz="630" b="1" kern="0" spc="30" dirty="0">
                <a:solidFill>
                  <a:srgbClr val="274763"/>
                </a:solidFill>
                <a:latin typeface="Montserrat" pitchFamily="34" charset="0"/>
                <a:ea typeface="Montserrat" pitchFamily="34" charset="-122"/>
                <a:cs typeface="Montserrat" pitchFamily="34" charset="-120"/>
              </a:rPr>
              <a:t>AUTONOMOUS SERVICE</a:t>
            </a:r>
            <a:endParaRPr lang="en-US" sz="630" dirty="0"/>
          </a:p>
        </p:txBody>
      </p:sp>
      <p:sp>
        <p:nvSpPr>
          <p:cNvPr id="71" name="Text 69"/>
          <p:cNvSpPr/>
          <p:nvPr/>
        </p:nvSpPr>
        <p:spPr>
          <a:xfrm>
            <a:off x="6259068" y="3090672"/>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333333"/>
                </a:solidFill>
                <a:latin typeface="Lora" pitchFamily="34" charset="0"/>
                <a:ea typeface="Lora" pitchFamily="34" charset="-122"/>
                <a:cs typeface="Lora" pitchFamily="34" charset="-120"/>
              </a:rPr>
              <a:t>Resolves routine contacts end to end</a:t>
            </a:r>
            <a:endParaRPr lang="en-US" sz="700" dirty="0"/>
          </a:p>
        </p:txBody>
      </p:sp>
      <p:sp>
        <p:nvSpPr>
          <p:cNvPr id="72" name="Text 70"/>
          <p:cNvSpPr/>
          <p:nvPr/>
        </p:nvSpPr>
        <p:spPr>
          <a:xfrm>
            <a:off x="6259068" y="3383280"/>
            <a:ext cx="1604772" cy="164592"/>
          </a:xfrm>
          <a:prstGeom prst="rect">
            <a:avLst/>
          </a:prstGeom>
          <a:noFill/>
          <a:ln/>
        </p:spPr>
        <p:txBody>
          <a:bodyPr wrap="square" lIns="0" tIns="0" rIns="0" bIns="0" rtlCol="0" anchor="ctr"/>
          <a:lstStyle/>
          <a:p>
            <a:pPr marL="0" indent="0">
              <a:buNone/>
            </a:pPr>
            <a:r>
              <a:rPr lang="en-US" sz="630" i="1" dirty="0">
                <a:solidFill>
                  <a:srgbClr val="5F5E5A"/>
                </a:solidFill>
                <a:latin typeface="Lora" pitchFamily="34" charset="0"/>
                <a:ea typeface="Lora" pitchFamily="34" charset="-122"/>
                <a:cs typeface="Lora" pitchFamily="34" charset="-120"/>
              </a:rPr>
              <a:t>hosts CONCIERGE</a:t>
            </a:r>
            <a:endParaRPr lang="en-US" sz="630" dirty="0"/>
          </a:p>
        </p:txBody>
      </p:sp>
      <p:sp>
        <p:nvSpPr>
          <p:cNvPr id="73" name="Shape 71"/>
          <p:cNvSpPr/>
          <p:nvPr/>
        </p:nvSpPr>
        <p:spPr>
          <a:xfrm>
            <a:off x="8101584" y="2670048"/>
            <a:ext cx="1787652" cy="914400"/>
          </a:xfrm>
          <a:prstGeom prst="roundRect">
            <a:avLst>
              <a:gd name="adj" fmla="val 5000"/>
            </a:avLst>
          </a:prstGeom>
          <a:solidFill>
            <a:srgbClr val="EAF0F6"/>
          </a:solidFill>
          <a:ln w="9525">
            <a:solidFill>
              <a:srgbClr val="5B7FA6"/>
            </a:solidFill>
            <a:prstDash val="solid"/>
          </a:ln>
          <a:effectLst>
            <a:outerShdw blurRad="38100" dist="12700" dir="5400000" algn="bl" rotWithShape="0">
              <a:srgbClr val="000000">
                <a:alpha val="9000"/>
              </a:srgbClr>
            </a:outerShdw>
          </a:effectLst>
        </p:spPr>
        <p:txBody>
          <a:bodyPr/>
          <a:lstStyle/>
          <a:p>
            <a:endParaRPr lang="en-US"/>
          </a:p>
        </p:txBody>
      </p:sp>
      <p:sp>
        <p:nvSpPr>
          <p:cNvPr id="74" name="Text 72"/>
          <p:cNvSpPr/>
          <p:nvPr/>
        </p:nvSpPr>
        <p:spPr>
          <a:xfrm>
            <a:off x="8193024" y="2734056"/>
            <a:ext cx="1284732" cy="219456"/>
          </a:xfrm>
          <a:prstGeom prst="rect">
            <a:avLst/>
          </a:prstGeom>
          <a:noFill/>
          <a:ln/>
        </p:spPr>
        <p:txBody>
          <a:bodyPr wrap="square" lIns="0" tIns="0" rIns="0" bIns="0" rtlCol="0" anchor="ctr"/>
          <a:lstStyle/>
          <a:p>
            <a:pPr marL="0" indent="0">
              <a:buNone/>
            </a:pPr>
            <a:r>
              <a:rPr lang="en-US" sz="1100" b="1" dirty="0">
                <a:solidFill>
                  <a:srgbClr val="274763"/>
                </a:solidFill>
                <a:latin typeface="Montserrat" pitchFamily="34" charset="0"/>
                <a:ea typeface="Montserrat" pitchFamily="34" charset="-122"/>
                <a:cs typeface="Montserrat" pitchFamily="34" charset="-120"/>
              </a:rPr>
              <a:t>SENTRY</a:t>
            </a:r>
            <a:endParaRPr lang="en-US" sz="1100" dirty="0"/>
          </a:p>
        </p:txBody>
      </p:sp>
      <p:sp>
        <p:nvSpPr>
          <p:cNvPr id="75" name="Shape 73"/>
          <p:cNvSpPr/>
          <p:nvPr/>
        </p:nvSpPr>
        <p:spPr>
          <a:xfrm>
            <a:off x="9432036" y="2743200"/>
            <a:ext cx="384048" cy="173736"/>
          </a:xfrm>
          <a:prstGeom prst="roundRect">
            <a:avLst>
              <a:gd name="adj" fmla="val 15789"/>
            </a:avLst>
          </a:prstGeom>
          <a:solidFill>
            <a:srgbClr val="5B7FA6"/>
          </a:solidFill>
          <a:ln/>
        </p:spPr>
        <p:txBody>
          <a:bodyPr/>
          <a:lstStyle/>
          <a:p>
            <a:endParaRPr lang="en-US"/>
          </a:p>
        </p:txBody>
      </p:sp>
      <p:sp>
        <p:nvSpPr>
          <p:cNvPr id="76" name="Text 74"/>
          <p:cNvSpPr/>
          <p:nvPr/>
        </p:nvSpPr>
        <p:spPr>
          <a:xfrm>
            <a:off x="9432036" y="2743200"/>
            <a:ext cx="384048" cy="173736"/>
          </a:xfrm>
          <a:prstGeom prst="rect">
            <a:avLst/>
          </a:prstGeom>
          <a:noFill/>
          <a:ln/>
        </p:spPr>
        <p:txBody>
          <a:bodyPr wrap="square" lIns="0" tIns="0" rIns="0" bIns="0" rtlCol="0" anchor="ctr"/>
          <a:lstStyle/>
          <a:p>
            <a:pPr marL="0" indent="0" algn="ctr">
              <a:buNone/>
            </a:pPr>
            <a:r>
              <a:rPr lang="en-US" sz="650" b="1" dirty="0">
                <a:solidFill>
                  <a:srgbClr val="FDFDFD"/>
                </a:solidFill>
                <a:latin typeface="Montserrat" pitchFamily="34" charset="0"/>
                <a:ea typeface="Montserrat" pitchFamily="34" charset="-122"/>
                <a:cs typeface="Montserrat" pitchFamily="34" charset="-120"/>
              </a:rPr>
              <a:t>UC4</a:t>
            </a:r>
            <a:endParaRPr lang="en-US" sz="650" dirty="0"/>
          </a:p>
        </p:txBody>
      </p:sp>
      <p:sp>
        <p:nvSpPr>
          <p:cNvPr id="77" name="Text 75"/>
          <p:cNvSpPr/>
          <p:nvPr/>
        </p:nvSpPr>
        <p:spPr>
          <a:xfrm>
            <a:off x="8193024" y="2944368"/>
            <a:ext cx="1604772" cy="146304"/>
          </a:xfrm>
          <a:prstGeom prst="rect">
            <a:avLst/>
          </a:prstGeom>
          <a:noFill/>
          <a:ln/>
        </p:spPr>
        <p:txBody>
          <a:bodyPr wrap="square" lIns="0" tIns="0" rIns="0" bIns="0" rtlCol="0" anchor="ctr"/>
          <a:lstStyle/>
          <a:p>
            <a:pPr marL="0" indent="0">
              <a:buNone/>
            </a:pPr>
            <a:r>
              <a:rPr lang="en-US" sz="630" b="1" kern="0" spc="30" dirty="0">
                <a:solidFill>
                  <a:srgbClr val="274763"/>
                </a:solidFill>
                <a:latin typeface="Montserrat" pitchFamily="34" charset="0"/>
                <a:ea typeface="Montserrat" pitchFamily="34" charset="-122"/>
                <a:cs typeface="Montserrat" pitchFamily="34" charset="-120"/>
              </a:rPr>
              <a:t>CHECKOUT RISK &amp; APPROVAL</a:t>
            </a:r>
            <a:endParaRPr lang="en-US" sz="630" dirty="0"/>
          </a:p>
        </p:txBody>
      </p:sp>
      <p:sp>
        <p:nvSpPr>
          <p:cNvPr id="78" name="Text 76"/>
          <p:cNvSpPr/>
          <p:nvPr/>
        </p:nvSpPr>
        <p:spPr>
          <a:xfrm>
            <a:off x="8193024" y="3090672"/>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333333"/>
                </a:solidFill>
                <a:latin typeface="Lora" pitchFamily="34" charset="0"/>
                <a:ea typeface="Lora" pitchFamily="34" charset="-122"/>
                <a:cs typeface="Lora" pitchFamily="34" charset="-120"/>
              </a:rPr>
              <a:t>Real-time risk scoring &amp; approval</a:t>
            </a:r>
            <a:endParaRPr lang="en-US" sz="700" dirty="0"/>
          </a:p>
        </p:txBody>
      </p:sp>
      <p:sp>
        <p:nvSpPr>
          <p:cNvPr id="79" name="Text 77"/>
          <p:cNvSpPr/>
          <p:nvPr/>
        </p:nvSpPr>
        <p:spPr>
          <a:xfrm>
            <a:off x="8193024" y="3383280"/>
            <a:ext cx="1604772" cy="164592"/>
          </a:xfrm>
          <a:prstGeom prst="rect">
            <a:avLst/>
          </a:prstGeom>
          <a:noFill/>
          <a:ln/>
        </p:spPr>
        <p:txBody>
          <a:bodyPr wrap="square" lIns="0" tIns="0" rIns="0" bIns="0" rtlCol="0" anchor="ctr"/>
          <a:lstStyle/>
          <a:p>
            <a:pPr marL="0" indent="0">
              <a:buNone/>
            </a:pPr>
            <a:r>
              <a:rPr lang="en-US" sz="630" i="1" dirty="0">
                <a:solidFill>
                  <a:srgbClr val="5F5E5A"/>
                </a:solidFill>
                <a:latin typeface="Lora" pitchFamily="34" charset="0"/>
                <a:ea typeface="Lora" pitchFamily="34" charset="-122"/>
                <a:cs typeface="Lora" pitchFamily="34" charset="-120"/>
              </a:rPr>
              <a:t>approves CONCIERGE pay</a:t>
            </a:r>
            <a:endParaRPr lang="en-US" sz="630" dirty="0"/>
          </a:p>
        </p:txBody>
      </p:sp>
      <p:sp>
        <p:nvSpPr>
          <p:cNvPr id="80" name="Text 78"/>
          <p:cNvSpPr/>
          <p:nvPr/>
        </p:nvSpPr>
        <p:spPr>
          <a:xfrm>
            <a:off x="365760" y="3694176"/>
            <a:ext cx="9144000" cy="164592"/>
          </a:xfrm>
          <a:prstGeom prst="rect">
            <a:avLst/>
          </a:prstGeom>
          <a:noFill/>
          <a:ln/>
        </p:spPr>
        <p:txBody>
          <a:bodyPr wrap="square" lIns="0" tIns="0" rIns="0" bIns="0" rtlCol="0" anchor="ctr"/>
          <a:lstStyle/>
          <a:p>
            <a:pPr marL="0" indent="0">
              <a:buNone/>
            </a:pPr>
            <a:r>
              <a:rPr lang="en-US" sz="900" b="1" kern="0" spc="80" dirty="0">
                <a:solidFill>
                  <a:srgbClr val="7A7970"/>
                </a:solidFill>
                <a:latin typeface="Montserrat" pitchFamily="34" charset="0"/>
                <a:ea typeface="Montserrat" pitchFamily="34" charset="-122"/>
                <a:cs typeface="Montserrat" pitchFamily="34" charset="-120"/>
              </a:rPr>
              <a:t>SIGNAL — cross-domain agents feeding the Assistant</a:t>
            </a:r>
            <a:endParaRPr lang="en-US" sz="900" dirty="0"/>
          </a:p>
        </p:txBody>
      </p:sp>
      <p:sp>
        <p:nvSpPr>
          <p:cNvPr id="81" name="Shape 79"/>
          <p:cNvSpPr/>
          <p:nvPr/>
        </p:nvSpPr>
        <p:spPr>
          <a:xfrm>
            <a:off x="365760" y="3877056"/>
            <a:ext cx="1787652" cy="914400"/>
          </a:xfrm>
          <a:prstGeom prst="roundRect">
            <a:avLst>
              <a:gd name="adj" fmla="val 5000"/>
            </a:avLst>
          </a:prstGeom>
          <a:solidFill>
            <a:srgbClr val="FBF3E4"/>
          </a:solidFill>
          <a:ln w="9525">
            <a:solidFill>
              <a:srgbClr val="C79A3E"/>
            </a:solidFill>
            <a:prstDash val="solid"/>
          </a:ln>
          <a:effectLst>
            <a:outerShdw blurRad="38100" dist="12700" dir="5400000" algn="bl" rotWithShape="0">
              <a:srgbClr val="000000">
                <a:alpha val="9000"/>
              </a:srgbClr>
            </a:outerShdw>
          </a:effectLst>
        </p:spPr>
        <p:txBody>
          <a:bodyPr/>
          <a:lstStyle/>
          <a:p>
            <a:endParaRPr lang="en-US"/>
          </a:p>
        </p:txBody>
      </p:sp>
      <p:sp>
        <p:nvSpPr>
          <p:cNvPr id="82" name="Text 80"/>
          <p:cNvSpPr/>
          <p:nvPr/>
        </p:nvSpPr>
        <p:spPr>
          <a:xfrm>
            <a:off x="457200" y="3941064"/>
            <a:ext cx="1284732" cy="219456"/>
          </a:xfrm>
          <a:prstGeom prst="rect">
            <a:avLst/>
          </a:prstGeom>
          <a:noFill/>
          <a:ln/>
        </p:spPr>
        <p:txBody>
          <a:bodyPr wrap="square" lIns="0" tIns="0" rIns="0" bIns="0" rtlCol="0" anchor="ctr"/>
          <a:lstStyle/>
          <a:p>
            <a:pPr marL="0" indent="0">
              <a:buNone/>
            </a:pPr>
            <a:r>
              <a:rPr lang="en-US" sz="1100" b="1" dirty="0">
                <a:solidFill>
                  <a:srgbClr val="6E5417"/>
                </a:solidFill>
                <a:latin typeface="Montserrat" pitchFamily="34" charset="0"/>
                <a:ea typeface="Montserrat" pitchFamily="34" charset="-122"/>
                <a:cs typeface="Montserrat" pitchFamily="34" charset="-120"/>
              </a:rPr>
              <a:t>SCOUT</a:t>
            </a:r>
            <a:endParaRPr lang="en-US" sz="1100" dirty="0"/>
          </a:p>
        </p:txBody>
      </p:sp>
      <p:sp>
        <p:nvSpPr>
          <p:cNvPr id="83" name="Shape 81"/>
          <p:cNvSpPr/>
          <p:nvPr/>
        </p:nvSpPr>
        <p:spPr>
          <a:xfrm>
            <a:off x="1696212" y="3950208"/>
            <a:ext cx="384048" cy="173736"/>
          </a:xfrm>
          <a:prstGeom prst="roundRect">
            <a:avLst>
              <a:gd name="adj" fmla="val 15789"/>
            </a:avLst>
          </a:prstGeom>
          <a:solidFill>
            <a:srgbClr val="C79A3E"/>
          </a:solidFill>
          <a:ln/>
        </p:spPr>
        <p:txBody>
          <a:bodyPr/>
          <a:lstStyle/>
          <a:p>
            <a:endParaRPr lang="en-US"/>
          </a:p>
        </p:txBody>
      </p:sp>
      <p:sp>
        <p:nvSpPr>
          <p:cNvPr id="84" name="Text 82"/>
          <p:cNvSpPr/>
          <p:nvPr/>
        </p:nvSpPr>
        <p:spPr>
          <a:xfrm>
            <a:off x="1696212" y="3950208"/>
            <a:ext cx="384048" cy="173736"/>
          </a:xfrm>
          <a:prstGeom prst="rect">
            <a:avLst/>
          </a:prstGeom>
          <a:noFill/>
          <a:ln/>
        </p:spPr>
        <p:txBody>
          <a:bodyPr wrap="square" lIns="0" tIns="0" rIns="0" bIns="0" rtlCol="0" anchor="ctr"/>
          <a:lstStyle/>
          <a:p>
            <a:pPr marL="0" indent="0" algn="ctr">
              <a:buNone/>
            </a:pPr>
            <a:r>
              <a:rPr lang="en-US" sz="650" b="1" dirty="0">
                <a:solidFill>
                  <a:srgbClr val="FDFDFD"/>
                </a:solidFill>
                <a:latin typeface="Montserrat" pitchFamily="34" charset="0"/>
                <a:ea typeface="Montserrat" pitchFamily="34" charset="-122"/>
                <a:cs typeface="Montserrat" pitchFamily="34" charset="-120"/>
              </a:rPr>
              <a:t>UC2</a:t>
            </a:r>
            <a:endParaRPr lang="en-US" sz="650" dirty="0"/>
          </a:p>
        </p:txBody>
      </p:sp>
      <p:sp>
        <p:nvSpPr>
          <p:cNvPr id="85" name="Text 83"/>
          <p:cNvSpPr/>
          <p:nvPr/>
        </p:nvSpPr>
        <p:spPr>
          <a:xfrm>
            <a:off x="457200" y="4151376"/>
            <a:ext cx="1604772" cy="146304"/>
          </a:xfrm>
          <a:prstGeom prst="rect">
            <a:avLst/>
          </a:prstGeom>
          <a:noFill/>
          <a:ln/>
        </p:spPr>
        <p:txBody>
          <a:bodyPr wrap="square" lIns="0" tIns="0" rIns="0" bIns="0" rtlCol="0" anchor="ctr"/>
          <a:lstStyle/>
          <a:p>
            <a:pPr marL="0" indent="0">
              <a:buNone/>
            </a:pPr>
            <a:r>
              <a:rPr lang="en-US" sz="630" b="1" kern="0" spc="30" dirty="0">
                <a:solidFill>
                  <a:srgbClr val="6E5417"/>
                </a:solidFill>
                <a:latin typeface="Montserrat" pitchFamily="34" charset="0"/>
                <a:ea typeface="Montserrat" pitchFamily="34" charset="-122"/>
                <a:cs typeface="Montserrat" pitchFamily="34" charset="-120"/>
              </a:rPr>
              <a:t>TREND &amp; DEMAND</a:t>
            </a:r>
            <a:endParaRPr lang="en-US" sz="630" dirty="0"/>
          </a:p>
        </p:txBody>
      </p:sp>
      <p:sp>
        <p:nvSpPr>
          <p:cNvPr id="86" name="Text 84"/>
          <p:cNvSpPr/>
          <p:nvPr/>
        </p:nvSpPr>
        <p:spPr>
          <a:xfrm>
            <a:off x="457200" y="4297680"/>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333333"/>
                </a:solidFill>
                <a:latin typeface="Lora" pitchFamily="34" charset="0"/>
                <a:ea typeface="Lora" pitchFamily="34" charset="-122"/>
                <a:cs typeface="Lora" pitchFamily="34" charset="-120"/>
              </a:rPr>
              <a:t>Senses trend &amp; demand signals</a:t>
            </a:r>
            <a:endParaRPr lang="en-US" sz="700" dirty="0"/>
          </a:p>
        </p:txBody>
      </p:sp>
      <p:sp>
        <p:nvSpPr>
          <p:cNvPr id="87" name="Text 85"/>
          <p:cNvSpPr/>
          <p:nvPr/>
        </p:nvSpPr>
        <p:spPr>
          <a:xfrm>
            <a:off x="457200" y="4590288"/>
            <a:ext cx="1604772" cy="164592"/>
          </a:xfrm>
          <a:prstGeom prst="rect">
            <a:avLst/>
          </a:prstGeom>
          <a:noFill/>
          <a:ln/>
        </p:spPr>
        <p:txBody>
          <a:bodyPr wrap="square" lIns="0" tIns="0" rIns="0" bIns="0" rtlCol="0" anchor="ctr"/>
          <a:lstStyle/>
          <a:p>
            <a:pPr marL="0" indent="0">
              <a:buNone/>
            </a:pPr>
            <a:r>
              <a:rPr lang="en-US" sz="630" i="1" dirty="0">
                <a:solidFill>
                  <a:srgbClr val="5F5E5A"/>
                </a:solidFill>
                <a:latin typeface="Lora" pitchFamily="34" charset="0"/>
                <a:ea typeface="Lora" pitchFamily="34" charset="-122"/>
                <a:cs typeface="Lora" pitchFamily="34" charset="-120"/>
              </a:rPr>
              <a:t>feeds MUSE</a:t>
            </a:r>
            <a:endParaRPr lang="en-US" sz="630" dirty="0"/>
          </a:p>
        </p:txBody>
      </p:sp>
      <p:sp>
        <p:nvSpPr>
          <p:cNvPr id="88" name="Shape 86"/>
          <p:cNvSpPr/>
          <p:nvPr/>
        </p:nvSpPr>
        <p:spPr>
          <a:xfrm>
            <a:off x="2299716" y="3877056"/>
            <a:ext cx="1787652" cy="914400"/>
          </a:xfrm>
          <a:prstGeom prst="roundRect">
            <a:avLst>
              <a:gd name="adj" fmla="val 5000"/>
            </a:avLst>
          </a:prstGeom>
          <a:solidFill>
            <a:srgbClr val="FBF3E4"/>
          </a:solidFill>
          <a:ln w="9525">
            <a:solidFill>
              <a:srgbClr val="C79A3E"/>
            </a:solidFill>
            <a:prstDash val="solid"/>
          </a:ln>
          <a:effectLst>
            <a:outerShdw blurRad="38100" dist="12700" dir="5400000" algn="bl" rotWithShape="0">
              <a:srgbClr val="000000">
                <a:alpha val="9000"/>
              </a:srgbClr>
            </a:outerShdw>
          </a:effectLst>
        </p:spPr>
        <p:txBody>
          <a:bodyPr/>
          <a:lstStyle/>
          <a:p>
            <a:endParaRPr lang="en-US"/>
          </a:p>
        </p:txBody>
      </p:sp>
      <p:sp>
        <p:nvSpPr>
          <p:cNvPr id="89" name="Text 87"/>
          <p:cNvSpPr/>
          <p:nvPr/>
        </p:nvSpPr>
        <p:spPr>
          <a:xfrm>
            <a:off x="2391156" y="3941064"/>
            <a:ext cx="1284732" cy="219456"/>
          </a:xfrm>
          <a:prstGeom prst="rect">
            <a:avLst/>
          </a:prstGeom>
          <a:noFill/>
          <a:ln/>
        </p:spPr>
        <p:txBody>
          <a:bodyPr wrap="square" lIns="0" tIns="0" rIns="0" bIns="0" rtlCol="0" anchor="ctr"/>
          <a:lstStyle/>
          <a:p>
            <a:pPr marL="0" indent="0">
              <a:buNone/>
            </a:pPr>
            <a:r>
              <a:rPr lang="en-US" sz="1100" b="1" dirty="0">
                <a:solidFill>
                  <a:srgbClr val="6E5417"/>
                </a:solidFill>
                <a:latin typeface="Montserrat" pitchFamily="34" charset="0"/>
                <a:ea typeface="Montserrat" pitchFamily="34" charset="-122"/>
                <a:cs typeface="Montserrat" pitchFamily="34" charset="-120"/>
              </a:rPr>
              <a:t>PACE</a:t>
            </a:r>
            <a:endParaRPr lang="en-US" sz="1100" dirty="0"/>
          </a:p>
        </p:txBody>
      </p:sp>
      <p:sp>
        <p:nvSpPr>
          <p:cNvPr id="90" name="Shape 88"/>
          <p:cNvSpPr/>
          <p:nvPr/>
        </p:nvSpPr>
        <p:spPr>
          <a:xfrm>
            <a:off x="3630168" y="3950208"/>
            <a:ext cx="384048" cy="173736"/>
          </a:xfrm>
          <a:prstGeom prst="roundRect">
            <a:avLst>
              <a:gd name="adj" fmla="val 15789"/>
            </a:avLst>
          </a:prstGeom>
          <a:solidFill>
            <a:srgbClr val="C79A3E"/>
          </a:solidFill>
          <a:ln/>
        </p:spPr>
        <p:txBody>
          <a:bodyPr/>
          <a:lstStyle/>
          <a:p>
            <a:endParaRPr lang="en-US"/>
          </a:p>
        </p:txBody>
      </p:sp>
      <p:sp>
        <p:nvSpPr>
          <p:cNvPr id="91" name="Text 89"/>
          <p:cNvSpPr/>
          <p:nvPr/>
        </p:nvSpPr>
        <p:spPr>
          <a:xfrm>
            <a:off x="3630168" y="3950208"/>
            <a:ext cx="384048" cy="173736"/>
          </a:xfrm>
          <a:prstGeom prst="rect">
            <a:avLst/>
          </a:prstGeom>
          <a:noFill/>
          <a:ln/>
        </p:spPr>
        <p:txBody>
          <a:bodyPr wrap="square" lIns="0" tIns="0" rIns="0" bIns="0" rtlCol="0" anchor="ctr"/>
          <a:lstStyle/>
          <a:p>
            <a:pPr marL="0" indent="0" algn="ctr">
              <a:buNone/>
            </a:pPr>
            <a:r>
              <a:rPr lang="en-US" sz="650" b="1" dirty="0">
                <a:solidFill>
                  <a:srgbClr val="FDFDFD"/>
                </a:solidFill>
                <a:latin typeface="Montserrat" pitchFamily="34" charset="0"/>
                <a:ea typeface="Montserrat" pitchFamily="34" charset="-122"/>
                <a:cs typeface="Montserrat" pitchFamily="34" charset="-120"/>
              </a:rPr>
              <a:t>UC2/4</a:t>
            </a:r>
            <a:endParaRPr lang="en-US" sz="650" dirty="0"/>
          </a:p>
        </p:txBody>
      </p:sp>
      <p:sp>
        <p:nvSpPr>
          <p:cNvPr id="92" name="Text 90"/>
          <p:cNvSpPr/>
          <p:nvPr/>
        </p:nvSpPr>
        <p:spPr>
          <a:xfrm>
            <a:off x="2391156" y="4151376"/>
            <a:ext cx="1604772" cy="146304"/>
          </a:xfrm>
          <a:prstGeom prst="rect">
            <a:avLst/>
          </a:prstGeom>
          <a:noFill/>
          <a:ln/>
        </p:spPr>
        <p:txBody>
          <a:bodyPr wrap="square" lIns="0" tIns="0" rIns="0" bIns="0" rtlCol="0" anchor="ctr"/>
          <a:lstStyle/>
          <a:p>
            <a:pPr marL="0" indent="0">
              <a:buNone/>
            </a:pPr>
            <a:r>
              <a:rPr lang="en-US" sz="630" b="1" kern="0" spc="30" dirty="0">
                <a:solidFill>
                  <a:srgbClr val="6E5417"/>
                </a:solidFill>
                <a:latin typeface="Montserrat" pitchFamily="34" charset="0"/>
                <a:ea typeface="Montserrat" pitchFamily="34" charset="-122"/>
                <a:cs typeface="Montserrat" pitchFamily="34" charset="-120"/>
              </a:rPr>
              <a:t>DYNAMIC PRICING</a:t>
            </a:r>
            <a:endParaRPr lang="en-US" sz="630" dirty="0"/>
          </a:p>
        </p:txBody>
      </p:sp>
      <p:sp>
        <p:nvSpPr>
          <p:cNvPr id="93" name="Text 91"/>
          <p:cNvSpPr/>
          <p:nvPr/>
        </p:nvSpPr>
        <p:spPr>
          <a:xfrm>
            <a:off x="2391156" y="4297680"/>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333333"/>
                </a:solidFill>
                <a:latin typeface="Lora" pitchFamily="34" charset="0"/>
                <a:ea typeface="Lora" pitchFamily="34" charset="-122"/>
                <a:cs typeface="Lora" pitchFamily="34" charset="-120"/>
              </a:rPr>
              <a:t>Live price-pacing within ±5% guardrail</a:t>
            </a:r>
            <a:endParaRPr lang="en-US" sz="700" dirty="0"/>
          </a:p>
        </p:txBody>
      </p:sp>
      <p:sp>
        <p:nvSpPr>
          <p:cNvPr id="94" name="Text 92"/>
          <p:cNvSpPr/>
          <p:nvPr/>
        </p:nvSpPr>
        <p:spPr>
          <a:xfrm>
            <a:off x="2391156" y="4590288"/>
            <a:ext cx="1604772" cy="164592"/>
          </a:xfrm>
          <a:prstGeom prst="rect">
            <a:avLst/>
          </a:prstGeom>
          <a:noFill/>
          <a:ln/>
        </p:spPr>
        <p:txBody>
          <a:bodyPr wrap="square" lIns="0" tIns="0" rIns="0" bIns="0" rtlCol="0" anchor="ctr"/>
          <a:lstStyle/>
          <a:p>
            <a:pPr marL="0" indent="0">
              <a:buNone/>
            </a:pPr>
            <a:r>
              <a:rPr lang="en-US" sz="630" i="1" dirty="0">
                <a:solidFill>
                  <a:srgbClr val="5F5E5A"/>
                </a:solidFill>
                <a:latin typeface="Lora" pitchFamily="34" charset="0"/>
                <a:ea typeface="Lora" pitchFamily="34" charset="-122"/>
                <a:cs typeface="Lora" pitchFamily="34" charset="-120"/>
              </a:rPr>
              <a:t>price context for offers</a:t>
            </a:r>
            <a:endParaRPr lang="en-US" sz="630" dirty="0"/>
          </a:p>
        </p:txBody>
      </p:sp>
      <p:sp>
        <p:nvSpPr>
          <p:cNvPr id="95" name="Text 93"/>
          <p:cNvSpPr/>
          <p:nvPr/>
        </p:nvSpPr>
        <p:spPr>
          <a:xfrm>
            <a:off x="365760" y="4901184"/>
            <a:ext cx="9144000" cy="164592"/>
          </a:xfrm>
          <a:prstGeom prst="rect">
            <a:avLst/>
          </a:prstGeom>
          <a:noFill/>
          <a:ln/>
        </p:spPr>
        <p:txBody>
          <a:bodyPr wrap="square" lIns="0" tIns="0" rIns="0" bIns="0" rtlCol="0" anchor="ctr"/>
          <a:lstStyle/>
          <a:p>
            <a:pPr marL="0" indent="0">
              <a:buNone/>
            </a:pPr>
            <a:r>
              <a:rPr lang="en-US" sz="900" b="1" kern="0" spc="80" dirty="0">
                <a:solidFill>
                  <a:srgbClr val="7A7970"/>
                </a:solidFill>
                <a:latin typeface="Montserrat" pitchFamily="34" charset="0"/>
                <a:ea typeface="Montserrat" pitchFamily="34" charset="-122"/>
                <a:cs typeface="Montserrat" pitchFamily="34" charset="-120"/>
              </a:rPr>
              <a:t>MISSION 2 ONLY — in the estate, outside the M3 use cases</a:t>
            </a:r>
            <a:endParaRPr lang="en-US" sz="900" dirty="0"/>
          </a:p>
        </p:txBody>
      </p:sp>
      <p:sp>
        <p:nvSpPr>
          <p:cNvPr id="96" name="Shape 94"/>
          <p:cNvSpPr/>
          <p:nvPr/>
        </p:nvSpPr>
        <p:spPr>
          <a:xfrm>
            <a:off x="365760" y="5084064"/>
            <a:ext cx="1787652" cy="914400"/>
          </a:xfrm>
          <a:prstGeom prst="roundRect">
            <a:avLst>
              <a:gd name="adj" fmla="val 5000"/>
            </a:avLst>
          </a:prstGeom>
          <a:solidFill>
            <a:srgbClr val="F2F1EC"/>
          </a:solidFill>
          <a:ln w="9525">
            <a:solidFill>
              <a:srgbClr val="DAD8D0"/>
            </a:solidFill>
            <a:prstDash val="solid"/>
          </a:ln>
          <a:effectLst>
            <a:outerShdw blurRad="38100" dist="12700" dir="5400000" algn="bl" rotWithShape="0">
              <a:srgbClr val="000000">
                <a:alpha val="9000"/>
              </a:srgbClr>
            </a:outerShdw>
          </a:effectLst>
        </p:spPr>
        <p:txBody>
          <a:bodyPr/>
          <a:lstStyle/>
          <a:p>
            <a:endParaRPr lang="en-US"/>
          </a:p>
        </p:txBody>
      </p:sp>
      <p:sp>
        <p:nvSpPr>
          <p:cNvPr id="97" name="Text 95"/>
          <p:cNvSpPr/>
          <p:nvPr/>
        </p:nvSpPr>
        <p:spPr>
          <a:xfrm>
            <a:off x="457200" y="5148072"/>
            <a:ext cx="1284732" cy="219456"/>
          </a:xfrm>
          <a:prstGeom prst="rect">
            <a:avLst/>
          </a:prstGeom>
          <a:noFill/>
          <a:ln/>
        </p:spPr>
        <p:txBody>
          <a:bodyPr wrap="square" lIns="0" tIns="0" rIns="0" bIns="0" rtlCol="0" anchor="ctr"/>
          <a:lstStyle/>
          <a:p>
            <a:pPr marL="0" indent="0">
              <a:buNone/>
            </a:pPr>
            <a:r>
              <a:rPr lang="en-US" sz="1100" b="1" dirty="0">
                <a:solidFill>
                  <a:srgbClr val="9B9A92"/>
                </a:solidFill>
                <a:latin typeface="Montserrat" pitchFamily="34" charset="0"/>
                <a:ea typeface="Montserrat" pitchFamily="34" charset="-122"/>
                <a:cs typeface="Montserrat" pitchFamily="34" charset="-120"/>
              </a:rPr>
              <a:t>ROUTE</a:t>
            </a:r>
            <a:endParaRPr lang="en-US" sz="1100" dirty="0"/>
          </a:p>
        </p:txBody>
      </p:sp>
      <p:sp>
        <p:nvSpPr>
          <p:cNvPr id="98" name="Text 96"/>
          <p:cNvSpPr/>
          <p:nvPr/>
        </p:nvSpPr>
        <p:spPr>
          <a:xfrm>
            <a:off x="457200" y="5358384"/>
            <a:ext cx="1604772" cy="146304"/>
          </a:xfrm>
          <a:prstGeom prst="rect">
            <a:avLst/>
          </a:prstGeom>
          <a:noFill/>
          <a:ln/>
        </p:spPr>
        <p:txBody>
          <a:bodyPr wrap="square" lIns="0" tIns="0" rIns="0" bIns="0" rtlCol="0" anchor="ctr"/>
          <a:lstStyle/>
          <a:p>
            <a:pPr marL="0" indent="0">
              <a:buNone/>
            </a:pPr>
            <a:r>
              <a:rPr lang="en-US" sz="630" b="1" kern="0" spc="30" dirty="0">
                <a:solidFill>
                  <a:srgbClr val="9B9A92"/>
                </a:solidFill>
                <a:latin typeface="Montserrat" pitchFamily="34" charset="0"/>
                <a:ea typeface="Montserrat" pitchFamily="34" charset="-122"/>
                <a:cs typeface="Montserrat" pitchFamily="34" charset="-120"/>
              </a:rPr>
              <a:t>FULFILMENT ROUTING</a:t>
            </a:r>
            <a:endParaRPr lang="en-US" sz="630" dirty="0"/>
          </a:p>
        </p:txBody>
      </p:sp>
      <p:sp>
        <p:nvSpPr>
          <p:cNvPr id="99" name="Text 97"/>
          <p:cNvSpPr/>
          <p:nvPr/>
        </p:nvSpPr>
        <p:spPr>
          <a:xfrm>
            <a:off x="457200" y="5504688"/>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9B9A92"/>
                </a:solidFill>
                <a:latin typeface="Lora" pitchFamily="34" charset="0"/>
                <a:ea typeface="Lora" pitchFamily="34" charset="-122"/>
                <a:cs typeface="Lora" pitchFamily="34" charset="-120"/>
              </a:rPr>
              <a:t>Best source per order across estate</a:t>
            </a:r>
            <a:endParaRPr lang="en-US" sz="700" dirty="0"/>
          </a:p>
        </p:txBody>
      </p:sp>
      <p:sp>
        <p:nvSpPr>
          <p:cNvPr id="100" name="Text 98"/>
          <p:cNvSpPr/>
          <p:nvPr/>
        </p:nvSpPr>
        <p:spPr>
          <a:xfrm>
            <a:off x="457200" y="5797296"/>
            <a:ext cx="1604772" cy="164592"/>
          </a:xfrm>
          <a:prstGeom prst="rect">
            <a:avLst/>
          </a:prstGeom>
          <a:noFill/>
          <a:ln/>
        </p:spPr>
        <p:txBody>
          <a:bodyPr wrap="square" lIns="0" tIns="0" rIns="0" bIns="0" rtlCol="0" anchor="ctr"/>
          <a:lstStyle/>
          <a:p>
            <a:pPr marL="0" indent="0">
              <a:buNone/>
            </a:pPr>
            <a:r>
              <a:rPr lang="en-US" sz="630" i="1" dirty="0">
                <a:solidFill>
                  <a:srgbClr val="9B9A92"/>
                </a:solidFill>
                <a:latin typeface="Lora" pitchFamily="34" charset="0"/>
                <a:ea typeface="Lora" pitchFamily="34" charset="-122"/>
                <a:cs typeface="Lora" pitchFamily="34" charset="-120"/>
              </a:rPr>
              <a:t>Process #1</a:t>
            </a:r>
            <a:endParaRPr lang="en-US" sz="630" dirty="0"/>
          </a:p>
        </p:txBody>
      </p:sp>
      <p:sp>
        <p:nvSpPr>
          <p:cNvPr id="101" name="Shape 99"/>
          <p:cNvSpPr/>
          <p:nvPr/>
        </p:nvSpPr>
        <p:spPr>
          <a:xfrm>
            <a:off x="2299716" y="5084064"/>
            <a:ext cx="1787652" cy="914400"/>
          </a:xfrm>
          <a:prstGeom prst="roundRect">
            <a:avLst>
              <a:gd name="adj" fmla="val 5000"/>
            </a:avLst>
          </a:prstGeom>
          <a:solidFill>
            <a:srgbClr val="F2F1EC"/>
          </a:solidFill>
          <a:ln w="9525">
            <a:solidFill>
              <a:srgbClr val="DAD8D0"/>
            </a:solidFill>
            <a:prstDash val="solid"/>
          </a:ln>
          <a:effectLst>
            <a:outerShdw blurRad="38100" dist="12700" dir="5400000" algn="bl" rotWithShape="0">
              <a:srgbClr val="000000">
                <a:alpha val="9000"/>
              </a:srgbClr>
            </a:outerShdw>
          </a:effectLst>
        </p:spPr>
        <p:txBody>
          <a:bodyPr/>
          <a:lstStyle/>
          <a:p>
            <a:endParaRPr lang="en-US"/>
          </a:p>
        </p:txBody>
      </p:sp>
      <p:sp>
        <p:nvSpPr>
          <p:cNvPr id="102" name="Text 100"/>
          <p:cNvSpPr/>
          <p:nvPr/>
        </p:nvSpPr>
        <p:spPr>
          <a:xfrm>
            <a:off x="2391156" y="5148072"/>
            <a:ext cx="1284732" cy="219456"/>
          </a:xfrm>
          <a:prstGeom prst="rect">
            <a:avLst/>
          </a:prstGeom>
          <a:noFill/>
          <a:ln/>
        </p:spPr>
        <p:txBody>
          <a:bodyPr wrap="square" lIns="0" tIns="0" rIns="0" bIns="0" rtlCol="0" anchor="ctr"/>
          <a:lstStyle/>
          <a:p>
            <a:pPr marL="0" indent="0">
              <a:buNone/>
            </a:pPr>
            <a:r>
              <a:rPr lang="en-US" sz="1100" b="1" dirty="0">
                <a:solidFill>
                  <a:srgbClr val="9B9A92"/>
                </a:solidFill>
                <a:latin typeface="Montserrat" pitchFamily="34" charset="0"/>
                <a:ea typeface="Montserrat" pitchFamily="34" charset="-122"/>
                <a:cs typeface="Montserrat" pitchFamily="34" charset="-120"/>
              </a:rPr>
              <a:t>HANDOFF</a:t>
            </a:r>
            <a:endParaRPr lang="en-US" sz="1100" dirty="0"/>
          </a:p>
        </p:txBody>
      </p:sp>
      <p:sp>
        <p:nvSpPr>
          <p:cNvPr id="103" name="Text 101"/>
          <p:cNvSpPr/>
          <p:nvPr/>
        </p:nvSpPr>
        <p:spPr>
          <a:xfrm>
            <a:off x="2391156" y="5358384"/>
            <a:ext cx="1604772" cy="146304"/>
          </a:xfrm>
          <a:prstGeom prst="rect">
            <a:avLst/>
          </a:prstGeom>
          <a:noFill/>
          <a:ln/>
        </p:spPr>
        <p:txBody>
          <a:bodyPr wrap="square" lIns="0" tIns="0" rIns="0" bIns="0" rtlCol="0" anchor="ctr"/>
          <a:lstStyle/>
          <a:p>
            <a:pPr marL="0" indent="0">
              <a:buNone/>
            </a:pPr>
            <a:r>
              <a:rPr lang="en-US" sz="630" b="1" kern="0" spc="30" dirty="0">
                <a:solidFill>
                  <a:srgbClr val="9B9A92"/>
                </a:solidFill>
                <a:latin typeface="Montserrat" pitchFamily="34" charset="0"/>
                <a:ea typeface="Montserrat" pitchFamily="34" charset="-122"/>
                <a:cs typeface="Montserrat" pitchFamily="34" charset="-120"/>
              </a:rPr>
              <a:t>CLICK &amp; COLLECT</a:t>
            </a:r>
            <a:endParaRPr lang="en-US" sz="630" dirty="0"/>
          </a:p>
        </p:txBody>
      </p:sp>
      <p:sp>
        <p:nvSpPr>
          <p:cNvPr id="104" name="Text 102"/>
          <p:cNvSpPr/>
          <p:nvPr/>
        </p:nvSpPr>
        <p:spPr>
          <a:xfrm>
            <a:off x="2391156" y="5504688"/>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9B9A92"/>
                </a:solidFill>
                <a:latin typeface="Lora" pitchFamily="34" charset="0"/>
                <a:ea typeface="Lora" pitchFamily="34" charset="-122"/>
                <a:cs typeface="Lora" pitchFamily="34" charset="-120"/>
              </a:rPr>
              <a:t>Reserve · pick · notify · collect</a:t>
            </a:r>
            <a:endParaRPr lang="en-US" sz="700" dirty="0"/>
          </a:p>
        </p:txBody>
      </p:sp>
      <p:sp>
        <p:nvSpPr>
          <p:cNvPr id="105" name="Text 103"/>
          <p:cNvSpPr/>
          <p:nvPr/>
        </p:nvSpPr>
        <p:spPr>
          <a:xfrm>
            <a:off x="2391156" y="5797296"/>
            <a:ext cx="1604772" cy="164592"/>
          </a:xfrm>
          <a:prstGeom prst="rect">
            <a:avLst/>
          </a:prstGeom>
          <a:noFill/>
          <a:ln/>
        </p:spPr>
        <p:txBody>
          <a:bodyPr wrap="square" lIns="0" tIns="0" rIns="0" bIns="0" rtlCol="0" anchor="ctr"/>
          <a:lstStyle/>
          <a:p>
            <a:pPr marL="0" indent="0">
              <a:buNone/>
            </a:pPr>
            <a:r>
              <a:rPr lang="en-US" sz="630" i="1" dirty="0">
                <a:solidFill>
                  <a:srgbClr val="9B9A92"/>
                </a:solidFill>
                <a:latin typeface="Lora" pitchFamily="34" charset="0"/>
                <a:ea typeface="Lora" pitchFamily="34" charset="-122"/>
                <a:cs typeface="Lora" pitchFamily="34" charset="-120"/>
              </a:rPr>
              <a:t>Process #1</a:t>
            </a:r>
            <a:endParaRPr lang="en-US" sz="630" dirty="0"/>
          </a:p>
        </p:txBody>
      </p:sp>
      <p:sp>
        <p:nvSpPr>
          <p:cNvPr id="106" name="Shape 104"/>
          <p:cNvSpPr/>
          <p:nvPr/>
        </p:nvSpPr>
        <p:spPr>
          <a:xfrm>
            <a:off x="4233672" y="5084064"/>
            <a:ext cx="1787652" cy="914400"/>
          </a:xfrm>
          <a:prstGeom prst="roundRect">
            <a:avLst>
              <a:gd name="adj" fmla="val 5000"/>
            </a:avLst>
          </a:prstGeom>
          <a:solidFill>
            <a:srgbClr val="F2F1EC"/>
          </a:solidFill>
          <a:ln w="9525">
            <a:solidFill>
              <a:srgbClr val="DAD8D0"/>
            </a:solidFill>
            <a:prstDash val="solid"/>
          </a:ln>
          <a:effectLst>
            <a:outerShdw blurRad="38100" dist="12700" dir="5400000" algn="bl" rotWithShape="0">
              <a:srgbClr val="000000">
                <a:alpha val="9000"/>
              </a:srgbClr>
            </a:outerShdw>
          </a:effectLst>
        </p:spPr>
        <p:txBody>
          <a:bodyPr/>
          <a:lstStyle/>
          <a:p>
            <a:endParaRPr lang="en-US"/>
          </a:p>
        </p:txBody>
      </p:sp>
      <p:sp>
        <p:nvSpPr>
          <p:cNvPr id="107" name="Text 105"/>
          <p:cNvSpPr/>
          <p:nvPr/>
        </p:nvSpPr>
        <p:spPr>
          <a:xfrm>
            <a:off x="4325112" y="5148072"/>
            <a:ext cx="1284732" cy="219456"/>
          </a:xfrm>
          <a:prstGeom prst="rect">
            <a:avLst/>
          </a:prstGeom>
          <a:noFill/>
          <a:ln/>
        </p:spPr>
        <p:txBody>
          <a:bodyPr wrap="square" lIns="0" tIns="0" rIns="0" bIns="0" rtlCol="0" anchor="ctr"/>
          <a:lstStyle/>
          <a:p>
            <a:pPr marL="0" indent="0">
              <a:buNone/>
            </a:pPr>
            <a:r>
              <a:rPr lang="en-US" sz="1100" b="1" dirty="0">
                <a:solidFill>
                  <a:srgbClr val="9B9A92"/>
                </a:solidFill>
                <a:latin typeface="Montserrat" pitchFamily="34" charset="0"/>
                <a:ea typeface="Montserrat" pitchFamily="34" charset="-122"/>
                <a:cs typeface="Montserrat" pitchFamily="34" charset="-120"/>
              </a:rPr>
              <a:t>OTB</a:t>
            </a:r>
            <a:endParaRPr lang="en-US" sz="1100" dirty="0"/>
          </a:p>
        </p:txBody>
      </p:sp>
      <p:sp>
        <p:nvSpPr>
          <p:cNvPr id="108" name="Text 106"/>
          <p:cNvSpPr/>
          <p:nvPr/>
        </p:nvSpPr>
        <p:spPr>
          <a:xfrm>
            <a:off x="4325112" y="5358384"/>
            <a:ext cx="1604772" cy="146304"/>
          </a:xfrm>
          <a:prstGeom prst="rect">
            <a:avLst/>
          </a:prstGeom>
          <a:noFill/>
          <a:ln/>
        </p:spPr>
        <p:txBody>
          <a:bodyPr wrap="square" lIns="0" tIns="0" rIns="0" bIns="0" rtlCol="0" anchor="ctr"/>
          <a:lstStyle/>
          <a:p>
            <a:pPr marL="0" indent="0">
              <a:buNone/>
            </a:pPr>
            <a:r>
              <a:rPr lang="en-US" sz="630" b="1" kern="0" spc="30" dirty="0">
                <a:solidFill>
                  <a:srgbClr val="9B9A92"/>
                </a:solidFill>
                <a:latin typeface="Montserrat" pitchFamily="34" charset="0"/>
                <a:ea typeface="Montserrat" pitchFamily="34" charset="-122"/>
                <a:cs typeface="Montserrat" pitchFamily="34" charset="-120"/>
              </a:rPr>
              <a:t>OPEN-TO-BUY</a:t>
            </a:r>
            <a:endParaRPr lang="en-US" sz="630" dirty="0"/>
          </a:p>
        </p:txBody>
      </p:sp>
      <p:sp>
        <p:nvSpPr>
          <p:cNvPr id="109" name="Text 107"/>
          <p:cNvSpPr/>
          <p:nvPr/>
        </p:nvSpPr>
        <p:spPr>
          <a:xfrm>
            <a:off x="4325112" y="5504688"/>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9B9A92"/>
                </a:solidFill>
                <a:latin typeface="Lora" pitchFamily="34" charset="0"/>
                <a:ea typeface="Lora" pitchFamily="34" charset="-122"/>
                <a:cs typeface="Lora" pitchFamily="34" charset="-120"/>
              </a:rPr>
              <a:t>Buy commitments within guardrail</a:t>
            </a:r>
            <a:endParaRPr lang="en-US" sz="700" dirty="0"/>
          </a:p>
        </p:txBody>
      </p:sp>
      <p:sp>
        <p:nvSpPr>
          <p:cNvPr id="110" name="Text 108"/>
          <p:cNvSpPr/>
          <p:nvPr/>
        </p:nvSpPr>
        <p:spPr>
          <a:xfrm>
            <a:off x="4325112" y="5797296"/>
            <a:ext cx="1604772" cy="164592"/>
          </a:xfrm>
          <a:prstGeom prst="rect">
            <a:avLst/>
          </a:prstGeom>
          <a:noFill/>
          <a:ln/>
        </p:spPr>
        <p:txBody>
          <a:bodyPr wrap="square" lIns="0" tIns="0" rIns="0" bIns="0" rtlCol="0" anchor="ctr"/>
          <a:lstStyle/>
          <a:p>
            <a:pPr marL="0" indent="0">
              <a:buNone/>
            </a:pPr>
            <a:r>
              <a:rPr lang="en-US" sz="630" i="1" dirty="0">
                <a:solidFill>
                  <a:srgbClr val="9B9A92"/>
                </a:solidFill>
                <a:latin typeface="Lora" pitchFamily="34" charset="0"/>
                <a:ea typeface="Lora" pitchFamily="34" charset="-122"/>
                <a:cs typeface="Lora" pitchFamily="34" charset="-120"/>
              </a:rPr>
              <a:t>Process #2</a:t>
            </a:r>
            <a:endParaRPr lang="en-US" sz="630" dirty="0"/>
          </a:p>
        </p:txBody>
      </p:sp>
      <p:sp>
        <p:nvSpPr>
          <p:cNvPr id="111" name="Shape 109"/>
          <p:cNvSpPr/>
          <p:nvPr/>
        </p:nvSpPr>
        <p:spPr>
          <a:xfrm>
            <a:off x="6167628" y="5084064"/>
            <a:ext cx="1787652" cy="914400"/>
          </a:xfrm>
          <a:prstGeom prst="roundRect">
            <a:avLst>
              <a:gd name="adj" fmla="val 5000"/>
            </a:avLst>
          </a:prstGeom>
          <a:solidFill>
            <a:srgbClr val="F2F1EC"/>
          </a:solidFill>
          <a:ln w="9525">
            <a:solidFill>
              <a:srgbClr val="DAD8D0"/>
            </a:solidFill>
            <a:prstDash val="solid"/>
          </a:ln>
          <a:effectLst>
            <a:outerShdw blurRad="38100" dist="12700" dir="5400000" algn="bl" rotWithShape="0">
              <a:srgbClr val="000000">
                <a:alpha val="9000"/>
              </a:srgbClr>
            </a:outerShdw>
          </a:effectLst>
        </p:spPr>
        <p:txBody>
          <a:bodyPr/>
          <a:lstStyle/>
          <a:p>
            <a:endParaRPr lang="en-US"/>
          </a:p>
        </p:txBody>
      </p:sp>
      <p:sp>
        <p:nvSpPr>
          <p:cNvPr id="112" name="Text 110"/>
          <p:cNvSpPr/>
          <p:nvPr/>
        </p:nvSpPr>
        <p:spPr>
          <a:xfrm>
            <a:off x="6259068" y="5148072"/>
            <a:ext cx="1284732" cy="219456"/>
          </a:xfrm>
          <a:prstGeom prst="rect">
            <a:avLst/>
          </a:prstGeom>
          <a:noFill/>
          <a:ln/>
        </p:spPr>
        <p:txBody>
          <a:bodyPr wrap="square" lIns="0" tIns="0" rIns="0" bIns="0" rtlCol="0" anchor="ctr"/>
          <a:lstStyle/>
          <a:p>
            <a:pPr marL="0" indent="0">
              <a:buNone/>
            </a:pPr>
            <a:r>
              <a:rPr lang="en-US" sz="1100" b="1" dirty="0">
                <a:solidFill>
                  <a:srgbClr val="9B9A92"/>
                </a:solidFill>
                <a:latin typeface="Montserrat" pitchFamily="34" charset="0"/>
                <a:ea typeface="Montserrat" pitchFamily="34" charset="-122"/>
                <a:cs typeface="Montserrat" pitchFamily="34" charset="-120"/>
              </a:rPr>
              <a:t>SPREAD</a:t>
            </a:r>
            <a:endParaRPr lang="en-US" sz="1100" dirty="0"/>
          </a:p>
        </p:txBody>
      </p:sp>
      <p:sp>
        <p:nvSpPr>
          <p:cNvPr id="113" name="Text 111"/>
          <p:cNvSpPr/>
          <p:nvPr/>
        </p:nvSpPr>
        <p:spPr>
          <a:xfrm>
            <a:off x="6259068" y="5358384"/>
            <a:ext cx="1604772" cy="146304"/>
          </a:xfrm>
          <a:prstGeom prst="rect">
            <a:avLst/>
          </a:prstGeom>
          <a:noFill/>
          <a:ln/>
        </p:spPr>
        <p:txBody>
          <a:bodyPr wrap="square" lIns="0" tIns="0" rIns="0" bIns="0" rtlCol="0" anchor="ctr"/>
          <a:lstStyle/>
          <a:p>
            <a:pPr marL="0" indent="0">
              <a:buNone/>
            </a:pPr>
            <a:r>
              <a:rPr lang="en-US" sz="630" b="1" kern="0" spc="30" dirty="0">
                <a:solidFill>
                  <a:srgbClr val="9B9A92"/>
                </a:solidFill>
                <a:latin typeface="Montserrat" pitchFamily="34" charset="0"/>
                <a:ea typeface="Montserrat" pitchFamily="34" charset="-122"/>
                <a:cs typeface="Montserrat" pitchFamily="34" charset="-120"/>
              </a:rPr>
              <a:t>ALLOCATION</a:t>
            </a:r>
            <a:endParaRPr lang="en-US" sz="630" dirty="0"/>
          </a:p>
        </p:txBody>
      </p:sp>
      <p:sp>
        <p:nvSpPr>
          <p:cNvPr id="114" name="Text 112"/>
          <p:cNvSpPr/>
          <p:nvPr/>
        </p:nvSpPr>
        <p:spPr>
          <a:xfrm>
            <a:off x="6259068" y="5504688"/>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9B9A92"/>
                </a:solidFill>
                <a:latin typeface="Lora" pitchFamily="34" charset="0"/>
                <a:ea typeface="Lora" pitchFamily="34" charset="-122"/>
                <a:cs typeface="Lora" pitchFamily="34" charset="-120"/>
              </a:rPr>
              <a:t>Cluster-level allocation on demand</a:t>
            </a:r>
            <a:endParaRPr lang="en-US" sz="700" dirty="0"/>
          </a:p>
        </p:txBody>
      </p:sp>
      <p:sp>
        <p:nvSpPr>
          <p:cNvPr id="115" name="Text 113"/>
          <p:cNvSpPr/>
          <p:nvPr/>
        </p:nvSpPr>
        <p:spPr>
          <a:xfrm>
            <a:off x="6259068" y="5797296"/>
            <a:ext cx="1604772" cy="164592"/>
          </a:xfrm>
          <a:prstGeom prst="rect">
            <a:avLst/>
          </a:prstGeom>
          <a:noFill/>
          <a:ln/>
        </p:spPr>
        <p:txBody>
          <a:bodyPr wrap="square" lIns="0" tIns="0" rIns="0" bIns="0" rtlCol="0" anchor="ctr"/>
          <a:lstStyle/>
          <a:p>
            <a:pPr marL="0" indent="0">
              <a:buNone/>
            </a:pPr>
            <a:r>
              <a:rPr lang="en-US" sz="630" i="1" dirty="0">
                <a:solidFill>
                  <a:srgbClr val="9B9A92"/>
                </a:solidFill>
                <a:latin typeface="Lora" pitchFamily="34" charset="0"/>
                <a:ea typeface="Lora" pitchFamily="34" charset="-122"/>
                <a:cs typeface="Lora" pitchFamily="34" charset="-120"/>
              </a:rPr>
              <a:t>Process #2</a:t>
            </a:r>
            <a:endParaRPr lang="en-US" sz="630" dirty="0"/>
          </a:p>
        </p:txBody>
      </p:sp>
      <p:sp>
        <p:nvSpPr>
          <p:cNvPr id="116" name="Shape 114"/>
          <p:cNvSpPr/>
          <p:nvPr/>
        </p:nvSpPr>
        <p:spPr>
          <a:xfrm>
            <a:off x="8101584" y="5084064"/>
            <a:ext cx="1787652" cy="914400"/>
          </a:xfrm>
          <a:prstGeom prst="roundRect">
            <a:avLst>
              <a:gd name="adj" fmla="val 5000"/>
            </a:avLst>
          </a:prstGeom>
          <a:solidFill>
            <a:srgbClr val="F2F1EC"/>
          </a:solidFill>
          <a:ln w="9525">
            <a:solidFill>
              <a:srgbClr val="DAD8D0"/>
            </a:solidFill>
            <a:prstDash val="solid"/>
          </a:ln>
          <a:effectLst>
            <a:outerShdw blurRad="38100" dist="12700" dir="5400000" algn="bl" rotWithShape="0">
              <a:srgbClr val="000000">
                <a:alpha val="9000"/>
              </a:srgbClr>
            </a:outerShdw>
          </a:effectLst>
        </p:spPr>
        <p:txBody>
          <a:bodyPr/>
          <a:lstStyle/>
          <a:p>
            <a:endParaRPr lang="en-US"/>
          </a:p>
        </p:txBody>
      </p:sp>
      <p:sp>
        <p:nvSpPr>
          <p:cNvPr id="117" name="Text 115"/>
          <p:cNvSpPr/>
          <p:nvPr/>
        </p:nvSpPr>
        <p:spPr>
          <a:xfrm>
            <a:off x="8193024" y="5148072"/>
            <a:ext cx="1284732" cy="219456"/>
          </a:xfrm>
          <a:prstGeom prst="rect">
            <a:avLst/>
          </a:prstGeom>
          <a:noFill/>
          <a:ln/>
        </p:spPr>
        <p:txBody>
          <a:bodyPr wrap="square" lIns="0" tIns="0" rIns="0" bIns="0" rtlCol="0" anchor="ctr"/>
          <a:lstStyle/>
          <a:p>
            <a:pPr marL="0" indent="0">
              <a:buNone/>
            </a:pPr>
            <a:r>
              <a:rPr lang="en-US" sz="1100" b="1" dirty="0">
                <a:solidFill>
                  <a:srgbClr val="9B9A92"/>
                </a:solidFill>
                <a:latin typeface="Montserrat" pitchFamily="34" charset="0"/>
                <a:ea typeface="Montserrat" pitchFamily="34" charset="-122"/>
                <a:cs typeface="Montserrat" pitchFamily="34" charset="-120"/>
              </a:rPr>
              <a:t>CLEAR</a:t>
            </a:r>
            <a:endParaRPr lang="en-US" sz="1100" dirty="0"/>
          </a:p>
        </p:txBody>
      </p:sp>
      <p:sp>
        <p:nvSpPr>
          <p:cNvPr id="118" name="Text 116"/>
          <p:cNvSpPr/>
          <p:nvPr/>
        </p:nvSpPr>
        <p:spPr>
          <a:xfrm>
            <a:off x="8193024" y="5358384"/>
            <a:ext cx="1604772" cy="146304"/>
          </a:xfrm>
          <a:prstGeom prst="rect">
            <a:avLst/>
          </a:prstGeom>
          <a:noFill/>
          <a:ln/>
        </p:spPr>
        <p:txBody>
          <a:bodyPr wrap="square" lIns="0" tIns="0" rIns="0" bIns="0" rtlCol="0" anchor="ctr"/>
          <a:lstStyle/>
          <a:p>
            <a:pPr marL="0" indent="0">
              <a:buNone/>
            </a:pPr>
            <a:r>
              <a:rPr lang="en-US" sz="630" b="1" kern="0" spc="30" dirty="0">
                <a:solidFill>
                  <a:srgbClr val="9B9A92"/>
                </a:solidFill>
                <a:latin typeface="Montserrat" pitchFamily="34" charset="0"/>
                <a:ea typeface="Montserrat" pitchFamily="34" charset="-122"/>
                <a:cs typeface="Montserrat" pitchFamily="34" charset="-120"/>
              </a:rPr>
              <a:t>MARKDOWN</a:t>
            </a:r>
            <a:endParaRPr lang="en-US" sz="630" dirty="0"/>
          </a:p>
        </p:txBody>
      </p:sp>
      <p:sp>
        <p:nvSpPr>
          <p:cNvPr id="119" name="Text 117"/>
          <p:cNvSpPr/>
          <p:nvPr/>
        </p:nvSpPr>
        <p:spPr>
          <a:xfrm>
            <a:off x="8193024" y="5504688"/>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9B9A92"/>
                </a:solidFill>
                <a:latin typeface="Lora" pitchFamily="34" charset="0"/>
                <a:ea typeface="Lora" pitchFamily="34" charset="-122"/>
                <a:cs typeface="Lora" pitchFamily="34" charset="-120"/>
              </a:rPr>
              <a:t>Markdown timing &amp; depth</a:t>
            </a:r>
            <a:endParaRPr lang="en-US" sz="700" dirty="0"/>
          </a:p>
        </p:txBody>
      </p:sp>
      <p:sp>
        <p:nvSpPr>
          <p:cNvPr id="120" name="Text 118"/>
          <p:cNvSpPr/>
          <p:nvPr/>
        </p:nvSpPr>
        <p:spPr>
          <a:xfrm>
            <a:off x="8193024" y="5797296"/>
            <a:ext cx="1604772" cy="164592"/>
          </a:xfrm>
          <a:prstGeom prst="rect">
            <a:avLst/>
          </a:prstGeom>
          <a:noFill/>
          <a:ln/>
        </p:spPr>
        <p:txBody>
          <a:bodyPr wrap="square" lIns="0" tIns="0" rIns="0" bIns="0" rtlCol="0" anchor="ctr"/>
          <a:lstStyle/>
          <a:p>
            <a:pPr marL="0" indent="0">
              <a:buNone/>
            </a:pPr>
            <a:r>
              <a:rPr lang="en-US" sz="630" i="1" dirty="0">
                <a:solidFill>
                  <a:srgbClr val="9B9A92"/>
                </a:solidFill>
                <a:latin typeface="Lora" pitchFamily="34" charset="0"/>
                <a:ea typeface="Lora" pitchFamily="34" charset="-122"/>
                <a:cs typeface="Lora" pitchFamily="34" charset="-120"/>
              </a:rPr>
              <a:t>Process #2</a:t>
            </a:r>
            <a:endParaRPr lang="en-US" sz="630" dirty="0"/>
          </a:p>
        </p:txBody>
      </p:sp>
      <p:sp>
        <p:nvSpPr>
          <p:cNvPr id="121" name="Shape 119"/>
          <p:cNvSpPr/>
          <p:nvPr/>
        </p:nvSpPr>
        <p:spPr>
          <a:xfrm>
            <a:off x="10035540" y="5084064"/>
            <a:ext cx="1787652" cy="914400"/>
          </a:xfrm>
          <a:prstGeom prst="roundRect">
            <a:avLst>
              <a:gd name="adj" fmla="val 5000"/>
            </a:avLst>
          </a:prstGeom>
          <a:solidFill>
            <a:srgbClr val="F2F1EC"/>
          </a:solidFill>
          <a:ln w="9525">
            <a:solidFill>
              <a:srgbClr val="DAD8D0"/>
            </a:solidFill>
            <a:prstDash val="solid"/>
          </a:ln>
          <a:effectLst>
            <a:outerShdw blurRad="38100" dist="12700" dir="5400000" algn="bl" rotWithShape="0">
              <a:srgbClr val="000000">
                <a:alpha val="9000"/>
              </a:srgbClr>
            </a:outerShdw>
          </a:effectLst>
        </p:spPr>
        <p:txBody>
          <a:bodyPr/>
          <a:lstStyle/>
          <a:p>
            <a:endParaRPr lang="en-US"/>
          </a:p>
        </p:txBody>
      </p:sp>
      <p:sp>
        <p:nvSpPr>
          <p:cNvPr id="122" name="Text 120"/>
          <p:cNvSpPr/>
          <p:nvPr/>
        </p:nvSpPr>
        <p:spPr>
          <a:xfrm>
            <a:off x="10126980" y="5148072"/>
            <a:ext cx="1284732" cy="219456"/>
          </a:xfrm>
          <a:prstGeom prst="rect">
            <a:avLst/>
          </a:prstGeom>
          <a:noFill/>
          <a:ln/>
        </p:spPr>
        <p:txBody>
          <a:bodyPr wrap="square" lIns="0" tIns="0" rIns="0" bIns="0" rtlCol="0" anchor="ctr"/>
          <a:lstStyle/>
          <a:p>
            <a:pPr marL="0" indent="0">
              <a:buNone/>
            </a:pPr>
            <a:r>
              <a:rPr lang="en-US" sz="1100" b="1" dirty="0">
                <a:solidFill>
                  <a:srgbClr val="9B9A92"/>
                </a:solidFill>
                <a:latin typeface="Montserrat" pitchFamily="34" charset="0"/>
                <a:ea typeface="Montserrat" pitchFamily="34" charset="-122"/>
                <a:cs typeface="Montserrat" pitchFamily="34" charset="-120"/>
              </a:rPr>
              <a:t>RECLAIM</a:t>
            </a:r>
            <a:endParaRPr lang="en-US" sz="1100" dirty="0"/>
          </a:p>
        </p:txBody>
      </p:sp>
      <p:sp>
        <p:nvSpPr>
          <p:cNvPr id="123" name="Text 121"/>
          <p:cNvSpPr/>
          <p:nvPr/>
        </p:nvSpPr>
        <p:spPr>
          <a:xfrm>
            <a:off x="10126980" y="5358384"/>
            <a:ext cx="1604772" cy="146304"/>
          </a:xfrm>
          <a:prstGeom prst="rect">
            <a:avLst/>
          </a:prstGeom>
          <a:noFill/>
          <a:ln/>
        </p:spPr>
        <p:txBody>
          <a:bodyPr wrap="square" lIns="0" tIns="0" rIns="0" bIns="0" rtlCol="0" anchor="ctr"/>
          <a:lstStyle/>
          <a:p>
            <a:pPr marL="0" indent="0">
              <a:buNone/>
            </a:pPr>
            <a:r>
              <a:rPr lang="en-US" sz="630" b="1" kern="0" spc="30" dirty="0">
                <a:solidFill>
                  <a:srgbClr val="9B9A92"/>
                </a:solidFill>
                <a:latin typeface="Montserrat" pitchFamily="34" charset="0"/>
                <a:ea typeface="Montserrat" pitchFamily="34" charset="-122"/>
                <a:cs typeface="Montserrat" pitchFamily="34" charset="-120"/>
              </a:rPr>
              <a:t>VALUE RECOVERY</a:t>
            </a:r>
            <a:endParaRPr lang="en-US" sz="630" dirty="0"/>
          </a:p>
        </p:txBody>
      </p:sp>
      <p:sp>
        <p:nvSpPr>
          <p:cNvPr id="124" name="Text 122"/>
          <p:cNvSpPr/>
          <p:nvPr/>
        </p:nvSpPr>
        <p:spPr>
          <a:xfrm>
            <a:off x="10126980" y="5504688"/>
            <a:ext cx="1604772" cy="310896"/>
          </a:xfrm>
          <a:prstGeom prst="rect">
            <a:avLst/>
          </a:prstGeom>
          <a:noFill/>
          <a:ln/>
        </p:spPr>
        <p:txBody>
          <a:bodyPr wrap="square" lIns="0" tIns="0" rIns="0" bIns="0" rtlCol="0" anchor="t"/>
          <a:lstStyle/>
          <a:p>
            <a:pPr marL="0" indent="0">
              <a:lnSpc>
                <a:spcPct val="92000"/>
              </a:lnSpc>
              <a:buNone/>
            </a:pPr>
            <a:r>
              <a:rPr lang="en-US" sz="700" dirty="0">
                <a:solidFill>
                  <a:srgbClr val="9B9A92"/>
                </a:solidFill>
                <a:latin typeface="Lora" pitchFamily="34" charset="0"/>
                <a:ea typeface="Lora" pitchFamily="34" charset="-122"/>
                <a:cs typeface="Lora" pitchFamily="34" charset="-120"/>
              </a:rPr>
              <a:t>Routes end-of-life stock</a:t>
            </a:r>
            <a:endParaRPr lang="en-US" sz="700" dirty="0"/>
          </a:p>
        </p:txBody>
      </p:sp>
      <p:sp>
        <p:nvSpPr>
          <p:cNvPr id="125" name="Text 123"/>
          <p:cNvSpPr/>
          <p:nvPr/>
        </p:nvSpPr>
        <p:spPr>
          <a:xfrm>
            <a:off x="10126980" y="5797296"/>
            <a:ext cx="1604772" cy="164592"/>
          </a:xfrm>
          <a:prstGeom prst="rect">
            <a:avLst/>
          </a:prstGeom>
          <a:noFill/>
          <a:ln/>
        </p:spPr>
        <p:txBody>
          <a:bodyPr wrap="square" lIns="0" tIns="0" rIns="0" bIns="0" rtlCol="0" anchor="ctr"/>
          <a:lstStyle/>
          <a:p>
            <a:pPr marL="0" indent="0">
              <a:buNone/>
            </a:pPr>
            <a:r>
              <a:rPr lang="en-US" sz="630" i="1" dirty="0">
                <a:solidFill>
                  <a:srgbClr val="9B9A92"/>
                </a:solidFill>
                <a:latin typeface="Lora" pitchFamily="34" charset="0"/>
                <a:ea typeface="Lora" pitchFamily="34" charset="-122"/>
                <a:cs typeface="Lora" pitchFamily="34" charset="-120"/>
              </a:rPr>
              <a:t>Process #2 · consumes GRADE</a:t>
            </a:r>
            <a:endParaRPr lang="en-US" sz="630" dirty="0"/>
          </a:p>
        </p:txBody>
      </p:sp>
      <p:sp>
        <p:nvSpPr>
          <p:cNvPr id="126" name="Text 124"/>
          <p:cNvSpPr/>
          <p:nvPr/>
        </p:nvSpPr>
        <p:spPr>
          <a:xfrm>
            <a:off x="365760" y="6144768"/>
            <a:ext cx="11430000" cy="219456"/>
          </a:xfrm>
          <a:prstGeom prst="rect">
            <a:avLst/>
          </a:prstGeom>
          <a:noFill/>
          <a:ln/>
        </p:spPr>
        <p:txBody>
          <a:bodyPr wrap="square" lIns="0" tIns="0" rIns="0" bIns="0" rtlCol="0" anchor="ctr"/>
          <a:lstStyle/>
          <a:p>
            <a:pPr marL="0" indent="0">
              <a:buNone/>
            </a:pPr>
            <a:r>
              <a:rPr lang="en-US" sz="850" b="1" i="1" dirty="0">
                <a:solidFill>
                  <a:srgbClr val="E31837"/>
                </a:solidFill>
                <a:latin typeface="Lora" pitchFamily="34" charset="0"/>
                <a:ea typeface="Lora" pitchFamily="34" charset="-122"/>
                <a:cs typeface="Lora" pitchFamily="34" charset="-120"/>
              </a:rPr>
              <a:t>17 agents · 11 in Mission 3.  </a:t>
            </a:r>
            <a:r>
              <a:rPr lang="en-US" sz="850" i="1" dirty="0">
                <a:solidFill>
                  <a:srgbClr val="5F5E5A"/>
                </a:solidFill>
                <a:latin typeface="Lora" pitchFamily="34" charset="0"/>
                <a:ea typeface="Lora" pitchFamily="34" charset="-122"/>
                <a:cs typeface="Lora" pitchFamily="34" charset="-120"/>
              </a:rPr>
              <a:t>A capability cluster — 4 new sub-agents on 5 reused agents + 2 signals — governed by the Lead Orchestrator, HITL and guardrails carried from Mission 2.</a:t>
            </a:r>
            <a:endParaRPr lang="en-US" sz="850" dirty="0"/>
          </a:p>
        </p:txBody>
      </p:sp>
      <p:pic>
        <p:nvPicPr>
          <p:cNvPr id="127" name="Google Shape;126;p2" descr="preencoded.png">
            <a:extLst>
              <a:ext uri="{FF2B5EF4-FFF2-40B4-BE49-F238E27FC236}">
                <a16:creationId xmlns:a16="http://schemas.microsoft.com/office/drawing/2014/main" id="{B5573336-3870-C826-170D-3E7F7567FED7}"/>
              </a:ext>
            </a:extLst>
          </p:cNvPr>
          <p:cNvPicPr preferRelativeResize="0"/>
          <p:nvPr/>
        </p:nvPicPr>
        <p:blipFill rotWithShape="1">
          <a:blip r:embed="rId3">
            <a:alphaModFix/>
          </a:blip>
          <a:srcRect/>
          <a:stretch/>
        </p:blipFill>
        <p:spPr>
          <a:xfrm>
            <a:off x="11177532" y="284003"/>
            <a:ext cx="669527" cy="67161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C6FE1-F52D-C4BA-EFD6-582FBD236B2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B23CF39-590B-C021-6DC6-135F9F0F9341}"/>
              </a:ext>
            </a:extLst>
          </p:cNvPr>
          <p:cNvSpPr/>
          <p:nvPr/>
        </p:nvSpPr>
        <p:spPr>
          <a:xfrm>
            <a:off x="304633" y="106171"/>
            <a:ext cx="10060915" cy="213485"/>
          </a:xfrm>
          <a:prstGeom prst="rect">
            <a:avLst/>
          </a:prstGeom>
          <a:noFill/>
          <a:ln/>
        </p:spPr>
        <p:txBody>
          <a:bodyPr wrap="square" lIns="0" tIns="0" rIns="0" bIns="0" rtlCol="0" anchor="ctr"/>
          <a:lstStyle/>
          <a:p>
            <a:pPr marL="0" indent="0">
              <a:buNone/>
            </a:pPr>
            <a:r>
              <a:rPr lang="en-US" sz="1200" b="1" kern="0" spc="200" dirty="0">
                <a:solidFill>
                  <a:srgbClr val="E31837"/>
                </a:solidFill>
                <a:latin typeface="Montserrat" pitchFamily="34" charset="0"/>
                <a:ea typeface="Montserrat" pitchFamily="34" charset="-122"/>
                <a:cs typeface="Montserrat" pitchFamily="34" charset="-120"/>
              </a:rPr>
              <a:t>APPENDIX</a:t>
            </a:r>
            <a:endParaRPr lang="en-US" sz="1200" dirty="0"/>
          </a:p>
        </p:txBody>
      </p:sp>
      <p:sp>
        <p:nvSpPr>
          <p:cNvPr id="31" name="Shape 0">
            <a:extLst>
              <a:ext uri="{FF2B5EF4-FFF2-40B4-BE49-F238E27FC236}">
                <a16:creationId xmlns:a16="http://schemas.microsoft.com/office/drawing/2014/main" id="{5E38AC45-3ED9-3676-6E15-2E0D3AE77BD8}"/>
              </a:ext>
            </a:extLst>
          </p:cNvPr>
          <p:cNvSpPr/>
          <p:nvPr/>
        </p:nvSpPr>
        <p:spPr>
          <a:xfrm>
            <a:off x="0" y="0"/>
            <a:ext cx="12192000" cy="83869"/>
          </a:xfrm>
          <a:prstGeom prst="rect">
            <a:avLst/>
          </a:prstGeom>
          <a:solidFill>
            <a:srgbClr val="E31837"/>
          </a:solidFill>
          <a:ln/>
        </p:spPr>
        <p:txBody>
          <a:bodyPr/>
          <a:lstStyle/>
          <a:p>
            <a:endParaRPr lang="en-US" sz="2400"/>
          </a:p>
        </p:txBody>
      </p:sp>
      <p:graphicFrame>
        <p:nvGraphicFramePr>
          <p:cNvPr id="36" name="Table 35">
            <a:extLst>
              <a:ext uri="{FF2B5EF4-FFF2-40B4-BE49-F238E27FC236}">
                <a16:creationId xmlns:a16="http://schemas.microsoft.com/office/drawing/2014/main" id="{9075A552-F734-0976-870C-305A340A7019}"/>
              </a:ext>
            </a:extLst>
          </p:cNvPr>
          <p:cNvGraphicFramePr>
            <a:graphicFrameLocks noGrp="1"/>
          </p:cNvGraphicFramePr>
          <p:nvPr>
            <p:extLst>
              <p:ext uri="{D42A27DB-BD31-4B8C-83A1-F6EECF244321}">
                <p14:modId xmlns:p14="http://schemas.microsoft.com/office/powerpoint/2010/main" val="2400426493"/>
              </p:ext>
            </p:extLst>
          </p:nvPr>
        </p:nvGraphicFramePr>
        <p:xfrm>
          <a:off x="66906" y="345689"/>
          <a:ext cx="12032167" cy="4420870"/>
        </p:xfrm>
        <a:graphic>
          <a:graphicData uri="http://schemas.openxmlformats.org/drawingml/2006/table">
            <a:tbl>
              <a:tblPr>
                <a:tableStyleId>{5C22544A-7EE6-4342-B048-85BDC9FD1C3A}</a:tableStyleId>
              </a:tblPr>
              <a:tblGrid>
                <a:gridCol w="323010">
                  <a:extLst>
                    <a:ext uri="{9D8B030D-6E8A-4147-A177-3AD203B41FA5}">
                      <a16:colId xmlns:a16="http://schemas.microsoft.com/office/drawing/2014/main" val="480000774"/>
                    </a:ext>
                  </a:extLst>
                </a:gridCol>
                <a:gridCol w="1776561">
                  <a:extLst>
                    <a:ext uri="{9D8B030D-6E8A-4147-A177-3AD203B41FA5}">
                      <a16:colId xmlns:a16="http://schemas.microsoft.com/office/drawing/2014/main" val="1408334279"/>
                    </a:ext>
                  </a:extLst>
                </a:gridCol>
                <a:gridCol w="1049786">
                  <a:extLst>
                    <a:ext uri="{9D8B030D-6E8A-4147-A177-3AD203B41FA5}">
                      <a16:colId xmlns:a16="http://schemas.microsoft.com/office/drawing/2014/main" val="299112877"/>
                    </a:ext>
                  </a:extLst>
                </a:gridCol>
                <a:gridCol w="3714629">
                  <a:extLst>
                    <a:ext uri="{9D8B030D-6E8A-4147-A177-3AD203B41FA5}">
                      <a16:colId xmlns:a16="http://schemas.microsoft.com/office/drawing/2014/main" val="1876446455"/>
                    </a:ext>
                  </a:extLst>
                </a:gridCol>
                <a:gridCol w="2422586">
                  <a:extLst>
                    <a:ext uri="{9D8B030D-6E8A-4147-A177-3AD203B41FA5}">
                      <a16:colId xmlns:a16="http://schemas.microsoft.com/office/drawing/2014/main" val="3208362564"/>
                    </a:ext>
                  </a:extLst>
                </a:gridCol>
                <a:gridCol w="646023">
                  <a:extLst>
                    <a:ext uri="{9D8B030D-6E8A-4147-A177-3AD203B41FA5}">
                      <a16:colId xmlns:a16="http://schemas.microsoft.com/office/drawing/2014/main" val="2634948971"/>
                    </a:ext>
                  </a:extLst>
                </a:gridCol>
                <a:gridCol w="2099572">
                  <a:extLst>
                    <a:ext uri="{9D8B030D-6E8A-4147-A177-3AD203B41FA5}">
                      <a16:colId xmlns:a16="http://schemas.microsoft.com/office/drawing/2014/main" val="4098800917"/>
                    </a:ext>
                  </a:extLst>
                </a:gridCol>
              </a:tblGrid>
              <a:tr h="216201">
                <a:tc gridSpan="7">
                  <a:txBody>
                    <a:bodyPr/>
                    <a:lstStyle/>
                    <a:p>
                      <a:pPr algn="l" fontAlgn="ctr">
                        <a:buNone/>
                      </a:pPr>
                      <a:r>
                        <a:rPr lang="en-US" sz="1100" b="1" u="none" strike="noStrike" dirty="0" err="1">
                          <a:effectLst/>
                        </a:rPr>
                        <a:t>Neu.Tail</a:t>
                      </a:r>
                      <a:r>
                        <a:rPr lang="en-US" sz="1100" b="1" u="none" strike="noStrike" dirty="0">
                          <a:effectLst/>
                        </a:rPr>
                        <a:t> · Mission 2 — 13 Agents mapped to Architecture Orchestration Blocks</a:t>
                      </a:r>
                      <a:endParaRPr lang="en-US" sz="1100" b="1" i="0" u="none" strike="noStrike" dirty="0">
                        <a:solidFill>
                          <a:srgbClr val="333333"/>
                        </a:solidFill>
                        <a:effectLst/>
                        <a:latin typeface="Arial" panose="020B0604020202020204" pitchFamily="34" charset="0"/>
                      </a:endParaRPr>
                    </a:p>
                  </a:txBody>
                  <a:tcPr marL="6178" marR="6178" marT="6178"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84479069"/>
                  </a:ext>
                </a:extLst>
              </a:tr>
              <a:tr h="124579">
                <a:tc gridSpan="7">
                  <a:txBody>
                    <a:bodyPr/>
                    <a:lstStyle/>
                    <a:p>
                      <a:pPr algn="l" fontAlgn="b">
                        <a:buNone/>
                      </a:pPr>
                      <a:r>
                        <a:rPr lang="en-US" sz="800" u="none" strike="noStrike" dirty="0">
                          <a:effectLst/>
                        </a:rPr>
                        <a:t>Seven orchestration boxes on the architecture slide contain thirteen agents. Journey: 1 = Discover to Fulfil · 2 = Plan to Shelf to Recover · 1·2 = both.</a:t>
                      </a:r>
                      <a:endParaRPr lang="en-US" sz="800" b="0" i="1" u="none" strike="noStrike" dirty="0">
                        <a:solidFill>
                          <a:srgbClr val="5F5E5A"/>
                        </a:solidFill>
                        <a:effectLst/>
                        <a:latin typeface="Arial" panose="020B0604020202020204" pitchFamily="34" charset="0"/>
                      </a:endParaRPr>
                    </a:p>
                  </a:txBody>
                  <a:tcPr marL="6178" marR="6178" marT="6178"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48641670"/>
                  </a:ext>
                </a:extLst>
              </a:tr>
              <a:tr h="118647">
                <a:tc>
                  <a:txBody>
                    <a:bodyPr/>
                    <a:lstStyle/>
                    <a:p>
                      <a:pPr algn="l" fontAlgn="b">
                        <a:buNone/>
                      </a:pPr>
                      <a:endParaRPr lang="en-US" sz="900" b="0" i="0" u="none" strike="noStrike">
                        <a:solidFill>
                          <a:srgbClr val="000000"/>
                        </a:solidFill>
                        <a:effectLst/>
                        <a:latin typeface="Calibri" panose="020F0502020204030204" pitchFamily="34" charset="0"/>
                      </a:endParaRPr>
                    </a:p>
                  </a:txBody>
                  <a:tcPr marL="6178" marR="6178" marT="6178" marB="0" anchor="b"/>
                </a:tc>
                <a:tc>
                  <a:txBody>
                    <a:bodyPr/>
                    <a:lstStyle/>
                    <a:p>
                      <a:pPr algn="l" fontAlgn="b">
                        <a:buNone/>
                      </a:pPr>
                      <a:endParaRPr lang="en-US" sz="900" b="0" i="0" u="none" strike="noStrike" dirty="0">
                        <a:solidFill>
                          <a:srgbClr val="000000"/>
                        </a:solidFill>
                        <a:effectLst/>
                        <a:latin typeface="Calibri" panose="020F0502020204030204" pitchFamily="34" charset="0"/>
                      </a:endParaRPr>
                    </a:p>
                  </a:txBody>
                  <a:tcPr marL="6178" marR="6178" marT="6178" marB="0" anchor="b"/>
                </a:tc>
                <a:tc>
                  <a:txBody>
                    <a:bodyPr/>
                    <a:lstStyle/>
                    <a:p>
                      <a:pPr algn="l" fontAlgn="b">
                        <a:buNone/>
                      </a:pPr>
                      <a:endParaRPr lang="en-US" sz="900" b="0" i="0" u="none" strike="noStrike">
                        <a:solidFill>
                          <a:srgbClr val="000000"/>
                        </a:solidFill>
                        <a:effectLst/>
                        <a:latin typeface="Calibri" panose="020F0502020204030204" pitchFamily="34" charset="0"/>
                      </a:endParaRPr>
                    </a:p>
                  </a:txBody>
                  <a:tcPr marL="6178" marR="6178" marT="6178" marB="0" anchor="b"/>
                </a:tc>
                <a:tc>
                  <a:txBody>
                    <a:bodyPr/>
                    <a:lstStyle/>
                    <a:p>
                      <a:pPr algn="l" fontAlgn="b">
                        <a:buNone/>
                      </a:pPr>
                      <a:endParaRPr lang="en-US" sz="900" b="0" i="0" u="none" strike="noStrike">
                        <a:solidFill>
                          <a:srgbClr val="000000"/>
                        </a:solidFill>
                        <a:effectLst/>
                        <a:latin typeface="Calibri" panose="020F0502020204030204" pitchFamily="34" charset="0"/>
                      </a:endParaRPr>
                    </a:p>
                  </a:txBody>
                  <a:tcPr marL="6178" marR="6178" marT="6178" marB="0" anchor="b"/>
                </a:tc>
                <a:tc>
                  <a:txBody>
                    <a:bodyPr/>
                    <a:lstStyle/>
                    <a:p>
                      <a:pPr algn="l" fontAlgn="b">
                        <a:buNone/>
                      </a:pPr>
                      <a:endParaRPr lang="en-US" sz="900" b="0" i="0" u="none" strike="noStrike" dirty="0">
                        <a:solidFill>
                          <a:srgbClr val="000000"/>
                        </a:solidFill>
                        <a:effectLst/>
                        <a:latin typeface="Calibri" panose="020F0502020204030204" pitchFamily="34" charset="0"/>
                      </a:endParaRPr>
                    </a:p>
                  </a:txBody>
                  <a:tcPr marL="6178" marR="6178" marT="6178" marB="0" anchor="b"/>
                </a:tc>
                <a:tc>
                  <a:txBody>
                    <a:bodyPr/>
                    <a:lstStyle/>
                    <a:p>
                      <a:pPr algn="l" fontAlgn="b">
                        <a:buNone/>
                      </a:pPr>
                      <a:endParaRPr lang="en-US" sz="900" b="0" i="0" u="none" strike="noStrike">
                        <a:solidFill>
                          <a:srgbClr val="000000"/>
                        </a:solidFill>
                        <a:effectLst/>
                        <a:latin typeface="Calibri" panose="020F0502020204030204" pitchFamily="34" charset="0"/>
                      </a:endParaRPr>
                    </a:p>
                  </a:txBody>
                  <a:tcPr marL="6178" marR="6178" marT="6178" marB="0" anchor="b"/>
                </a:tc>
                <a:tc>
                  <a:txBody>
                    <a:bodyPr/>
                    <a:lstStyle/>
                    <a:p>
                      <a:pPr algn="l" fontAlgn="b">
                        <a:buNone/>
                      </a:pPr>
                      <a:endParaRPr lang="en-US" sz="900" b="0" i="0" u="none" strike="noStrike">
                        <a:solidFill>
                          <a:srgbClr val="000000"/>
                        </a:solidFill>
                        <a:effectLst/>
                        <a:latin typeface="Calibri" panose="020F0502020204030204" pitchFamily="34" charset="0"/>
                      </a:endParaRPr>
                    </a:p>
                  </a:txBody>
                  <a:tcPr marL="6178" marR="6178" marT="6178" marB="0" anchor="b"/>
                </a:tc>
                <a:extLst>
                  <a:ext uri="{0D108BD9-81ED-4DB2-BD59-A6C34878D82A}">
                    <a16:rowId xmlns:a16="http://schemas.microsoft.com/office/drawing/2014/main" val="1255984902"/>
                  </a:ext>
                </a:extLst>
              </a:tr>
              <a:tr h="189835">
                <a:tc>
                  <a:txBody>
                    <a:bodyPr/>
                    <a:lstStyle/>
                    <a:p>
                      <a:pPr algn="l" fontAlgn="ctr">
                        <a:buNone/>
                      </a:pPr>
                      <a:r>
                        <a:rPr lang="en-US" sz="800" u="none" strike="noStrike">
                          <a:effectLst/>
                        </a:rPr>
                        <a:t>#</a:t>
                      </a:r>
                      <a:endParaRPr lang="en-US" sz="800" b="1" i="0" u="none" strike="noStrike">
                        <a:solidFill>
                          <a:srgbClr val="FDFDFD"/>
                        </a:solidFill>
                        <a:effectLst/>
                        <a:latin typeface="Arial" panose="020B0604020202020204" pitchFamily="34" charset="0"/>
                      </a:endParaRPr>
                    </a:p>
                  </a:txBody>
                  <a:tcPr marL="6178" marR="6178" marT="6178" marB="0" anchor="ctr"/>
                </a:tc>
                <a:tc>
                  <a:txBody>
                    <a:bodyPr/>
                    <a:lstStyle/>
                    <a:p>
                      <a:pPr algn="l" fontAlgn="ctr">
                        <a:buNone/>
                      </a:pPr>
                      <a:r>
                        <a:rPr lang="en-US" sz="800" u="none" strike="noStrike" dirty="0">
                          <a:effectLst/>
                        </a:rPr>
                        <a:t>Agent</a:t>
                      </a:r>
                      <a:endParaRPr lang="en-US" sz="800" b="1" i="0" u="none" strike="noStrike" dirty="0">
                        <a:solidFill>
                          <a:srgbClr val="FDFDFD"/>
                        </a:solidFill>
                        <a:effectLst/>
                        <a:latin typeface="Arial" panose="020B0604020202020204" pitchFamily="34" charset="0"/>
                      </a:endParaRPr>
                    </a:p>
                  </a:txBody>
                  <a:tcPr marL="6178" marR="6178" marT="6178" marB="0" anchor="ctr"/>
                </a:tc>
                <a:tc>
                  <a:txBody>
                    <a:bodyPr/>
                    <a:lstStyle/>
                    <a:p>
                      <a:pPr algn="l" fontAlgn="ctr">
                        <a:buNone/>
                      </a:pPr>
                      <a:r>
                        <a:rPr lang="en-US" sz="800" u="none" strike="noStrike">
                          <a:effectLst/>
                        </a:rPr>
                        <a:t>Codename</a:t>
                      </a:r>
                      <a:endParaRPr lang="en-US" sz="800" b="1" i="0" u="none" strike="noStrike">
                        <a:solidFill>
                          <a:srgbClr val="FDFDFD"/>
                        </a:solidFill>
                        <a:effectLst/>
                        <a:latin typeface="Arial" panose="020B0604020202020204" pitchFamily="34" charset="0"/>
                      </a:endParaRPr>
                    </a:p>
                  </a:txBody>
                  <a:tcPr marL="6178" marR="6178" marT="6178" marB="0" anchor="ctr"/>
                </a:tc>
                <a:tc>
                  <a:txBody>
                    <a:bodyPr/>
                    <a:lstStyle/>
                    <a:p>
                      <a:pPr algn="l" fontAlgn="ctr">
                        <a:buNone/>
                      </a:pPr>
                      <a:r>
                        <a:rPr lang="en-US" sz="800" u="none" strike="noStrike">
                          <a:effectLst/>
                        </a:rPr>
                        <a:t>What it does</a:t>
                      </a:r>
                      <a:endParaRPr lang="en-US" sz="800" b="1" i="0" u="none" strike="noStrike">
                        <a:solidFill>
                          <a:srgbClr val="FDFDFD"/>
                        </a:solidFill>
                        <a:effectLst/>
                        <a:latin typeface="Arial" panose="020B0604020202020204" pitchFamily="34" charset="0"/>
                      </a:endParaRPr>
                    </a:p>
                  </a:txBody>
                  <a:tcPr marL="6178" marR="6178" marT="6178" marB="0" anchor="ctr"/>
                </a:tc>
                <a:tc>
                  <a:txBody>
                    <a:bodyPr/>
                    <a:lstStyle/>
                    <a:p>
                      <a:pPr algn="l" fontAlgn="ctr">
                        <a:buNone/>
                      </a:pPr>
                      <a:r>
                        <a:rPr lang="en-US" sz="800" u="none" strike="noStrike" dirty="0">
                          <a:effectLst/>
                        </a:rPr>
                        <a:t>Fixes (mapped pain)</a:t>
                      </a:r>
                      <a:endParaRPr lang="en-US" sz="800" b="1" i="0" u="none" strike="noStrike" dirty="0">
                        <a:solidFill>
                          <a:srgbClr val="FDFDFD"/>
                        </a:solidFill>
                        <a:effectLst/>
                        <a:latin typeface="Arial" panose="020B0604020202020204" pitchFamily="34" charset="0"/>
                      </a:endParaRPr>
                    </a:p>
                  </a:txBody>
                  <a:tcPr marL="6178" marR="6178" marT="6178" marB="0" anchor="ctr"/>
                </a:tc>
                <a:tc>
                  <a:txBody>
                    <a:bodyPr/>
                    <a:lstStyle/>
                    <a:p>
                      <a:pPr algn="l" fontAlgn="ctr">
                        <a:buNone/>
                      </a:pPr>
                      <a:r>
                        <a:rPr lang="en-US" sz="800" u="none" strike="noStrike">
                          <a:effectLst/>
                        </a:rPr>
                        <a:t>Journey</a:t>
                      </a:r>
                      <a:endParaRPr lang="en-US" sz="800" b="1" i="0" u="none" strike="noStrike">
                        <a:solidFill>
                          <a:srgbClr val="FDFDFD"/>
                        </a:solidFill>
                        <a:effectLst/>
                        <a:latin typeface="Arial" panose="020B0604020202020204" pitchFamily="34" charset="0"/>
                      </a:endParaRPr>
                    </a:p>
                  </a:txBody>
                  <a:tcPr marL="6178" marR="6178" marT="6178" marB="0" anchor="ctr"/>
                </a:tc>
                <a:tc>
                  <a:txBody>
                    <a:bodyPr/>
                    <a:lstStyle/>
                    <a:p>
                      <a:pPr algn="l" fontAlgn="ctr">
                        <a:buNone/>
                      </a:pPr>
                      <a:r>
                        <a:rPr lang="en-US" sz="800" u="none" strike="noStrike">
                          <a:effectLst/>
                        </a:rPr>
                        <a:t>Architecture box (orchestration)</a:t>
                      </a:r>
                      <a:endParaRPr lang="en-US" sz="800" b="1" i="0" u="none" strike="noStrike">
                        <a:solidFill>
                          <a:srgbClr val="FDFDFD"/>
                        </a:solidFill>
                        <a:effectLst/>
                        <a:latin typeface="Arial" panose="020B0604020202020204" pitchFamily="34" charset="0"/>
                      </a:endParaRPr>
                    </a:p>
                  </a:txBody>
                  <a:tcPr marL="6178" marR="6178" marT="6178" marB="0" anchor="ctr"/>
                </a:tc>
                <a:extLst>
                  <a:ext uri="{0D108BD9-81ED-4DB2-BD59-A6C34878D82A}">
                    <a16:rowId xmlns:a16="http://schemas.microsoft.com/office/drawing/2014/main" val="2525875930"/>
                  </a:ext>
                </a:extLst>
              </a:tr>
              <a:tr h="332212">
                <a:tc>
                  <a:txBody>
                    <a:bodyPr/>
                    <a:lstStyle/>
                    <a:p>
                      <a:pPr algn="ctr" fontAlgn="t">
                        <a:buNone/>
                      </a:pPr>
                      <a:r>
                        <a:rPr lang="en-US" sz="800" u="none" strike="noStrike">
                          <a:effectLst/>
                        </a:rPr>
                        <a:t>1</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dirty="0" err="1">
                          <a:effectLst/>
                        </a:rPr>
                        <a:t>Personalisation</a:t>
                      </a:r>
                      <a:r>
                        <a:rPr lang="en-US" sz="800" u="none" strike="noStrike" dirty="0">
                          <a:effectLst/>
                        </a:rPr>
                        <a:t> Agent</a:t>
                      </a:r>
                      <a:endParaRPr lang="en-US" sz="800" b="0" i="0" u="none" strike="noStrike" dirty="0">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MUSE</a:t>
                      </a:r>
                      <a:endParaRPr lang="en-US" sz="800" b="1" i="0" u="none" strike="noStrike">
                        <a:solidFill>
                          <a:srgbClr val="E31837"/>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Reads live behaviour and profile from the CDP to assemble a 1:1 feed, complete-the-look and fit guidance per shopper.</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Generic feed · 18% declining app opens</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1</a:t>
                      </a:r>
                      <a:endParaRPr lang="en-US" sz="800" b="1"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Discovery &amp; Personalisation</a:t>
                      </a:r>
                      <a:endParaRPr lang="en-US" sz="800" b="0" i="0" u="none" strike="noStrike">
                        <a:solidFill>
                          <a:srgbClr val="333333"/>
                        </a:solidFill>
                        <a:effectLst/>
                        <a:latin typeface="Arial" panose="020B0604020202020204" pitchFamily="34" charset="0"/>
                      </a:endParaRPr>
                    </a:p>
                  </a:txBody>
                  <a:tcPr marL="6178" marR="6178" marT="6178" marB="0"/>
                </a:tc>
                <a:extLst>
                  <a:ext uri="{0D108BD9-81ED-4DB2-BD59-A6C34878D82A}">
                    <a16:rowId xmlns:a16="http://schemas.microsoft.com/office/drawing/2014/main" val="2163300758"/>
                  </a:ext>
                </a:extLst>
              </a:tr>
              <a:tr h="221475">
                <a:tc>
                  <a:txBody>
                    <a:bodyPr/>
                    <a:lstStyle/>
                    <a:p>
                      <a:pPr algn="ctr" fontAlgn="t">
                        <a:buNone/>
                      </a:pPr>
                      <a:r>
                        <a:rPr lang="en-US" sz="800" u="none" strike="noStrike">
                          <a:effectLst/>
                        </a:rPr>
                        <a:t>2</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Session &amp; Identity Agent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ONEBASKET</a:t>
                      </a:r>
                      <a:endParaRPr lang="en-US" sz="800" b="1" i="0" u="none" strike="noStrike">
                        <a:solidFill>
                          <a:srgbClr val="E31837"/>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Holds one basket and one identity across app, web and store; resolves the shopper wherever they reappear.</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Basket resets between channels</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1</a:t>
                      </a:r>
                      <a:endParaRPr lang="en-US" sz="800" b="1"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Session &amp; Identity</a:t>
                      </a:r>
                      <a:endParaRPr lang="en-US" sz="800" b="0" i="0" u="none" strike="noStrike">
                        <a:solidFill>
                          <a:srgbClr val="333333"/>
                        </a:solidFill>
                        <a:effectLst/>
                        <a:latin typeface="Arial" panose="020B0604020202020204" pitchFamily="34" charset="0"/>
                      </a:endParaRPr>
                    </a:p>
                  </a:txBody>
                  <a:tcPr marL="6178" marR="6178" marT="6178" marB="0"/>
                </a:tc>
                <a:extLst>
                  <a:ext uri="{0D108BD9-81ED-4DB2-BD59-A6C34878D82A}">
                    <a16:rowId xmlns:a16="http://schemas.microsoft.com/office/drawing/2014/main" val="3945070709"/>
                  </a:ext>
                </a:extLst>
              </a:tr>
              <a:tr h="221475">
                <a:tc>
                  <a:txBody>
                    <a:bodyPr/>
                    <a:lstStyle/>
                    <a:p>
                      <a:pPr algn="ctr" fontAlgn="t">
                        <a:buNone/>
                      </a:pPr>
                      <a:r>
                        <a:rPr lang="en-US" sz="800" u="none" strike="noStrike">
                          <a:effectLst/>
                        </a:rPr>
                        <a:t>3</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Checkout Risk Agent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SENTRY</a:t>
                      </a:r>
                      <a:endParaRPr lang="en-US" sz="800" b="1" i="0" u="none" strike="noStrike">
                        <a:solidFill>
                          <a:srgbClr val="E31837"/>
                        </a:solidFill>
                        <a:effectLst/>
                        <a:latin typeface="Arial" panose="020B0604020202020204" pitchFamily="34" charset="0"/>
                      </a:endParaRPr>
                    </a:p>
                  </a:txBody>
                  <a:tcPr marL="6178" marR="6178" marT="6178" marB="0"/>
                </a:tc>
                <a:tc>
                  <a:txBody>
                    <a:bodyPr/>
                    <a:lstStyle/>
                    <a:p>
                      <a:pPr algn="l" fontAlgn="t">
                        <a:buNone/>
                      </a:pPr>
                      <a:r>
                        <a:rPr lang="en-US" sz="800" u="none" strike="noStrike" dirty="0">
                          <a:effectLst/>
                        </a:rPr>
                        <a:t>Scores each transaction and return request in real time; approves instantly, challenges only where risk is real.</a:t>
                      </a:r>
                      <a:endParaRPr lang="en-US" sz="800" b="0" i="0" u="none" strike="noStrike" dirty="0">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Manual fraud checks · false declines</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1</a:t>
                      </a:r>
                      <a:endParaRPr lang="en-US" sz="800" b="1"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Risk &amp; Approval</a:t>
                      </a:r>
                      <a:endParaRPr lang="en-US" sz="800" b="0" i="0" u="none" strike="noStrike">
                        <a:solidFill>
                          <a:srgbClr val="333333"/>
                        </a:solidFill>
                        <a:effectLst/>
                        <a:latin typeface="Arial" panose="020B0604020202020204" pitchFamily="34" charset="0"/>
                      </a:endParaRPr>
                    </a:p>
                  </a:txBody>
                  <a:tcPr marL="6178" marR="6178" marT="6178" marB="0"/>
                </a:tc>
                <a:extLst>
                  <a:ext uri="{0D108BD9-81ED-4DB2-BD59-A6C34878D82A}">
                    <a16:rowId xmlns:a16="http://schemas.microsoft.com/office/drawing/2014/main" val="3099686102"/>
                  </a:ext>
                </a:extLst>
              </a:tr>
              <a:tr h="332212">
                <a:tc>
                  <a:txBody>
                    <a:bodyPr/>
                    <a:lstStyle/>
                    <a:p>
                      <a:pPr algn="ctr" fontAlgn="t">
                        <a:buNone/>
                      </a:pPr>
                      <a:r>
                        <a:rPr lang="en-US" sz="800" u="none" strike="noStrike">
                          <a:effectLst/>
                        </a:rPr>
                        <a:t>4</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Trend &amp; Demand Agent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SCOUT</a:t>
                      </a:r>
                      <a:endParaRPr lang="en-US" sz="800" b="1" i="0" u="none" strike="noStrike">
                        <a:solidFill>
                          <a:srgbClr val="E31837"/>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Senses trend and demand from social, search, competitor and sell-through to forecast at SKU and store level.</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4-week trend-to-shelf lag</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2</a:t>
                      </a:r>
                      <a:endParaRPr lang="en-US" sz="800" b="1"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Demand, Buy &amp; Allocate</a:t>
                      </a:r>
                      <a:endParaRPr lang="en-US" sz="800" b="0" i="0" u="none" strike="noStrike">
                        <a:solidFill>
                          <a:srgbClr val="333333"/>
                        </a:solidFill>
                        <a:effectLst/>
                        <a:latin typeface="Arial" panose="020B0604020202020204" pitchFamily="34" charset="0"/>
                      </a:endParaRPr>
                    </a:p>
                  </a:txBody>
                  <a:tcPr marL="6178" marR="6178" marT="6178" marB="0"/>
                </a:tc>
                <a:extLst>
                  <a:ext uri="{0D108BD9-81ED-4DB2-BD59-A6C34878D82A}">
                    <a16:rowId xmlns:a16="http://schemas.microsoft.com/office/drawing/2014/main" val="416379316"/>
                  </a:ext>
                </a:extLst>
              </a:tr>
              <a:tr h="332212">
                <a:tc>
                  <a:txBody>
                    <a:bodyPr/>
                    <a:lstStyle/>
                    <a:p>
                      <a:pPr algn="ctr" fontAlgn="t">
                        <a:buNone/>
                      </a:pPr>
                      <a:r>
                        <a:rPr lang="en-US" sz="800" u="none" strike="noStrike">
                          <a:effectLst/>
                        </a:rPr>
                        <a:t>5</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Open-to-Buy Agent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OTB</a:t>
                      </a:r>
                      <a:endParaRPr lang="en-US" sz="800" b="1" i="0" u="none" strike="noStrike">
                        <a:solidFill>
                          <a:srgbClr val="E31837"/>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Converts the forecast into buy commitments inside the financial guardrail — what to buy, how much, when to commit.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Spreadsheet-driven buying</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2</a:t>
                      </a:r>
                      <a:endParaRPr lang="en-US" sz="800" b="1"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Demand, Buy &amp; Allocate</a:t>
                      </a:r>
                      <a:endParaRPr lang="en-US" sz="800" b="0" i="0" u="none" strike="noStrike">
                        <a:solidFill>
                          <a:srgbClr val="333333"/>
                        </a:solidFill>
                        <a:effectLst/>
                        <a:latin typeface="Arial" panose="020B0604020202020204" pitchFamily="34" charset="0"/>
                      </a:endParaRPr>
                    </a:p>
                  </a:txBody>
                  <a:tcPr marL="6178" marR="6178" marT="6178" marB="0"/>
                </a:tc>
                <a:extLst>
                  <a:ext uri="{0D108BD9-81ED-4DB2-BD59-A6C34878D82A}">
                    <a16:rowId xmlns:a16="http://schemas.microsoft.com/office/drawing/2014/main" val="1081783789"/>
                  </a:ext>
                </a:extLst>
              </a:tr>
              <a:tr h="221475">
                <a:tc>
                  <a:txBody>
                    <a:bodyPr/>
                    <a:lstStyle/>
                    <a:p>
                      <a:pPr algn="ctr" fontAlgn="t">
                        <a:buNone/>
                      </a:pPr>
                      <a:r>
                        <a:rPr lang="en-US" sz="800" u="none" strike="noStrike">
                          <a:effectLst/>
                        </a:rPr>
                        <a:t>6</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Allocation Agent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SPREAD</a:t>
                      </a:r>
                      <a:endParaRPr lang="en-US" sz="800" b="1" i="0" u="none" strike="noStrike">
                        <a:solidFill>
                          <a:srgbClr val="E31837"/>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Allocates and replenishes by store cluster and channel on live demand, not an averaged national split.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One-size allocation across 38 stores</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2</a:t>
                      </a:r>
                      <a:endParaRPr lang="en-US" sz="800" b="1"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Demand, Buy &amp; Allocate</a:t>
                      </a:r>
                      <a:endParaRPr lang="en-US" sz="800" b="0" i="0" u="none" strike="noStrike">
                        <a:solidFill>
                          <a:srgbClr val="333333"/>
                        </a:solidFill>
                        <a:effectLst/>
                        <a:latin typeface="Arial" panose="020B0604020202020204" pitchFamily="34" charset="0"/>
                      </a:endParaRPr>
                    </a:p>
                  </a:txBody>
                  <a:tcPr marL="6178" marR="6178" marT="6178" marB="0"/>
                </a:tc>
                <a:extLst>
                  <a:ext uri="{0D108BD9-81ED-4DB2-BD59-A6C34878D82A}">
                    <a16:rowId xmlns:a16="http://schemas.microsoft.com/office/drawing/2014/main" val="3619044630"/>
                  </a:ext>
                </a:extLst>
              </a:tr>
              <a:tr h="221475">
                <a:tc>
                  <a:txBody>
                    <a:bodyPr/>
                    <a:lstStyle/>
                    <a:p>
                      <a:pPr algn="ctr" fontAlgn="t">
                        <a:buNone/>
                      </a:pPr>
                      <a:r>
                        <a:rPr lang="en-US" sz="800" u="none" strike="noStrike">
                          <a:effectLst/>
                        </a:rPr>
                        <a:t>7</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Dynamic Pricing Agent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PACE</a:t>
                      </a:r>
                      <a:endParaRPr lang="en-US" sz="800" b="1" i="0" u="none" strike="noStrike">
                        <a:solidFill>
                          <a:srgbClr val="E31837"/>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Paces price continuously against demand, competitor moves and stock cover — within the ±5% daily guardrail.</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-1.2% deflation · no live re-pricing</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2</a:t>
                      </a:r>
                      <a:endParaRPr lang="en-US" sz="800" b="1"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Pricing &amp; Markdown</a:t>
                      </a:r>
                      <a:endParaRPr lang="en-US" sz="800" b="0" i="0" u="none" strike="noStrike">
                        <a:solidFill>
                          <a:srgbClr val="333333"/>
                        </a:solidFill>
                        <a:effectLst/>
                        <a:latin typeface="Arial" panose="020B0604020202020204" pitchFamily="34" charset="0"/>
                      </a:endParaRPr>
                    </a:p>
                  </a:txBody>
                  <a:tcPr marL="6178" marR="6178" marT="6178" marB="0"/>
                </a:tc>
                <a:extLst>
                  <a:ext uri="{0D108BD9-81ED-4DB2-BD59-A6C34878D82A}">
                    <a16:rowId xmlns:a16="http://schemas.microsoft.com/office/drawing/2014/main" val="939137197"/>
                  </a:ext>
                </a:extLst>
              </a:tr>
              <a:tr h="221475">
                <a:tc>
                  <a:txBody>
                    <a:bodyPr/>
                    <a:lstStyle/>
                    <a:p>
                      <a:pPr algn="ctr" fontAlgn="t">
                        <a:buNone/>
                      </a:pPr>
                      <a:r>
                        <a:rPr lang="en-US" sz="800" u="none" strike="noStrike">
                          <a:effectLst/>
                        </a:rPr>
                        <a:t>8</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Markdown Agent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CLEAR</a:t>
                      </a:r>
                      <a:endParaRPr lang="en-US" sz="800" b="1" i="0" u="none" strike="noStrike">
                        <a:solidFill>
                          <a:srgbClr val="E31837"/>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Decides when and how deep to cut, by product and channel, to clear at the best achievable residual value.</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11% markdown losses · knee-jerk clearance</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2</a:t>
                      </a:r>
                      <a:endParaRPr lang="en-US" sz="800" b="1"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Pricing &amp; Markdown</a:t>
                      </a:r>
                      <a:endParaRPr lang="en-US" sz="800" b="0" i="0" u="none" strike="noStrike">
                        <a:solidFill>
                          <a:srgbClr val="333333"/>
                        </a:solidFill>
                        <a:effectLst/>
                        <a:latin typeface="Arial" panose="020B0604020202020204" pitchFamily="34" charset="0"/>
                      </a:endParaRPr>
                    </a:p>
                  </a:txBody>
                  <a:tcPr marL="6178" marR="6178" marT="6178" marB="0"/>
                </a:tc>
                <a:extLst>
                  <a:ext uri="{0D108BD9-81ED-4DB2-BD59-A6C34878D82A}">
                    <a16:rowId xmlns:a16="http://schemas.microsoft.com/office/drawing/2014/main" val="2613093811"/>
                  </a:ext>
                </a:extLst>
              </a:tr>
              <a:tr h="332212">
                <a:tc>
                  <a:txBody>
                    <a:bodyPr/>
                    <a:lstStyle/>
                    <a:p>
                      <a:pPr algn="ctr" fontAlgn="t">
                        <a:buNone/>
                      </a:pPr>
                      <a:r>
                        <a:rPr lang="en-US" sz="800" u="none" strike="noStrike">
                          <a:effectLst/>
                        </a:rPr>
                        <a:t>9</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Fulfilment Routing Agent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ROUTE</a:t>
                      </a:r>
                      <a:endParaRPr lang="en-US" sz="800" b="1" i="0" u="none" strike="noStrike">
                        <a:solidFill>
                          <a:srgbClr val="E31837"/>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Picks the best source for every order across 38 stores and the DC, balancing speed, cost-to-serve and stock health.</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Estate not one stock pool</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1</a:t>
                      </a:r>
                      <a:endParaRPr lang="en-US" sz="800" b="1"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Fulfil &amp; Collect</a:t>
                      </a:r>
                      <a:endParaRPr lang="en-US" sz="800" b="0" i="0" u="none" strike="noStrike">
                        <a:solidFill>
                          <a:srgbClr val="333333"/>
                        </a:solidFill>
                        <a:effectLst/>
                        <a:latin typeface="Arial" panose="020B0604020202020204" pitchFamily="34" charset="0"/>
                      </a:endParaRPr>
                    </a:p>
                  </a:txBody>
                  <a:tcPr marL="6178" marR="6178" marT="6178" marB="0"/>
                </a:tc>
                <a:extLst>
                  <a:ext uri="{0D108BD9-81ED-4DB2-BD59-A6C34878D82A}">
                    <a16:rowId xmlns:a16="http://schemas.microsoft.com/office/drawing/2014/main" val="2377237282"/>
                  </a:ext>
                </a:extLst>
              </a:tr>
              <a:tr h="221475">
                <a:tc>
                  <a:txBody>
                    <a:bodyPr/>
                    <a:lstStyle/>
                    <a:p>
                      <a:pPr algn="ctr" fontAlgn="t">
                        <a:buNone/>
                      </a:pPr>
                      <a:r>
                        <a:rPr lang="en-US" sz="800" u="none" strike="noStrike" dirty="0">
                          <a:effectLst/>
                        </a:rPr>
                        <a:t>10</a:t>
                      </a:r>
                      <a:endParaRPr lang="en-US" sz="800" b="0" i="0" u="none" strike="noStrike" dirty="0">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Click &amp; Collect Agent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HANDOFF</a:t>
                      </a:r>
                      <a:endParaRPr lang="en-US" sz="800" b="1" i="0" u="none" strike="noStrike">
                        <a:solidFill>
                          <a:srgbClr val="E31837"/>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Runs the collect journey — reserve, pick in store, notify, verify, hand over — with live status to the customer.</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28% C&amp;C · handoff gaps</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1</a:t>
                      </a:r>
                      <a:endParaRPr lang="en-US" sz="800" b="1"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Fulfil &amp; Collect</a:t>
                      </a:r>
                      <a:endParaRPr lang="en-US" sz="800" b="0" i="0" u="none" strike="noStrike">
                        <a:solidFill>
                          <a:srgbClr val="333333"/>
                        </a:solidFill>
                        <a:effectLst/>
                        <a:latin typeface="Arial" panose="020B0604020202020204" pitchFamily="34" charset="0"/>
                      </a:endParaRPr>
                    </a:p>
                  </a:txBody>
                  <a:tcPr marL="6178" marR="6178" marT="6178" marB="0"/>
                </a:tc>
                <a:extLst>
                  <a:ext uri="{0D108BD9-81ED-4DB2-BD59-A6C34878D82A}">
                    <a16:rowId xmlns:a16="http://schemas.microsoft.com/office/drawing/2014/main" val="1312867330"/>
                  </a:ext>
                </a:extLst>
              </a:tr>
              <a:tr h="332212">
                <a:tc>
                  <a:txBody>
                    <a:bodyPr/>
                    <a:lstStyle/>
                    <a:p>
                      <a:pPr algn="ctr" fontAlgn="t">
                        <a:buNone/>
                      </a:pPr>
                      <a:r>
                        <a:rPr lang="en-US" sz="800" u="none" strike="noStrike" dirty="0">
                          <a:effectLst/>
                        </a:rPr>
                        <a:t>11</a:t>
                      </a:r>
                      <a:endParaRPr lang="en-US" sz="800" b="0" i="0" u="none" strike="noStrike" dirty="0">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Returns Grading Agent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GRADE</a:t>
                      </a:r>
                      <a:endParaRPr lang="en-US" sz="800" b="1" i="0" u="none" strike="noStrike">
                        <a:solidFill>
                          <a:srgbClr val="E31837"/>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Grades returns by image at intake; decides refund, restock or recovery; feeds reasons back to buying and content.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34% returns · no grading at intake</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1·2</a:t>
                      </a:r>
                      <a:endParaRPr lang="en-US" sz="800" b="1"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Returns, Service &amp; Recovery</a:t>
                      </a:r>
                      <a:endParaRPr lang="en-US" sz="800" b="0" i="0" u="none" strike="noStrike">
                        <a:solidFill>
                          <a:srgbClr val="333333"/>
                        </a:solidFill>
                        <a:effectLst/>
                        <a:latin typeface="Arial" panose="020B0604020202020204" pitchFamily="34" charset="0"/>
                      </a:endParaRPr>
                    </a:p>
                  </a:txBody>
                  <a:tcPr marL="6178" marR="6178" marT="6178" marB="0"/>
                </a:tc>
                <a:extLst>
                  <a:ext uri="{0D108BD9-81ED-4DB2-BD59-A6C34878D82A}">
                    <a16:rowId xmlns:a16="http://schemas.microsoft.com/office/drawing/2014/main" val="3682585449"/>
                  </a:ext>
                </a:extLst>
              </a:tr>
              <a:tr h="332212">
                <a:tc>
                  <a:txBody>
                    <a:bodyPr/>
                    <a:lstStyle/>
                    <a:p>
                      <a:pPr algn="ctr" fontAlgn="t">
                        <a:buNone/>
                      </a:pPr>
                      <a:r>
                        <a:rPr lang="en-US" sz="800" u="none" strike="noStrike" dirty="0">
                          <a:effectLst/>
                        </a:rPr>
                        <a:t>12</a:t>
                      </a:r>
                      <a:endParaRPr lang="en-US" sz="800" b="0" i="0" u="none" strike="noStrike" dirty="0">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Service Agent</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CARE</a:t>
                      </a:r>
                      <a:endParaRPr lang="en-US" sz="800" b="1" i="0" u="none" strike="noStrike">
                        <a:solidFill>
                          <a:srgbClr val="E31837"/>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Resolves routine contacts end to end — where-is-my-order, returns, amendments — escalating only genuine exceptions.</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71% routine tickets manual</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1</a:t>
                      </a:r>
                      <a:endParaRPr lang="en-US" sz="800" b="1" i="0" u="none" strike="noStrike">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Returns, Service &amp; Recovery</a:t>
                      </a:r>
                      <a:endParaRPr lang="en-US" sz="800" b="0" i="0" u="none" strike="noStrike">
                        <a:solidFill>
                          <a:srgbClr val="333333"/>
                        </a:solidFill>
                        <a:effectLst/>
                        <a:latin typeface="Arial" panose="020B0604020202020204" pitchFamily="34" charset="0"/>
                      </a:endParaRPr>
                    </a:p>
                  </a:txBody>
                  <a:tcPr marL="6178" marR="6178" marT="6178" marB="0"/>
                </a:tc>
                <a:extLst>
                  <a:ext uri="{0D108BD9-81ED-4DB2-BD59-A6C34878D82A}">
                    <a16:rowId xmlns:a16="http://schemas.microsoft.com/office/drawing/2014/main" val="2373709465"/>
                  </a:ext>
                </a:extLst>
              </a:tr>
              <a:tr h="221475">
                <a:tc>
                  <a:txBody>
                    <a:bodyPr/>
                    <a:lstStyle/>
                    <a:p>
                      <a:pPr algn="ctr" fontAlgn="t">
                        <a:buNone/>
                      </a:pPr>
                      <a:r>
                        <a:rPr lang="en-US" sz="800" u="none" strike="noStrike" dirty="0">
                          <a:effectLst/>
                        </a:rPr>
                        <a:t>13</a:t>
                      </a:r>
                      <a:endParaRPr lang="en-US" sz="800" b="0" i="0" u="none" strike="noStrike" dirty="0">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dirty="0">
                          <a:effectLst/>
                        </a:rPr>
                        <a:t>Value Recovery Agent</a:t>
                      </a:r>
                      <a:endParaRPr lang="en-US" sz="800" b="0" i="0" u="none" strike="noStrike" dirty="0">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a:effectLst/>
                        </a:rPr>
                        <a:t>RECLAIM</a:t>
                      </a:r>
                      <a:endParaRPr lang="en-US" sz="800" b="1" i="0" u="none" strike="noStrike">
                        <a:solidFill>
                          <a:srgbClr val="E31837"/>
                        </a:solidFill>
                        <a:effectLst/>
                        <a:latin typeface="Arial" panose="020B0604020202020204" pitchFamily="34" charset="0"/>
                      </a:endParaRPr>
                    </a:p>
                  </a:txBody>
                  <a:tcPr marL="6178" marR="6178" marT="6178" marB="0"/>
                </a:tc>
                <a:tc>
                  <a:txBody>
                    <a:bodyPr/>
                    <a:lstStyle/>
                    <a:p>
                      <a:pPr algn="l" fontAlgn="t">
                        <a:buNone/>
                      </a:pPr>
                      <a:r>
                        <a:rPr lang="en-US" sz="800" u="none" strike="noStrike" dirty="0">
                          <a:effectLst/>
                        </a:rPr>
                        <a:t>Routes end-of-life and returned stock to the best outlet — resale, outlet, marketplace or liquidation.</a:t>
                      </a:r>
                      <a:endParaRPr lang="en-US" sz="800" b="0" i="0" u="none" strike="noStrike" dirty="0">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a:effectLst/>
                        </a:rPr>
                        <a:t>No recovery engine today</a:t>
                      </a:r>
                      <a:endParaRPr lang="en-US" sz="800" b="0" i="0" u="none" strike="noStrike">
                        <a:solidFill>
                          <a:srgbClr val="333333"/>
                        </a:solidFill>
                        <a:effectLst/>
                        <a:latin typeface="Arial" panose="020B0604020202020204" pitchFamily="34" charset="0"/>
                      </a:endParaRPr>
                    </a:p>
                  </a:txBody>
                  <a:tcPr marL="6178" marR="6178" marT="6178" marB="0"/>
                </a:tc>
                <a:tc>
                  <a:txBody>
                    <a:bodyPr/>
                    <a:lstStyle/>
                    <a:p>
                      <a:pPr algn="ctr" fontAlgn="t">
                        <a:buNone/>
                      </a:pPr>
                      <a:r>
                        <a:rPr lang="en-US" sz="800" u="none" strike="noStrike" dirty="0">
                          <a:effectLst/>
                        </a:rPr>
                        <a:t>2</a:t>
                      </a:r>
                      <a:endParaRPr lang="en-US" sz="800" b="1" i="0" u="none" strike="noStrike" dirty="0">
                        <a:solidFill>
                          <a:srgbClr val="333333"/>
                        </a:solidFill>
                        <a:effectLst/>
                        <a:latin typeface="Arial" panose="020B0604020202020204" pitchFamily="34" charset="0"/>
                      </a:endParaRPr>
                    </a:p>
                  </a:txBody>
                  <a:tcPr marL="6178" marR="6178" marT="6178" marB="0"/>
                </a:tc>
                <a:tc>
                  <a:txBody>
                    <a:bodyPr/>
                    <a:lstStyle/>
                    <a:p>
                      <a:pPr algn="l" fontAlgn="t">
                        <a:buNone/>
                      </a:pPr>
                      <a:r>
                        <a:rPr lang="en-US" sz="800" u="none" strike="noStrike" dirty="0">
                          <a:effectLst/>
                        </a:rPr>
                        <a:t>Returns, Service &amp; Recovery</a:t>
                      </a:r>
                      <a:endParaRPr lang="en-US" sz="800" b="0" i="0" u="none" strike="noStrike" dirty="0">
                        <a:solidFill>
                          <a:srgbClr val="333333"/>
                        </a:solidFill>
                        <a:effectLst/>
                        <a:latin typeface="Arial" panose="020B0604020202020204" pitchFamily="34" charset="0"/>
                      </a:endParaRPr>
                    </a:p>
                  </a:txBody>
                  <a:tcPr marL="6178" marR="6178" marT="6178" marB="0"/>
                </a:tc>
                <a:extLst>
                  <a:ext uri="{0D108BD9-81ED-4DB2-BD59-A6C34878D82A}">
                    <a16:rowId xmlns:a16="http://schemas.microsoft.com/office/drawing/2014/main" val="3237749842"/>
                  </a:ext>
                </a:extLst>
              </a:tr>
            </a:tbl>
          </a:graphicData>
        </a:graphic>
      </p:graphicFrame>
      <p:graphicFrame>
        <p:nvGraphicFramePr>
          <p:cNvPr id="37" name="Table 36">
            <a:extLst>
              <a:ext uri="{FF2B5EF4-FFF2-40B4-BE49-F238E27FC236}">
                <a16:creationId xmlns:a16="http://schemas.microsoft.com/office/drawing/2014/main" id="{2B828B94-A940-67F8-6F36-1F3B5CE78DC8}"/>
              </a:ext>
            </a:extLst>
          </p:cNvPr>
          <p:cNvGraphicFramePr>
            <a:graphicFrameLocks noGrp="1"/>
          </p:cNvGraphicFramePr>
          <p:nvPr>
            <p:extLst>
              <p:ext uri="{D42A27DB-BD31-4B8C-83A1-F6EECF244321}">
                <p14:modId xmlns:p14="http://schemas.microsoft.com/office/powerpoint/2010/main" val="2173577049"/>
              </p:ext>
            </p:extLst>
          </p:nvPr>
        </p:nvGraphicFramePr>
        <p:xfrm>
          <a:off x="43629" y="4833465"/>
          <a:ext cx="12006146" cy="1897113"/>
        </p:xfrm>
        <a:graphic>
          <a:graphicData uri="http://schemas.openxmlformats.org/drawingml/2006/table">
            <a:tbl>
              <a:tblPr>
                <a:tableStyleId>{5C22544A-7EE6-4342-B048-85BDC9FD1C3A}</a:tableStyleId>
              </a:tblPr>
              <a:tblGrid>
                <a:gridCol w="322312">
                  <a:extLst>
                    <a:ext uri="{9D8B030D-6E8A-4147-A177-3AD203B41FA5}">
                      <a16:colId xmlns:a16="http://schemas.microsoft.com/office/drawing/2014/main" val="1248298279"/>
                    </a:ext>
                  </a:extLst>
                </a:gridCol>
                <a:gridCol w="1704305">
                  <a:extLst>
                    <a:ext uri="{9D8B030D-6E8A-4147-A177-3AD203B41FA5}">
                      <a16:colId xmlns:a16="http://schemas.microsoft.com/office/drawing/2014/main" val="3724463328"/>
                    </a:ext>
                  </a:extLst>
                </a:gridCol>
                <a:gridCol w="68415">
                  <a:extLst>
                    <a:ext uri="{9D8B030D-6E8A-4147-A177-3AD203B41FA5}">
                      <a16:colId xmlns:a16="http://schemas.microsoft.com/office/drawing/2014/main" val="2044802392"/>
                    </a:ext>
                  </a:extLst>
                </a:gridCol>
                <a:gridCol w="1754097">
                  <a:extLst>
                    <a:ext uri="{9D8B030D-6E8A-4147-A177-3AD203B41FA5}">
                      <a16:colId xmlns:a16="http://schemas.microsoft.com/office/drawing/2014/main" val="1981883215"/>
                    </a:ext>
                  </a:extLst>
                </a:gridCol>
                <a:gridCol w="656947">
                  <a:extLst>
                    <a:ext uri="{9D8B030D-6E8A-4147-A177-3AD203B41FA5}">
                      <a16:colId xmlns:a16="http://schemas.microsoft.com/office/drawing/2014/main" val="1203946693"/>
                    </a:ext>
                  </a:extLst>
                </a:gridCol>
                <a:gridCol w="529798">
                  <a:extLst>
                    <a:ext uri="{9D8B030D-6E8A-4147-A177-3AD203B41FA5}">
                      <a16:colId xmlns:a16="http://schemas.microsoft.com/office/drawing/2014/main" val="1431671824"/>
                    </a:ext>
                  </a:extLst>
                </a:gridCol>
                <a:gridCol w="1813269">
                  <a:extLst>
                    <a:ext uri="{9D8B030D-6E8A-4147-A177-3AD203B41FA5}">
                      <a16:colId xmlns:a16="http://schemas.microsoft.com/office/drawing/2014/main" val="3885550333"/>
                    </a:ext>
                  </a:extLst>
                </a:gridCol>
                <a:gridCol w="2417344">
                  <a:extLst>
                    <a:ext uri="{9D8B030D-6E8A-4147-A177-3AD203B41FA5}">
                      <a16:colId xmlns:a16="http://schemas.microsoft.com/office/drawing/2014/main" val="2127252560"/>
                    </a:ext>
                  </a:extLst>
                </a:gridCol>
                <a:gridCol w="644626">
                  <a:extLst>
                    <a:ext uri="{9D8B030D-6E8A-4147-A177-3AD203B41FA5}">
                      <a16:colId xmlns:a16="http://schemas.microsoft.com/office/drawing/2014/main" val="1456913757"/>
                    </a:ext>
                  </a:extLst>
                </a:gridCol>
                <a:gridCol w="2095033">
                  <a:extLst>
                    <a:ext uri="{9D8B030D-6E8A-4147-A177-3AD203B41FA5}">
                      <a16:colId xmlns:a16="http://schemas.microsoft.com/office/drawing/2014/main" val="3266906413"/>
                    </a:ext>
                  </a:extLst>
                </a:gridCol>
              </a:tblGrid>
              <a:tr h="82867">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gridSpan="2">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hMerge="1">
                  <a:txBody>
                    <a:bodyPr/>
                    <a:lstStyle/>
                    <a:p>
                      <a:pPr algn="l" fontAlgn="b">
                        <a:buNone/>
                      </a:pPr>
                      <a:endParaRPr lang="en-US" sz="600" b="0" i="0" u="none" strike="noStrike">
                        <a:solidFill>
                          <a:srgbClr val="000000"/>
                        </a:solidFill>
                        <a:effectLst/>
                        <a:latin typeface="Calibri" panose="020F0502020204030204" pitchFamily="34" charset="0"/>
                      </a:endParaRPr>
                    </a:p>
                  </a:txBody>
                  <a:tcPr marL="5300" marR="5300" marT="5300" marB="0" anchor="b"/>
                </a:tc>
                <a:tc gridSpan="3">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hMerge="1">
                  <a:txBody>
                    <a:bodyPr/>
                    <a:lstStyle/>
                    <a:p>
                      <a:pPr algn="l" fontAlgn="b">
                        <a:buNone/>
                      </a:pPr>
                      <a:endParaRPr lang="en-US" sz="600" b="0" i="0" u="none" strike="noStrike">
                        <a:solidFill>
                          <a:srgbClr val="000000"/>
                        </a:solidFill>
                        <a:effectLst/>
                        <a:latin typeface="Calibri" panose="020F0502020204030204" pitchFamily="34" charset="0"/>
                      </a:endParaRPr>
                    </a:p>
                  </a:txBody>
                  <a:tcPr marL="5300" marR="5300" marT="5300" marB="0" anchor="b"/>
                </a:tc>
                <a:tc hMerge="1">
                  <a:txBody>
                    <a:bodyPr/>
                    <a:lstStyle/>
                    <a:p>
                      <a:pPr algn="l" fontAlgn="b">
                        <a:buNone/>
                      </a:pPr>
                      <a:endParaRPr lang="en-US" sz="6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dirty="0">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dirty="0">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extLst>
                  <a:ext uri="{0D108BD9-81ED-4DB2-BD59-A6C34878D82A}">
                    <a16:rowId xmlns:a16="http://schemas.microsoft.com/office/drawing/2014/main" val="3089293092"/>
                  </a:ext>
                </a:extLst>
              </a:tr>
              <a:tr h="82867">
                <a:tc gridSpan="10">
                  <a:txBody>
                    <a:bodyPr/>
                    <a:lstStyle/>
                    <a:p>
                      <a:pPr algn="l" fontAlgn="b">
                        <a:buNone/>
                      </a:pPr>
                      <a:r>
                        <a:rPr lang="en-US" sz="1000" b="1" u="none" strike="noStrike" dirty="0">
                          <a:effectLst/>
                        </a:rPr>
                        <a:t>Roll-up: 7 orchestration boxes → 13 agents</a:t>
                      </a:r>
                      <a:endParaRPr lang="en-US" sz="1000" b="1" i="0" u="none" strike="noStrike" dirty="0">
                        <a:solidFill>
                          <a:srgbClr val="E31837"/>
                        </a:solidFill>
                        <a:effectLst/>
                        <a:latin typeface="Arial" panose="020B0604020202020204" pitchFamily="34" charset="0"/>
                      </a:endParaRPr>
                    </a:p>
                  </a:txBody>
                  <a:tcPr marL="5300" marR="5300" marT="530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63679272"/>
                  </a:ext>
                </a:extLst>
              </a:tr>
              <a:tr h="89201">
                <a:tc gridSpan="2">
                  <a:txBody>
                    <a:bodyPr/>
                    <a:lstStyle/>
                    <a:p>
                      <a:pPr algn="l" fontAlgn="ctr">
                        <a:buNone/>
                      </a:pPr>
                      <a:r>
                        <a:rPr lang="en-US" sz="800" u="none" strike="noStrike">
                          <a:effectLst/>
                        </a:rPr>
                        <a:t>Architecture box</a:t>
                      </a:r>
                      <a:endParaRPr lang="en-US" sz="800" b="1" i="0" u="none" strike="noStrike">
                        <a:solidFill>
                          <a:srgbClr val="FDFDFD"/>
                        </a:solidFill>
                        <a:effectLst/>
                        <a:latin typeface="Arial" panose="020B0604020202020204" pitchFamily="34" charset="0"/>
                      </a:endParaRPr>
                    </a:p>
                  </a:txBody>
                  <a:tcPr marL="5300" marR="5300" marT="5300" marB="0" anchor="ctr"/>
                </a:tc>
                <a:tc hMerge="1">
                  <a:txBody>
                    <a:bodyPr/>
                    <a:lstStyle/>
                    <a:p>
                      <a:pPr algn="l" fontAlgn="ctr">
                        <a:buNone/>
                      </a:pPr>
                      <a:r>
                        <a:rPr lang="en-US" sz="600" u="none" strike="noStrike">
                          <a:effectLst/>
                        </a:rPr>
                        <a:t>Agents</a:t>
                      </a:r>
                      <a:endParaRPr lang="en-US" sz="600" b="1" i="0" u="none" strike="noStrike">
                        <a:solidFill>
                          <a:srgbClr val="FDFDFD"/>
                        </a:solidFill>
                        <a:effectLst/>
                        <a:latin typeface="Arial" panose="020B0604020202020204" pitchFamily="34" charset="0"/>
                      </a:endParaRPr>
                    </a:p>
                  </a:txBody>
                  <a:tcPr marL="5300" marR="5300" marT="5300" marB="0" anchor="ctr"/>
                </a:tc>
                <a:tc gridSpan="2">
                  <a:txBody>
                    <a:bodyPr/>
                    <a:lstStyle/>
                    <a:p>
                      <a:pPr algn="l" fontAlgn="ctr">
                        <a:buNone/>
                      </a:pPr>
                      <a:r>
                        <a:rPr lang="en-US" sz="800" u="none" strike="noStrike" dirty="0">
                          <a:effectLst/>
                        </a:rPr>
                        <a:t>Agents</a:t>
                      </a:r>
                      <a:endParaRPr lang="en-US" sz="800" b="1" i="0" u="none" strike="noStrike" dirty="0">
                        <a:solidFill>
                          <a:srgbClr val="FDFDFD"/>
                        </a:solidFill>
                        <a:effectLst/>
                        <a:latin typeface="Arial" panose="020B0604020202020204" pitchFamily="34" charset="0"/>
                      </a:endParaRPr>
                    </a:p>
                  </a:txBody>
                  <a:tcPr marL="5300" marR="5300" marT="5300" marB="0" anchor="ctr"/>
                </a:tc>
                <a:tc hMerge="1">
                  <a:txBody>
                    <a:bodyPr/>
                    <a:lstStyle/>
                    <a:p>
                      <a:pPr algn="l" fontAlgn="ctr">
                        <a:buNone/>
                      </a:pPr>
                      <a:r>
                        <a:rPr lang="en-US" sz="600" u="none" strike="noStrike">
                          <a:effectLst/>
                        </a:rPr>
                        <a:t>Count</a:t>
                      </a:r>
                      <a:endParaRPr lang="en-US" sz="600" b="1" i="0" u="none" strike="noStrike">
                        <a:solidFill>
                          <a:srgbClr val="FDFDFD"/>
                        </a:solidFill>
                        <a:effectLst/>
                        <a:latin typeface="Arial" panose="020B0604020202020204" pitchFamily="34" charset="0"/>
                      </a:endParaRPr>
                    </a:p>
                  </a:txBody>
                  <a:tcPr marL="5300" marR="5300" marT="5300" marB="0" anchor="ctr"/>
                </a:tc>
                <a:tc>
                  <a:txBody>
                    <a:bodyPr/>
                    <a:lstStyle/>
                    <a:p>
                      <a:pPr algn="l" fontAlgn="ctr">
                        <a:buNone/>
                      </a:pPr>
                      <a:r>
                        <a:rPr lang="en-US" sz="800" u="none" strike="noStrike">
                          <a:effectLst/>
                        </a:rPr>
                        <a:t>Count</a:t>
                      </a:r>
                      <a:endParaRPr lang="en-US" sz="800" b="1" i="0" u="none" strike="noStrike">
                        <a:solidFill>
                          <a:srgbClr val="FDFDFD"/>
                        </a:solidFill>
                        <a:effectLst/>
                        <a:latin typeface="Arial" panose="020B0604020202020204" pitchFamily="34" charset="0"/>
                      </a:endParaRPr>
                    </a:p>
                  </a:txBody>
                  <a:tcPr marL="5300" marR="5300" marT="5300" marB="0" anchor="ctr"/>
                </a:tc>
                <a:tc gridSpan="2">
                  <a:txBody>
                    <a:bodyPr/>
                    <a:lstStyle/>
                    <a:p>
                      <a:pPr algn="l" fontAlgn="ctr">
                        <a:buNone/>
                      </a:pPr>
                      <a:r>
                        <a:rPr lang="en-US" sz="800" u="none" strike="noStrike" dirty="0">
                          <a:effectLst/>
                        </a:rPr>
                        <a:t>Journey</a:t>
                      </a:r>
                      <a:endParaRPr lang="en-US" sz="800" b="1" i="0" u="none" strike="noStrike" dirty="0">
                        <a:solidFill>
                          <a:srgbClr val="FDFDFD"/>
                        </a:solidFill>
                        <a:effectLst/>
                        <a:latin typeface="Arial" panose="020B0604020202020204" pitchFamily="34" charset="0"/>
                      </a:endParaRPr>
                    </a:p>
                  </a:txBody>
                  <a:tcPr marL="5300" marR="5300" marT="5300" marB="0" anchor="ctr"/>
                </a:tc>
                <a:tc hMerge="1">
                  <a:txBody>
                    <a:bodyPr/>
                    <a:lstStyle/>
                    <a:p>
                      <a:pPr algn="l" fontAlgn="ctr">
                        <a:buNone/>
                      </a:pPr>
                      <a:endParaRPr lang="en-US" sz="600" b="1" i="0" u="none" strike="noStrike" dirty="0">
                        <a:solidFill>
                          <a:srgbClr val="FDFDFD"/>
                        </a:solidFill>
                        <a:effectLst/>
                        <a:latin typeface="Arial" panose="020B0604020202020204" pitchFamily="34" charset="0"/>
                      </a:endParaRPr>
                    </a:p>
                  </a:txBody>
                  <a:tcPr marL="5300" marR="5300" marT="5300" marB="0" anchor="ctr"/>
                </a:tc>
                <a:tc>
                  <a:txBody>
                    <a:bodyPr/>
                    <a:lstStyle/>
                    <a:p>
                      <a:pPr algn="l" fontAlgn="b">
                        <a:buNone/>
                      </a:pPr>
                      <a:endParaRPr lang="en-US" sz="800" b="0" i="0" u="none" strike="noStrike" dirty="0">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extLst>
                  <a:ext uri="{0D108BD9-81ED-4DB2-BD59-A6C34878D82A}">
                    <a16:rowId xmlns:a16="http://schemas.microsoft.com/office/drawing/2014/main" val="1737443075"/>
                  </a:ext>
                </a:extLst>
              </a:tr>
              <a:tr h="82867">
                <a:tc gridSpan="2">
                  <a:txBody>
                    <a:bodyPr/>
                    <a:lstStyle/>
                    <a:p>
                      <a:pPr algn="l" fontAlgn="ctr">
                        <a:buNone/>
                      </a:pPr>
                      <a:r>
                        <a:rPr lang="en-US" sz="800" u="none" strike="noStrike">
                          <a:effectLst/>
                        </a:rPr>
                        <a:t>Discovery &amp; Personalisation</a:t>
                      </a:r>
                      <a:endParaRPr lang="en-US" sz="800" b="1" i="0" u="none" strike="noStrike">
                        <a:solidFill>
                          <a:srgbClr val="333333"/>
                        </a:solidFill>
                        <a:effectLst/>
                        <a:latin typeface="Arial" panose="020B0604020202020204" pitchFamily="34" charset="0"/>
                      </a:endParaRPr>
                    </a:p>
                  </a:txBody>
                  <a:tcPr marL="5300" marR="5300" marT="5300" marB="0" anchor="ctr"/>
                </a:tc>
                <a:tc hMerge="1">
                  <a:txBody>
                    <a:bodyPr/>
                    <a:lstStyle/>
                    <a:p>
                      <a:pPr algn="l" fontAlgn="ctr">
                        <a:buNone/>
                      </a:pPr>
                      <a:r>
                        <a:rPr lang="en-US" sz="600" u="none" strike="noStrike">
                          <a:effectLst/>
                        </a:rPr>
                        <a:t>MUSE</a:t>
                      </a:r>
                      <a:endParaRPr lang="en-US" sz="600" b="0" i="0" u="none" strike="noStrike">
                        <a:solidFill>
                          <a:srgbClr val="333333"/>
                        </a:solidFill>
                        <a:effectLst/>
                        <a:latin typeface="Arial" panose="020B0604020202020204" pitchFamily="34" charset="0"/>
                      </a:endParaRPr>
                    </a:p>
                  </a:txBody>
                  <a:tcPr marL="5300" marR="5300" marT="5300" marB="0" anchor="ctr"/>
                </a:tc>
                <a:tc gridSpan="2">
                  <a:txBody>
                    <a:bodyPr/>
                    <a:lstStyle/>
                    <a:p>
                      <a:pPr algn="l" fontAlgn="ctr">
                        <a:buNone/>
                      </a:pPr>
                      <a:r>
                        <a:rPr lang="en-US" sz="800" u="none" strike="noStrike">
                          <a:effectLst/>
                        </a:rPr>
                        <a:t>MUSE</a:t>
                      </a:r>
                      <a:endParaRPr lang="en-US" sz="800" b="0" i="0" u="none" strike="noStrike">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r>
                        <a:rPr lang="en-US" sz="600" u="none" strike="noStrike">
                          <a:effectLst/>
                        </a:rPr>
                        <a:t>1</a:t>
                      </a:r>
                      <a:endParaRPr lang="en-US" sz="600" b="0" i="0" u="none" strike="noStrike">
                        <a:solidFill>
                          <a:srgbClr val="333333"/>
                        </a:solidFill>
                        <a:effectLst/>
                        <a:latin typeface="Arial" panose="020B0604020202020204" pitchFamily="34" charset="0"/>
                      </a:endParaRPr>
                    </a:p>
                  </a:txBody>
                  <a:tcPr marL="5300" marR="5300" marT="5300" marB="0" anchor="ctr"/>
                </a:tc>
                <a:tc>
                  <a:txBody>
                    <a:bodyPr/>
                    <a:lstStyle/>
                    <a:p>
                      <a:pPr algn="ctr" fontAlgn="ctr">
                        <a:buNone/>
                      </a:pPr>
                      <a:r>
                        <a:rPr lang="en-US" sz="800" u="none" strike="noStrike">
                          <a:effectLst/>
                        </a:rPr>
                        <a:t>1</a:t>
                      </a:r>
                      <a:endParaRPr lang="en-US" sz="800" b="0" i="0" u="none" strike="noStrike">
                        <a:solidFill>
                          <a:srgbClr val="333333"/>
                        </a:solidFill>
                        <a:effectLst/>
                        <a:latin typeface="Arial" panose="020B0604020202020204" pitchFamily="34" charset="0"/>
                      </a:endParaRPr>
                    </a:p>
                  </a:txBody>
                  <a:tcPr marL="5300" marR="5300" marT="5300" marB="0" anchor="ctr"/>
                </a:tc>
                <a:tc gridSpan="2">
                  <a:txBody>
                    <a:bodyPr/>
                    <a:lstStyle/>
                    <a:p>
                      <a:pPr algn="ctr" fontAlgn="ctr">
                        <a:buNone/>
                      </a:pPr>
                      <a:r>
                        <a:rPr lang="en-US" sz="800" u="none" strike="noStrike">
                          <a:effectLst/>
                        </a:rPr>
                        <a:t>1</a:t>
                      </a:r>
                      <a:endParaRPr lang="en-US" sz="800" b="1" i="0" u="none" strike="noStrike">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endParaRPr lang="en-US" sz="600" b="1" i="0" u="none" strike="noStrike">
                        <a:solidFill>
                          <a:srgbClr val="333333"/>
                        </a:solidFill>
                        <a:effectLst/>
                        <a:latin typeface="Arial" panose="020B0604020202020204" pitchFamily="34" charset="0"/>
                      </a:endParaRPr>
                    </a:p>
                  </a:txBody>
                  <a:tcPr marL="5300" marR="5300" marT="5300" marB="0" anchor="ctr"/>
                </a:tc>
                <a:tc>
                  <a:txBody>
                    <a:bodyPr/>
                    <a:lstStyle/>
                    <a:p>
                      <a:pPr algn="l" fontAlgn="b">
                        <a:buNone/>
                      </a:pPr>
                      <a:endParaRPr lang="en-US" sz="800" b="0" i="0" u="none" strike="noStrike" dirty="0">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extLst>
                  <a:ext uri="{0D108BD9-81ED-4DB2-BD59-A6C34878D82A}">
                    <a16:rowId xmlns:a16="http://schemas.microsoft.com/office/drawing/2014/main" val="1883277856"/>
                  </a:ext>
                </a:extLst>
              </a:tr>
              <a:tr h="133375">
                <a:tc gridSpan="2">
                  <a:txBody>
                    <a:bodyPr/>
                    <a:lstStyle/>
                    <a:p>
                      <a:pPr algn="l" fontAlgn="ctr">
                        <a:buNone/>
                      </a:pPr>
                      <a:r>
                        <a:rPr lang="en-US" sz="800" u="none" strike="noStrike">
                          <a:effectLst/>
                        </a:rPr>
                        <a:t>Session &amp; Identity</a:t>
                      </a:r>
                      <a:endParaRPr lang="en-US" sz="800" b="1" i="0" u="none" strike="noStrike">
                        <a:solidFill>
                          <a:srgbClr val="333333"/>
                        </a:solidFill>
                        <a:effectLst/>
                        <a:latin typeface="Arial" panose="020B0604020202020204" pitchFamily="34" charset="0"/>
                      </a:endParaRPr>
                    </a:p>
                  </a:txBody>
                  <a:tcPr marL="5300" marR="5300" marT="5300" marB="0" anchor="ctr"/>
                </a:tc>
                <a:tc hMerge="1">
                  <a:txBody>
                    <a:bodyPr/>
                    <a:lstStyle/>
                    <a:p>
                      <a:pPr algn="l" fontAlgn="ctr">
                        <a:buNone/>
                      </a:pPr>
                      <a:r>
                        <a:rPr lang="en-US" sz="600" u="none" strike="noStrike">
                          <a:effectLst/>
                        </a:rPr>
                        <a:t>ONEBASKET</a:t>
                      </a:r>
                      <a:endParaRPr lang="en-US" sz="600" b="0" i="0" u="none" strike="noStrike">
                        <a:solidFill>
                          <a:srgbClr val="333333"/>
                        </a:solidFill>
                        <a:effectLst/>
                        <a:latin typeface="Arial" panose="020B0604020202020204" pitchFamily="34" charset="0"/>
                      </a:endParaRPr>
                    </a:p>
                  </a:txBody>
                  <a:tcPr marL="5300" marR="5300" marT="5300" marB="0" anchor="ctr"/>
                </a:tc>
                <a:tc gridSpan="2">
                  <a:txBody>
                    <a:bodyPr/>
                    <a:lstStyle/>
                    <a:p>
                      <a:pPr algn="l" fontAlgn="ctr">
                        <a:buNone/>
                      </a:pPr>
                      <a:r>
                        <a:rPr lang="en-US" sz="800" u="none" strike="noStrike">
                          <a:effectLst/>
                        </a:rPr>
                        <a:t>ONEBASKET</a:t>
                      </a:r>
                      <a:endParaRPr lang="en-US" sz="800" b="0" i="0" u="none" strike="noStrike">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r>
                        <a:rPr lang="en-US" sz="600" u="none" strike="noStrike">
                          <a:effectLst/>
                        </a:rPr>
                        <a:t>1</a:t>
                      </a:r>
                      <a:endParaRPr lang="en-US" sz="600" b="0" i="0" u="none" strike="noStrike">
                        <a:solidFill>
                          <a:srgbClr val="333333"/>
                        </a:solidFill>
                        <a:effectLst/>
                        <a:latin typeface="Arial" panose="020B0604020202020204" pitchFamily="34" charset="0"/>
                      </a:endParaRPr>
                    </a:p>
                  </a:txBody>
                  <a:tcPr marL="5300" marR="5300" marT="5300" marB="0" anchor="ctr"/>
                </a:tc>
                <a:tc>
                  <a:txBody>
                    <a:bodyPr/>
                    <a:lstStyle/>
                    <a:p>
                      <a:pPr algn="ctr" fontAlgn="ctr">
                        <a:buNone/>
                      </a:pPr>
                      <a:r>
                        <a:rPr lang="en-US" sz="800" u="none" strike="noStrike">
                          <a:effectLst/>
                        </a:rPr>
                        <a:t>1</a:t>
                      </a:r>
                      <a:endParaRPr lang="en-US" sz="800" b="0" i="0" u="none" strike="noStrike">
                        <a:solidFill>
                          <a:srgbClr val="333333"/>
                        </a:solidFill>
                        <a:effectLst/>
                        <a:latin typeface="Arial" panose="020B0604020202020204" pitchFamily="34" charset="0"/>
                      </a:endParaRPr>
                    </a:p>
                  </a:txBody>
                  <a:tcPr marL="5300" marR="5300" marT="5300" marB="0" anchor="ctr"/>
                </a:tc>
                <a:tc gridSpan="2">
                  <a:txBody>
                    <a:bodyPr/>
                    <a:lstStyle/>
                    <a:p>
                      <a:pPr algn="ctr" fontAlgn="ctr">
                        <a:buNone/>
                      </a:pPr>
                      <a:r>
                        <a:rPr lang="en-US" sz="800" u="none" strike="noStrike">
                          <a:effectLst/>
                        </a:rPr>
                        <a:t>1</a:t>
                      </a:r>
                      <a:endParaRPr lang="en-US" sz="800" b="1" i="0" u="none" strike="noStrike">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endParaRPr lang="en-US" sz="600" b="1" i="0" u="none" strike="noStrike">
                        <a:solidFill>
                          <a:srgbClr val="333333"/>
                        </a:solidFill>
                        <a:effectLst/>
                        <a:latin typeface="Arial" panose="020B0604020202020204" pitchFamily="34" charset="0"/>
                      </a:endParaRPr>
                    </a:p>
                  </a:txBody>
                  <a:tcPr marL="5300" marR="5300" marT="5300" marB="0" anchor="ctr"/>
                </a:tc>
                <a:tc>
                  <a:txBody>
                    <a:bodyPr/>
                    <a:lstStyle/>
                    <a:p>
                      <a:pPr algn="l" fontAlgn="b">
                        <a:buNone/>
                      </a:pPr>
                      <a:endParaRPr lang="en-US" sz="800" b="0" i="0" u="none" strike="noStrike" dirty="0">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extLst>
                  <a:ext uri="{0D108BD9-81ED-4DB2-BD59-A6C34878D82A}">
                    <a16:rowId xmlns:a16="http://schemas.microsoft.com/office/drawing/2014/main" val="2375093415"/>
                  </a:ext>
                </a:extLst>
              </a:tr>
              <a:tr h="89201">
                <a:tc gridSpan="2">
                  <a:txBody>
                    <a:bodyPr/>
                    <a:lstStyle/>
                    <a:p>
                      <a:pPr algn="l" fontAlgn="ctr">
                        <a:buNone/>
                      </a:pPr>
                      <a:r>
                        <a:rPr lang="en-US" sz="800" u="none" strike="noStrike">
                          <a:effectLst/>
                        </a:rPr>
                        <a:t>Risk &amp; Approval</a:t>
                      </a:r>
                      <a:endParaRPr lang="en-US" sz="800" b="1" i="0" u="none" strike="noStrike">
                        <a:solidFill>
                          <a:srgbClr val="333333"/>
                        </a:solidFill>
                        <a:effectLst/>
                        <a:latin typeface="Arial" panose="020B0604020202020204" pitchFamily="34" charset="0"/>
                      </a:endParaRPr>
                    </a:p>
                  </a:txBody>
                  <a:tcPr marL="5300" marR="5300" marT="5300" marB="0" anchor="ctr"/>
                </a:tc>
                <a:tc hMerge="1">
                  <a:txBody>
                    <a:bodyPr/>
                    <a:lstStyle/>
                    <a:p>
                      <a:pPr algn="l" fontAlgn="ctr">
                        <a:buNone/>
                      </a:pPr>
                      <a:r>
                        <a:rPr lang="en-US" sz="600" u="none" strike="noStrike">
                          <a:effectLst/>
                        </a:rPr>
                        <a:t>SENTRY</a:t>
                      </a:r>
                      <a:endParaRPr lang="en-US" sz="600" b="0" i="0" u="none" strike="noStrike">
                        <a:solidFill>
                          <a:srgbClr val="333333"/>
                        </a:solidFill>
                        <a:effectLst/>
                        <a:latin typeface="Arial" panose="020B0604020202020204" pitchFamily="34" charset="0"/>
                      </a:endParaRPr>
                    </a:p>
                  </a:txBody>
                  <a:tcPr marL="5300" marR="5300" marT="5300" marB="0" anchor="ctr"/>
                </a:tc>
                <a:tc gridSpan="2">
                  <a:txBody>
                    <a:bodyPr/>
                    <a:lstStyle/>
                    <a:p>
                      <a:pPr algn="l" fontAlgn="ctr">
                        <a:buNone/>
                      </a:pPr>
                      <a:r>
                        <a:rPr lang="en-US" sz="800" u="none" strike="noStrike">
                          <a:effectLst/>
                        </a:rPr>
                        <a:t>SENTRY</a:t>
                      </a:r>
                      <a:endParaRPr lang="en-US" sz="800" b="0" i="0" u="none" strike="noStrike">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r>
                        <a:rPr lang="en-US" sz="600" u="none" strike="noStrike">
                          <a:effectLst/>
                        </a:rPr>
                        <a:t>1</a:t>
                      </a:r>
                      <a:endParaRPr lang="en-US" sz="600" b="0" i="0" u="none" strike="noStrike">
                        <a:solidFill>
                          <a:srgbClr val="333333"/>
                        </a:solidFill>
                        <a:effectLst/>
                        <a:latin typeface="Arial" panose="020B0604020202020204" pitchFamily="34" charset="0"/>
                      </a:endParaRPr>
                    </a:p>
                  </a:txBody>
                  <a:tcPr marL="5300" marR="5300" marT="5300" marB="0" anchor="ctr"/>
                </a:tc>
                <a:tc>
                  <a:txBody>
                    <a:bodyPr/>
                    <a:lstStyle/>
                    <a:p>
                      <a:pPr algn="ctr" fontAlgn="ctr">
                        <a:buNone/>
                      </a:pPr>
                      <a:r>
                        <a:rPr lang="en-US" sz="800" u="none" strike="noStrike">
                          <a:effectLst/>
                        </a:rPr>
                        <a:t>1</a:t>
                      </a:r>
                      <a:endParaRPr lang="en-US" sz="800" b="0" i="0" u="none" strike="noStrike">
                        <a:solidFill>
                          <a:srgbClr val="333333"/>
                        </a:solidFill>
                        <a:effectLst/>
                        <a:latin typeface="Arial" panose="020B0604020202020204" pitchFamily="34" charset="0"/>
                      </a:endParaRPr>
                    </a:p>
                  </a:txBody>
                  <a:tcPr marL="5300" marR="5300" marT="5300" marB="0" anchor="ctr"/>
                </a:tc>
                <a:tc gridSpan="2">
                  <a:txBody>
                    <a:bodyPr/>
                    <a:lstStyle/>
                    <a:p>
                      <a:pPr algn="ctr" fontAlgn="ctr">
                        <a:buNone/>
                      </a:pPr>
                      <a:r>
                        <a:rPr lang="en-US" sz="800" u="none" strike="noStrike">
                          <a:effectLst/>
                        </a:rPr>
                        <a:t>1</a:t>
                      </a:r>
                      <a:endParaRPr lang="en-US" sz="800" b="1" i="0" u="none" strike="noStrike">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endParaRPr lang="en-US" sz="600" b="1" i="0" u="none" strike="noStrike">
                        <a:solidFill>
                          <a:srgbClr val="333333"/>
                        </a:solidFill>
                        <a:effectLst/>
                        <a:latin typeface="Arial" panose="020B0604020202020204" pitchFamily="34" charset="0"/>
                      </a:endParaRPr>
                    </a:p>
                  </a:txBody>
                  <a:tcPr marL="5300" marR="5300" marT="5300" marB="0" anchor="ctr"/>
                </a:tc>
                <a:tc>
                  <a:txBody>
                    <a:bodyPr/>
                    <a:lstStyle/>
                    <a:p>
                      <a:pPr algn="l" fontAlgn="b">
                        <a:buNone/>
                      </a:pPr>
                      <a:endParaRPr lang="en-US" sz="800" b="0" i="0" u="none" strike="noStrike" dirty="0">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extLst>
                  <a:ext uri="{0D108BD9-81ED-4DB2-BD59-A6C34878D82A}">
                    <a16:rowId xmlns:a16="http://schemas.microsoft.com/office/drawing/2014/main" val="1626505368"/>
                  </a:ext>
                </a:extLst>
              </a:tr>
              <a:tr h="236448">
                <a:tc gridSpan="2">
                  <a:txBody>
                    <a:bodyPr/>
                    <a:lstStyle/>
                    <a:p>
                      <a:pPr algn="l" fontAlgn="ctr">
                        <a:buNone/>
                      </a:pPr>
                      <a:r>
                        <a:rPr lang="en-US" sz="800" u="none" strike="noStrike">
                          <a:effectLst/>
                        </a:rPr>
                        <a:t>Demand, Buy &amp; Allocate</a:t>
                      </a:r>
                      <a:endParaRPr lang="en-US" sz="800" b="1" i="0" u="none" strike="noStrike">
                        <a:solidFill>
                          <a:srgbClr val="333333"/>
                        </a:solidFill>
                        <a:effectLst/>
                        <a:latin typeface="Arial" panose="020B0604020202020204" pitchFamily="34" charset="0"/>
                      </a:endParaRPr>
                    </a:p>
                  </a:txBody>
                  <a:tcPr marL="5300" marR="5300" marT="5300" marB="0" anchor="ctr"/>
                </a:tc>
                <a:tc hMerge="1">
                  <a:txBody>
                    <a:bodyPr/>
                    <a:lstStyle/>
                    <a:p>
                      <a:pPr algn="l" fontAlgn="ctr">
                        <a:buNone/>
                      </a:pPr>
                      <a:r>
                        <a:rPr lang="en-US" sz="600" u="none" strike="noStrike" dirty="0">
                          <a:effectLst/>
                        </a:rPr>
                        <a:t>SCOUT · OTB · SPREAD</a:t>
                      </a:r>
                      <a:endParaRPr lang="en-US" sz="600" b="0" i="0" u="none" strike="noStrike" dirty="0">
                        <a:solidFill>
                          <a:srgbClr val="333333"/>
                        </a:solidFill>
                        <a:effectLst/>
                        <a:latin typeface="Arial" panose="020B0604020202020204" pitchFamily="34" charset="0"/>
                      </a:endParaRPr>
                    </a:p>
                  </a:txBody>
                  <a:tcPr marL="5300" marR="5300" marT="5300" marB="0" anchor="ctr"/>
                </a:tc>
                <a:tc gridSpan="2">
                  <a:txBody>
                    <a:bodyPr/>
                    <a:lstStyle/>
                    <a:p>
                      <a:pPr algn="l" fontAlgn="ctr">
                        <a:buNone/>
                      </a:pPr>
                      <a:r>
                        <a:rPr lang="en-US" sz="800" u="none" strike="noStrike">
                          <a:effectLst/>
                        </a:rPr>
                        <a:t>SCOUT · OTB · SPREAD</a:t>
                      </a:r>
                      <a:endParaRPr lang="en-US" sz="800" b="0" i="0" u="none" strike="noStrike" dirty="0">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r>
                        <a:rPr lang="en-US" sz="600" u="none" strike="noStrike">
                          <a:effectLst/>
                        </a:rPr>
                        <a:t>3</a:t>
                      </a:r>
                      <a:endParaRPr lang="en-US" sz="600" b="0" i="0" u="none" strike="noStrike">
                        <a:solidFill>
                          <a:srgbClr val="333333"/>
                        </a:solidFill>
                        <a:effectLst/>
                        <a:latin typeface="Arial" panose="020B0604020202020204" pitchFamily="34" charset="0"/>
                      </a:endParaRPr>
                    </a:p>
                  </a:txBody>
                  <a:tcPr marL="5300" marR="5300" marT="5300" marB="0" anchor="ctr"/>
                </a:tc>
                <a:tc>
                  <a:txBody>
                    <a:bodyPr/>
                    <a:lstStyle/>
                    <a:p>
                      <a:pPr algn="ctr" fontAlgn="ctr">
                        <a:buNone/>
                      </a:pPr>
                      <a:r>
                        <a:rPr lang="en-US" sz="800" u="none" strike="noStrike">
                          <a:effectLst/>
                        </a:rPr>
                        <a:t>3</a:t>
                      </a:r>
                      <a:endParaRPr lang="en-US" sz="800" b="0" i="0" u="none" strike="noStrike">
                        <a:solidFill>
                          <a:srgbClr val="333333"/>
                        </a:solidFill>
                        <a:effectLst/>
                        <a:latin typeface="Arial" panose="020B0604020202020204" pitchFamily="34" charset="0"/>
                      </a:endParaRPr>
                    </a:p>
                  </a:txBody>
                  <a:tcPr marL="5300" marR="5300" marT="5300" marB="0" anchor="ctr"/>
                </a:tc>
                <a:tc gridSpan="2">
                  <a:txBody>
                    <a:bodyPr/>
                    <a:lstStyle/>
                    <a:p>
                      <a:pPr algn="ctr" fontAlgn="ctr">
                        <a:buNone/>
                      </a:pPr>
                      <a:r>
                        <a:rPr lang="en-US" sz="800" u="none" strike="noStrike">
                          <a:effectLst/>
                        </a:rPr>
                        <a:t>2</a:t>
                      </a:r>
                      <a:endParaRPr lang="en-US" sz="800" b="1" i="0" u="none" strike="noStrike">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endParaRPr lang="en-US" sz="600" b="1" i="0" u="none" strike="noStrike">
                        <a:solidFill>
                          <a:srgbClr val="333333"/>
                        </a:solidFill>
                        <a:effectLst/>
                        <a:latin typeface="Arial" panose="020B0604020202020204" pitchFamily="34" charset="0"/>
                      </a:endParaRPr>
                    </a:p>
                  </a:txBody>
                  <a:tcPr marL="5300" marR="5300" marT="5300" marB="0" anchor="ctr"/>
                </a:tc>
                <a:tc>
                  <a:txBody>
                    <a:bodyPr/>
                    <a:lstStyle/>
                    <a:p>
                      <a:pPr algn="l" fontAlgn="b">
                        <a:buNone/>
                      </a:pPr>
                      <a:endParaRPr lang="en-US" sz="800" b="0" i="0" u="none" strike="noStrike" dirty="0">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dirty="0">
                        <a:solidFill>
                          <a:srgbClr val="000000"/>
                        </a:solidFill>
                        <a:effectLst/>
                        <a:latin typeface="Calibri" panose="020F0502020204030204" pitchFamily="34" charset="0"/>
                      </a:endParaRPr>
                    </a:p>
                  </a:txBody>
                  <a:tcPr marL="5300" marR="5300" marT="5300" marB="0" anchor="b"/>
                </a:tc>
                <a:extLst>
                  <a:ext uri="{0D108BD9-81ED-4DB2-BD59-A6C34878D82A}">
                    <a16:rowId xmlns:a16="http://schemas.microsoft.com/office/drawing/2014/main" val="3417262289"/>
                  </a:ext>
                </a:extLst>
              </a:tr>
              <a:tr h="148100">
                <a:tc gridSpan="2">
                  <a:txBody>
                    <a:bodyPr/>
                    <a:lstStyle/>
                    <a:p>
                      <a:pPr algn="l" fontAlgn="ctr">
                        <a:buNone/>
                      </a:pPr>
                      <a:r>
                        <a:rPr lang="en-US" sz="800" u="none" strike="noStrike">
                          <a:effectLst/>
                        </a:rPr>
                        <a:t>Pricing &amp; Markdown</a:t>
                      </a:r>
                      <a:endParaRPr lang="en-US" sz="800" b="1" i="0" u="none" strike="noStrike">
                        <a:solidFill>
                          <a:srgbClr val="333333"/>
                        </a:solidFill>
                        <a:effectLst/>
                        <a:latin typeface="Arial" panose="020B0604020202020204" pitchFamily="34" charset="0"/>
                      </a:endParaRPr>
                    </a:p>
                  </a:txBody>
                  <a:tcPr marL="5300" marR="5300" marT="5300" marB="0" anchor="ctr"/>
                </a:tc>
                <a:tc hMerge="1">
                  <a:txBody>
                    <a:bodyPr/>
                    <a:lstStyle/>
                    <a:p>
                      <a:pPr algn="l" fontAlgn="ctr">
                        <a:buNone/>
                      </a:pPr>
                      <a:r>
                        <a:rPr lang="en-US" sz="600" u="none" strike="noStrike">
                          <a:effectLst/>
                        </a:rPr>
                        <a:t>PACE · CLEAR</a:t>
                      </a:r>
                      <a:endParaRPr lang="en-US" sz="600" b="0" i="0" u="none" strike="noStrike">
                        <a:solidFill>
                          <a:srgbClr val="333333"/>
                        </a:solidFill>
                        <a:effectLst/>
                        <a:latin typeface="Arial" panose="020B0604020202020204" pitchFamily="34" charset="0"/>
                      </a:endParaRPr>
                    </a:p>
                  </a:txBody>
                  <a:tcPr marL="5300" marR="5300" marT="5300" marB="0" anchor="ctr"/>
                </a:tc>
                <a:tc gridSpan="2">
                  <a:txBody>
                    <a:bodyPr/>
                    <a:lstStyle/>
                    <a:p>
                      <a:pPr algn="l" fontAlgn="ctr">
                        <a:buNone/>
                      </a:pPr>
                      <a:r>
                        <a:rPr lang="en-US" sz="800" u="none" strike="noStrike">
                          <a:effectLst/>
                        </a:rPr>
                        <a:t>PACE · CLEAR</a:t>
                      </a:r>
                      <a:endParaRPr lang="en-US" sz="800" b="0" i="0" u="none" strike="noStrike">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r>
                        <a:rPr lang="en-US" sz="600" u="none" strike="noStrike">
                          <a:effectLst/>
                        </a:rPr>
                        <a:t>2</a:t>
                      </a:r>
                      <a:endParaRPr lang="en-US" sz="600" b="0" i="0" u="none" strike="noStrike">
                        <a:solidFill>
                          <a:srgbClr val="333333"/>
                        </a:solidFill>
                        <a:effectLst/>
                        <a:latin typeface="Arial" panose="020B0604020202020204" pitchFamily="34" charset="0"/>
                      </a:endParaRPr>
                    </a:p>
                  </a:txBody>
                  <a:tcPr marL="5300" marR="5300" marT="5300" marB="0" anchor="ctr"/>
                </a:tc>
                <a:tc>
                  <a:txBody>
                    <a:bodyPr/>
                    <a:lstStyle/>
                    <a:p>
                      <a:pPr algn="ctr" fontAlgn="ctr">
                        <a:buNone/>
                      </a:pPr>
                      <a:r>
                        <a:rPr lang="en-US" sz="800" u="none" strike="noStrike">
                          <a:effectLst/>
                        </a:rPr>
                        <a:t>2</a:t>
                      </a:r>
                      <a:endParaRPr lang="en-US" sz="800" b="0" i="0" u="none" strike="noStrike">
                        <a:solidFill>
                          <a:srgbClr val="333333"/>
                        </a:solidFill>
                        <a:effectLst/>
                        <a:latin typeface="Arial" panose="020B0604020202020204" pitchFamily="34" charset="0"/>
                      </a:endParaRPr>
                    </a:p>
                  </a:txBody>
                  <a:tcPr marL="5300" marR="5300" marT="5300" marB="0" anchor="ctr"/>
                </a:tc>
                <a:tc gridSpan="2">
                  <a:txBody>
                    <a:bodyPr/>
                    <a:lstStyle/>
                    <a:p>
                      <a:pPr algn="ctr" fontAlgn="ctr">
                        <a:buNone/>
                      </a:pPr>
                      <a:r>
                        <a:rPr lang="en-US" sz="800" u="none" strike="noStrike">
                          <a:effectLst/>
                        </a:rPr>
                        <a:t>2</a:t>
                      </a:r>
                      <a:endParaRPr lang="en-US" sz="800" b="1" i="0" u="none" strike="noStrike">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endParaRPr lang="en-US" sz="600" b="1" i="0" u="none" strike="noStrike">
                        <a:solidFill>
                          <a:srgbClr val="333333"/>
                        </a:solidFill>
                        <a:effectLst/>
                        <a:latin typeface="Arial" panose="020B0604020202020204" pitchFamily="34" charset="0"/>
                      </a:endParaRPr>
                    </a:p>
                  </a:txBody>
                  <a:tcPr marL="5300" marR="5300" marT="5300" marB="0" anchor="ctr"/>
                </a:tc>
                <a:tc>
                  <a:txBody>
                    <a:bodyPr/>
                    <a:lstStyle/>
                    <a:p>
                      <a:pPr algn="l" fontAlgn="b">
                        <a:buNone/>
                      </a:pPr>
                      <a:endParaRPr lang="en-US" sz="800" b="0" i="0" u="none" strike="noStrike" dirty="0">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extLst>
                  <a:ext uri="{0D108BD9-81ED-4DB2-BD59-A6C34878D82A}">
                    <a16:rowId xmlns:a16="http://schemas.microsoft.com/office/drawing/2014/main" val="1417277032"/>
                  </a:ext>
                </a:extLst>
              </a:tr>
              <a:tr h="192273">
                <a:tc gridSpan="2">
                  <a:txBody>
                    <a:bodyPr/>
                    <a:lstStyle/>
                    <a:p>
                      <a:pPr algn="l" fontAlgn="ctr">
                        <a:buNone/>
                      </a:pPr>
                      <a:r>
                        <a:rPr lang="en-US" sz="800" u="none" strike="noStrike" dirty="0">
                          <a:effectLst/>
                        </a:rPr>
                        <a:t>Fulfil &amp; Collect</a:t>
                      </a:r>
                      <a:endParaRPr lang="en-US" sz="800" b="1" i="0" u="none" strike="noStrike" dirty="0">
                        <a:solidFill>
                          <a:srgbClr val="333333"/>
                        </a:solidFill>
                        <a:effectLst/>
                        <a:latin typeface="Arial" panose="020B0604020202020204" pitchFamily="34" charset="0"/>
                      </a:endParaRPr>
                    </a:p>
                  </a:txBody>
                  <a:tcPr marL="5300" marR="5300" marT="5300" marB="0" anchor="ctr"/>
                </a:tc>
                <a:tc hMerge="1">
                  <a:txBody>
                    <a:bodyPr/>
                    <a:lstStyle/>
                    <a:p>
                      <a:pPr algn="l" fontAlgn="ctr">
                        <a:buNone/>
                      </a:pPr>
                      <a:r>
                        <a:rPr lang="en-US" sz="600" u="none" strike="noStrike" dirty="0">
                          <a:effectLst/>
                        </a:rPr>
                        <a:t>ROUTE · HANDOFF</a:t>
                      </a:r>
                      <a:endParaRPr lang="en-US" sz="600" b="0" i="0" u="none" strike="noStrike" dirty="0">
                        <a:solidFill>
                          <a:srgbClr val="333333"/>
                        </a:solidFill>
                        <a:effectLst/>
                        <a:latin typeface="Arial" panose="020B0604020202020204" pitchFamily="34" charset="0"/>
                      </a:endParaRPr>
                    </a:p>
                  </a:txBody>
                  <a:tcPr marL="5300" marR="5300" marT="5300" marB="0" anchor="ctr"/>
                </a:tc>
                <a:tc gridSpan="2">
                  <a:txBody>
                    <a:bodyPr/>
                    <a:lstStyle/>
                    <a:p>
                      <a:pPr algn="l" fontAlgn="ctr">
                        <a:buNone/>
                      </a:pPr>
                      <a:r>
                        <a:rPr lang="en-US" sz="800" u="none" strike="noStrike">
                          <a:effectLst/>
                        </a:rPr>
                        <a:t>ROUTE · HANDOFF</a:t>
                      </a:r>
                      <a:endParaRPr lang="en-US" sz="800" b="0" i="0" u="none" strike="noStrike">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r>
                        <a:rPr lang="en-US" sz="600" u="none" strike="noStrike">
                          <a:effectLst/>
                        </a:rPr>
                        <a:t>2</a:t>
                      </a:r>
                      <a:endParaRPr lang="en-US" sz="600" b="0" i="0" u="none" strike="noStrike">
                        <a:solidFill>
                          <a:srgbClr val="333333"/>
                        </a:solidFill>
                        <a:effectLst/>
                        <a:latin typeface="Arial" panose="020B0604020202020204" pitchFamily="34" charset="0"/>
                      </a:endParaRPr>
                    </a:p>
                  </a:txBody>
                  <a:tcPr marL="5300" marR="5300" marT="5300" marB="0" anchor="ctr"/>
                </a:tc>
                <a:tc>
                  <a:txBody>
                    <a:bodyPr/>
                    <a:lstStyle/>
                    <a:p>
                      <a:pPr algn="ctr" fontAlgn="ctr">
                        <a:buNone/>
                      </a:pPr>
                      <a:r>
                        <a:rPr lang="en-US" sz="800" u="none" strike="noStrike">
                          <a:effectLst/>
                        </a:rPr>
                        <a:t>2</a:t>
                      </a:r>
                      <a:endParaRPr lang="en-US" sz="800" b="0" i="0" u="none" strike="noStrike">
                        <a:solidFill>
                          <a:srgbClr val="333333"/>
                        </a:solidFill>
                        <a:effectLst/>
                        <a:latin typeface="Arial" panose="020B0604020202020204" pitchFamily="34" charset="0"/>
                      </a:endParaRPr>
                    </a:p>
                  </a:txBody>
                  <a:tcPr marL="5300" marR="5300" marT="5300" marB="0" anchor="ctr"/>
                </a:tc>
                <a:tc gridSpan="2">
                  <a:txBody>
                    <a:bodyPr/>
                    <a:lstStyle/>
                    <a:p>
                      <a:pPr algn="ctr" fontAlgn="ctr">
                        <a:buNone/>
                      </a:pPr>
                      <a:r>
                        <a:rPr lang="en-US" sz="800" u="none" strike="noStrike">
                          <a:effectLst/>
                        </a:rPr>
                        <a:t>1</a:t>
                      </a:r>
                      <a:endParaRPr lang="en-US" sz="800" b="1" i="0" u="none" strike="noStrike">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endParaRPr lang="en-US" sz="600" b="1" i="0" u="none" strike="noStrike">
                        <a:solidFill>
                          <a:srgbClr val="333333"/>
                        </a:solidFill>
                        <a:effectLst/>
                        <a:latin typeface="Arial" panose="020B0604020202020204" pitchFamily="34" charset="0"/>
                      </a:endParaRPr>
                    </a:p>
                  </a:txBody>
                  <a:tcPr marL="5300" marR="5300" marT="5300" marB="0" anchor="ctr"/>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extLst>
                  <a:ext uri="{0D108BD9-81ED-4DB2-BD59-A6C34878D82A}">
                    <a16:rowId xmlns:a16="http://schemas.microsoft.com/office/drawing/2014/main" val="2461277610"/>
                  </a:ext>
                </a:extLst>
              </a:tr>
              <a:tr h="265897">
                <a:tc gridSpan="2">
                  <a:txBody>
                    <a:bodyPr/>
                    <a:lstStyle/>
                    <a:p>
                      <a:pPr algn="l" fontAlgn="ctr">
                        <a:buNone/>
                      </a:pPr>
                      <a:r>
                        <a:rPr lang="en-US" sz="800" u="none" strike="noStrike">
                          <a:effectLst/>
                        </a:rPr>
                        <a:t>Returns, Service &amp; Recovery</a:t>
                      </a:r>
                      <a:endParaRPr lang="en-US" sz="800" b="1" i="0" u="none" strike="noStrike">
                        <a:solidFill>
                          <a:srgbClr val="333333"/>
                        </a:solidFill>
                        <a:effectLst/>
                        <a:latin typeface="Arial" panose="020B0604020202020204" pitchFamily="34" charset="0"/>
                      </a:endParaRPr>
                    </a:p>
                  </a:txBody>
                  <a:tcPr marL="5300" marR="5300" marT="5300" marB="0" anchor="ctr"/>
                </a:tc>
                <a:tc hMerge="1">
                  <a:txBody>
                    <a:bodyPr/>
                    <a:lstStyle/>
                    <a:p>
                      <a:pPr algn="l" fontAlgn="ctr">
                        <a:buNone/>
                      </a:pPr>
                      <a:r>
                        <a:rPr lang="en-US" sz="600" u="none" strike="noStrike">
                          <a:effectLst/>
                        </a:rPr>
                        <a:t>GRADE · CARE · RECLAIM</a:t>
                      </a:r>
                      <a:endParaRPr lang="en-US" sz="600" b="0" i="0" u="none" strike="noStrike">
                        <a:solidFill>
                          <a:srgbClr val="333333"/>
                        </a:solidFill>
                        <a:effectLst/>
                        <a:latin typeface="Arial" panose="020B0604020202020204" pitchFamily="34" charset="0"/>
                      </a:endParaRPr>
                    </a:p>
                  </a:txBody>
                  <a:tcPr marL="5300" marR="5300" marT="5300" marB="0" anchor="ctr"/>
                </a:tc>
                <a:tc gridSpan="2">
                  <a:txBody>
                    <a:bodyPr/>
                    <a:lstStyle/>
                    <a:p>
                      <a:pPr algn="l" fontAlgn="ctr">
                        <a:buNone/>
                      </a:pPr>
                      <a:r>
                        <a:rPr lang="en-US" sz="800" u="none" strike="noStrike">
                          <a:effectLst/>
                        </a:rPr>
                        <a:t>GRADE · CARE · RECLAIM</a:t>
                      </a:r>
                      <a:endParaRPr lang="en-US" sz="800" b="0" i="0" u="none" strike="noStrike">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r>
                        <a:rPr lang="en-US" sz="600" u="none" strike="noStrike">
                          <a:effectLst/>
                        </a:rPr>
                        <a:t>3</a:t>
                      </a:r>
                      <a:endParaRPr lang="en-US" sz="600" b="0" i="0" u="none" strike="noStrike">
                        <a:solidFill>
                          <a:srgbClr val="333333"/>
                        </a:solidFill>
                        <a:effectLst/>
                        <a:latin typeface="Arial" panose="020B0604020202020204" pitchFamily="34" charset="0"/>
                      </a:endParaRPr>
                    </a:p>
                  </a:txBody>
                  <a:tcPr marL="5300" marR="5300" marT="5300" marB="0" anchor="ctr"/>
                </a:tc>
                <a:tc>
                  <a:txBody>
                    <a:bodyPr/>
                    <a:lstStyle/>
                    <a:p>
                      <a:pPr algn="ctr" fontAlgn="ctr">
                        <a:buNone/>
                      </a:pPr>
                      <a:r>
                        <a:rPr lang="en-US" sz="800" u="none" strike="noStrike">
                          <a:effectLst/>
                        </a:rPr>
                        <a:t>3</a:t>
                      </a:r>
                      <a:endParaRPr lang="en-US" sz="800" b="0" i="0" u="none" strike="noStrike">
                        <a:solidFill>
                          <a:srgbClr val="333333"/>
                        </a:solidFill>
                        <a:effectLst/>
                        <a:latin typeface="Arial" panose="020B0604020202020204" pitchFamily="34" charset="0"/>
                      </a:endParaRPr>
                    </a:p>
                  </a:txBody>
                  <a:tcPr marL="5300" marR="5300" marT="5300" marB="0" anchor="ctr"/>
                </a:tc>
                <a:tc gridSpan="2">
                  <a:txBody>
                    <a:bodyPr/>
                    <a:lstStyle/>
                    <a:p>
                      <a:pPr algn="ctr" fontAlgn="ctr">
                        <a:buNone/>
                      </a:pPr>
                      <a:r>
                        <a:rPr lang="en-US" sz="800" u="none" strike="noStrike">
                          <a:effectLst/>
                        </a:rPr>
                        <a:t>1·2</a:t>
                      </a:r>
                      <a:endParaRPr lang="en-US" sz="800" b="1" i="0" u="none" strike="noStrike">
                        <a:solidFill>
                          <a:srgbClr val="333333"/>
                        </a:solidFill>
                        <a:effectLst/>
                        <a:latin typeface="Arial" panose="020B0604020202020204" pitchFamily="34" charset="0"/>
                      </a:endParaRPr>
                    </a:p>
                  </a:txBody>
                  <a:tcPr marL="5300" marR="5300" marT="5300" marB="0" anchor="ctr"/>
                </a:tc>
                <a:tc hMerge="1">
                  <a:txBody>
                    <a:bodyPr/>
                    <a:lstStyle/>
                    <a:p>
                      <a:pPr algn="ctr" fontAlgn="ctr">
                        <a:buNone/>
                      </a:pPr>
                      <a:endParaRPr lang="en-US" sz="600" b="1" i="0" u="none" strike="noStrike">
                        <a:solidFill>
                          <a:srgbClr val="333333"/>
                        </a:solidFill>
                        <a:effectLst/>
                        <a:latin typeface="Arial" panose="020B0604020202020204" pitchFamily="34" charset="0"/>
                      </a:endParaRPr>
                    </a:p>
                  </a:txBody>
                  <a:tcPr marL="5300" marR="5300" marT="5300" marB="0" anchor="ctr"/>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extLst>
                  <a:ext uri="{0D108BD9-81ED-4DB2-BD59-A6C34878D82A}">
                    <a16:rowId xmlns:a16="http://schemas.microsoft.com/office/drawing/2014/main" val="1843173420"/>
                  </a:ext>
                </a:extLst>
              </a:tr>
              <a:tr h="82867">
                <a:tc gridSpan="2">
                  <a:txBody>
                    <a:bodyPr/>
                    <a:lstStyle/>
                    <a:p>
                      <a:pPr algn="l" fontAlgn="b">
                        <a:buNone/>
                      </a:pPr>
                      <a:r>
                        <a:rPr lang="en-US" sz="800" u="none" strike="noStrike">
                          <a:effectLst/>
                        </a:rPr>
                        <a:t>Total</a:t>
                      </a:r>
                      <a:endParaRPr lang="en-US" sz="800" b="1" i="0" u="none" strike="noStrike">
                        <a:solidFill>
                          <a:srgbClr val="E31837"/>
                        </a:solidFill>
                        <a:effectLst/>
                        <a:latin typeface="Arial" panose="020B0604020202020204" pitchFamily="34" charset="0"/>
                      </a:endParaRPr>
                    </a:p>
                  </a:txBody>
                  <a:tcPr marL="5300" marR="5300" marT="5300" marB="0" anchor="b"/>
                </a:tc>
                <a:tc hMerge="1">
                  <a:txBody>
                    <a:bodyPr/>
                    <a:lstStyle/>
                    <a:p>
                      <a:pPr algn="l" fontAlgn="b">
                        <a:buNone/>
                      </a:pPr>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5300" marR="5300" marT="5300" marB="0" anchor="b"/>
                </a:tc>
                <a:tc gridSpan="2">
                  <a:txBody>
                    <a:bodyPr/>
                    <a:lstStyle/>
                    <a:p>
                      <a:pPr algn="l" fontAlgn="b">
                        <a:buNone/>
                      </a:pPr>
                      <a:r>
                        <a:rPr lang="en-US" sz="800" u="none" strike="noStrike">
                          <a:effectLst/>
                        </a:rPr>
                        <a:t> </a:t>
                      </a:r>
                      <a:endParaRPr lang="en-US" sz="800" b="0" i="0" u="none" strike="noStrike">
                        <a:solidFill>
                          <a:srgbClr val="000000"/>
                        </a:solidFill>
                        <a:effectLst/>
                        <a:latin typeface="Calibri" panose="020F0502020204030204" pitchFamily="34" charset="0"/>
                      </a:endParaRPr>
                    </a:p>
                  </a:txBody>
                  <a:tcPr marL="5300" marR="5300" marT="5300" marB="0" anchor="b"/>
                </a:tc>
                <a:tc hMerge="1">
                  <a:txBody>
                    <a:bodyPr/>
                    <a:lstStyle/>
                    <a:p>
                      <a:pPr algn="ctr" fontAlgn="b">
                        <a:buNone/>
                      </a:pPr>
                      <a:r>
                        <a:rPr lang="en-US" sz="600" u="none" strike="noStrike">
                          <a:effectLst/>
                        </a:rPr>
                        <a:t>13</a:t>
                      </a:r>
                      <a:endParaRPr lang="en-US" sz="600" b="1" i="0" u="none" strike="noStrike">
                        <a:solidFill>
                          <a:srgbClr val="E31837"/>
                        </a:solidFill>
                        <a:effectLst/>
                        <a:latin typeface="Arial" panose="020B0604020202020204" pitchFamily="34" charset="0"/>
                      </a:endParaRPr>
                    </a:p>
                  </a:txBody>
                  <a:tcPr marL="5300" marR="5300" marT="5300" marB="0" anchor="b"/>
                </a:tc>
                <a:tc>
                  <a:txBody>
                    <a:bodyPr/>
                    <a:lstStyle/>
                    <a:p>
                      <a:pPr algn="ctr" fontAlgn="b">
                        <a:buNone/>
                      </a:pPr>
                      <a:r>
                        <a:rPr lang="en-US" sz="800" u="none" strike="noStrike">
                          <a:effectLst/>
                        </a:rPr>
                        <a:t>13</a:t>
                      </a:r>
                      <a:endParaRPr lang="en-US" sz="800" b="1" i="0" u="none" strike="noStrike">
                        <a:solidFill>
                          <a:srgbClr val="E31837"/>
                        </a:solidFill>
                        <a:effectLst/>
                        <a:latin typeface="Arial" panose="020B0604020202020204" pitchFamily="34" charset="0"/>
                      </a:endParaRPr>
                    </a:p>
                  </a:txBody>
                  <a:tcPr marL="5300" marR="5300" marT="5300" marB="0" anchor="b"/>
                </a:tc>
                <a:tc gridSpan="2">
                  <a:txBody>
                    <a:bodyPr/>
                    <a:lstStyle/>
                    <a:p>
                      <a:pPr algn="l" fontAlgn="b">
                        <a:buNone/>
                      </a:pPr>
                      <a:r>
                        <a:rPr lang="en-US" sz="800" u="none" strike="noStrike" dirty="0">
                          <a:effectLst/>
                        </a:rPr>
                        <a:t> </a:t>
                      </a:r>
                      <a:endParaRPr lang="en-US" sz="800" b="0" i="0" u="none" strike="noStrike" dirty="0">
                        <a:solidFill>
                          <a:srgbClr val="000000"/>
                        </a:solidFill>
                        <a:effectLst/>
                        <a:latin typeface="Calibri" panose="020F0502020204030204" pitchFamily="34" charset="0"/>
                      </a:endParaRPr>
                    </a:p>
                  </a:txBody>
                  <a:tcPr marL="5300" marR="5300" marT="5300" marB="0" anchor="b"/>
                </a:tc>
                <a:tc hMerge="1">
                  <a:txBody>
                    <a:bodyPr/>
                    <a:lstStyle/>
                    <a:p>
                      <a:pPr algn="l" fontAlgn="b">
                        <a:buNone/>
                      </a:pPr>
                      <a:endParaRPr lang="en-US" sz="6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extLst>
                  <a:ext uri="{0D108BD9-81ED-4DB2-BD59-A6C34878D82A}">
                    <a16:rowId xmlns:a16="http://schemas.microsoft.com/office/drawing/2014/main" val="123858100"/>
                  </a:ext>
                </a:extLst>
              </a:tr>
              <a:tr h="82867">
                <a:tc gridSpan="2">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hMerge="1">
                  <a:txBody>
                    <a:bodyPr/>
                    <a:lstStyle/>
                    <a:p>
                      <a:pPr algn="l" fontAlgn="b">
                        <a:buNone/>
                      </a:pPr>
                      <a:endParaRPr lang="en-US" sz="600" b="0" i="0" u="none" strike="noStrike">
                        <a:solidFill>
                          <a:srgbClr val="000000"/>
                        </a:solidFill>
                        <a:effectLst/>
                        <a:latin typeface="Calibri" panose="020F0502020204030204" pitchFamily="34" charset="0"/>
                      </a:endParaRPr>
                    </a:p>
                  </a:txBody>
                  <a:tcPr marL="5300" marR="5300" marT="5300" marB="0" anchor="b"/>
                </a:tc>
                <a:tc gridSpan="2">
                  <a:txBody>
                    <a:bodyPr/>
                    <a:lstStyle/>
                    <a:p>
                      <a:pPr algn="l" fontAlgn="b">
                        <a:buNone/>
                      </a:pPr>
                      <a:endParaRPr lang="en-US" sz="800" b="0" i="0" u="none" strike="noStrike" dirty="0">
                        <a:solidFill>
                          <a:srgbClr val="000000"/>
                        </a:solidFill>
                        <a:effectLst/>
                        <a:latin typeface="Calibri" panose="020F0502020204030204" pitchFamily="34" charset="0"/>
                      </a:endParaRPr>
                    </a:p>
                  </a:txBody>
                  <a:tcPr marL="5300" marR="5300" marT="5300" marB="0" anchor="b"/>
                </a:tc>
                <a:tc hMerge="1">
                  <a:txBody>
                    <a:bodyPr/>
                    <a:lstStyle/>
                    <a:p>
                      <a:pPr algn="l" fontAlgn="b">
                        <a:buNone/>
                      </a:pPr>
                      <a:endParaRPr lang="en-US" sz="6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dirty="0">
                        <a:solidFill>
                          <a:srgbClr val="000000"/>
                        </a:solidFill>
                        <a:effectLst/>
                        <a:latin typeface="Calibri" panose="020F0502020204030204" pitchFamily="34" charset="0"/>
                      </a:endParaRPr>
                    </a:p>
                  </a:txBody>
                  <a:tcPr marL="5300" marR="5300" marT="5300" marB="0" anchor="b"/>
                </a:tc>
                <a:tc gridSpan="2">
                  <a:txBody>
                    <a:bodyPr/>
                    <a:lstStyle/>
                    <a:p>
                      <a:pPr algn="l" fontAlgn="b">
                        <a:buNone/>
                      </a:pPr>
                      <a:endParaRPr lang="en-US" sz="800" b="0" i="0" u="none" strike="noStrike" dirty="0">
                        <a:solidFill>
                          <a:srgbClr val="000000"/>
                        </a:solidFill>
                        <a:effectLst/>
                        <a:latin typeface="Calibri" panose="020F0502020204030204" pitchFamily="34" charset="0"/>
                      </a:endParaRPr>
                    </a:p>
                  </a:txBody>
                  <a:tcPr marL="5300" marR="5300" marT="5300" marB="0" anchor="b"/>
                </a:tc>
                <a:tc hMerge="1">
                  <a:txBody>
                    <a:bodyPr/>
                    <a:lstStyle/>
                    <a:p>
                      <a:pPr algn="l" fontAlgn="b">
                        <a:buNone/>
                      </a:pPr>
                      <a:endParaRPr lang="en-US" sz="6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5300" marR="5300" marT="5300" marB="0" anchor="b"/>
                </a:tc>
                <a:tc>
                  <a:txBody>
                    <a:bodyPr/>
                    <a:lstStyle/>
                    <a:p>
                      <a:pPr algn="l" fontAlgn="b">
                        <a:buNone/>
                      </a:pPr>
                      <a:endParaRPr lang="en-US" sz="800" b="0" i="0" u="none" strike="noStrike" dirty="0">
                        <a:solidFill>
                          <a:srgbClr val="000000"/>
                        </a:solidFill>
                        <a:effectLst/>
                        <a:latin typeface="Calibri" panose="020F0502020204030204" pitchFamily="34" charset="0"/>
                      </a:endParaRPr>
                    </a:p>
                  </a:txBody>
                  <a:tcPr marL="5300" marR="5300" marT="5300" marB="0" anchor="b"/>
                </a:tc>
                <a:extLst>
                  <a:ext uri="{0D108BD9-81ED-4DB2-BD59-A6C34878D82A}">
                    <a16:rowId xmlns:a16="http://schemas.microsoft.com/office/drawing/2014/main" val="1807189952"/>
                  </a:ext>
                </a:extLst>
              </a:tr>
            </a:tbl>
          </a:graphicData>
        </a:graphic>
      </p:graphicFrame>
      <p:pic>
        <p:nvPicPr>
          <p:cNvPr id="30" name="Google Shape;126;p2" descr="preencoded.png">
            <a:extLst>
              <a:ext uri="{FF2B5EF4-FFF2-40B4-BE49-F238E27FC236}">
                <a16:creationId xmlns:a16="http://schemas.microsoft.com/office/drawing/2014/main" id="{2B1BE390-8C83-92D9-C3F9-D31477D20235}"/>
              </a:ext>
            </a:extLst>
          </p:cNvPr>
          <p:cNvPicPr preferRelativeResize="0"/>
          <p:nvPr/>
        </p:nvPicPr>
        <p:blipFill rotWithShape="1">
          <a:blip r:embed="rId3">
            <a:alphaModFix/>
          </a:blip>
          <a:srcRect/>
          <a:stretch/>
        </p:blipFill>
        <p:spPr>
          <a:xfrm>
            <a:off x="11217673" y="153323"/>
            <a:ext cx="669694" cy="560010"/>
          </a:xfrm>
          <a:prstGeom prst="rect">
            <a:avLst/>
          </a:prstGeom>
          <a:noFill/>
          <a:ln>
            <a:noFill/>
          </a:ln>
        </p:spPr>
      </p:pic>
    </p:spTree>
    <p:extLst>
      <p:ext uri="{BB962C8B-B14F-4D97-AF65-F5344CB8AC3E}">
        <p14:creationId xmlns:p14="http://schemas.microsoft.com/office/powerpoint/2010/main" val="16626017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24353</TotalTime>
  <Words>8506</Words>
  <Application>Microsoft Macintosh PowerPoint</Application>
  <PresentationFormat>Widescreen</PresentationFormat>
  <Paragraphs>992</Paragraphs>
  <Slides>19</Slides>
  <Notes>19</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-apple-system</vt:lpstr>
      <vt:lpstr>Aptos</vt:lpstr>
      <vt:lpstr>Arial</vt:lpstr>
      <vt:lpstr>Calibri</vt:lpstr>
      <vt:lpstr>Lora</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Journey - Discover to Fulfil</dc:title>
  <dc:subject>PptxGenJS Presentation</dc:subject>
  <dc:creator>Neu.Tail</dc:creator>
  <cp:lastModifiedBy>Guneet Bhatia</cp:lastModifiedBy>
  <cp:revision>108</cp:revision>
  <dcterms:created xsi:type="dcterms:W3CDTF">2026-07-11T17:14:03Z</dcterms:created>
  <dcterms:modified xsi:type="dcterms:W3CDTF">2026-08-26T06:19:04Z</dcterms:modified>
</cp:coreProperties>
</file>